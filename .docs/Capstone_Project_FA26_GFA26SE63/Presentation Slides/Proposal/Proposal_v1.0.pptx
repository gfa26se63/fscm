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Mở đầu: chào cô và hội đồng, giới thiệu tên đề tài và 5 thành viên.</a:t>
            </a:r>
          </a:p>
          <a:p>
            <a:r>
              <a:t>Một câu định vị: 'Đề tài giải quyết bài toán hàng cận date bị kẹt kho ở các nhà phân phối FMCG vừa và nhỏ, bằng cách ép hệ thống xuất kho theo hạn sử dụng thay vì theo thứ tự nhập.'</a:t>
            </a:r>
          </a:p>
          <a:p>
            <a:r>
              <a:t>Không đọc slide. Nói tên đề tài rồi chuyển ngay sang phần bài toán.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Nêu nhanh 5 phần, mỗi phần một câu. Nhấn: phần 3 và 4 là phần kỹ thuật chính, phần 5 cho thấy nhóm đã có kế hoạch cụ thể chứ không chỉ có ý tưởng.</a:t>
            </a:r>
          </a:p>
          <a:p>
            <a:r>
              <a:t>Thời lượng dự kiến: phần 1-2 khoảng 5 phút, phần 3-4 khoảng 8 phút, phần 5 khoảng 4 phút.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ý: 'Trước khi nói về giải pháp, em xin trình bày bối cảnh nghiệp vụ để thấy vì sao bài toán này không giải được bằng phần mềm kho thông thường.'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chuỗi FMCG. Nhấn mạnh: điểm khác biệt so với hàng hóa thông thường là sản phẩm có đồng hồ đếm ngược gắn sẵn.</a:t>
            </a:r>
          </a:p>
          <a:p>
            <a:r>
              <a:t>Nói rõ phạm vi: nhóm không làm phần sản xuất của nhà cung cấp, cũng không làm ứng dụng cho người tiêu dùng cuối. Hệ thống phục vụ nhà phân phối B2B.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Trả lời câu hỏi 'vì sao không làm kho tổng quát cho mọi mặt hàng': vì chọn phân khúc hẹp mới làm nổi được giá trị của FEFO. Với hàng khô hạn 2 năm thì FIFO hay FEFO gần như không khác nhau.</a:t>
            </a:r>
          </a:p>
          <a:p>
            <a:r>
              <a:t>Câu hỏi có thể gặp: 'Thị trường có bao nhiêu doanh nghiệp như vậy?' — Trả lời trung thực: nhóm chưa có số liệu khảo sát định lượng, đây là bài toán được xác định từ đặc thù ngành, và nhóm sẽ bổ sung khảo sát trong tài liệu BA.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slide quan trọng nhất phần 1. Dùng ví dụ số cụ thể, nói chậm.</a:t>
            </a:r>
          </a:p>
          <a:p>
            <a:r>
              <a:t>Nhấn: FIFO không sai về mặt kế toán, nhưng sai về mặt vật lý với hàng có hạn sử dụng.</a:t>
            </a:r>
          </a:p>
          <a:p>
            <a:r>
              <a:t>Câu hỏi có thể gặp: 'Sao không để nhân viên tự chọn lô?' — Trả lời: kho có hàng trăm lô, và khi có nhiều nhân viên bán cùng lúc thì việc chọn tay vừa chậm vừa dễ sai; hơn nữa không có dữ liệu để báo cáo và kiểm toán về sau.</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 dòng: giải pháp rẻ thì thiếu tính năng, giải pháp đủ tính năng thì quá đắt, đề tài nằm ở giữa.</a:t>
            </a:r>
          </a:p>
          <a:p>
            <a:r>
              <a:t>Câu hỏi có thể gặp: 'Đề tài có gì mới về mặt khoa học nếu SAP đã làm được?' — Trả lời: giá trị của đồ án không nằm ở việc phát minh thuật toán mới, mà ở việc hiện thực hóa nó cùng với hai bài toán kỹ thuật khó là xử lý tương tranh và đồng bộ offline, ở trình 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ý: 'Để chạy được FEFO, trước hết phải thay đổi cách hệ thống lưu tồn kho.'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đây là quyết định thiết kế dữ liệu, không phải tính năng. Nếu mô hình dữ liệu sai thì không có thuật toán nào cứu được.</a:t>
            </a:r>
          </a:p>
          <a:p>
            <a:r>
              <a:t>Câu hỏi có thể gặp: 'Vì sao mã lô lại là SKU + ngày hết hạn?' — Trả lời: để mã vừa duy nhất vừa đọc được bằng mắt; hai lần nhập cùng một SKU có cùng hạn sử dụng thì được gộp vào một lô, tránh vỡ vụn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 qua bảng theo từng dòng. Đây là phần cô dễ theo dõi nhất, đừng nói nhanh.</a:t>
            </a:r>
          </a:p>
          <a:p>
            <a:r>
              <a:t>Nhấn từ khóa 'trừ dồn' — đây là điểm khiến thuật toán không tầm thường: phải xử lý vòng lặp qua nhiều lô trong cùng một giao dịch.</a:t>
            </a:r>
          </a:p>
          <a:p>
            <a:r>
              <a:t>Câu hỏi có thể gặp: 'Nếu khách chỉ muốn hàng còn hạn dài thì sao?' — Trả lời: đây là ràng buộc nghiệp vụ có thật, nhóm ghi nhận là hướng phát triển (đặt ngưỡng hạn tối thiểu khi giao), hiện chưa nằm trong phạm vi 15 tuần.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từ 'khép kín': bốn vai trò này đủ để một đơn hàng đi trọn vòng đời từ lúc hàng vào kho đến lúc khách nhận hàng, không có bước nào phải làm ngoài hệ thống.</a:t>
            </a:r>
          </a:p>
          <a:p>
            <a:r>
              <a:t>Câu hỏi có thể gặp: 'Sao gộp Admin và Quản lý làm một?' — Trả lời: ở quy mô SME, người duyệt đơn và người xem báo cáo thường là cùng một người. Hệ thống dùng RBAC nên nếu doanh nghiệp lớn hơn muốn tách thì chỉ cần thêm role, không phải sửa code nghiệp vụ.</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ý: 'Phần này em trình bày cấu trúc hệ thống và lý do chọn mô hình kiến trúc.'</a:t>
            </a:r>
          </a:p>
          <a:p>
            <a:r>
              <a:t>Đây là phần cô hỏi nhiều nhất. Chuẩn bị kỹ 4 slide tiếp theo.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Trình bày theo hướng: mỗi công nghệ được chọn vì nó giải đúng một khó khăn cụ thể của đề tài.</a:t>
            </a:r>
          </a:p>
          <a:p>
            <a:r>
              <a:t>.NET: cấu trúc Solution/Project cho phép chia module thành các project riêng, ranh giới được trình biên dịch bảo vệ chứ không chỉ là quy ước thư mục. Đây là điểm mạnh thật của .NET cho Modular Monolith.</a:t>
            </a:r>
          </a:p>
          <a:p>
            <a:r>
              <a:t>Azure SQL: nhóm chọn dịch vụ đám mây để khỏi mất thời gian dựng và bảo trì server database trong 15 tuần.</a:t>
            </a:r>
          </a:p>
          <a:p>
            <a:r>
              <a:t>Flutter: một mã nguồn chạy cả hai nền tảng, phù hợp nhóm chỉ có hai người làm mobile.</a:t>
            </a:r>
          </a:p>
          <a:p>
            <a:r>
              <a:t>Câu hỏi có thể gặp: 'Vì sao không dùng Java Spring hay Node.js?' — Trả lời: cả ba đều làm được, nhưng nhóm chọn .NET vì EF Core có sẵn cơ chế Concurrency Token, đúng thứ bài toán FEFO cần, và vì nhóm quen hệ sinh thái này nên rút ngắn thời gian học.</a:t>
            </a:r>
          </a:p>
          <a:p>
            <a:r>
              <a:t>Câu hỏi có thể gặp: 'Azure SQL tốn phí thì sao?' — Trả lời: nhóm dùng gói free-tier / Azure for Students trong thời gian đồ án.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Chỉ tay theo thứ tự: Role → Client → khung nét đứt → hạ tầng.</a:t>
            </a:r>
          </a:p>
          <a:p>
            <a:r>
              <a:t>Nhấn khung nét đứt: đây là cách trả lời câu 'hệ thống của em gồm những gì'.</a:t>
            </a:r>
          </a:p>
          <a:p>
            <a:r>
              <a:t>Câu hỏi có thể gặp: 'Redis có phải cơ sở dữ liệu thứ hai không?' — Trả lời: không. SQL là source of truth, Redis chỉ là read model phục vụ tính giá nhanh; xóa sạch Redis thì hệ thống vẫn chạy đúng, chỉ chậm hơn.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slide phòng thủ quan trọng nhất. Cô rất hay hỏi 'sao không làm microservices'.</a:t>
            </a:r>
          </a:p>
          <a:p>
            <a:r>
              <a:t>Trả lời gọn: 'Vì nghiệp vụ lõi của em là trừ kho, cần tính toàn vẹn giao dịch. Tách service sẽ biến một transaction đơn giản thành bài toán phân tán, mà lợi ích scale thì quy mô SME chưa cần.'</a:t>
            </a:r>
          </a:p>
          <a:p>
            <a:r>
              <a:t>Câu hỏi có thể gặp: 'Monolith thì sau này không mở rộng được?' — Trả lời: chỉ đúng với monolith rối. Ở đây ranh giới module được giữ nghiêm nên khi cần tách, mỗi module đã là một ứng viên service.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thể hiện nhóm hiểu đúng bản chất Modular Monolith, không chỉ là 'chia thư mục'.</a:t>
            </a:r>
          </a:p>
          <a:p>
            <a:r>
              <a:t>Nói ví dụ cụ thể: khi Admin bấm duyệt đơn, Order Domain chỉ đổi trạng thái và phát sự kiện. Nó không biết Kho &amp; PIM tồn tại. Nhờ vậy sau này muốn thêm module gửi thông báo thì chỉ cần đăng ký nghe cùng sự kiện đó, không phải sửa Order Domain.</a:t>
            </a:r>
          </a:p>
          <a:p>
            <a:r>
              <a:t>Câu hỏi có thể gặp: 'Event Bus này có phải Kafka không?' — Trả lời: không, đây là event bus trong tiến trình (in-process), chạy đồng bộ trong cùng transaction. Dùng message broker ngoài sẽ mất tính ACID mà nghiệp vụ kho đang cần.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Tách riêng slide này vì hai khái niệm hay bị gộp làm một.</a:t>
            </a:r>
          </a:p>
          <a:p>
            <a:r>
              <a:t>Câu hỏi có thể gặp: 'Dependency Inversion là gì?' — Trả lời bằng ví dụ: lớp Domain chứa thuật toán FEFO chỉ khai báo 'tôi cần một thứ gọi là BatchRepository có hàm lấy lô theo hạn dùng'. Nó không biết dữ liệu nằm ở PostgreSQL hay ở đâu. Lớp Infrastructure mới là nơi hiện thực. Nhờ vậy viết unit test cho thuật toán FEFO không cần dựng database.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ý: 'Hai bài toán sau đây là lý do đề tài không chỉ là một phần mềm CRUD.'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slide ghi điểm kỹ thuật cao nhất. Trình bày theo mạch: vấn đề → ba phương án → chọn cái nào và vì sao.</a:t>
            </a:r>
          </a:p>
          <a:p>
            <a:r>
              <a:t>Câu nên nói khi trình bày: nhóm tận dụng cơ chế Concurrency Token (RowVersion) tích hợp sẵn trong Entity Framework của .NET để phát hiện va chạm dữ liệu, không phải viết câu SQL khóa bảng phức tạp.</a:t>
            </a:r>
          </a:p>
          <a:p>
            <a:r>
              <a:t>Điểm tinh tế đáng nói: người thua tranh chấp KHÔNG nhận lỗi. Hệ thống tự đẩy họ sang lô kế tiếp, nên trải nghiệm của Sales vẫn liền mạch.</a:t>
            </a:r>
          </a:p>
          <a:p>
            <a:r>
              <a:t>Câu hỏi có thể gặp: 'Vì sao không dùng khóa bi quan cho chắc?' — Trả lời: vì tranh chấp thực tế hiếm, mà khóa bi quan bắt mọi người chờ kể cả khi không có tranh chấp. Khóa lạc quan chỉ trả giá khi thực sự đụng nhau.</a:t>
            </a:r>
          </a:p>
          <a:p>
            <a:r>
              <a:t>Câu hỏi có thể gặp: 'Retry vô hạn thì sao?' — Trả lời: có giới hạn số lần thử và có danh sách lô hữu hạn; hết lô khả dụng thì trả lỗi không đủ tồn kho và rollback.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Nói rõ ở bước 1: nhóm dùng plugin sqflite trên Flutter để tạo kho lưu trữ cục bộ ngay trên máy Sales.</a:t>
            </a:r>
          </a:p>
          <a:p>
            <a:r>
              <a:t>Nhấn từ 'offline-first': không phải app có thêm chế độ offline, mà app được thiết kế coi mất mạng là trạng thái bình thường.</a:t>
            </a:r>
          </a:p>
          <a:p>
            <a:r>
              <a:t>Câu hỏi có thể gặp: 'Tồn kho trên máy Sales là dữ liệu cũ, nếu đơn offline vượt tồn thực tế thì sao?' — Trả lời thẳng: app chỉ hiển thị tồn tham khảo kèm mốc thời gian đồng bộ. Quyết định cuối cùng do server đưa ra khi flush. Nếu không đủ hàng thì đơn bị đánh dấu lỗi kèm lý do và Sales xử lý lại. Nhóm chấp nhận đánh đổi này vì thà lên được đơn rồi điều chỉnh còn hơn mất đơn.</a:t>
            </a:r>
          </a:p>
          <a:p>
            <a:r>
              <a:t>Câu hỏi có thể gặp: 'Idempotent nghĩa là gì?' — Gửi cùng một yêu cầu nhiều lần vẫn chỉ tạo ra một kết quả.</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Chỉ tay vào chỗ nối giữa hai luồng: ô 'Order Domain nhận đơn' ở luồng dưới chính là cửa vào của luồng trên.</a:t>
            </a:r>
          </a:p>
          <a:p>
            <a:r>
              <a:t>Đây là điểm thiết kế đáng nói: đơn online và đơn offline dùng chung một đường xử lý, nên không có nguy cơ hai luồng cho ra kết quả khác nhau.</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Chuyển ý: 'Phần cuối em xin trình bày phạm vi và kế hoạch để cô đánh giá tính khả thi.'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nguyên tắc ở dưới cùng — đây là điều cô muốn nghe: nhóm biết tự giới hạn.</a:t>
            </a:r>
          </a:p>
          <a:p>
            <a:r>
              <a:t>Nếu cô hỏi 'nhiều tính năng AI quá, có làm nổi không?' — Trả lời: hai tính năng AI nằm ở nhóm Nice to Have và là hai thứ đầu tiên bị cắt nếu tiến độ chậm. Nhóm đã có kịch bản cắt scope cụ thể, em xin trình bày ở slide sau.</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trả lời trước câu hỏi 'làm sao biết đã xong'.</a:t>
            </a:r>
          </a:p>
          <a:p>
            <a:r>
              <a:t>Nhấn: nhóm định nghĩa xong nghĩa là gì ngay từ đầu, nên đến buổi bảo vệ sẽ có bằng chứng chứ không nói suông.</a:t>
            </a:r>
          </a:p>
          <a:p>
            <a:r>
              <a:t>Nếu cô hỏi sâu về B2, dẫn lại slide bài toán tương tranh và nói về kế hoạch load test bằng JMeter/K6.</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Nói rõ ai làm gì trong 30 giây, đừng đọc hết bảng.</a:t>
            </a:r>
          </a:p>
          <a:p>
            <a:r>
              <a:t>Nhấn dòng cuối: nhóm đã lường trước rủi ro tập trung vào một người, đặc biệt là phần FEFO và Optimistic Locking do Nhân phụ trách — sẽ pair-programming với Khiết từ tuần thứ 6.</a:t>
            </a:r>
          </a:p>
          <a:p>
            <a:r>
              <a:t>Câu hỏi có thể gặp: 'Sao ba người làm backend mà chỉ hai người làm mobile?' — Trả lời: vì khối lượng nghiệp vụ nằm chủ yếu ở backend; Hải và Sơn đều có phần thời gian dành cho Web Frontend.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lợi thế chạy sớm: nhóm không dùng 4 tuần này để code tính năng, mà để thử nghiệm ba kỹ thuật khó nhất — Optimistic Locking, hàng đợi SQLite offline và Redis. Đến tuần chính thức đầu tiên nhóm đã biết ba chỗ đó có làm được hay không.</a:t>
            </a:r>
          </a:p>
          <a:p>
            <a:r>
              <a:t>Câu hỏi có thể gặp: 'Kế hoạch có thực tế không?' — Trả lời: nhóm giả định mỗi người 20–30 giờ mỗi tuần, có 5 tuần đệm không xếp việc, và có kịch bản cắt scope nếu chậm. Chi tiết ở slide sau.</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thường tạo ấn tượng tốt vì ít nhóm chuẩn bị.</a:t>
            </a:r>
          </a:p>
          <a:p>
            <a:r>
              <a:t>Nói thẳng: nhóm không hứa làm hết mọi thứ. Nhóm cam kết 5 tính năng bắt buộc chạy hoàn chỉnh, và có sẵn thứ tự cắt nếu tiến độ không đạt.</a:t>
            </a:r>
          </a:p>
          <a:p>
            <a:r>
              <a:t>Nhấn: hai cổng quyết định ở tuần 7 và tuần 9 là điểm dừng để nhóm tự đánh giá, không đợi đến lúc quá muộn mới báo cáo.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Kết lại bằng ba ý, mỗi ý một câu, rồi mời cô đặt câu hỏi.</a:t>
            </a:r>
          </a:p>
          <a:p>
            <a:r>
              <a:t>Nếu cô hỏi 'nhóm mong nhận góp ý gì nhất' — trả lời cụ thể: nhóm muốn xin ý kiến về phạm vi có vừa sức trong 15 tuần không, và về việc hai tính năng AI có nên giữ hay cắt ngay từ đầu.</a:t>
            </a:r>
          </a:p>
          <a:p>
            <a:r>
              <a:t>Đừng quên cảm ơn và ghi lại toàn bộ góp ý của cô vào biên bản.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TextBox 1"/>
          <p:cNvSpPr txBox="1"/>
          <p:nvPr/>
        </p:nvSpPr>
        <p:spPr>
          <a:xfrm>
            <a:off x="914400" y="1417320"/>
            <a:ext cx="10332720" cy="365760"/>
          </a:xfrm>
          <a:prstGeom prst="rect">
            <a:avLst/>
          </a:prstGeom>
          <a:noFill/>
        </p:spPr>
        <p:txBody>
          <a:bodyPr wrap="square" lIns="0" tIns="0" rIns="0" bIns="0" anchor="t">
            <a:spAutoFit/>
          </a:bodyPr>
          <a:lstStyle/>
          <a:p>
            <a:pPr algn="l">
              <a:spcBef>
                <a:spcPts val="0"/>
              </a:spcBef>
              <a:spcAft>
                <a:spcPts val="0"/>
              </a:spcAft>
            </a:pPr>
            <a:r>
              <a:rPr sz="1300" b="1" i="0">
                <a:solidFill>
                  <a:srgbClr val="E08A1E"/>
                </a:solidFill>
                <a:latin typeface="Calibri" panose="020F0502020204030204"/>
              </a:rPr>
              <a:t>ĐỒ ÁN TỐT NGHIỆP · GIỚI THIỆU ĐỀ TÀI</a:t>
            </a:r>
            <a:endParaRPr sz="1300" b="1" i="0">
              <a:solidFill>
                <a:srgbClr val="E08A1E"/>
              </a:solidFill>
              <a:latin typeface="Calibri" panose="020F0502020204030204"/>
            </a:endParaRPr>
          </a:p>
        </p:txBody>
      </p:sp>
      <p:sp>
        <p:nvSpPr>
          <p:cNvPr id="3" name="TextBox 2"/>
          <p:cNvSpPr txBox="1"/>
          <p:nvPr/>
        </p:nvSpPr>
        <p:spPr>
          <a:xfrm>
            <a:off x="914400" y="1965960"/>
            <a:ext cx="10332720" cy="1737360"/>
          </a:xfrm>
          <a:prstGeom prst="rect">
            <a:avLst/>
          </a:prstGeom>
          <a:noFill/>
        </p:spPr>
        <p:txBody>
          <a:bodyPr wrap="square" lIns="0" tIns="0" rIns="0" bIns="0" anchor="t">
            <a:spAutoFit/>
          </a:bodyPr>
          <a:lstStyle/>
          <a:p>
            <a:pPr algn="l">
              <a:spcBef>
                <a:spcPts val="0"/>
              </a:spcBef>
              <a:spcAft>
                <a:spcPts val="0"/>
              </a:spcAft>
            </a:pPr>
            <a:r>
              <a:rPr sz="4000" b="1" i="0">
                <a:solidFill>
                  <a:srgbClr val="FFFFFF"/>
                </a:solidFill>
                <a:latin typeface="Cambria" panose="02040503050406030204"/>
              </a:rPr>
              <a:t>Hệ thống Quản trị &amp; Điều phối</a:t>
            </a:r>
            <a:endParaRPr sz="4000" b="1" i="0">
              <a:solidFill>
                <a:srgbClr val="FFFFFF"/>
              </a:solidFill>
              <a:latin typeface="Cambria" panose="02040503050406030204"/>
            </a:endParaRPr>
          </a:p>
          <a:p>
            <a:pPr>
              <a:spcBef>
                <a:spcPts val="0"/>
              </a:spcBef>
              <a:spcAft>
                <a:spcPts val="0"/>
              </a:spcAft>
            </a:pPr>
            <a:r>
              <a:rPr sz="4000" b="1" i="0">
                <a:solidFill>
                  <a:srgbClr val="FFFFFF"/>
                </a:solidFill>
                <a:latin typeface="Cambria" panose="02040503050406030204"/>
              </a:rPr>
              <a:t>Chuỗi cung ứng FMCG ngắn hạn</a:t>
            </a:r>
            <a:endParaRPr sz="4000" b="1" i="0">
              <a:solidFill>
                <a:srgbClr val="FFFFFF"/>
              </a:solidFill>
              <a:latin typeface="Cambria" panose="02040503050406030204"/>
            </a:endParaRPr>
          </a:p>
        </p:txBody>
      </p:sp>
      <p:sp>
        <p:nvSpPr>
          <p:cNvPr id="4" name="TextBox 3"/>
          <p:cNvSpPr txBox="1"/>
          <p:nvPr/>
        </p:nvSpPr>
        <p:spPr>
          <a:xfrm>
            <a:off x="914400" y="3703320"/>
            <a:ext cx="10332720" cy="457200"/>
          </a:xfrm>
          <a:prstGeom prst="rect">
            <a:avLst/>
          </a:prstGeom>
          <a:noFill/>
        </p:spPr>
        <p:txBody>
          <a:bodyPr wrap="square" lIns="0" tIns="0" rIns="0" bIns="0" anchor="t">
            <a:spAutoFit/>
          </a:bodyPr>
          <a:lstStyle/>
          <a:p>
            <a:pPr algn="l">
              <a:spcBef>
                <a:spcPts val="0"/>
              </a:spcBef>
              <a:spcAft>
                <a:spcPts val="0"/>
              </a:spcAft>
            </a:pPr>
            <a:r>
              <a:rPr sz="1700" b="0" i="0">
                <a:solidFill>
                  <a:srgbClr val="8FBF9F"/>
                </a:solidFill>
                <a:latin typeface="Calibri" panose="020F0502020204030204"/>
              </a:rPr>
              <a:t>Tối ưu hóa xuất kho theo thuật toán FEFO (First Expired – First Out)</a:t>
            </a:r>
            <a:endParaRPr sz="1700" b="0" i="0">
              <a:solidFill>
                <a:srgbClr val="8FBF9F"/>
              </a:solidFill>
              <a:latin typeface="Calibri" panose="020F0502020204030204"/>
            </a:endParaRPr>
          </a:p>
        </p:txBody>
      </p:sp>
      <p:sp>
        <p:nvSpPr>
          <p:cNvPr id="5" name="Rounded Rectangle 4"/>
          <p:cNvSpPr/>
          <p:nvPr/>
        </p:nvSpPr>
        <p:spPr>
          <a:xfrm>
            <a:off x="914400" y="4617720"/>
            <a:ext cx="4754880" cy="1234440"/>
          </a:xfrm>
          <a:prstGeom prst="roundRect">
            <a:avLst>
              <a:gd name="adj" fmla="val 6000"/>
            </a:avLst>
          </a:prstGeom>
          <a:solidFill>
            <a:srgbClr val="1B4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7008" y="4828032"/>
            <a:ext cx="4206240" cy="868680"/>
          </a:xfrm>
          <a:prstGeom prst="rect">
            <a:avLst/>
          </a:prstGeom>
          <a:noFill/>
        </p:spPr>
        <p:txBody>
          <a:bodyPr wrap="square" lIns="0" tIns="0" rIns="0" bIns="0" anchor="t">
            <a:spAutoFit/>
          </a:bodyPr>
          <a:lstStyle/>
          <a:p>
            <a:pPr algn="l">
              <a:spcBef>
                <a:spcPts val="0"/>
              </a:spcBef>
              <a:spcAft>
                <a:spcPts val="0"/>
              </a:spcAft>
            </a:pPr>
            <a:r>
              <a:rPr sz="1100" b="1" i="0">
                <a:solidFill>
                  <a:srgbClr val="8FBF9F"/>
                </a:solidFill>
                <a:latin typeface="Calibri" panose="020F0502020204030204"/>
              </a:rPr>
              <a:t>Nhóm thực hiện (5 thành viên)</a:t>
            </a:r>
            <a:endParaRPr sz="1100" b="1" i="0">
              <a:solidFill>
                <a:srgbClr val="8FBF9F"/>
              </a:solidFill>
              <a:latin typeface="Calibri" panose="020F0502020204030204"/>
            </a:endParaRPr>
          </a:p>
          <a:p>
            <a:pPr>
              <a:spcBef>
                <a:spcPts val="400"/>
              </a:spcBef>
              <a:spcAft>
                <a:spcPts val="0"/>
              </a:spcAft>
            </a:pPr>
            <a:r>
              <a:rPr sz="1400" b="0" i="0">
                <a:solidFill>
                  <a:srgbClr val="FFFFFF"/>
                </a:solidFill>
                <a:latin typeface="Calibri" panose="020F0502020204030204"/>
              </a:rPr>
              <a:t>Nhân · Khiết · Hải · Hoàng · Sơn</a:t>
            </a:r>
            <a:endParaRPr sz="1400" b="0" i="0">
              <a:solidFill>
                <a:srgbClr val="FFFFFF"/>
              </a:solidFill>
              <a:latin typeface="Calibri" panose="020F0502020204030204"/>
            </a:endParaRPr>
          </a:p>
        </p:txBody>
      </p:sp>
      <p:sp>
        <p:nvSpPr>
          <p:cNvPr id="7" name="Rounded Rectangle 6"/>
          <p:cNvSpPr/>
          <p:nvPr/>
        </p:nvSpPr>
        <p:spPr>
          <a:xfrm>
            <a:off x="5943600" y="4617720"/>
            <a:ext cx="5303520" cy="1234440"/>
          </a:xfrm>
          <a:prstGeom prst="roundRect">
            <a:avLst>
              <a:gd name="adj" fmla="val 6000"/>
            </a:avLst>
          </a:prstGeom>
          <a:solidFill>
            <a:srgbClr val="1B4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236208" y="4828032"/>
            <a:ext cx="4754880" cy="868680"/>
          </a:xfrm>
          <a:prstGeom prst="rect">
            <a:avLst/>
          </a:prstGeom>
          <a:noFill/>
        </p:spPr>
        <p:txBody>
          <a:bodyPr wrap="square" lIns="0" tIns="0" rIns="0" bIns="0" anchor="t">
            <a:spAutoFit/>
          </a:bodyPr>
          <a:lstStyle/>
          <a:p>
            <a:pPr algn="l">
              <a:spcBef>
                <a:spcPts val="0"/>
              </a:spcBef>
              <a:spcAft>
                <a:spcPts val="0"/>
              </a:spcAft>
            </a:pPr>
            <a:r>
              <a:rPr sz="1100" b="1" i="0">
                <a:solidFill>
                  <a:srgbClr val="8FBF9F"/>
                </a:solidFill>
                <a:latin typeface="Calibri" panose="020F0502020204030204"/>
              </a:rPr>
              <a:t>Công nghệ</a:t>
            </a:r>
            <a:endParaRPr sz="1100" b="1" i="0">
              <a:solidFill>
                <a:srgbClr val="8FBF9F"/>
              </a:solidFill>
              <a:latin typeface="Calibri" panose="020F0502020204030204"/>
            </a:endParaRPr>
          </a:p>
          <a:p>
            <a:pPr>
              <a:spcBef>
                <a:spcPts val="400"/>
              </a:spcBef>
              <a:spcAft>
                <a:spcPts val="0"/>
              </a:spcAft>
            </a:pPr>
            <a:r>
              <a:rPr sz="1400" b="0" i="0">
                <a:solidFill>
                  <a:srgbClr val="FFFFFF"/>
                </a:solidFill>
                <a:latin typeface="Calibri" panose="020F0502020204030204"/>
              </a:rPr>
              <a:t>.NET · Azure SQL · Flutter</a:t>
            </a:r>
            <a:endParaRPr sz="1400" b="0" i="0">
              <a:solidFill>
                <a:srgbClr val="FFFFFF"/>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57200"/>
            <a:ext cx="11064240" cy="731520"/>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Nội dung trình bày</a:t>
            </a:r>
            <a:endParaRPr sz="3000" b="1" i="0">
              <a:solidFill>
                <a:srgbClr val="1C2B24"/>
              </a:solidFill>
              <a:latin typeface="Cambria" panose="02040503050406030204"/>
            </a:endParaRPr>
          </a:p>
        </p:txBody>
      </p:sp>
      <p:sp>
        <p:nvSpPr>
          <p:cNvPr id="3" name="Rounded Rectangle 2"/>
          <p:cNvSpPr/>
          <p:nvPr/>
        </p:nvSpPr>
        <p:spPr>
          <a:xfrm>
            <a:off x="566928" y="1691640"/>
            <a:ext cx="11064240" cy="8412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48" y="188366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1</a:t>
            </a:r>
            <a:endParaRPr sz="1500" b="1">
              <a:solidFill>
                <a:srgbClr val="FFFFFF"/>
              </a:solidFill>
              <a:latin typeface="Calibri" panose="020F0502020204030204"/>
            </a:endParaRPr>
          </a:p>
        </p:txBody>
      </p:sp>
      <p:sp>
        <p:nvSpPr>
          <p:cNvPr id="5" name="TextBox 4"/>
          <p:cNvSpPr txBox="1"/>
          <p:nvPr/>
        </p:nvSpPr>
        <p:spPr>
          <a:xfrm>
            <a:off x="1481328" y="1837944"/>
            <a:ext cx="3931920" cy="32004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libri" panose="020F0502020204030204"/>
              </a:rPr>
              <a:t>Bài toán</a:t>
            </a:r>
            <a:endParaRPr sz="1600" b="1" i="0">
              <a:solidFill>
                <a:srgbClr val="1C2B24"/>
              </a:solidFill>
              <a:latin typeface="Calibri" panose="020F0502020204030204"/>
            </a:endParaRPr>
          </a:p>
        </p:txBody>
      </p:sp>
      <p:sp>
        <p:nvSpPr>
          <p:cNvPr id="6" name="TextBox 5"/>
          <p:cNvSpPr txBox="1"/>
          <p:nvPr/>
        </p:nvSpPr>
        <p:spPr>
          <a:xfrm>
            <a:off x="1481328" y="2167128"/>
            <a:ext cx="9692640" cy="292608"/>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Chuỗi cung ứng FMCG ngắn hạn và nỗi đau của SME</a:t>
            </a:r>
            <a:endParaRPr sz="1300" b="0" i="0">
              <a:solidFill>
                <a:srgbClr val="5A6B62"/>
              </a:solidFill>
              <a:latin typeface="Calibri" panose="020F0502020204030204"/>
            </a:endParaRPr>
          </a:p>
        </p:txBody>
      </p:sp>
      <p:sp>
        <p:nvSpPr>
          <p:cNvPr id="7" name="Rounded Rectangle 6"/>
          <p:cNvSpPr/>
          <p:nvPr/>
        </p:nvSpPr>
        <p:spPr>
          <a:xfrm>
            <a:off x="566928" y="2651760"/>
            <a:ext cx="11064240" cy="8412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41248" y="284378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2</a:t>
            </a:r>
            <a:endParaRPr sz="1500" b="1">
              <a:solidFill>
                <a:srgbClr val="FFFFFF"/>
              </a:solidFill>
              <a:latin typeface="Calibri" panose="020F0502020204030204"/>
            </a:endParaRPr>
          </a:p>
        </p:txBody>
      </p:sp>
      <p:sp>
        <p:nvSpPr>
          <p:cNvPr id="9" name="TextBox 8"/>
          <p:cNvSpPr txBox="1"/>
          <p:nvPr/>
        </p:nvSpPr>
        <p:spPr>
          <a:xfrm>
            <a:off x="1481328" y="2798064"/>
            <a:ext cx="3931920" cy="32004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libri" panose="020F0502020204030204"/>
              </a:rPr>
              <a:t>Giải pháp</a:t>
            </a:r>
            <a:endParaRPr sz="1600" b="1" i="0">
              <a:solidFill>
                <a:srgbClr val="1C2B24"/>
              </a:solidFill>
              <a:latin typeface="Calibri" panose="020F0502020204030204"/>
            </a:endParaRPr>
          </a:p>
        </p:txBody>
      </p:sp>
      <p:sp>
        <p:nvSpPr>
          <p:cNvPr id="10" name="TextBox 9"/>
          <p:cNvSpPr txBox="1"/>
          <p:nvPr/>
        </p:nvSpPr>
        <p:spPr>
          <a:xfrm>
            <a:off x="1481328" y="3127248"/>
            <a:ext cx="9692640" cy="292608"/>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Quản lý theo Lô hàng và thuật toán FEFO</a:t>
            </a:r>
            <a:endParaRPr sz="1300" b="0" i="0">
              <a:solidFill>
                <a:srgbClr val="5A6B62"/>
              </a:solidFill>
              <a:latin typeface="Calibri" panose="020F0502020204030204"/>
            </a:endParaRPr>
          </a:p>
        </p:txBody>
      </p:sp>
      <p:sp>
        <p:nvSpPr>
          <p:cNvPr id="11" name="Rounded Rectangle 10"/>
          <p:cNvSpPr/>
          <p:nvPr/>
        </p:nvSpPr>
        <p:spPr>
          <a:xfrm>
            <a:off x="566928" y="3611880"/>
            <a:ext cx="11064240" cy="8412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41248" y="380390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3</a:t>
            </a:r>
            <a:endParaRPr sz="1500" b="1">
              <a:solidFill>
                <a:srgbClr val="FFFFFF"/>
              </a:solidFill>
              <a:latin typeface="Calibri" panose="020F0502020204030204"/>
            </a:endParaRPr>
          </a:p>
        </p:txBody>
      </p:sp>
      <p:sp>
        <p:nvSpPr>
          <p:cNvPr id="13" name="TextBox 12"/>
          <p:cNvSpPr txBox="1"/>
          <p:nvPr/>
        </p:nvSpPr>
        <p:spPr>
          <a:xfrm>
            <a:off x="1481328" y="3758184"/>
            <a:ext cx="3931920" cy="32004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libri" panose="020F0502020204030204"/>
              </a:rPr>
              <a:t>Thiết kế hệ thống</a:t>
            </a:r>
            <a:endParaRPr sz="1600" b="1" i="0">
              <a:solidFill>
                <a:srgbClr val="1C2B24"/>
              </a:solidFill>
              <a:latin typeface="Calibri" panose="020F0502020204030204"/>
            </a:endParaRPr>
          </a:p>
        </p:txBody>
      </p:sp>
      <p:sp>
        <p:nvSpPr>
          <p:cNvPr id="14" name="TextBox 13"/>
          <p:cNvSpPr txBox="1"/>
          <p:nvPr/>
        </p:nvSpPr>
        <p:spPr>
          <a:xfrm>
            <a:off x="1481328" y="4087368"/>
            <a:ext cx="9692640" cy="292608"/>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Modular Monolith, các module và Event Bus</a:t>
            </a:r>
            <a:endParaRPr sz="1300" b="0" i="0">
              <a:solidFill>
                <a:srgbClr val="5A6B62"/>
              </a:solidFill>
              <a:latin typeface="Calibri" panose="020F0502020204030204"/>
            </a:endParaRPr>
          </a:p>
        </p:txBody>
      </p:sp>
      <p:sp>
        <p:nvSpPr>
          <p:cNvPr id="15" name="Rounded Rectangle 14"/>
          <p:cNvSpPr/>
          <p:nvPr/>
        </p:nvSpPr>
        <p:spPr>
          <a:xfrm>
            <a:off x="566928" y="4572000"/>
            <a:ext cx="11064240" cy="8412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41248" y="476402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4</a:t>
            </a:r>
            <a:endParaRPr sz="1500" b="1">
              <a:solidFill>
                <a:srgbClr val="FFFFFF"/>
              </a:solidFill>
              <a:latin typeface="Calibri" panose="020F0502020204030204"/>
            </a:endParaRPr>
          </a:p>
        </p:txBody>
      </p:sp>
      <p:sp>
        <p:nvSpPr>
          <p:cNvPr id="17" name="TextBox 16"/>
          <p:cNvSpPr txBox="1"/>
          <p:nvPr/>
        </p:nvSpPr>
        <p:spPr>
          <a:xfrm>
            <a:off x="1481328" y="4718304"/>
            <a:ext cx="3931920" cy="32004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libri" panose="020F0502020204030204"/>
              </a:rPr>
              <a:t>Hai bài toán kỹ thuật lõi</a:t>
            </a:r>
            <a:endParaRPr sz="1600" b="1" i="0">
              <a:solidFill>
                <a:srgbClr val="1C2B24"/>
              </a:solidFill>
              <a:latin typeface="Calibri" panose="020F0502020204030204"/>
            </a:endParaRPr>
          </a:p>
        </p:txBody>
      </p:sp>
      <p:sp>
        <p:nvSpPr>
          <p:cNvPr id="18" name="TextBox 17"/>
          <p:cNvSpPr txBox="1"/>
          <p:nvPr/>
        </p:nvSpPr>
        <p:spPr>
          <a:xfrm>
            <a:off x="1481328" y="5047488"/>
            <a:ext cx="9692640" cy="292608"/>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Xử lý tương tranh và đồng bộ offline</a:t>
            </a:r>
            <a:endParaRPr sz="1300" b="0" i="0">
              <a:solidFill>
                <a:srgbClr val="5A6B62"/>
              </a:solidFill>
              <a:latin typeface="Calibri" panose="020F0502020204030204"/>
            </a:endParaRPr>
          </a:p>
        </p:txBody>
      </p:sp>
      <p:sp>
        <p:nvSpPr>
          <p:cNvPr id="19" name="Rounded Rectangle 18"/>
          <p:cNvSpPr/>
          <p:nvPr/>
        </p:nvSpPr>
        <p:spPr>
          <a:xfrm>
            <a:off x="566928" y="5532120"/>
            <a:ext cx="11064240" cy="8412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41248" y="572414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5</a:t>
            </a:r>
            <a:endParaRPr sz="1500" b="1">
              <a:solidFill>
                <a:srgbClr val="FFFFFF"/>
              </a:solidFill>
              <a:latin typeface="Calibri" panose="020F0502020204030204"/>
            </a:endParaRPr>
          </a:p>
        </p:txBody>
      </p:sp>
      <p:sp>
        <p:nvSpPr>
          <p:cNvPr id="21" name="TextBox 20"/>
          <p:cNvSpPr txBox="1"/>
          <p:nvPr/>
        </p:nvSpPr>
        <p:spPr>
          <a:xfrm>
            <a:off x="1481328" y="5678424"/>
            <a:ext cx="3931920" cy="32004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libri" panose="020F0502020204030204"/>
              </a:rPr>
              <a:t>Phạm vi &amp; kế hoạch</a:t>
            </a:r>
            <a:endParaRPr sz="1600" b="1" i="0">
              <a:solidFill>
                <a:srgbClr val="1C2B24"/>
              </a:solidFill>
              <a:latin typeface="Calibri" panose="020F0502020204030204"/>
            </a:endParaRPr>
          </a:p>
        </p:txBody>
      </p:sp>
      <p:sp>
        <p:nvSpPr>
          <p:cNvPr id="22" name="TextBox 21"/>
          <p:cNvSpPr txBox="1"/>
          <p:nvPr/>
        </p:nvSpPr>
        <p:spPr>
          <a:xfrm>
            <a:off x="1481328" y="6007608"/>
            <a:ext cx="9692640" cy="292608"/>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MoSCoW, phân công, timeline, quản trị rủi ro</a:t>
            </a:r>
            <a:endParaRPr sz="1300" b="0" i="0">
              <a:solidFill>
                <a:srgbClr val="5A6B62"/>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Oval 1"/>
          <p:cNvSpPr/>
          <p:nvPr/>
        </p:nvSpPr>
        <p:spPr>
          <a:xfrm>
            <a:off x="868680" y="2331720"/>
            <a:ext cx="868680" cy="8686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12352A"/>
                </a:solidFill>
                <a:latin typeface="Calibri" panose="020F0502020204030204"/>
              </a:rPr>
              <a:t>1</a:t>
            </a:r>
            <a:endParaRPr sz="3000" b="1">
              <a:solidFill>
                <a:srgbClr val="12352A"/>
              </a:solidFill>
              <a:latin typeface="Calibri" panose="020F0502020204030204"/>
            </a:endParaRPr>
          </a:p>
        </p:txBody>
      </p:sp>
      <p:sp>
        <p:nvSpPr>
          <p:cNvPr id="3" name="TextBox 2"/>
          <p:cNvSpPr txBox="1"/>
          <p:nvPr/>
        </p:nvSpPr>
        <p:spPr>
          <a:xfrm>
            <a:off x="2057400" y="2395728"/>
            <a:ext cx="8961120" cy="822960"/>
          </a:xfrm>
          <a:prstGeom prst="rect">
            <a:avLst/>
          </a:prstGeom>
          <a:noFill/>
        </p:spPr>
        <p:txBody>
          <a:bodyPr wrap="square" lIns="0" tIns="0" rIns="0" bIns="0" anchor="t">
            <a:spAutoFit/>
          </a:bodyPr>
          <a:lstStyle/>
          <a:p>
            <a:pPr algn="l">
              <a:spcBef>
                <a:spcPts val="0"/>
              </a:spcBef>
              <a:spcAft>
                <a:spcPts val="0"/>
              </a:spcAft>
            </a:pPr>
            <a:r>
              <a:rPr sz="3600" b="1" i="0">
                <a:solidFill>
                  <a:srgbClr val="FFFFFF"/>
                </a:solidFill>
                <a:latin typeface="Cambria" panose="02040503050406030204"/>
              </a:rPr>
              <a:t>Bài toán</a:t>
            </a:r>
            <a:endParaRPr sz="3600" b="1" i="0">
              <a:solidFill>
                <a:srgbClr val="FFFFFF"/>
              </a:solidFill>
              <a:latin typeface="Cambria" panose="02040503050406030204"/>
            </a:endParaRPr>
          </a:p>
        </p:txBody>
      </p:sp>
      <p:sp>
        <p:nvSpPr>
          <p:cNvPr id="4" name="TextBox 3"/>
          <p:cNvSpPr txBox="1"/>
          <p:nvPr/>
        </p:nvSpPr>
        <p:spPr>
          <a:xfrm>
            <a:off x="2057400" y="3273552"/>
            <a:ext cx="8961120" cy="548640"/>
          </a:xfrm>
          <a:prstGeom prst="rect">
            <a:avLst/>
          </a:prstGeom>
          <a:noFill/>
        </p:spPr>
        <p:txBody>
          <a:bodyPr wrap="square" lIns="0" tIns="0" rIns="0" bIns="0" anchor="t">
            <a:spAutoFit/>
          </a:bodyPr>
          <a:lstStyle/>
          <a:p>
            <a:pPr algn="l">
              <a:spcBef>
                <a:spcPts val="0"/>
              </a:spcBef>
              <a:spcAft>
                <a:spcPts val="0"/>
              </a:spcAft>
            </a:pPr>
            <a:r>
              <a:rPr sz="1500" b="0" i="0">
                <a:solidFill>
                  <a:srgbClr val="8FBF9F"/>
                </a:solidFill>
                <a:latin typeface="Calibri" panose="020F0502020204030204"/>
              </a:rPr>
              <a:t>Vì sao hàng tiêu dùng nhanh có hạn sử dụng ngắn lại là một bài toán khó</a:t>
            </a:r>
            <a:endParaRPr sz="1500" b="0" i="0">
              <a:solidFill>
                <a:srgbClr val="8FBF9F"/>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Bối cảnh nghiệp vụ</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Hàng FMCG luân chuyển qua 5 mắt xích</a:t>
            </a:r>
            <a:endParaRPr sz="3000" b="1" i="0">
              <a:solidFill>
                <a:srgbClr val="1C2B24"/>
              </a:solidFill>
              <a:latin typeface="Cambria" panose="02040503050406030204"/>
            </a:endParaRPr>
          </a:p>
        </p:txBody>
      </p:sp>
      <p:sp>
        <p:nvSpPr>
          <p:cNvPr id="4" name="Rounded Rectangle 3"/>
          <p:cNvSpPr/>
          <p:nvPr/>
        </p:nvSpPr>
        <p:spPr>
          <a:xfrm>
            <a:off x="566928" y="1828800"/>
            <a:ext cx="1874519" cy="13716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94944" y="2084831"/>
            <a:ext cx="1618488" cy="914400"/>
          </a:xfrm>
          <a:prstGeom prst="rect">
            <a:avLst/>
          </a:prstGeom>
          <a:noFill/>
        </p:spPr>
        <p:txBody>
          <a:bodyPr wrap="square" lIns="0" tIns="0" rIns="0" bIns="0" anchor="ctr">
            <a:spAutoFit/>
          </a:bodyPr>
          <a:lstStyle/>
          <a:p>
            <a:pPr algn="ctr">
              <a:spcBef>
                <a:spcPts val="0"/>
              </a:spcBef>
              <a:spcAft>
                <a:spcPts val="0"/>
              </a:spcAft>
            </a:pPr>
            <a:r>
              <a:rPr sz="1300" b="0" i="0">
                <a:solidFill>
                  <a:srgbClr val="5A6B62"/>
                </a:solidFill>
                <a:latin typeface="Calibri" panose="020F0502020204030204"/>
              </a:rPr>
              <a:t>Nhà</a:t>
            </a:r>
            <a:endParaRPr sz="1300" b="0" i="0">
              <a:solidFill>
                <a:srgbClr val="5A6B62"/>
              </a:solidFill>
              <a:latin typeface="Calibri" panose="020F0502020204030204"/>
            </a:endParaRPr>
          </a:p>
          <a:p>
            <a:pPr algn="ctr">
              <a:spcBef>
                <a:spcPts val="0"/>
              </a:spcBef>
              <a:spcAft>
                <a:spcPts val="0"/>
              </a:spcAft>
            </a:pPr>
            <a:r>
              <a:rPr sz="1300" b="0" i="0">
                <a:solidFill>
                  <a:srgbClr val="5A6B62"/>
                </a:solidFill>
                <a:latin typeface="Calibri" panose="020F0502020204030204"/>
              </a:rPr>
              <a:t>cung cấp</a:t>
            </a:r>
            <a:endParaRPr sz="1300" b="0" i="0">
              <a:solidFill>
                <a:srgbClr val="5A6B62"/>
              </a:solidFill>
              <a:latin typeface="Calibri" panose="020F0502020204030204"/>
            </a:endParaRPr>
          </a:p>
        </p:txBody>
      </p:sp>
      <p:sp>
        <p:nvSpPr>
          <p:cNvPr id="6" name="TextBox 5"/>
          <p:cNvSpPr txBox="1"/>
          <p:nvPr/>
        </p:nvSpPr>
        <p:spPr>
          <a:xfrm>
            <a:off x="2459736" y="2377440"/>
            <a:ext cx="365760" cy="274320"/>
          </a:xfrm>
          <a:prstGeom prst="rect">
            <a:avLst/>
          </a:prstGeom>
          <a:noFill/>
        </p:spPr>
        <p:txBody>
          <a:bodyPr wrap="square" lIns="0" tIns="0" rIns="0" bIns="0" anchor="t">
            <a:spAutoFit/>
          </a:bodyPr>
          <a:lstStyle/>
          <a:p>
            <a:pPr algn="ctr">
              <a:spcBef>
                <a:spcPts val="0"/>
              </a:spcBef>
              <a:spcAft>
                <a:spcPts val="0"/>
              </a:spcAft>
            </a:pPr>
            <a:r>
              <a:rPr sz="1800" b="1" i="0">
                <a:solidFill>
                  <a:srgbClr val="8FBF9F"/>
                </a:solidFill>
                <a:latin typeface="Calibri" panose="020F0502020204030204"/>
              </a:rPr>
              <a:t>→</a:t>
            </a:r>
            <a:endParaRPr sz="1800" b="1" i="0">
              <a:solidFill>
                <a:srgbClr val="8FBF9F"/>
              </a:solidFill>
              <a:latin typeface="Calibri" panose="020F0502020204030204"/>
            </a:endParaRPr>
          </a:p>
        </p:txBody>
      </p:sp>
      <p:sp>
        <p:nvSpPr>
          <p:cNvPr id="7" name="Rounded Rectangle 6"/>
          <p:cNvSpPr/>
          <p:nvPr/>
        </p:nvSpPr>
        <p:spPr>
          <a:xfrm>
            <a:off x="2825496" y="1828800"/>
            <a:ext cx="1874519" cy="137160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53512" y="2084831"/>
            <a:ext cx="1618488" cy="914400"/>
          </a:xfrm>
          <a:prstGeom prst="rect">
            <a:avLst/>
          </a:prstGeom>
          <a:noFill/>
        </p:spPr>
        <p:txBody>
          <a:bodyPr wrap="square" lIns="0" tIns="0" rIns="0" bIns="0" anchor="ctr">
            <a:spAutoFit/>
          </a:bodyPr>
          <a:lstStyle/>
          <a:p>
            <a:pPr algn="ctr">
              <a:spcBef>
                <a:spcPts val="0"/>
              </a:spcBef>
              <a:spcAft>
                <a:spcPts val="0"/>
              </a:spcAft>
            </a:pPr>
            <a:r>
              <a:rPr sz="1300" b="1" i="0">
                <a:solidFill>
                  <a:srgbClr val="1F6F4F"/>
                </a:solidFill>
                <a:latin typeface="Calibri" panose="020F0502020204030204"/>
              </a:rPr>
              <a:t>Tổng kho</a:t>
            </a:r>
            <a:endParaRPr sz="1300" b="1" i="0">
              <a:solidFill>
                <a:srgbClr val="1F6F4F"/>
              </a:solidFill>
              <a:latin typeface="Calibri" panose="020F0502020204030204"/>
            </a:endParaRPr>
          </a:p>
          <a:p>
            <a:pPr algn="ctr">
              <a:spcBef>
                <a:spcPts val="0"/>
              </a:spcBef>
              <a:spcAft>
                <a:spcPts val="0"/>
              </a:spcAft>
            </a:pPr>
            <a:r>
              <a:rPr sz="1300" b="1" i="0">
                <a:solidFill>
                  <a:srgbClr val="1F6F4F"/>
                </a:solidFill>
                <a:latin typeface="Calibri" panose="020F0502020204030204"/>
              </a:rPr>
              <a:t>(DC)</a:t>
            </a:r>
            <a:endParaRPr sz="1300" b="1" i="0">
              <a:solidFill>
                <a:srgbClr val="1F6F4F"/>
              </a:solidFill>
              <a:latin typeface="Calibri" panose="020F0502020204030204"/>
            </a:endParaRPr>
          </a:p>
        </p:txBody>
      </p:sp>
      <p:sp>
        <p:nvSpPr>
          <p:cNvPr id="9" name="TextBox 8"/>
          <p:cNvSpPr txBox="1"/>
          <p:nvPr/>
        </p:nvSpPr>
        <p:spPr>
          <a:xfrm>
            <a:off x="4718304" y="2377440"/>
            <a:ext cx="365760" cy="274320"/>
          </a:xfrm>
          <a:prstGeom prst="rect">
            <a:avLst/>
          </a:prstGeom>
          <a:noFill/>
        </p:spPr>
        <p:txBody>
          <a:bodyPr wrap="square" lIns="0" tIns="0" rIns="0" bIns="0" anchor="t">
            <a:spAutoFit/>
          </a:bodyPr>
          <a:lstStyle/>
          <a:p>
            <a:pPr algn="ctr">
              <a:spcBef>
                <a:spcPts val="0"/>
              </a:spcBef>
              <a:spcAft>
                <a:spcPts val="0"/>
              </a:spcAft>
            </a:pPr>
            <a:r>
              <a:rPr sz="1800" b="1" i="0">
                <a:solidFill>
                  <a:srgbClr val="8FBF9F"/>
                </a:solidFill>
                <a:latin typeface="Calibri" panose="020F0502020204030204"/>
              </a:rPr>
              <a:t>→</a:t>
            </a:r>
            <a:endParaRPr sz="1800" b="1" i="0">
              <a:solidFill>
                <a:srgbClr val="8FBF9F"/>
              </a:solidFill>
              <a:latin typeface="Calibri" panose="020F0502020204030204"/>
            </a:endParaRPr>
          </a:p>
        </p:txBody>
      </p:sp>
      <p:sp>
        <p:nvSpPr>
          <p:cNvPr id="10" name="Rounded Rectangle 9"/>
          <p:cNvSpPr/>
          <p:nvPr/>
        </p:nvSpPr>
        <p:spPr>
          <a:xfrm>
            <a:off x="5084064" y="1828800"/>
            <a:ext cx="1874519" cy="137160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12080" y="2084831"/>
            <a:ext cx="1618488" cy="914400"/>
          </a:xfrm>
          <a:prstGeom prst="rect">
            <a:avLst/>
          </a:prstGeom>
          <a:noFill/>
        </p:spPr>
        <p:txBody>
          <a:bodyPr wrap="square" lIns="0" tIns="0" rIns="0" bIns="0" anchor="ctr">
            <a:spAutoFit/>
          </a:bodyPr>
          <a:lstStyle/>
          <a:p>
            <a:pPr algn="ctr">
              <a:spcBef>
                <a:spcPts val="0"/>
              </a:spcBef>
              <a:spcAft>
                <a:spcPts val="0"/>
              </a:spcAft>
            </a:pPr>
            <a:r>
              <a:rPr sz="1300" b="1" i="0">
                <a:solidFill>
                  <a:srgbClr val="1F6F4F"/>
                </a:solidFill>
                <a:latin typeface="Calibri" panose="020F0502020204030204"/>
              </a:rPr>
              <a:t>Kho</a:t>
            </a:r>
            <a:endParaRPr sz="1300" b="1" i="0">
              <a:solidFill>
                <a:srgbClr val="1F6F4F"/>
              </a:solidFill>
              <a:latin typeface="Calibri" panose="020F0502020204030204"/>
            </a:endParaRPr>
          </a:p>
          <a:p>
            <a:pPr algn="ctr">
              <a:spcBef>
                <a:spcPts val="0"/>
              </a:spcBef>
              <a:spcAft>
                <a:spcPts val="0"/>
              </a:spcAft>
            </a:pPr>
            <a:r>
              <a:rPr sz="1300" b="1" i="0">
                <a:solidFill>
                  <a:srgbClr val="1F6F4F"/>
                </a:solidFill>
                <a:latin typeface="Calibri" panose="020F0502020204030204"/>
              </a:rPr>
              <a:t>chi nhánh</a:t>
            </a:r>
            <a:endParaRPr sz="1300" b="1" i="0">
              <a:solidFill>
                <a:srgbClr val="1F6F4F"/>
              </a:solidFill>
              <a:latin typeface="Calibri" panose="020F0502020204030204"/>
            </a:endParaRPr>
          </a:p>
        </p:txBody>
      </p:sp>
      <p:sp>
        <p:nvSpPr>
          <p:cNvPr id="12" name="TextBox 11"/>
          <p:cNvSpPr txBox="1"/>
          <p:nvPr/>
        </p:nvSpPr>
        <p:spPr>
          <a:xfrm>
            <a:off x="6976872" y="2377440"/>
            <a:ext cx="365760" cy="274320"/>
          </a:xfrm>
          <a:prstGeom prst="rect">
            <a:avLst/>
          </a:prstGeom>
          <a:noFill/>
        </p:spPr>
        <p:txBody>
          <a:bodyPr wrap="square" lIns="0" tIns="0" rIns="0" bIns="0" anchor="t">
            <a:spAutoFit/>
          </a:bodyPr>
          <a:lstStyle/>
          <a:p>
            <a:pPr algn="ctr">
              <a:spcBef>
                <a:spcPts val="0"/>
              </a:spcBef>
              <a:spcAft>
                <a:spcPts val="0"/>
              </a:spcAft>
            </a:pPr>
            <a:r>
              <a:rPr sz="1800" b="1" i="0">
                <a:solidFill>
                  <a:srgbClr val="8FBF9F"/>
                </a:solidFill>
                <a:latin typeface="Calibri" panose="020F0502020204030204"/>
              </a:rPr>
              <a:t>→</a:t>
            </a:r>
            <a:endParaRPr sz="1800" b="1" i="0">
              <a:solidFill>
                <a:srgbClr val="8FBF9F"/>
              </a:solidFill>
              <a:latin typeface="Calibri" panose="020F0502020204030204"/>
            </a:endParaRPr>
          </a:p>
        </p:txBody>
      </p:sp>
      <p:sp>
        <p:nvSpPr>
          <p:cNvPr id="13" name="Rounded Rectangle 12"/>
          <p:cNvSpPr/>
          <p:nvPr/>
        </p:nvSpPr>
        <p:spPr>
          <a:xfrm>
            <a:off x="7342632" y="1828800"/>
            <a:ext cx="1874519" cy="137160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70648" y="2084831"/>
            <a:ext cx="1618488" cy="914400"/>
          </a:xfrm>
          <a:prstGeom prst="rect">
            <a:avLst/>
          </a:prstGeom>
          <a:noFill/>
        </p:spPr>
        <p:txBody>
          <a:bodyPr wrap="square" lIns="0" tIns="0" rIns="0" bIns="0" anchor="ctr">
            <a:spAutoFit/>
          </a:bodyPr>
          <a:lstStyle/>
          <a:p>
            <a:pPr algn="ctr">
              <a:spcBef>
                <a:spcPts val="0"/>
              </a:spcBef>
              <a:spcAft>
                <a:spcPts val="0"/>
              </a:spcAft>
            </a:pPr>
            <a:r>
              <a:rPr sz="1300" b="1" i="0">
                <a:solidFill>
                  <a:srgbClr val="1F6F4F"/>
                </a:solidFill>
                <a:latin typeface="Calibri" panose="020F0502020204030204"/>
              </a:rPr>
              <a:t>Điểm</a:t>
            </a:r>
            <a:endParaRPr sz="1300" b="1" i="0">
              <a:solidFill>
                <a:srgbClr val="1F6F4F"/>
              </a:solidFill>
              <a:latin typeface="Calibri" panose="020F0502020204030204"/>
            </a:endParaRPr>
          </a:p>
          <a:p>
            <a:pPr algn="ctr">
              <a:spcBef>
                <a:spcPts val="0"/>
              </a:spcBef>
              <a:spcAft>
                <a:spcPts val="0"/>
              </a:spcAft>
            </a:pPr>
            <a:r>
              <a:rPr sz="1300" b="1" i="0">
                <a:solidFill>
                  <a:srgbClr val="1F6F4F"/>
                </a:solidFill>
                <a:latin typeface="Calibri" panose="020F0502020204030204"/>
              </a:rPr>
              <a:t>bán lẻ</a:t>
            </a:r>
            <a:endParaRPr sz="1300" b="1" i="0">
              <a:solidFill>
                <a:srgbClr val="1F6F4F"/>
              </a:solidFill>
              <a:latin typeface="Calibri" panose="020F0502020204030204"/>
            </a:endParaRPr>
          </a:p>
        </p:txBody>
      </p:sp>
      <p:sp>
        <p:nvSpPr>
          <p:cNvPr id="15" name="TextBox 14"/>
          <p:cNvSpPr txBox="1"/>
          <p:nvPr/>
        </p:nvSpPr>
        <p:spPr>
          <a:xfrm>
            <a:off x="9235440" y="2377440"/>
            <a:ext cx="365760" cy="274320"/>
          </a:xfrm>
          <a:prstGeom prst="rect">
            <a:avLst/>
          </a:prstGeom>
          <a:noFill/>
        </p:spPr>
        <p:txBody>
          <a:bodyPr wrap="square" lIns="0" tIns="0" rIns="0" bIns="0" anchor="t">
            <a:spAutoFit/>
          </a:bodyPr>
          <a:lstStyle/>
          <a:p>
            <a:pPr algn="ctr">
              <a:spcBef>
                <a:spcPts val="0"/>
              </a:spcBef>
              <a:spcAft>
                <a:spcPts val="0"/>
              </a:spcAft>
            </a:pPr>
            <a:r>
              <a:rPr sz="1800" b="1" i="0">
                <a:solidFill>
                  <a:srgbClr val="8FBF9F"/>
                </a:solidFill>
                <a:latin typeface="Calibri" panose="020F0502020204030204"/>
              </a:rPr>
              <a:t>→</a:t>
            </a:r>
            <a:endParaRPr sz="1800" b="1" i="0">
              <a:solidFill>
                <a:srgbClr val="8FBF9F"/>
              </a:solidFill>
              <a:latin typeface="Calibri" panose="020F0502020204030204"/>
            </a:endParaRPr>
          </a:p>
        </p:txBody>
      </p:sp>
      <p:sp>
        <p:nvSpPr>
          <p:cNvPr id="16" name="Rounded Rectangle 15"/>
          <p:cNvSpPr/>
          <p:nvPr/>
        </p:nvSpPr>
        <p:spPr>
          <a:xfrm>
            <a:off x="9601200" y="1828800"/>
            <a:ext cx="1874519" cy="13716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29216" y="2084831"/>
            <a:ext cx="1618488" cy="914400"/>
          </a:xfrm>
          <a:prstGeom prst="rect">
            <a:avLst/>
          </a:prstGeom>
          <a:noFill/>
        </p:spPr>
        <p:txBody>
          <a:bodyPr wrap="square" lIns="0" tIns="0" rIns="0" bIns="0" anchor="ctr">
            <a:spAutoFit/>
          </a:bodyPr>
          <a:lstStyle/>
          <a:p>
            <a:pPr algn="ctr">
              <a:spcBef>
                <a:spcPts val="0"/>
              </a:spcBef>
              <a:spcAft>
                <a:spcPts val="0"/>
              </a:spcAft>
            </a:pPr>
            <a:r>
              <a:rPr sz="1300" b="0" i="0">
                <a:solidFill>
                  <a:srgbClr val="5A6B62"/>
                </a:solidFill>
                <a:latin typeface="Calibri" panose="020F0502020204030204"/>
              </a:rPr>
              <a:t>Người</a:t>
            </a:r>
            <a:endParaRPr sz="1300" b="0" i="0">
              <a:solidFill>
                <a:srgbClr val="5A6B62"/>
              </a:solidFill>
              <a:latin typeface="Calibri" panose="020F0502020204030204"/>
            </a:endParaRPr>
          </a:p>
          <a:p>
            <a:pPr algn="ctr">
              <a:spcBef>
                <a:spcPts val="0"/>
              </a:spcBef>
              <a:spcAft>
                <a:spcPts val="0"/>
              </a:spcAft>
            </a:pPr>
            <a:r>
              <a:rPr sz="1300" b="0" i="0">
                <a:solidFill>
                  <a:srgbClr val="5A6B62"/>
                </a:solidFill>
                <a:latin typeface="Calibri" panose="020F0502020204030204"/>
              </a:rPr>
              <a:t>tiêu dùng</a:t>
            </a:r>
            <a:endParaRPr sz="1300" b="0" i="0">
              <a:solidFill>
                <a:srgbClr val="5A6B62"/>
              </a:solidFill>
              <a:latin typeface="Calibri" panose="020F0502020204030204"/>
            </a:endParaRPr>
          </a:p>
        </p:txBody>
      </p:sp>
      <p:sp>
        <p:nvSpPr>
          <p:cNvPr id="18" name="Rounded Rectangle 17"/>
          <p:cNvSpPr/>
          <p:nvPr/>
        </p:nvSpPr>
        <p:spPr>
          <a:xfrm>
            <a:off x="566928" y="3611880"/>
            <a:ext cx="11064240" cy="914400"/>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3803904"/>
            <a:ext cx="10424160" cy="548640"/>
          </a:xfrm>
          <a:prstGeom prst="rect">
            <a:avLst/>
          </a:prstGeom>
          <a:noFill/>
        </p:spPr>
        <p:txBody>
          <a:bodyPr wrap="square" lIns="0" tIns="0" rIns="0" bIns="0" anchor="t">
            <a:spAutoFit/>
          </a:bodyPr>
          <a:lstStyle/>
          <a:p>
            <a:pPr algn="l">
              <a:spcBef>
                <a:spcPts val="0"/>
              </a:spcBef>
              <a:spcAft>
                <a:spcPts val="0"/>
              </a:spcAft>
            </a:pPr>
            <a:r>
              <a:rPr sz="1500" b="1" i="0">
                <a:solidFill>
                  <a:srgbClr val="8A520B"/>
                </a:solidFill>
                <a:latin typeface="Calibri" panose="020F0502020204030204"/>
              </a:rPr>
              <a:t>Phạm vi đề tài: ba mắt xích ở giữa — nơi hàng nằm chờ lâu nhất và rủi ro hết hạn cao nhất.</a:t>
            </a:r>
            <a:endParaRPr sz="1500" b="1" i="0">
              <a:solidFill>
                <a:srgbClr val="8A520B"/>
              </a:solidFill>
              <a:latin typeface="Calibri" panose="020F0502020204030204"/>
            </a:endParaRPr>
          </a:p>
        </p:txBody>
      </p:sp>
      <p:sp>
        <p:nvSpPr>
          <p:cNvPr id="20" name="TextBox 19"/>
          <p:cNvSpPr txBox="1"/>
          <p:nvPr/>
        </p:nvSpPr>
        <p:spPr>
          <a:xfrm>
            <a:off x="566928" y="4800600"/>
            <a:ext cx="11064240" cy="1280160"/>
          </a:xfrm>
          <a:prstGeom prst="rect">
            <a:avLst/>
          </a:prstGeom>
          <a:noFill/>
        </p:spPr>
        <p:txBody>
          <a:bodyPr wrap="square" lIns="0" tIns="0" rIns="0" bIns="0" anchor="t">
            <a:spAutoFit/>
          </a:bodyPr>
          <a:lstStyle/>
          <a:p>
            <a:pPr algn="l">
              <a:spcAft>
                <a:spcPts val="900"/>
              </a:spcAft>
            </a:pPr>
            <a:r>
              <a:rPr sz="1400" b="1">
                <a:solidFill>
                  <a:srgbClr val="1F6F4F"/>
                </a:solidFill>
                <a:latin typeface="Calibri" panose="020F0502020204030204"/>
              </a:rPr>
              <a:t>Tốc độ luân chuyển cao. </a:t>
            </a:r>
            <a:r>
              <a:rPr sz="1400" b="0">
                <a:solidFill>
                  <a:srgbClr val="1C2B24"/>
                </a:solidFill>
                <a:latin typeface="Calibri" panose="020F0502020204030204"/>
              </a:rPr>
              <a:t>Hàng đi qua nhiều kho trung gian, mỗi chặng đều tiêu tốn thời gian còn lại của sản phẩm.</a:t>
            </a:r>
            <a:endParaRPr sz="1400" b="0">
              <a:solidFill>
                <a:srgbClr val="1C2B24"/>
              </a:solidFill>
              <a:latin typeface="Calibri" panose="020F0502020204030204"/>
            </a:endParaRPr>
          </a:p>
          <a:p>
            <a:pPr>
              <a:spcAft>
                <a:spcPts val="900"/>
              </a:spcAft>
            </a:pPr>
            <a:r>
              <a:rPr sz="1400" b="1">
                <a:solidFill>
                  <a:srgbClr val="1F6F4F"/>
                </a:solidFill>
                <a:latin typeface="Calibri" panose="020F0502020204030204"/>
              </a:rPr>
              <a:t>Không có điểm dừng. </a:t>
            </a:r>
            <a:r>
              <a:rPr sz="1400" b="0">
                <a:solidFill>
                  <a:srgbClr val="1C2B24"/>
                </a:solidFill>
                <a:latin typeface="Calibri" panose="020F0502020204030204"/>
              </a:rPr>
              <a:t>Hàng vào kho hôm nay đã bắt đầu mất giá trị từ ngày mai.</a:t>
            </a:r>
            <a:endParaRPr sz="1400" b="0">
              <a:solidFill>
                <a:srgbClr val="1C2B24"/>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Định vị sản phẩm</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Vì sao chọn phân khúc hàng có hạn sử dụng ngắn</a:t>
            </a:r>
            <a:endParaRPr sz="3000" b="1" i="0">
              <a:solidFill>
                <a:srgbClr val="1C2B24"/>
              </a:solidFill>
              <a:latin typeface="Cambria" panose="02040503050406030204"/>
            </a:endParaRPr>
          </a:p>
        </p:txBody>
      </p:sp>
      <p:sp>
        <p:nvSpPr>
          <p:cNvPr id="4" name="Rounded Rectangle 3"/>
          <p:cNvSpPr/>
          <p:nvPr/>
        </p:nvSpPr>
        <p:spPr>
          <a:xfrm>
            <a:off x="566928" y="1783080"/>
            <a:ext cx="3566160" cy="233172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7" y="2057400"/>
            <a:ext cx="3017520" cy="685800"/>
          </a:xfrm>
          <a:prstGeom prst="rect">
            <a:avLst/>
          </a:prstGeom>
          <a:noFill/>
        </p:spPr>
        <p:txBody>
          <a:bodyPr wrap="square" lIns="0" tIns="0" rIns="0" bIns="0" anchor="t">
            <a:spAutoFit/>
          </a:bodyPr>
          <a:lstStyle/>
          <a:p>
            <a:pPr algn="l">
              <a:spcBef>
                <a:spcPts val="0"/>
              </a:spcBef>
              <a:spcAft>
                <a:spcPts val="0"/>
              </a:spcAft>
            </a:pPr>
            <a:r>
              <a:rPr sz="3400" b="1" i="0">
                <a:solidFill>
                  <a:srgbClr val="1F6F4F"/>
                </a:solidFill>
                <a:latin typeface="Cambria" panose="02040503050406030204"/>
              </a:rPr>
              <a:t>10 – 45</a:t>
            </a:r>
            <a:endParaRPr sz="3400" b="1" i="0">
              <a:solidFill>
                <a:srgbClr val="1F6F4F"/>
              </a:solidFill>
              <a:latin typeface="Cambria" panose="02040503050406030204"/>
            </a:endParaRPr>
          </a:p>
        </p:txBody>
      </p:sp>
      <p:sp>
        <p:nvSpPr>
          <p:cNvPr id="6" name="TextBox 5"/>
          <p:cNvSpPr txBox="1"/>
          <p:nvPr/>
        </p:nvSpPr>
        <p:spPr>
          <a:xfrm>
            <a:off x="841247" y="2761488"/>
            <a:ext cx="301752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ngày hạn sử dụng</a:t>
            </a:r>
            <a:endParaRPr sz="1400" b="1" i="0">
              <a:solidFill>
                <a:srgbClr val="1C2B24"/>
              </a:solidFill>
              <a:latin typeface="Calibri" panose="020F0502020204030204"/>
            </a:endParaRPr>
          </a:p>
        </p:txBody>
      </p:sp>
      <p:sp>
        <p:nvSpPr>
          <p:cNvPr id="7" name="TextBox 6"/>
          <p:cNvSpPr txBox="1"/>
          <p:nvPr/>
        </p:nvSpPr>
        <p:spPr>
          <a:xfrm>
            <a:off x="841247" y="3154680"/>
            <a:ext cx="3017520" cy="7772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Bánh tươi, sữa, đồ mát — vòng đời rất ngắn</a:t>
            </a:r>
            <a:endParaRPr sz="1250" b="0" i="0">
              <a:solidFill>
                <a:srgbClr val="5A6B62"/>
              </a:solidFill>
              <a:latin typeface="Calibri" panose="020F0502020204030204"/>
            </a:endParaRPr>
          </a:p>
        </p:txBody>
      </p:sp>
      <p:sp>
        <p:nvSpPr>
          <p:cNvPr id="8" name="Rounded Rectangle 7"/>
          <p:cNvSpPr/>
          <p:nvPr/>
        </p:nvSpPr>
        <p:spPr>
          <a:xfrm>
            <a:off x="4315968" y="1783080"/>
            <a:ext cx="3566160" cy="233172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90288" y="2057400"/>
            <a:ext cx="3017520" cy="685800"/>
          </a:xfrm>
          <a:prstGeom prst="rect">
            <a:avLst/>
          </a:prstGeom>
          <a:noFill/>
        </p:spPr>
        <p:txBody>
          <a:bodyPr wrap="square" lIns="0" tIns="0" rIns="0" bIns="0" anchor="t">
            <a:spAutoFit/>
          </a:bodyPr>
          <a:lstStyle/>
          <a:p>
            <a:pPr algn="l">
              <a:spcBef>
                <a:spcPts val="0"/>
              </a:spcBef>
              <a:spcAft>
                <a:spcPts val="0"/>
              </a:spcAft>
            </a:pPr>
            <a:r>
              <a:rPr sz="3400" b="1" i="0">
                <a:solidFill>
                  <a:srgbClr val="1F6F4F"/>
                </a:solidFill>
                <a:latin typeface="Cambria" panose="02040503050406030204"/>
              </a:rPr>
              <a:t>Giảm dần</a:t>
            </a:r>
            <a:endParaRPr sz="3400" b="1" i="0">
              <a:solidFill>
                <a:srgbClr val="1F6F4F"/>
              </a:solidFill>
              <a:latin typeface="Cambria" panose="02040503050406030204"/>
            </a:endParaRPr>
          </a:p>
        </p:txBody>
      </p:sp>
      <p:sp>
        <p:nvSpPr>
          <p:cNvPr id="10" name="TextBox 9"/>
          <p:cNvSpPr txBox="1"/>
          <p:nvPr/>
        </p:nvSpPr>
        <p:spPr>
          <a:xfrm>
            <a:off x="4590288" y="2761488"/>
            <a:ext cx="301752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giá trị theo ngày</a:t>
            </a:r>
            <a:endParaRPr sz="1400" b="1" i="0">
              <a:solidFill>
                <a:srgbClr val="1C2B24"/>
              </a:solidFill>
              <a:latin typeface="Calibri" panose="020F0502020204030204"/>
            </a:endParaRPr>
          </a:p>
        </p:txBody>
      </p:sp>
      <p:sp>
        <p:nvSpPr>
          <p:cNvPr id="11" name="TextBox 10"/>
          <p:cNvSpPr txBox="1"/>
          <p:nvPr/>
        </p:nvSpPr>
        <p:spPr>
          <a:xfrm>
            <a:off x="4590288" y="3154680"/>
            <a:ext cx="3017520" cy="7772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Càng cận date càng khó bán, phải giảm giá sâu</a:t>
            </a:r>
            <a:endParaRPr sz="1250" b="0" i="0">
              <a:solidFill>
                <a:srgbClr val="5A6B62"/>
              </a:solidFill>
              <a:latin typeface="Calibri" panose="020F0502020204030204"/>
            </a:endParaRPr>
          </a:p>
        </p:txBody>
      </p:sp>
      <p:sp>
        <p:nvSpPr>
          <p:cNvPr id="12" name="Rounded Rectangle 11"/>
          <p:cNvSpPr/>
          <p:nvPr/>
        </p:nvSpPr>
        <p:spPr>
          <a:xfrm>
            <a:off x="8065008" y="1783080"/>
            <a:ext cx="3566160" cy="233172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39328" y="2057400"/>
            <a:ext cx="3017520" cy="685800"/>
          </a:xfrm>
          <a:prstGeom prst="rect">
            <a:avLst/>
          </a:prstGeom>
          <a:noFill/>
        </p:spPr>
        <p:txBody>
          <a:bodyPr wrap="square" lIns="0" tIns="0" rIns="0" bIns="0" anchor="t">
            <a:spAutoFit/>
          </a:bodyPr>
          <a:lstStyle/>
          <a:p>
            <a:pPr algn="l">
              <a:spcBef>
                <a:spcPts val="0"/>
              </a:spcBef>
              <a:spcAft>
                <a:spcPts val="0"/>
              </a:spcAft>
            </a:pPr>
            <a:r>
              <a:rPr sz="3400" b="1" i="0">
                <a:solidFill>
                  <a:srgbClr val="1F6F4F"/>
                </a:solidFill>
                <a:latin typeface="Cambria" panose="02040503050406030204"/>
              </a:rPr>
              <a:t>Hủy hàng</a:t>
            </a:r>
            <a:endParaRPr sz="3400" b="1" i="0">
              <a:solidFill>
                <a:srgbClr val="1F6F4F"/>
              </a:solidFill>
              <a:latin typeface="Cambria" panose="02040503050406030204"/>
            </a:endParaRPr>
          </a:p>
        </p:txBody>
      </p:sp>
      <p:sp>
        <p:nvSpPr>
          <p:cNvPr id="14" name="TextBox 13"/>
          <p:cNvSpPr txBox="1"/>
          <p:nvPr/>
        </p:nvSpPr>
        <p:spPr>
          <a:xfrm>
            <a:off x="8339328" y="2761488"/>
            <a:ext cx="301752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khi quá hạn</a:t>
            </a:r>
            <a:endParaRPr sz="1400" b="1" i="0">
              <a:solidFill>
                <a:srgbClr val="1C2B24"/>
              </a:solidFill>
              <a:latin typeface="Calibri" panose="020F0502020204030204"/>
            </a:endParaRPr>
          </a:p>
        </p:txBody>
      </p:sp>
      <p:sp>
        <p:nvSpPr>
          <p:cNvPr id="15" name="TextBox 14"/>
          <p:cNvSpPr txBox="1"/>
          <p:nvPr/>
        </p:nvSpPr>
        <p:spPr>
          <a:xfrm>
            <a:off x="8339328" y="3154680"/>
            <a:ext cx="3017520" cy="7772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Mất trắng toàn bộ giá vốn, không thu hồi được</a:t>
            </a:r>
            <a:endParaRPr sz="1250" b="0" i="0">
              <a:solidFill>
                <a:srgbClr val="5A6B62"/>
              </a:solidFill>
              <a:latin typeface="Calibri" panose="020F0502020204030204"/>
            </a:endParaRPr>
          </a:p>
        </p:txBody>
      </p:sp>
      <p:sp>
        <p:nvSpPr>
          <p:cNvPr id="16" name="TextBox 15"/>
          <p:cNvSpPr txBox="1"/>
          <p:nvPr/>
        </p:nvSpPr>
        <p:spPr>
          <a:xfrm>
            <a:off x="566928" y="4434840"/>
            <a:ext cx="11064240" cy="1737360"/>
          </a:xfrm>
          <a:prstGeom prst="rect">
            <a:avLst/>
          </a:prstGeom>
          <a:noFill/>
        </p:spPr>
        <p:txBody>
          <a:bodyPr wrap="square" lIns="0" tIns="0" rIns="0" bIns="0" anchor="t">
            <a:spAutoFit/>
          </a:bodyPr>
          <a:lstStyle/>
          <a:p>
            <a:pPr algn="l">
              <a:spcBef>
                <a:spcPts val="0"/>
              </a:spcBef>
              <a:spcAft>
                <a:spcPts val="0"/>
              </a:spcAft>
            </a:pPr>
            <a:r>
              <a:rPr sz="1700" b="1" i="0">
                <a:solidFill>
                  <a:srgbClr val="1C2B24"/>
                </a:solidFill>
                <a:latin typeface="Cambria" panose="02040503050406030204"/>
              </a:rPr>
              <a:t>Phân khúc này khắc nghiệt hơn hàng thông thường ở một điểm</a:t>
            </a:r>
            <a:endParaRPr sz="1700" b="1" i="0">
              <a:solidFill>
                <a:srgbClr val="1C2B24"/>
              </a:solidFill>
              <a:latin typeface="Cambria" panose="02040503050406030204"/>
            </a:endParaRPr>
          </a:p>
          <a:p>
            <a:pPr>
              <a:spcAft>
                <a:spcPts val="900"/>
              </a:spcAft>
            </a:pPr>
            <a:r>
              <a:rPr sz="1400" b="1">
                <a:solidFill>
                  <a:srgbClr val="1F6F4F"/>
                </a:solidFill>
                <a:latin typeface="Calibri" panose="020F0502020204030204"/>
              </a:rPr>
              <a:t>Sai một ngày là mất tiền thật. </a:t>
            </a:r>
            <a:r>
              <a:rPr sz="1400" b="0">
                <a:solidFill>
                  <a:srgbClr val="1C2B24"/>
                </a:solidFill>
                <a:latin typeface="Calibri" panose="020F0502020204030204"/>
              </a:rPr>
              <a:t>Với hàng khô, xuất nhầm thứ tự chỉ gây tồn đọng. Với sữa và bánh tươi, xuất nhầm thứ tự đồng nghĩa với hủy hàng.</a:t>
            </a:r>
            <a:endParaRPr sz="1400" b="0">
              <a:solidFill>
                <a:srgbClr val="1C2B24"/>
              </a:solidFill>
              <a:latin typeface="Calibri" panose="020F0502020204030204"/>
            </a:endParaRPr>
          </a:p>
          <a:p>
            <a:pPr>
              <a:spcAft>
                <a:spcPts val="900"/>
              </a:spcAft>
            </a:pPr>
            <a:r>
              <a:rPr sz="1400" b="1">
                <a:solidFill>
                  <a:srgbClr val="1F6F4F"/>
                </a:solidFill>
                <a:latin typeface="Calibri" panose="020F0502020204030204"/>
              </a:rPr>
              <a:t>Không sửa được bằng quy trình thủ công. </a:t>
            </a:r>
            <a:r>
              <a:rPr sz="1400" b="0">
                <a:solidFill>
                  <a:srgbClr val="1C2B24"/>
                </a:solidFill>
                <a:latin typeface="Calibri" panose="020F0502020204030204"/>
              </a:rPr>
              <a:t>Kho có hàng trăm lô, nhân viên không thể tự nhớ lô nào hết hạn trước.</a:t>
            </a:r>
            <a:endParaRPr sz="1400" b="0">
              <a:solidFill>
                <a:srgbClr val="1C2B24"/>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Nỗi đau cốt lõi</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FIFO xuất theo ngày nhập, FEFO xuất theo ngày hết hạn</a:t>
            </a:r>
            <a:endParaRPr sz="3000" b="1" i="0">
              <a:solidFill>
                <a:srgbClr val="1C2B24"/>
              </a:solidFill>
              <a:latin typeface="Cambria" panose="02040503050406030204"/>
            </a:endParaRPr>
          </a:p>
        </p:txBody>
      </p:sp>
      <p:sp>
        <p:nvSpPr>
          <p:cNvPr id="4" name="TextBox 3"/>
          <p:cNvSpPr txBox="1"/>
          <p:nvPr/>
        </p:nvSpPr>
        <p:spPr>
          <a:xfrm>
            <a:off x="566928" y="1572768"/>
            <a:ext cx="11064240" cy="365760"/>
          </a:xfrm>
          <a:prstGeom prst="rect">
            <a:avLst/>
          </a:prstGeom>
          <a:noFill/>
        </p:spPr>
        <p:txBody>
          <a:bodyPr wrap="square" lIns="0" tIns="0" rIns="0" bIns="0" anchor="t">
            <a:spAutoFit/>
          </a:bodyPr>
          <a:lstStyle/>
          <a:p>
            <a:pPr algn="l">
              <a:spcBef>
                <a:spcPts val="0"/>
              </a:spcBef>
              <a:spcAft>
                <a:spcPts val="0"/>
              </a:spcAft>
            </a:pPr>
            <a:r>
              <a:rPr sz="1450" b="0" i="0">
                <a:solidFill>
                  <a:srgbClr val="5A6B62"/>
                </a:solidFill>
                <a:latin typeface="Calibri" panose="020F0502020204030204"/>
              </a:rPr>
              <a:t>Cùng một kho có 2 lô sữa, đơn hàng cần 100 thùng:</a:t>
            </a:r>
            <a:endParaRPr sz="1450" b="0" i="0">
              <a:solidFill>
                <a:srgbClr val="5A6B62"/>
              </a:solidFill>
              <a:latin typeface="Calibri" panose="020F0502020204030204"/>
            </a:endParaRPr>
          </a:p>
        </p:txBody>
      </p:sp>
      <p:sp>
        <p:nvSpPr>
          <p:cNvPr id="5" name="Rounded Rectangle 4"/>
          <p:cNvSpPr/>
          <p:nvPr/>
        </p:nvSpPr>
        <p:spPr>
          <a:xfrm>
            <a:off x="566928" y="2057400"/>
            <a:ext cx="5440680" cy="2606040"/>
          </a:xfrm>
          <a:prstGeom prst="roundRect">
            <a:avLst>
              <a:gd name="adj" fmla="val 6000"/>
            </a:avLst>
          </a:prstGeom>
          <a:solidFill>
            <a:srgbClr val="FAECEA"/>
          </a:solidFill>
          <a:ln w="12700">
            <a:solidFill>
              <a:srgbClr val="B33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2286000"/>
            <a:ext cx="4846320" cy="365760"/>
          </a:xfrm>
          <a:prstGeom prst="rect">
            <a:avLst/>
          </a:prstGeom>
          <a:noFill/>
        </p:spPr>
        <p:txBody>
          <a:bodyPr wrap="square" lIns="0" tIns="0" rIns="0" bIns="0" anchor="t">
            <a:spAutoFit/>
          </a:bodyPr>
          <a:lstStyle/>
          <a:p>
            <a:pPr algn="l">
              <a:spcBef>
                <a:spcPts val="0"/>
              </a:spcBef>
              <a:spcAft>
                <a:spcPts val="0"/>
              </a:spcAft>
            </a:pPr>
            <a:r>
              <a:rPr sz="1700" b="1" i="0">
                <a:solidFill>
                  <a:srgbClr val="B33A2F"/>
                </a:solidFill>
                <a:latin typeface="Cambria" panose="02040503050406030204"/>
              </a:rPr>
              <a:t>FIFO — nhập trước, xuất trước</a:t>
            </a:r>
            <a:endParaRPr sz="1700" b="1" i="0">
              <a:solidFill>
                <a:srgbClr val="B33A2F"/>
              </a:solidFill>
              <a:latin typeface="Cambria" panose="02040503050406030204"/>
            </a:endParaRPr>
          </a:p>
        </p:txBody>
      </p:sp>
      <p:sp>
        <p:nvSpPr>
          <p:cNvPr id="7" name="TextBox 6"/>
          <p:cNvSpPr txBox="1"/>
          <p:nvPr/>
        </p:nvSpPr>
        <p:spPr>
          <a:xfrm>
            <a:off x="868680" y="2743200"/>
            <a:ext cx="4846320" cy="1737360"/>
          </a:xfrm>
          <a:prstGeom prst="rect">
            <a:avLst/>
          </a:prstGeom>
          <a:noFill/>
        </p:spPr>
        <p:txBody>
          <a:bodyPr wrap="square" lIns="0" tIns="0" rIns="0" bIns="0" anchor="t">
            <a:spAutoFit/>
          </a:bodyPr>
          <a:lstStyle/>
          <a:p>
            <a:pPr algn="l">
              <a:spcAft>
                <a:spcPts val="800"/>
              </a:spcAft>
            </a:pPr>
            <a:r>
              <a:rPr sz="1350" b="1">
                <a:solidFill>
                  <a:srgbClr val="1F6F4F"/>
                </a:solidFill>
                <a:latin typeface="Calibri" panose="020F0502020204030204"/>
              </a:rPr>
              <a:t>Lô A </a:t>
            </a:r>
            <a:r>
              <a:rPr sz="1350" b="0">
                <a:solidFill>
                  <a:srgbClr val="1C2B24"/>
                </a:solidFill>
                <a:latin typeface="Calibri" panose="020F0502020204030204"/>
              </a:rPr>
              <a:t>nhập 01/09, HSD 30/09 → xuất trước vì nhập trước</a:t>
            </a:r>
            <a:endParaRPr sz="1350" b="0">
              <a:solidFill>
                <a:srgbClr val="1C2B24"/>
              </a:solidFill>
              <a:latin typeface="Calibri" panose="020F0502020204030204"/>
            </a:endParaRPr>
          </a:p>
          <a:p>
            <a:pPr>
              <a:spcAft>
                <a:spcPts val="800"/>
              </a:spcAft>
            </a:pPr>
            <a:r>
              <a:rPr sz="1350" b="1">
                <a:solidFill>
                  <a:srgbClr val="1F6F4F"/>
                </a:solidFill>
                <a:latin typeface="Calibri" panose="020F0502020204030204"/>
              </a:rPr>
              <a:t>Lô B </a:t>
            </a:r>
            <a:r>
              <a:rPr sz="1350" b="0">
                <a:solidFill>
                  <a:srgbClr val="1C2B24"/>
                </a:solidFill>
                <a:latin typeface="Calibri" panose="020F0502020204030204"/>
              </a:rPr>
              <a:t>nhập 05/09, HSD 15/09 → nằm lại trong kho</a:t>
            </a:r>
            <a:endParaRPr sz="1350" b="0">
              <a:solidFill>
                <a:srgbClr val="1C2B24"/>
              </a:solidFill>
              <a:latin typeface="Calibri" panose="020F0502020204030204"/>
            </a:endParaRPr>
          </a:p>
          <a:p>
            <a:pPr>
              <a:spcAft>
                <a:spcPts val="800"/>
              </a:spcAft>
            </a:pPr>
            <a:r>
              <a:rPr sz="1350" b="1">
                <a:solidFill>
                  <a:srgbClr val="1F6F4F"/>
                </a:solidFill>
                <a:latin typeface="Calibri" panose="020F0502020204030204"/>
              </a:rPr>
              <a:t>Hậu quả: </a:t>
            </a:r>
            <a:r>
              <a:rPr sz="1350" b="0">
                <a:solidFill>
                  <a:srgbClr val="1C2B24"/>
                </a:solidFill>
                <a:latin typeface="Calibri" panose="020F0502020204030204"/>
              </a:rPr>
              <a:t>lô B hết hạn ngày 15/09 khi chưa kịp bán, phải hủy toàn bộ.</a:t>
            </a:r>
            <a:endParaRPr sz="1350" b="0">
              <a:solidFill>
                <a:srgbClr val="1C2B24"/>
              </a:solidFill>
              <a:latin typeface="Calibri" panose="020F0502020204030204"/>
            </a:endParaRPr>
          </a:p>
        </p:txBody>
      </p:sp>
      <p:sp>
        <p:nvSpPr>
          <p:cNvPr id="8" name="Rounded Rectangle 7"/>
          <p:cNvSpPr/>
          <p:nvPr/>
        </p:nvSpPr>
        <p:spPr>
          <a:xfrm>
            <a:off x="6190488" y="2057400"/>
            <a:ext cx="5440680" cy="260604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92240" y="2286000"/>
            <a:ext cx="4846320" cy="365760"/>
          </a:xfrm>
          <a:prstGeom prst="rect">
            <a:avLst/>
          </a:prstGeom>
          <a:noFill/>
        </p:spPr>
        <p:txBody>
          <a:bodyPr wrap="square" lIns="0" tIns="0" rIns="0" bIns="0" anchor="t">
            <a:spAutoFit/>
          </a:bodyPr>
          <a:lstStyle/>
          <a:p>
            <a:pPr algn="l">
              <a:spcBef>
                <a:spcPts val="0"/>
              </a:spcBef>
              <a:spcAft>
                <a:spcPts val="0"/>
              </a:spcAft>
            </a:pPr>
            <a:r>
              <a:rPr sz="1700" b="1" i="0">
                <a:solidFill>
                  <a:srgbClr val="1F6F4F"/>
                </a:solidFill>
                <a:latin typeface="Cambria" panose="02040503050406030204"/>
              </a:rPr>
              <a:t>FEFO — hết hạn trước, xuất trước</a:t>
            </a:r>
            <a:endParaRPr sz="1700" b="1" i="0">
              <a:solidFill>
                <a:srgbClr val="1F6F4F"/>
              </a:solidFill>
              <a:latin typeface="Cambria" panose="02040503050406030204"/>
            </a:endParaRPr>
          </a:p>
        </p:txBody>
      </p:sp>
      <p:sp>
        <p:nvSpPr>
          <p:cNvPr id="10" name="TextBox 9"/>
          <p:cNvSpPr txBox="1"/>
          <p:nvPr/>
        </p:nvSpPr>
        <p:spPr>
          <a:xfrm>
            <a:off x="6492240" y="2743200"/>
            <a:ext cx="4846320" cy="1737360"/>
          </a:xfrm>
          <a:prstGeom prst="rect">
            <a:avLst/>
          </a:prstGeom>
          <a:noFill/>
        </p:spPr>
        <p:txBody>
          <a:bodyPr wrap="square" lIns="0" tIns="0" rIns="0" bIns="0" anchor="t">
            <a:spAutoFit/>
          </a:bodyPr>
          <a:lstStyle/>
          <a:p>
            <a:pPr algn="l">
              <a:spcAft>
                <a:spcPts val="800"/>
              </a:spcAft>
            </a:pPr>
            <a:r>
              <a:rPr sz="1350" b="1">
                <a:solidFill>
                  <a:srgbClr val="1F6F4F"/>
                </a:solidFill>
                <a:latin typeface="Calibri" panose="020F0502020204030204"/>
              </a:rPr>
              <a:t>Lô B </a:t>
            </a:r>
            <a:r>
              <a:rPr sz="1350" b="0">
                <a:solidFill>
                  <a:srgbClr val="1C2B24"/>
                </a:solidFill>
                <a:latin typeface="Calibri" panose="020F0502020204030204"/>
              </a:rPr>
              <a:t>HSD 15/09 → hệ thống ép xuất trước dù nhập sau</a:t>
            </a:r>
            <a:endParaRPr sz="1350" b="0">
              <a:solidFill>
                <a:srgbClr val="1C2B24"/>
              </a:solidFill>
              <a:latin typeface="Calibri" panose="020F0502020204030204"/>
            </a:endParaRPr>
          </a:p>
          <a:p>
            <a:pPr>
              <a:spcAft>
                <a:spcPts val="800"/>
              </a:spcAft>
            </a:pPr>
            <a:r>
              <a:rPr sz="1350" b="1">
                <a:solidFill>
                  <a:srgbClr val="1F6F4F"/>
                </a:solidFill>
                <a:latin typeface="Calibri" panose="020F0502020204030204"/>
              </a:rPr>
              <a:t>Lô A </a:t>
            </a:r>
            <a:r>
              <a:rPr sz="1350" b="0">
                <a:solidFill>
                  <a:srgbClr val="1C2B24"/>
                </a:solidFill>
                <a:latin typeface="Calibri" panose="020F0502020204030204"/>
              </a:rPr>
              <a:t>HSD 30/09 → còn nhiều thời gian, để lại</a:t>
            </a:r>
            <a:endParaRPr sz="1350" b="0">
              <a:solidFill>
                <a:srgbClr val="1C2B24"/>
              </a:solidFill>
              <a:latin typeface="Calibri" panose="020F0502020204030204"/>
            </a:endParaRPr>
          </a:p>
          <a:p>
            <a:pPr>
              <a:spcAft>
                <a:spcPts val="800"/>
              </a:spcAft>
            </a:pPr>
            <a:r>
              <a:rPr sz="1350" b="1">
                <a:solidFill>
                  <a:srgbClr val="1F6F4F"/>
                </a:solidFill>
                <a:latin typeface="Calibri" panose="020F0502020204030204"/>
              </a:rPr>
              <a:t>Kết quả: </a:t>
            </a:r>
            <a:r>
              <a:rPr sz="1350" b="0">
                <a:solidFill>
                  <a:srgbClr val="1C2B24"/>
                </a:solidFill>
                <a:latin typeface="Calibri" panose="020F0502020204030204"/>
              </a:rPr>
              <a:t>cả hai lô đều được bán hết trước hạn, không phát sinh hủy hàng.</a:t>
            </a:r>
            <a:endParaRPr sz="1350" b="0">
              <a:solidFill>
                <a:srgbClr val="1C2B24"/>
              </a:solidFill>
              <a:latin typeface="Calibri" panose="020F0502020204030204"/>
            </a:endParaRPr>
          </a:p>
        </p:txBody>
      </p:sp>
      <p:sp>
        <p:nvSpPr>
          <p:cNvPr id="11" name="Rounded Rectangle 10"/>
          <p:cNvSpPr/>
          <p:nvPr/>
        </p:nvSpPr>
        <p:spPr>
          <a:xfrm>
            <a:off x="566928" y="4956048"/>
            <a:ext cx="11064240" cy="960120"/>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5175504"/>
            <a:ext cx="10424160" cy="548640"/>
          </a:xfrm>
          <a:prstGeom prst="rect">
            <a:avLst/>
          </a:prstGeom>
          <a:noFill/>
        </p:spPr>
        <p:txBody>
          <a:bodyPr wrap="square" lIns="0" tIns="0" rIns="0" bIns="0" anchor="t">
            <a:spAutoFit/>
          </a:bodyPr>
          <a:lstStyle/>
          <a:p>
            <a:pPr algn="l">
              <a:spcBef>
                <a:spcPts val="0"/>
              </a:spcBef>
              <a:spcAft>
                <a:spcPts val="0"/>
              </a:spcAft>
            </a:pPr>
            <a:r>
              <a:rPr sz="1500" b="1" i="0">
                <a:solidFill>
                  <a:srgbClr val="8A520B"/>
                </a:solidFill>
                <a:latin typeface="Calibri" panose="020F0502020204030204"/>
              </a:rPr>
              <a:t>Toàn bộ đề tài xoay quanh việc ép hệ thống luôn chọn đúng lô — tự động, không phụ thuộc trí nhớ nhân viên.</a:t>
            </a:r>
            <a:endParaRPr sz="1500" b="1" i="0">
              <a:solidFill>
                <a:srgbClr val="8A520B"/>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Khoảng trống thị trường</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Vì sao SME chưa giải được bài toán này</a:t>
            </a:r>
            <a:endParaRPr sz="3000" b="1" i="0">
              <a:solidFill>
                <a:srgbClr val="1C2B24"/>
              </a:solidFill>
              <a:latin typeface="Cambria" panose="02040503050406030204"/>
            </a:endParaRPr>
          </a:p>
        </p:txBody>
      </p:sp>
      <p:sp>
        <p:nvSpPr>
          <p:cNvPr id="4" name="Rounded Rectangle 3"/>
          <p:cNvSpPr/>
          <p:nvPr/>
        </p:nvSpPr>
        <p:spPr>
          <a:xfrm>
            <a:off x="566928" y="1737360"/>
            <a:ext cx="11064240" cy="120700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20240"/>
            <a:ext cx="3200400" cy="777240"/>
          </a:xfrm>
          <a:prstGeom prst="rect">
            <a:avLst/>
          </a:prstGeom>
          <a:noFill/>
        </p:spPr>
        <p:txBody>
          <a:bodyPr wrap="square" lIns="0" tIns="0" rIns="0" bIns="0" anchor="t">
            <a:spAutoFit/>
          </a:bodyPr>
          <a:lstStyle/>
          <a:p>
            <a:pPr algn="l">
              <a:spcBef>
                <a:spcPts val="0"/>
              </a:spcBef>
              <a:spcAft>
                <a:spcPts val="0"/>
              </a:spcAft>
            </a:pPr>
            <a:r>
              <a:rPr sz="1550" b="1" i="0">
                <a:solidFill>
                  <a:srgbClr val="B33A2F"/>
                </a:solidFill>
                <a:latin typeface="Calibri" panose="020F0502020204030204"/>
              </a:rPr>
              <a:t>Phần mềm quản lý kho đại trà</a:t>
            </a:r>
            <a:endParaRPr sz="1550" b="1" i="0">
              <a:solidFill>
                <a:srgbClr val="B33A2F"/>
              </a:solidFill>
              <a:latin typeface="Calibri" panose="020F0502020204030204"/>
            </a:endParaRPr>
          </a:p>
        </p:txBody>
      </p:sp>
      <p:sp>
        <p:nvSpPr>
          <p:cNvPr id="6" name="TextBox 5"/>
          <p:cNvSpPr txBox="1"/>
          <p:nvPr/>
        </p:nvSpPr>
        <p:spPr>
          <a:xfrm>
            <a:off x="4206240" y="1956815"/>
            <a:ext cx="3200400" cy="73152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Chi phí thấp, dễ dùng</a:t>
            </a:r>
            <a:endParaRPr sz="1300" b="0" i="0">
              <a:solidFill>
                <a:srgbClr val="5A6B62"/>
              </a:solidFill>
              <a:latin typeface="Calibri" panose="020F0502020204030204"/>
            </a:endParaRPr>
          </a:p>
        </p:txBody>
      </p:sp>
      <p:sp>
        <p:nvSpPr>
          <p:cNvPr id="7" name="TextBox 6"/>
          <p:cNvSpPr txBox="1"/>
          <p:nvPr/>
        </p:nvSpPr>
        <p:spPr>
          <a:xfrm>
            <a:off x="7589520" y="1956815"/>
            <a:ext cx="3749039" cy="77724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Chỉ hỗ trợ FIFO — không quản lý sâu theo lô và hạn sử dụng</a:t>
            </a:r>
            <a:endParaRPr sz="1300" b="0" i="0">
              <a:solidFill>
                <a:srgbClr val="5A6B62"/>
              </a:solidFill>
              <a:latin typeface="Calibri" panose="020F0502020204030204"/>
            </a:endParaRPr>
          </a:p>
        </p:txBody>
      </p:sp>
      <p:sp>
        <p:nvSpPr>
          <p:cNvPr id="8" name="Rounded Rectangle 7"/>
          <p:cNvSpPr/>
          <p:nvPr/>
        </p:nvSpPr>
        <p:spPr>
          <a:xfrm>
            <a:off x="566928" y="3108960"/>
            <a:ext cx="11064240" cy="120700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3291840"/>
            <a:ext cx="3200400" cy="777240"/>
          </a:xfrm>
          <a:prstGeom prst="rect">
            <a:avLst/>
          </a:prstGeom>
          <a:noFill/>
        </p:spPr>
        <p:txBody>
          <a:bodyPr wrap="square" lIns="0" tIns="0" rIns="0" bIns="0" anchor="t">
            <a:spAutoFit/>
          </a:bodyPr>
          <a:lstStyle/>
          <a:p>
            <a:pPr algn="l">
              <a:spcBef>
                <a:spcPts val="0"/>
              </a:spcBef>
              <a:spcAft>
                <a:spcPts val="0"/>
              </a:spcAft>
            </a:pPr>
            <a:r>
              <a:rPr sz="1550" b="1" i="0">
                <a:solidFill>
                  <a:srgbClr val="B33A2F"/>
                </a:solidFill>
                <a:latin typeface="Calibri" panose="020F0502020204030204"/>
              </a:rPr>
              <a:t>ERP lớn (ví dụ SAP)</a:t>
            </a:r>
            <a:endParaRPr sz="1550" b="1" i="0">
              <a:solidFill>
                <a:srgbClr val="B33A2F"/>
              </a:solidFill>
              <a:latin typeface="Calibri" panose="020F0502020204030204"/>
            </a:endParaRPr>
          </a:p>
        </p:txBody>
      </p:sp>
      <p:sp>
        <p:nvSpPr>
          <p:cNvPr id="10" name="TextBox 9"/>
          <p:cNvSpPr txBox="1"/>
          <p:nvPr/>
        </p:nvSpPr>
        <p:spPr>
          <a:xfrm>
            <a:off x="4206240" y="3328415"/>
            <a:ext cx="3200400" cy="73152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Có hỗ trợ FEFO đầy đủ</a:t>
            </a:r>
            <a:endParaRPr sz="1300" b="0" i="0">
              <a:solidFill>
                <a:srgbClr val="5A6B62"/>
              </a:solidFill>
              <a:latin typeface="Calibri" panose="020F0502020204030204"/>
            </a:endParaRPr>
          </a:p>
        </p:txBody>
      </p:sp>
      <p:sp>
        <p:nvSpPr>
          <p:cNvPr id="11" name="TextBox 10"/>
          <p:cNvSpPr txBox="1"/>
          <p:nvPr/>
        </p:nvSpPr>
        <p:spPr>
          <a:xfrm>
            <a:off x="7589520" y="3328415"/>
            <a:ext cx="3749039" cy="77724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Chi phí bản quyền và độ phức tạp triển khai vượt khả năng SME</a:t>
            </a:r>
            <a:endParaRPr sz="1300" b="0" i="0">
              <a:solidFill>
                <a:srgbClr val="5A6B62"/>
              </a:solidFill>
              <a:latin typeface="Calibri" panose="020F0502020204030204"/>
            </a:endParaRPr>
          </a:p>
        </p:txBody>
      </p:sp>
      <p:sp>
        <p:nvSpPr>
          <p:cNvPr id="12" name="Rounded Rectangle 11"/>
          <p:cNvSpPr/>
          <p:nvPr/>
        </p:nvSpPr>
        <p:spPr>
          <a:xfrm>
            <a:off x="566928" y="4480560"/>
            <a:ext cx="11064240" cy="1207008"/>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4663440"/>
            <a:ext cx="3200400" cy="777240"/>
          </a:xfrm>
          <a:prstGeom prst="rect">
            <a:avLst/>
          </a:prstGeom>
          <a:noFill/>
        </p:spPr>
        <p:txBody>
          <a:bodyPr wrap="square" lIns="0" tIns="0" rIns="0" bIns="0" anchor="t">
            <a:spAutoFit/>
          </a:bodyPr>
          <a:lstStyle/>
          <a:p>
            <a:pPr algn="l">
              <a:spcBef>
                <a:spcPts val="0"/>
              </a:spcBef>
              <a:spcAft>
                <a:spcPts val="0"/>
              </a:spcAft>
            </a:pPr>
            <a:r>
              <a:rPr sz="1550" b="1" i="0">
                <a:solidFill>
                  <a:srgbClr val="1F6F4F"/>
                </a:solidFill>
                <a:latin typeface="Calibri" panose="020F0502020204030204"/>
              </a:rPr>
              <a:t>Hướng đi của đề tài</a:t>
            </a:r>
            <a:endParaRPr sz="1550" b="1" i="0">
              <a:solidFill>
                <a:srgbClr val="1F6F4F"/>
              </a:solidFill>
              <a:latin typeface="Calibri" panose="020F0502020204030204"/>
            </a:endParaRPr>
          </a:p>
        </p:txBody>
      </p:sp>
      <p:sp>
        <p:nvSpPr>
          <p:cNvPr id="14" name="TextBox 13"/>
          <p:cNvSpPr txBox="1"/>
          <p:nvPr/>
        </p:nvSpPr>
        <p:spPr>
          <a:xfrm>
            <a:off x="4206240" y="4700016"/>
            <a:ext cx="3200400" cy="73152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Chuyên biệt cho phân khúc hàng hạn dùng ngắn</a:t>
            </a:r>
            <a:endParaRPr sz="1300" b="0" i="0">
              <a:solidFill>
                <a:srgbClr val="5A6B62"/>
              </a:solidFill>
              <a:latin typeface="Calibri" panose="020F0502020204030204"/>
            </a:endParaRPr>
          </a:p>
        </p:txBody>
      </p:sp>
      <p:sp>
        <p:nvSpPr>
          <p:cNvPr id="15" name="TextBox 14"/>
          <p:cNvSpPr txBox="1"/>
          <p:nvPr/>
        </p:nvSpPr>
        <p:spPr>
          <a:xfrm>
            <a:off x="7589520" y="4700016"/>
            <a:ext cx="3749039" cy="77724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Nhẹ, tập trung đúng một bài toán, SME triển khai được</a:t>
            </a:r>
            <a:endParaRPr sz="1300" b="0" i="0">
              <a:solidFill>
                <a:srgbClr val="1C2B24"/>
              </a:solidFill>
              <a:latin typeface="Calibri" panose="020F0502020204030204"/>
            </a:endParaRPr>
          </a:p>
        </p:txBody>
      </p:sp>
      <p:sp>
        <p:nvSpPr>
          <p:cNvPr id="16" name="TextBox 15"/>
          <p:cNvSpPr txBox="1"/>
          <p:nvPr/>
        </p:nvSpPr>
        <p:spPr>
          <a:xfrm>
            <a:off x="566928" y="5897880"/>
            <a:ext cx="11064240" cy="457200"/>
          </a:xfrm>
          <a:prstGeom prst="rect">
            <a:avLst/>
          </a:prstGeom>
          <a:noFill/>
        </p:spPr>
        <p:txBody>
          <a:bodyPr wrap="square" lIns="0" tIns="0" rIns="0" bIns="0" anchor="t">
            <a:spAutoFit/>
          </a:bodyPr>
          <a:lstStyle/>
          <a:p>
            <a:pPr algn="l">
              <a:spcBef>
                <a:spcPts val="0"/>
              </a:spcBef>
              <a:spcAft>
                <a:spcPts val="0"/>
              </a:spcAft>
            </a:pPr>
            <a:r>
              <a:rPr sz="1450" b="1" i="0">
                <a:solidFill>
                  <a:srgbClr val="1F6F4F"/>
                </a:solidFill>
                <a:latin typeface="Calibri" panose="020F0502020204030204"/>
              </a:rPr>
              <a:t>Nhóm không cạnh tranh với SAP. Nhóm giải đúng một bài toán mà SAP giải được nhưng SME không với tới.</a:t>
            </a:r>
            <a:endParaRPr sz="1450" b="1" i="0">
              <a:solidFill>
                <a:srgbClr val="1F6F4F"/>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Oval 1"/>
          <p:cNvSpPr/>
          <p:nvPr/>
        </p:nvSpPr>
        <p:spPr>
          <a:xfrm>
            <a:off x="868680" y="2331720"/>
            <a:ext cx="868680" cy="8686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12352A"/>
                </a:solidFill>
                <a:latin typeface="Calibri" panose="020F0502020204030204"/>
              </a:rPr>
              <a:t>2</a:t>
            </a:r>
            <a:endParaRPr sz="3000" b="1">
              <a:solidFill>
                <a:srgbClr val="12352A"/>
              </a:solidFill>
              <a:latin typeface="Calibri" panose="020F0502020204030204"/>
            </a:endParaRPr>
          </a:p>
        </p:txBody>
      </p:sp>
      <p:sp>
        <p:nvSpPr>
          <p:cNvPr id="3" name="TextBox 2"/>
          <p:cNvSpPr txBox="1"/>
          <p:nvPr/>
        </p:nvSpPr>
        <p:spPr>
          <a:xfrm>
            <a:off x="2057400" y="2395728"/>
            <a:ext cx="8961120" cy="822960"/>
          </a:xfrm>
          <a:prstGeom prst="rect">
            <a:avLst/>
          </a:prstGeom>
          <a:noFill/>
        </p:spPr>
        <p:txBody>
          <a:bodyPr wrap="square" lIns="0" tIns="0" rIns="0" bIns="0" anchor="t">
            <a:spAutoFit/>
          </a:bodyPr>
          <a:lstStyle/>
          <a:p>
            <a:pPr algn="l">
              <a:spcBef>
                <a:spcPts val="0"/>
              </a:spcBef>
              <a:spcAft>
                <a:spcPts val="0"/>
              </a:spcAft>
            </a:pPr>
            <a:r>
              <a:rPr sz="3600" b="1" i="0">
                <a:solidFill>
                  <a:srgbClr val="FFFFFF"/>
                </a:solidFill>
                <a:latin typeface="Cambria" panose="02040503050406030204"/>
              </a:rPr>
              <a:t>Giải pháp</a:t>
            </a:r>
            <a:endParaRPr sz="3600" b="1" i="0">
              <a:solidFill>
                <a:srgbClr val="FFFFFF"/>
              </a:solidFill>
              <a:latin typeface="Cambria" panose="02040503050406030204"/>
            </a:endParaRPr>
          </a:p>
        </p:txBody>
      </p:sp>
      <p:sp>
        <p:nvSpPr>
          <p:cNvPr id="4" name="TextBox 3"/>
          <p:cNvSpPr txBox="1"/>
          <p:nvPr/>
        </p:nvSpPr>
        <p:spPr>
          <a:xfrm>
            <a:off x="2057400" y="3273552"/>
            <a:ext cx="8961120" cy="548640"/>
          </a:xfrm>
          <a:prstGeom prst="rect">
            <a:avLst/>
          </a:prstGeom>
          <a:noFill/>
        </p:spPr>
        <p:txBody>
          <a:bodyPr wrap="square" lIns="0" tIns="0" rIns="0" bIns="0" anchor="t">
            <a:spAutoFit/>
          </a:bodyPr>
          <a:lstStyle/>
          <a:p>
            <a:pPr algn="l">
              <a:spcBef>
                <a:spcPts val="0"/>
              </a:spcBef>
              <a:spcAft>
                <a:spcPts val="0"/>
              </a:spcAft>
            </a:pPr>
            <a:r>
              <a:rPr sz="1500" b="0" i="0">
                <a:solidFill>
                  <a:srgbClr val="8FBF9F"/>
                </a:solidFill>
                <a:latin typeface="Calibri" panose="020F0502020204030204"/>
              </a:rPr>
              <a:t>Đổi cách mô hình hóa dữ liệu, rồi mới nói tới thuật toán</a:t>
            </a:r>
            <a:endParaRPr sz="1500" b="0" i="0">
              <a:solidFill>
                <a:srgbClr val="8FBF9F"/>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Ý tưởng cốt lõi</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Từ quản lý phẳng theo SKU sang quản lý sâu theo Lô</a:t>
            </a:r>
            <a:endParaRPr sz="3000" b="1" i="0">
              <a:solidFill>
                <a:srgbClr val="1C2B24"/>
              </a:solidFill>
              <a:latin typeface="Cambria" panose="02040503050406030204"/>
            </a:endParaRPr>
          </a:p>
        </p:txBody>
      </p:sp>
      <p:sp>
        <p:nvSpPr>
          <p:cNvPr id="4" name="Rounded Rectangle 3"/>
          <p:cNvSpPr/>
          <p:nvPr/>
        </p:nvSpPr>
        <p:spPr>
          <a:xfrm>
            <a:off x="566928" y="1691640"/>
            <a:ext cx="5440680" cy="283464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20240"/>
            <a:ext cx="4846320" cy="365760"/>
          </a:xfrm>
          <a:prstGeom prst="rect">
            <a:avLst/>
          </a:prstGeom>
          <a:noFill/>
        </p:spPr>
        <p:txBody>
          <a:bodyPr wrap="square" lIns="0" tIns="0" rIns="0" bIns="0" anchor="t">
            <a:spAutoFit/>
          </a:bodyPr>
          <a:lstStyle/>
          <a:p>
            <a:pPr algn="l">
              <a:spcBef>
                <a:spcPts val="0"/>
              </a:spcBef>
              <a:spcAft>
                <a:spcPts val="0"/>
              </a:spcAft>
            </a:pPr>
            <a:r>
              <a:rPr sz="1700" b="1" i="0">
                <a:solidFill>
                  <a:srgbClr val="5A6B62"/>
                </a:solidFill>
                <a:latin typeface="Cambria" panose="02040503050406030204"/>
              </a:rPr>
              <a:t>Cách cũ — một con số phẳng</a:t>
            </a:r>
            <a:endParaRPr sz="1700" b="1" i="0">
              <a:solidFill>
                <a:srgbClr val="5A6B62"/>
              </a:solidFill>
              <a:latin typeface="Cambria" panose="02040503050406030204"/>
            </a:endParaRPr>
          </a:p>
        </p:txBody>
      </p:sp>
      <p:sp>
        <p:nvSpPr>
          <p:cNvPr id="6" name="TextBox 5"/>
          <p:cNvSpPr txBox="1"/>
          <p:nvPr/>
        </p:nvSpPr>
        <p:spPr>
          <a:xfrm>
            <a:off x="868680" y="2468880"/>
            <a:ext cx="4846320" cy="45720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libri" panose="020F0502020204030204"/>
              </a:rPr>
              <a:t>Sữa tươi A · tồn kho: 500 thùng</a:t>
            </a:r>
            <a:endParaRPr sz="1600" b="1" i="0">
              <a:solidFill>
                <a:srgbClr val="1C2B24"/>
              </a:solidFill>
              <a:latin typeface="Calibri" panose="020F0502020204030204"/>
            </a:endParaRPr>
          </a:p>
        </p:txBody>
      </p:sp>
      <p:sp>
        <p:nvSpPr>
          <p:cNvPr id="7" name="TextBox 6"/>
          <p:cNvSpPr txBox="1"/>
          <p:nvPr/>
        </p:nvSpPr>
        <p:spPr>
          <a:xfrm>
            <a:off x="868680" y="3108960"/>
            <a:ext cx="4846320" cy="1234440"/>
          </a:xfrm>
          <a:prstGeom prst="rect">
            <a:avLst/>
          </a:prstGeom>
          <a:noFill/>
        </p:spPr>
        <p:txBody>
          <a:bodyPr wrap="square" lIns="0" tIns="0" rIns="0" bIns="0" anchor="t">
            <a:spAutoFit/>
          </a:bodyPr>
          <a:lstStyle/>
          <a:p>
            <a:pPr algn="l">
              <a:spcBef>
                <a:spcPts val="0"/>
              </a:spcBef>
              <a:spcAft>
                <a:spcPts val="0"/>
              </a:spcAft>
            </a:pPr>
            <a:r>
              <a:rPr sz="1350" b="0" i="0">
                <a:solidFill>
                  <a:srgbClr val="5A6B62"/>
                </a:solidFill>
                <a:latin typeface="Calibri" panose="020F0502020204030204"/>
              </a:rPr>
              <a:t>Hệ thống biết còn 500 thùng, nhưng không biết thùng nào hết hạn ngày nào. Không có dữ liệu này thì mọi thuật toán ưu tiên theo date đều vô nghĩa.</a:t>
            </a:r>
            <a:endParaRPr sz="1350" b="0" i="0">
              <a:solidFill>
                <a:srgbClr val="5A6B62"/>
              </a:solidFill>
              <a:latin typeface="Calibri" panose="020F0502020204030204"/>
            </a:endParaRPr>
          </a:p>
        </p:txBody>
      </p:sp>
      <p:sp>
        <p:nvSpPr>
          <p:cNvPr id="8" name="Rounded Rectangle 7"/>
          <p:cNvSpPr/>
          <p:nvPr/>
        </p:nvSpPr>
        <p:spPr>
          <a:xfrm>
            <a:off x="6190488" y="1691640"/>
            <a:ext cx="5440680" cy="283464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92240" y="1920240"/>
            <a:ext cx="4846320" cy="365760"/>
          </a:xfrm>
          <a:prstGeom prst="rect">
            <a:avLst/>
          </a:prstGeom>
          <a:noFill/>
        </p:spPr>
        <p:txBody>
          <a:bodyPr wrap="square" lIns="0" tIns="0" rIns="0" bIns="0" anchor="t">
            <a:spAutoFit/>
          </a:bodyPr>
          <a:lstStyle/>
          <a:p>
            <a:pPr algn="l">
              <a:spcBef>
                <a:spcPts val="0"/>
              </a:spcBef>
              <a:spcAft>
                <a:spcPts val="0"/>
              </a:spcAft>
            </a:pPr>
            <a:r>
              <a:rPr sz="1700" b="1" i="0">
                <a:solidFill>
                  <a:srgbClr val="1F6F4F"/>
                </a:solidFill>
                <a:latin typeface="Cambria" panose="02040503050406030204"/>
              </a:rPr>
              <a:t>Cách mới — tách theo Lô (Batch/Lot)</a:t>
            </a:r>
            <a:endParaRPr sz="1700" b="1" i="0">
              <a:solidFill>
                <a:srgbClr val="1F6F4F"/>
              </a:solidFill>
              <a:latin typeface="Cambria" panose="02040503050406030204"/>
            </a:endParaRPr>
          </a:p>
        </p:txBody>
      </p:sp>
      <p:sp>
        <p:nvSpPr>
          <p:cNvPr id="10" name="TextBox 9"/>
          <p:cNvSpPr txBox="1"/>
          <p:nvPr/>
        </p:nvSpPr>
        <p:spPr>
          <a:xfrm>
            <a:off x="6492240" y="2468880"/>
            <a:ext cx="4846320" cy="1280160"/>
          </a:xfrm>
          <a:prstGeom prst="rect">
            <a:avLst/>
          </a:prstGeom>
          <a:noFill/>
        </p:spPr>
        <p:txBody>
          <a:bodyPr wrap="square" lIns="0" tIns="0" rIns="0" bIns="0" anchor="t">
            <a:spAutoFit/>
          </a:bodyPr>
          <a:lstStyle/>
          <a:p>
            <a:pPr algn="l">
              <a:spcAft>
                <a:spcPts val="600"/>
              </a:spcAft>
            </a:pPr>
            <a:r>
              <a:rPr sz="1400" b="1">
                <a:solidFill>
                  <a:srgbClr val="1F6F4F"/>
                </a:solidFill>
                <a:latin typeface="Calibri" panose="020F0502020204030204"/>
              </a:rPr>
              <a:t>MILK01-260915 </a:t>
            </a:r>
            <a:r>
              <a:rPr sz="1400" b="0">
                <a:solidFill>
                  <a:srgbClr val="1C2B24"/>
                </a:solidFill>
                <a:latin typeface="Calibri" panose="020F0502020204030204"/>
              </a:rPr>
              <a:t>· 200 thùng · HSD 15/09</a:t>
            </a:r>
            <a:endParaRPr sz="1400" b="0">
              <a:solidFill>
                <a:srgbClr val="1C2B24"/>
              </a:solidFill>
              <a:latin typeface="Calibri" panose="020F0502020204030204"/>
            </a:endParaRPr>
          </a:p>
          <a:p>
            <a:pPr>
              <a:spcAft>
                <a:spcPts val="600"/>
              </a:spcAft>
            </a:pPr>
            <a:r>
              <a:rPr sz="1400" b="1">
                <a:solidFill>
                  <a:srgbClr val="1F6F4F"/>
                </a:solidFill>
                <a:latin typeface="Calibri" panose="020F0502020204030204"/>
              </a:rPr>
              <a:t>MILK01-260920 </a:t>
            </a:r>
            <a:r>
              <a:rPr sz="1400" b="0">
                <a:solidFill>
                  <a:srgbClr val="1C2B24"/>
                </a:solidFill>
                <a:latin typeface="Calibri" panose="020F0502020204030204"/>
              </a:rPr>
              <a:t>· 300 thùng · HSD 20/09</a:t>
            </a:r>
            <a:endParaRPr sz="1400" b="0">
              <a:solidFill>
                <a:srgbClr val="1C2B24"/>
              </a:solidFill>
              <a:latin typeface="Calibri" panose="020F0502020204030204"/>
            </a:endParaRPr>
          </a:p>
        </p:txBody>
      </p:sp>
      <p:sp>
        <p:nvSpPr>
          <p:cNvPr id="11" name="TextBox 10"/>
          <p:cNvSpPr txBox="1"/>
          <p:nvPr/>
        </p:nvSpPr>
        <p:spPr>
          <a:xfrm>
            <a:off x="6492240" y="3703320"/>
            <a:ext cx="4846320" cy="685800"/>
          </a:xfrm>
          <a:prstGeom prst="rect">
            <a:avLst/>
          </a:prstGeom>
          <a:noFill/>
        </p:spPr>
        <p:txBody>
          <a:bodyPr wrap="square" lIns="0" tIns="0" rIns="0" bIns="0" anchor="t">
            <a:spAutoFit/>
          </a:bodyPr>
          <a:lstStyle/>
          <a:p>
            <a:pPr algn="l">
              <a:spcBef>
                <a:spcPts val="0"/>
              </a:spcBef>
              <a:spcAft>
                <a:spcPts val="0"/>
              </a:spcAft>
            </a:pPr>
            <a:r>
              <a:rPr sz="1300" b="0" i="0">
                <a:solidFill>
                  <a:srgbClr val="1F6F4F"/>
                </a:solidFill>
                <a:latin typeface="Calibri" panose="020F0502020204030204"/>
              </a:rPr>
              <a:t>Mã lô tự sinh theo định dạng [SKU]-[YYMMDD], bắt buộc nhập hạn sử dụng khi duyệt phiếu nhập.</a:t>
            </a:r>
            <a:endParaRPr sz="1300" b="0" i="0">
              <a:solidFill>
                <a:srgbClr val="1F6F4F"/>
              </a:solidFill>
              <a:latin typeface="Calibri" panose="020F0502020204030204"/>
            </a:endParaRPr>
          </a:p>
        </p:txBody>
      </p:sp>
      <p:sp>
        <p:nvSpPr>
          <p:cNvPr id="12" name="TextBox 11"/>
          <p:cNvSpPr txBox="1"/>
          <p:nvPr/>
        </p:nvSpPr>
        <p:spPr>
          <a:xfrm>
            <a:off x="566928" y="4846320"/>
            <a:ext cx="11064240" cy="1371600"/>
          </a:xfrm>
          <a:prstGeom prst="rect">
            <a:avLst/>
          </a:prstGeom>
          <a:noFill/>
        </p:spPr>
        <p:txBody>
          <a:bodyPr wrap="square" lIns="0" tIns="0" rIns="0" bIns="0" anchor="t">
            <a:spAutoFit/>
          </a:bodyPr>
          <a:lstStyle/>
          <a:p>
            <a:pPr algn="l">
              <a:spcBef>
                <a:spcPts val="0"/>
              </a:spcBef>
              <a:spcAft>
                <a:spcPts val="0"/>
              </a:spcAft>
            </a:pPr>
            <a:r>
              <a:rPr sz="1700" b="1" i="0">
                <a:solidFill>
                  <a:srgbClr val="1C2B24"/>
                </a:solidFill>
                <a:latin typeface="Cambria" panose="02040503050406030204"/>
              </a:rPr>
              <a:t>Hệ quả kỹ thuật</a:t>
            </a:r>
            <a:endParaRPr sz="1700" b="1" i="0">
              <a:solidFill>
                <a:srgbClr val="1C2B24"/>
              </a:solidFill>
              <a:latin typeface="Cambria" panose="02040503050406030204"/>
            </a:endParaRPr>
          </a:p>
          <a:p>
            <a:pPr>
              <a:spcAft>
                <a:spcPts val="900"/>
              </a:spcAft>
            </a:pPr>
            <a:r>
              <a:rPr sz="1400" b="1">
                <a:solidFill>
                  <a:srgbClr val="1F6F4F"/>
                </a:solidFill>
                <a:latin typeface="Calibri" panose="020F0502020204030204"/>
              </a:rPr>
              <a:t>Mô hình dữ liệu đa chiều. </a:t>
            </a:r>
            <a:r>
              <a:rPr sz="1400" b="0">
                <a:solidFill>
                  <a:srgbClr val="1C2B24"/>
                </a:solidFill>
                <a:latin typeface="Calibri" panose="020F0502020204030204"/>
              </a:rPr>
              <a:t>Tồn kho không còn là một số, mà là tập các lô — mỗi lô có số lượng, ngày nhập, hạn dùng và trạng thái riêng.</a:t>
            </a:r>
            <a:endParaRPr sz="1400" b="0">
              <a:solidFill>
                <a:srgbClr val="1C2B24"/>
              </a:solidFill>
              <a:latin typeface="Calibri" panose="020F0502020204030204"/>
            </a:endParaRPr>
          </a:p>
          <a:p>
            <a:pPr>
              <a:spcAft>
                <a:spcPts val="900"/>
              </a:spcAft>
            </a:pPr>
            <a:r>
              <a:rPr sz="1400" b="1">
                <a:solidFill>
                  <a:srgbClr val="1F6F4F"/>
                </a:solidFill>
                <a:latin typeface="Calibri" panose="020F0502020204030204"/>
              </a:rPr>
              <a:t>Cronjob theo dõi vòng đời. </a:t>
            </a:r>
            <a:r>
              <a:rPr sz="1400" b="0">
                <a:solidFill>
                  <a:srgbClr val="1C2B24"/>
                </a:solidFill>
                <a:latin typeface="Calibri" panose="020F0502020204030204"/>
              </a:rPr>
              <a:t>Mỗi ngày lúc 00:00 hệ thống quét và chuyển trạng thái lô: Bình thường → Cận date → Hết hạn (khóa, không cho xuất).</a:t>
            </a:r>
            <a:endParaRPr sz="1400" b="0">
              <a:solidFill>
                <a:srgbClr val="1C2B24"/>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Cách hoạt động</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Thuật toán FEFO trừ dồn qua nhiều lô</a:t>
            </a:r>
            <a:endParaRPr sz="3000" b="1" i="0">
              <a:solidFill>
                <a:srgbClr val="1C2B24"/>
              </a:solidFill>
              <a:latin typeface="Cambria" panose="02040503050406030204"/>
            </a:endParaRPr>
          </a:p>
        </p:txBody>
      </p:sp>
      <p:sp>
        <p:nvSpPr>
          <p:cNvPr id="4" name="TextBox 3"/>
          <p:cNvSpPr txBox="1"/>
          <p:nvPr/>
        </p:nvSpPr>
        <p:spPr>
          <a:xfrm>
            <a:off x="566928" y="1572768"/>
            <a:ext cx="11064240" cy="365760"/>
          </a:xfrm>
          <a:prstGeom prst="rect">
            <a:avLst/>
          </a:prstGeom>
          <a:noFill/>
        </p:spPr>
        <p:txBody>
          <a:bodyPr wrap="square" lIns="0" tIns="0" rIns="0" bIns="0" anchor="t">
            <a:spAutoFit/>
          </a:bodyPr>
          <a:lstStyle/>
          <a:p>
            <a:pPr algn="l">
              <a:spcBef>
                <a:spcPts val="0"/>
              </a:spcBef>
              <a:spcAft>
                <a:spcPts val="0"/>
              </a:spcAft>
            </a:pPr>
            <a:r>
              <a:rPr sz="1450" b="0" i="0">
                <a:solidFill>
                  <a:srgbClr val="5A6B62"/>
                </a:solidFill>
                <a:latin typeface="Calibri" panose="020F0502020204030204"/>
              </a:rPr>
              <a:t>Đơn hàng cần 150 thùng Sữa tươi A. Hệ thống sắp xếp các lô theo hạn sử dụng tăng dần rồi trừ dần:</a:t>
            </a:r>
            <a:endParaRPr sz="1450" b="0" i="0">
              <a:solidFill>
                <a:srgbClr val="5A6B62"/>
              </a:solidFill>
              <a:latin typeface="Calibri" panose="020F0502020204030204"/>
            </a:endParaRPr>
          </a:p>
        </p:txBody>
      </p:sp>
      <p:sp>
        <p:nvSpPr>
          <p:cNvPr id="5" name="Rounded Rectangle 4"/>
          <p:cNvSpPr/>
          <p:nvPr/>
        </p:nvSpPr>
        <p:spPr>
          <a:xfrm>
            <a:off x="566928" y="2103120"/>
            <a:ext cx="11064240" cy="457200"/>
          </a:xfrm>
          <a:prstGeom prst="roundRect">
            <a:avLst>
              <a:gd name="adj" fmla="val 6000"/>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2221991"/>
            <a:ext cx="1554480" cy="274320"/>
          </a:xfrm>
          <a:prstGeom prst="rect">
            <a:avLst/>
          </a:prstGeom>
          <a:noFill/>
        </p:spPr>
        <p:txBody>
          <a:bodyPr wrap="square" lIns="0" tIns="0" rIns="0" bIns="0" anchor="t">
            <a:spAutoFit/>
          </a:bodyPr>
          <a:lstStyle/>
          <a:p>
            <a:pPr algn="l">
              <a:spcBef>
                <a:spcPts val="0"/>
              </a:spcBef>
              <a:spcAft>
                <a:spcPts val="0"/>
              </a:spcAft>
            </a:pPr>
            <a:r>
              <a:rPr sz="1250" b="1" i="0">
                <a:solidFill>
                  <a:srgbClr val="FFFFFF"/>
                </a:solidFill>
                <a:latin typeface="Calibri" panose="020F0502020204030204"/>
              </a:rPr>
              <a:t>Thứ tự ưu tiên</a:t>
            </a:r>
            <a:endParaRPr sz="1250" b="1" i="0">
              <a:solidFill>
                <a:srgbClr val="FFFFFF"/>
              </a:solidFill>
              <a:latin typeface="Calibri" panose="020F0502020204030204"/>
            </a:endParaRPr>
          </a:p>
        </p:txBody>
      </p:sp>
      <p:sp>
        <p:nvSpPr>
          <p:cNvPr id="7" name="TextBox 6"/>
          <p:cNvSpPr txBox="1"/>
          <p:nvPr/>
        </p:nvSpPr>
        <p:spPr>
          <a:xfrm>
            <a:off x="2633472" y="2221991"/>
            <a:ext cx="1371600" cy="274320"/>
          </a:xfrm>
          <a:prstGeom prst="rect">
            <a:avLst/>
          </a:prstGeom>
          <a:noFill/>
        </p:spPr>
        <p:txBody>
          <a:bodyPr wrap="square" lIns="0" tIns="0" rIns="0" bIns="0" anchor="t">
            <a:spAutoFit/>
          </a:bodyPr>
          <a:lstStyle/>
          <a:p>
            <a:pPr algn="l">
              <a:spcBef>
                <a:spcPts val="0"/>
              </a:spcBef>
              <a:spcAft>
                <a:spcPts val="0"/>
              </a:spcAft>
            </a:pPr>
            <a:r>
              <a:rPr sz="1250" b="1" i="0">
                <a:solidFill>
                  <a:srgbClr val="FFFFFF"/>
                </a:solidFill>
                <a:latin typeface="Calibri" panose="020F0502020204030204"/>
              </a:rPr>
              <a:t>Mã lô</a:t>
            </a:r>
            <a:endParaRPr sz="1250" b="1" i="0">
              <a:solidFill>
                <a:srgbClr val="FFFFFF"/>
              </a:solidFill>
              <a:latin typeface="Calibri" panose="020F0502020204030204"/>
            </a:endParaRPr>
          </a:p>
        </p:txBody>
      </p:sp>
      <p:sp>
        <p:nvSpPr>
          <p:cNvPr id="8" name="TextBox 7"/>
          <p:cNvSpPr txBox="1"/>
          <p:nvPr/>
        </p:nvSpPr>
        <p:spPr>
          <a:xfrm>
            <a:off x="4370832" y="2221991"/>
            <a:ext cx="1463039" cy="274320"/>
          </a:xfrm>
          <a:prstGeom prst="rect">
            <a:avLst/>
          </a:prstGeom>
          <a:noFill/>
        </p:spPr>
        <p:txBody>
          <a:bodyPr wrap="square" lIns="0" tIns="0" rIns="0" bIns="0" anchor="t">
            <a:spAutoFit/>
          </a:bodyPr>
          <a:lstStyle/>
          <a:p>
            <a:pPr algn="l">
              <a:spcBef>
                <a:spcPts val="0"/>
              </a:spcBef>
              <a:spcAft>
                <a:spcPts val="0"/>
              </a:spcAft>
            </a:pPr>
            <a:r>
              <a:rPr sz="1250" b="1" i="0">
                <a:solidFill>
                  <a:srgbClr val="FFFFFF"/>
                </a:solidFill>
                <a:latin typeface="Calibri" panose="020F0502020204030204"/>
              </a:rPr>
              <a:t>Hạn sử dụng</a:t>
            </a:r>
            <a:endParaRPr sz="1250" b="1" i="0">
              <a:solidFill>
                <a:srgbClr val="FFFFFF"/>
              </a:solidFill>
              <a:latin typeface="Calibri" panose="020F0502020204030204"/>
            </a:endParaRPr>
          </a:p>
        </p:txBody>
      </p:sp>
      <p:sp>
        <p:nvSpPr>
          <p:cNvPr id="9" name="TextBox 8"/>
          <p:cNvSpPr txBox="1"/>
          <p:nvPr/>
        </p:nvSpPr>
        <p:spPr>
          <a:xfrm>
            <a:off x="6199632" y="2221991"/>
            <a:ext cx="1371600" cy="274320"/>
          </a:xfrm>
          <a:prstGeom prst="rect">
            <a:avLst/>
          </a:prstGeom>
          <a:noFill/>
        </p:spPr>
        <p:txBody>
          <a:bodyPr wrap="square" lIns="0" tIns="0" rIns="0" bIns="0" anchor="t">
            <a:spAutoFit/>
          </a:bodyPr>
          <a:lstStyle/>
          <a:p>
            <a:pPr algn="l">
              <a:spcBef>
                <a:spcPts val="0"/>
              </a:spcBef>
              <a:spcAft>
                <a:spcPts val="0"/>
              </a:spcAft>
            </a:pPr>
            <a:r>
              <a:rPr sz="1250" b="1" i="0">
                <a:solidFill>
                  <a:srgbClr val="FFFFFF"/>
                </a:solidFill>
                <a:latin typeface="Calibri" panose="020F0502020204030204"/>
              </a:rPr>
              <a:t>Tồn trước</a:t>
            </a:r>
            <a:endParaRPr sz="1250" b="1" i="0">
              <a:solidFill>
                <a:srgbClr val="FFFFFF"/>
              </a:solidFill>
              <a:latin typeface="Calibri" panose="020F0502020204030204"/>
            </a:endParaRPr>
          </a:p>
        </p:txBody>
      </p:sp>
      <p:sp>
        <p:nvSpPr>
          <p:cNvPr id="10" name="TextBox 9"/>
          <p:cNvSpPr txBox="1"/>
          <p:nvPr/>
        </p:nvSpPr>
        <p:spPr>
          <a:xfrm>
            <a:off x="7936992" y="2221991"/>
            <a:ext cx="1463039" cy="274320"/>
          </a:xfrm>
          <a:prstGeom prst="rect">
            <a:avLst/>
          </a:prstGeom>
          <a:noFill/>
        </p:spPr>
        <p:txBody>
          <a:bodyPr wrap="square" lIns="0" tIns="0" rIns="0" bIns="0" anchor="t">
            <a:spAutoFit/>
          </a:bodyPr>
          <a:lstStyle/>
          <a:p>
            <a:pPr algn="l">
              <a:spcBef>
                <a:spcPts val="0"/>
              </a:spcBef>
              <a:spcAft>
                <a:spcPts val="0"/>
              </a:spcAft>
            </a:pPr>
            <a:r>
              <a:rPr sz="1250" b="1" i="0">
                <a:solidFill>
                  <a:srgbClr val="FFFFFF"/>
                </a:solidFill>
                <a:latin typeface="Calibri" panose="020F0502020204030204"/>
              </a:rPr>
              <a:t>Hệ thống lấy</a:t>
            </a:r>
            <a:endParaRPr sz="1250" b="1" i="0">
              <a:solidFill>
                <a:srgbClr val="FFFFFF"/>
              </a:solidFill>
              <a:latin typeface="Calibri" panose="020F0502020204030204"/>
            </a:endParaRPr>
          </a:p>
        </p:txBody>
      </p:sp>
      <p:sp>
        <p:nvSpPr>
          <p:cNvPr id="11" name="TextBox 10"/>
          <p:cNvSpPr txBox="1"/>
          <p:nvPr/>
        </p:nvSpPr>
        <p:spPr>
          <a:xfrm>
            <a:off x="9857232" y="2221991"/>
            <a:ext cx="1645920" cy="274320"/>
          </a:xfrm>
          <a:prstGeom prst="rect">
            <a:avLst/>
          </a:prstGeom>
          <a:noFill/>
        </p:spPr>
        <p:txBody>
          <a:bodyPr wrap="square" lIns="0" tIns="0" rIns="0" bIns="0" anchor="t">
            <a:spAutoFit/>
          </a:bodyPr>
          <a:lstStyle/>
          <a:p>
            <a:pPr algn="l">
              <a:spcBef>
                <a:spcPts val="0"/>
              </a:spcBef>
              <a:spcAft>
                <a:spcPts val="0"/>
              </a:spcAft>
            </a:pPr>
            <a:r>
              <a:rPr sz="1250" b="1" i="0">
                <a:solidFill>
                  <a:srgbClr val="FFFFFF"/>
                </a:solidFill>
                <a:latin typeface="Calibri" panose="020F0502020204030204"/>
              </a:rPr>
              <a:t>Tồn sau</a:t>
            </a:r>
            <a:endParaRPr sz="1250" b="1" i="0">
              <a:solidFill>
                <a:srgbClr val="FFFFFF"/>
              </a:solidFill>
              <a:latin typeface="Calibri" panose="020F0502020204030204"/>
            </a:endParaRPr>
          </a:p>
        </p:txBody>
      </p:sp>
      <p:sp>
        <p:nvSpPr>
          <p:cNvPr id="12" name="Rectangle 11"/>
          <p:cNvSpPr/>
          <p:nvPr/>
        </p:nvSpPr>
        <p:spPr>
          <a:xfrm>
            <a:off x="566928" y="2560320"/>
            <a:ext cx="11064240" cy="566928"/>
          </a:xfrm>
          <a:prstGeom prst="rect">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232" y="2724912"/>
            <a:ext cx="155448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1</a:t>
            </a:r>
            <a:endParaRPr sz="1300" b="0" i="0">
              <a:solidFill>
                <a:srgbClr val="1C2B24"/>
              </a:solidFill>
              <a:latin typeface="Calibri" panose="020F0502020204030204"/>
            </a:endParaRPr>
          </a:p>
        </p:txBody>
      </p:sp>
      <p:sp>
        <p:nvSpPr>
          <p:cNvPr id="14" name="TextBox 13"/>
          <p:cNvSpPr txBox="1"/>
          <p:nvPr/>
        </p:nvSpPr>
        <p:spPr>
          <a:xfrm>
            <a:off x="2633472" y="2724912"/>
            <a:ext cx="137160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MILK01-260915</a:t>
            </a:r>
            <a:endParaRPr sz="1300" b="0" i="0">
              <a:solidFill>
                <a:srgbClr val="1C2B24"/>
              </a:solidFill>
              <a:latin typeface="Calibri" panose="020F0502020204030204"/>
            </a:endParaRPr>
          </a:p>
        </p:txBody>
      </p:sp>
      <p:sp>
        <p:nvSpPr>
          <p:cNvPr id="15" name="TextBox 14"/>
          <p:cNvSpPr txBox="1"/>
          <p:nvPr/>
        </p:nvSpPr>
        <p:spPr>
          <a:xfrm>
            <a:off x="4370832" y="2724912"/>
            <a:ext cx="1463039"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15/09</a:t>
            </a:r>
            <a:endParaRPr sz="1300" b="0" i="0">
              <a:solidFill>
                <a:srgbClr val="1C2B24"/>
              </a:solidFill>
              <a:latin typeface="Calibri" panose="020F0502020204030204"/>
            </a:endParaRPr>
          </a:p>
        </p:txBody>
      </p:sp>
      <p:sp>
        <p:nvSpPr>
          <p:cNvPr id="16" name="TextBox 15"/>
          <p:cNvSpPr txBox="1"/>
          <p:nvPr/>
        </p:nvSpPr>
        <p:spPr>
          <a:xfrm>
            <a:off x="6199632" y="2724912"/>
            <a:ext cx="137160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100</a:t>
            </a:r>
            <a:endParaRPr sz="1300" b="0" i="0">
              <a:solidFill>
                <a:srgbClr val="1C2B24"/>
              </a:solidFill>
              <a:latin typeface="Calibri" panose="020F0502020204030204"/>
            </a:endParaRPr>
          </a:p>
        </p:txBody>
      </p:sp>
      <p:sp>
        <p:nvSpPr>
          <p:cNvPr id="17" name="TextBox 16"/>
          <p:cNvSpPr txBox="1"/>
          <p:nvPr/>
        </p:nvSpPr>
        <p:spPr>
          <a:xfrm>
            <a:off x="7936992" y="2724912"/>
            <a:ext cx="1463039" cy="274320"/>
          </a:xfrm>
          <a:prstGeom prst="rect">
            <a:avLst/>
          </a:prstGeom>
          <a:noFill/>
        </p:spPr>
        <p:txBody>
          <a:bodyPr wrap="square" lIns="0" tIns="0" rIns="0" bIns="0" anchor="t">
            <a:spAutoFit/>
          </a:bodyPr>
          <a:lstStyle/>
          <a:p>
            <a:pPr algn="l">
              <a:spcBef>
                <a:spcPts val="0"/>
              </a:spcBef>
              <a:spcAft>
                <a:spcPts val="0"/>
              </a:spcAft>
            </a:pPr>
            <a:r>
              <a:rPr sz="1300" b="1" i="0">
                <a:solidFill>
                  <a:srgbClr val="8A520B"/>
                </a:solidFill>
                <a:latin typeface="Calibri" panose="020F0502020204030204"/>
              </a:rPr>
              <a:t>100</a:t>
            </a:r>
            <a:endParaRPr sz="1300" b="1" i="0">
              <a:solidFill>
                <a:srgbClr val="8A520B"/>
              </a:solidFill>
              <a:latin typeface="Calibri" panose="020F0502020204030204"/>
            </a:endParaRPr>
          </a:p>
        </p:txBody>
      </p:sp>
      <p:sp>
        <p:nvSpPr>
          <p:cNvPr id="18" name="TextBox 17"/>
          <p:cNvSpPr txBox="1"/>
          <p:nvPr/>
        </p:nvSpPr>
        <p:spPr>
          <a:xfrm>
            <a:off x="9857232" y="2724912"/>
            <a:ext cx="1645920" cy="274320"/>
          </a:xfrm>
          <a:prstGeom prst="rect">
            <a:avLst/>
          </a:prstGeom>
          <a:noFill/>
        </p:spPr>
        <p:txBody>
          <a:bodyPr wrap="square" lIns="0" tIns="0" rIns="0" bIns="0" anchor="t">
            <a:spAutoFit/>
          </a:bodyPr>
          <a:lstStyle/>
          <a:p>
            <a:pPr algn="l">
              <a:spcBef>
                <a:spcPts val="0"/>
              </a:spcBef>
              <a:spcAft>
                <a:spcPts val="0"/>
              </a:spcAft>
            </a:pPr>
            <a:r>
              <a:rPr sz="1300" b="0" i="0">
                <a:solidFill>
                  <a:srgbClr val="8A520B"/>
                </a:solidFill>
                <a:latin typeface="Calibri" panose="020F0502020204030204"/>
              </a:rPr>
              <a:t>0 — hết lô</a:t>
            </a:r>
            <a:endParaRPr sz="1300" b="0" i="0">
              <a:solidFill>
                <a:srgbClr val="8A520B"/>
              </a:solidFill>
              <a:latin typeface="Calibri" panose="020F0502020204030204"/>
            </a:endParaRPr>
          </a:p>
        </p:txBody>
      </p:sp>
      <p:sp>
        <p:nvSpPr>
          <p:cNvPr id="19" name="Rectangle 18"/>
          <p:cNvSpPr/>
          <p:nvPr/>
        </p:nvSpPr>
        <p:spPr>
          <a:xfrm>
            <a:off x="566928" y="3182112"/>
            <a:ext cx="11064240" cy="566928"/>
          </a:xfrm>
          <a:prstGeom prst="rect">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3232" y="3346704"/>
            <a:ext cx="155448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2</a:t>
            </a:r>
            <a:endParaRPr sz="1300" b="0" i="0">
              <a:solidFill>
                <a:srgbClr val="1C2B24"/>
              </a:solidFill>
              <a:latin typeface="Calibri" panose="020F0502020204030204"/>
            </a:endParaRPr>
          </a:p>
        </p:txBody>
      </p:sp>
      <p:sp>
        <p:nvSpPr>
          <p:cNvPr id="21" name="TextBox 20"/>
          <p:cNvSpPr txBox="1"/>
          <p:nvPr/>
        </p:nvSpPr>
        <p:spPr>
          <a:xfrm>
            <a:off x="2633472" y="3346704"/>
            <a:ext cx="137160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MILK01-260920</a:t>
            </a:r>
            <a:endParaRPr sz="1300" b="0" i="0">
              <a:solidFill>
                <a:srgbClr val="1C2B24"/>
              </a:solidFill>
              <a:latin typeface="Calibri" panose="020F0502020204030204"/>
            </a:endParaRPr>
          </a:p>
        </p:txBody>
      </p:sp>
      <p:sp>
        <p:nvSpPr>
          <p:cNvPr id="22" name="TextBox 21"/>
          <p:cNvSpPr txBox="1"/>
          <p:nvPr/>
        </p:nvSpPr>
        <p:spPr>
          <a:xfrm>
            <a:off x="4370832" y="3346704"/>
            <a:ext cx="1463039"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20/09</a:t>
            </a:r>
            <a:endParaRPr sz="1300" b="0" i="0">
              <a:solidFill>
                <a:srgbClr val="1C2B24"/>
              </a:solidFill>
              <a:latin typeface="Calibri" panose="020F0502020204030204"/>
            </a:endParaRPr>
          </a:p>
        </p:txBody>
      </p:sp>
      <p:sp>
        <p:nvSpPr>
          <p:cNvPr id="23" name="TextBox 22"/>
          <p:cNvSpPr txBox="1"/>
          <p:nvPr/>
        </p:nvSpPr>
        <p:spPr>
          <a:xfrm>
            <a:off x="6199632" y="3346704"/>
            <a:ext cx="137160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200</a:t>
            </a:r>
            <a:endParaRPr sz="1300" b="0" i="0">
              <a:solidFill>
                <a:srgbClr val="1C2B24"/>
              </a:solidFill>
              <a:latin typeface="Calibri" panose="020F0502020204030204"/>
            </a:endParaRPr>
          </a:p>
        </p:txBody>
      </p:sp>
      <p:sp>
        <p:nvSpPr>
          <p:cNvPr id="24" name="TextBox 23"/>
          <p:cNvSpPr txBox="1"/>
          <p:nvPr/>
        </p:nvSpPr>
        <p:spPr>
          <a:xfrm>
            <a:off x="7936992" y="3346704"/>
            <a:ext cx="1463039" cy="274320"/>
          </a:xfrm>
          <a:prstGeom prst="rect">
            <a:avLst/>
          </a:prstGeom>
          <a:noFill/>
        </p:spPr>
        <p:txBody>
          <a:bodyPr wrap="square" lIns="0" tIns="0" rIns="0" bIns="0" anchor="t">
            <a:spAutoFit/>
          </a:bodyPr>
          <a:lstStyle/>
          <a:p>
            <a:pPr algn="l">
              <a:spcBef>
                <a:spcPts val="0"/>
              </a:spcBef>
              <a:spcAft>
                <a:spcPts val="0"/>
              </a:spcAft>
            </a:pPr>
            <a:r>
              <a:rPr sz="1300" b="1" i="0">
                <a:solidFill>
                  <a:srgbClr val="8A520B"/>
                </a:solidFill>
                <a:latin typeface="Calibri" panose="020F0502020204030204"/>
              </a:rPr>
              <a:t>50</a:t>
            </a:r>
            <a:endParaRPr sz="1300" b="1" i="0">
              <a:solidFill>
                <a:srgbClr val="8A520B"/>
              </a:solidFill>
              <a:latin typeface="Calibri" panose="020F0502020204030204"/>
            </a:endParaRPr>
          </a:p>
        </p:txBody>
      </p:sp>
      <p:sp>
        <p:nvSpPr>
          <p:cNvPr id="25" name="TextBox 24"/>
          <p:cNvSpPr txBox="1"/>
          <p:nvPr/>
        </p:nvSpPr>
        <p:spPr>
          <a:xfrm>
            <a:off x="9857232" y="3346704"/>
            <a:ext cx="1645920" cy="274320"/>
          </a:xfrm>
          <a:prstGeom prst="rect">
            <a:avLst/>
          </a:prstGeom>
          <a:noFill/>
        </p:spPr>
        <p:txBody>
          <a:bodyPr wrap="square" lIns="0" tIns="0" rIns="0" bIns="0" anchor="t">
            <a:spAutoFit/>
          </a:bodyPr>
          <a:lstStyle/>
          <a:p>
            <a:pPr algn="l">
              <a:spcBef>
                <a:spcPts val="0"/>
              </a:spcBef>
              <a:spcAft>
                <a:spcPts val="0"/>
              </a:spcAft>
            </a:pPr>
            <a:r>
              <a:rPr sz="1300" b="0" i="0">
                <a:solidFill>
                  <a:srgbClr val="8A520B"/>
                </a:solidFill>
                <a:latin typeface="Calibri" panose="020F0502020204030204"/>
              </a:rPr>
              <a:t>150</a:t>
            </a:r>
            <a:endParaRPr sz="1300" b="0" i="0">
              <a:solidFill>
                <a:srgbClr val="8A520B"/>
              </a:solidFill>
              <a:latin typeface="Calibri" panose="020F0502020204030204"/>
            </a:endParaRPr>
          </a:p>
        </p:txBody>
      </p:sp>
      <p:sp>
        <p:nvSpPr>
          <p:cNvPr id="26" name="Rectangle 25"/>
          <p:cNvSpPr/>
          <p:nvPr/>
        </p:nvSpPr>
        <p:spPr>
          <a:xfrm>
            <a:off x="566928" y="3803904"/>
            <a:ext cx="11064240" cy="566928"/>
          </a:xfrm>
          <a:prstGeom prst="rect">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13232" y="3968496"/>
            <a:ext cx="155448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3</a:t>
            </a:r>
            <a:endParaRPr sz="1300" b="0" i="0">
              <a:solidFill>
                <a:srgbClr val="1C2B24"/>
              </a:solidFill>
              <a:latin typeface="Calibri" panose="020F0502020204030204"/>
            </a:endParaRPr>
          </a:p>
        </p:txBody>
      </p:sp>
      <p:sp>
        <p:nvSpPr>
          <p:cNvPr id="28" name="TextBox 27"/>
          <p:cNvSpPr txBox="1"/>
          <p:nvPr/>
        </p:nvSpPr>
        <p:spPr>
          <a:xfrm>
            <a:off x="2633472" y="3968496"/>
            <a:ext cx="137160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MILK01-260930</a:t>
            </a:r>
            <a:endParaRPr sz="1300" b="0" i="0">
              <a:solidFill>
                <a:srgbClr val="1C2B24"/>
              </a:solidFill>
              <a:latin typeface="Calibri" panose="020F0502020204030204"/>
            </a:endParaRPr>
          </a:p>
        </p:txBody>
      </p:sp>
      <p:sp>
        <p:nvSpPr>
          <p:cNvPr id="29" name="TextBox 28"/>
          <p:cNvSpPr txBox="1"/>
          <p:nvPr/>
        </p:nvSpPr>
        <p:spPr>
          <a:xfrm>
            <a:off x="4370832" y="3968496"/>
            <a:ext cx="1463039"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30/09</a:t>
            </a:r>
            <a:endParaRPr sz="1300" b="0" i="0">
              <a:solidFill>
                <a:srgbClr val="1C2B24"/>
              </a:solidFill>
              <a:latin typeface="Calibri" panose="020F0502020204030204"/>
            </a:endParaRPr>
          </a:p>
        </p:txBody>
      </p:sp>
      <p:sp>
        <p:nvSpPr>
          <p:cNvPr id="30" name="TextBox 29"/>
          <p:cNvSpPr txBox="1"/>
          <p:nvPr/>
        </p:nvSpPr>
        <p:spPr>
          <a:xfrm>
            <a:off x="6199632" y="3968496"/>
            <a:ext cx="137160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300</a:t>
            </a:r>
            <a:endParaRPr sz="1300" b="0" i="0">
              <a:solidFill>
                <a:srgbClr val="1C2B24"/>
              </a:solidFill>
              <a:latin typeface="Calibri" panose="020F0502020204030204"/>
            </a:endParaRPr>
          </a:p>
        </p:txBody>
      </p:sp>
      <p:sp>
        <p:nvSpPr>
          <p:cNvPr id="31" name="TextBox 30"/>
          <p:cNvSpPr txBox="1"/>
          <p:nvPr/>
        </p:nvSpPr>
        <p:spPr>
          <a:xfrm>
            <a:off x="7936992" y="3968496"/>
            <a:ext cx="1463039" cy="274320"/>
          </a:xfrm>
          <a:prstGeom prst="rect">
            <a:avLst/>
          </a:prstGeom>
          <a:noFill/>
        </p:spPr>
        <p:txBody>
          <a:bodyPr wrap="square" lIns="0" tIns="0" rIns="0" bIns="0" anchor="t">
            <a:spAutoFit/>
          </a:bodyPr>
          <a:lstStyle/>
          <a:p>
            <a:pPr algn="l">
              <a:spcBef>
                <a:spcPts val="0"/>
              </a:spcBef>
              <a:spcAft>
                <a:spcPts val="0"/>
              </a:spcAft>
            </a:pPr>
            <a:r>
              <a:rPr sz="1300" b="1" i="0">
                <a:solidFill>
                  <a:srgbClr val="1C2B24"/>
                </a:solidFill>
                <a:latin typeface="Calibri" panose="020F0502020204030204"/>
              </a:rPr>
              <a:t>0</a:t>
            </a:r>
            <a:endParaRPr sz="1300" b="1" i="0">
              <a:solidFill>
                <a:srgbClr val="1C2B24"/>
              </a:solidFill>
              <a:latin typeface="Calibri" panose="020F0502020204030204"/>
            </a:endParaRPr>
          </a:p>
        </p:txBody>
      </p:sp>
      <p:sp>
        <p:nvSpPr>
          <p:cNvPr id="32" name="TextBox 31"/>
          <p:cNvSpPr txBox="1"/>
          <p:nvPr/>
        </p:nvSpPr>
        <p:spPr>
          <a:xfrm>
            <a:off x="9857232" y="3968496"/>
            <a:ext cx="1645920" cy="274320"/>
          </a:xfrm>
          <a:prstGeom prst="rect">
            <a:avLst/>
          </a:prstGeom>
          <a:noFill/>
        </p:spPr>
        <p:txBody>
          <a:bodyPr wrap="square" lIns="0" tIns="0" rIns="0" bIns="0" anchor="t">
            <a:spAutoFit/>
          </a:bodyPr>
          <a:lstStyle/>
          <a:p>
            <a:pPr algn="l">
              <a:spcBef>
                <a:spcPts val="0"/>
              </a:spcBef>
              <a:spcAft>
                <a:spcPts val="0"/>
              </a:spcAft>
            </a:pPr>
            <a:r>
              <a:rPr sz="1300" b="0" i="0">
                <a:solidFill>
                  <a:srgbClr val="1C2B24"/>
                </a:solidFill>
                <a:latin typeface="Calibri" panose="020F0502020204030204"/>
              </a:rPr>
              <a:t>300 — giữ nguyên</a:t>
            </a:r>
            <a:endParaRPr sz="1300" b="0" i="0">
              <a:solidFill>
                <a:srgbClr val="1C2B24"/>
              </a:solidFill>
              <a:latin typeface="Calibri" panose="020F0502020204030204"/>
            </a:endParaRPr>
          </a:p>
        </p:txBody>
      </p:sp>
      <p:sp>
        <p:nvSpPr>
          <p:cNvPr id="33" name="TextBox 32"/>
          <p:cNvSpPr txBox="1"/>
          <p:nvPr/>
        </p:nvSpPr>
        <p:spPr>
          <a:xfrm>
            <a:off x="566928" y="4434840"/>
            <a:ext cx="11064240" cy="1737360"/>
          </a:xfrm>
          <a:prstGeom prst="rect">
            <a:avLst/>
          </a:prstGeom>
          <a:noFill/>
        </p:spPr>
        <p:txBody>
          <a:bodyPr wrap="square" lIns="0" tIns="0" rIns="0" bIns="0" anchor="t">
            <a:spAutoFit/>
          </a:bodyPr>
          <a:lstStyle/>
          <a:p>
            <a:pPr algn="l">
              <a:spcBef>
                <a:spcPts val="0"/>
              </a:spcBef>
              <a:spcAft>
                <a:spcPts val="0"/>
              </a:spcAft>
            </a:pPr>
            <a:r>
              <a:rPr sz="1700" b="1" i="0">
                <a:solidFill>
                  <a:srgbClr val="1C2B24"/>
                </a:solidFill>
                <a:latin typeface="Cambria" panose="02040503050406030204"/>
              </a:rPr>
              <a:t>Ba điều rút ra từ ví dụ trên</a:t>
            </a:r>
            <a:endParaRPr sz="1700" b="1" i="0">
              <a:solidFill>
                <a:srgbClr val="1C2B24"/>
              </a:solidFill>
              <a:latin typeface="Cambria" panose="02040503050406030204"/>
            </a:endParaRPr>
          </a:p>
          <a:p>
            <a:pPr>
              <a:spcAft>
                <a:spcPts val="900"/>
              </a:spcAft>
            </a:pPr>
            <a:r>
              <a:rPr sz="1400" b="1">
                <a:solidFill>
                  <a:srgbClr val="1F6F4F"/>
                </a:solidFill>
                <a:latin typeface="Calibri" panose="020F0502020204030204"/>
              </a:rPr>
              <a:t>Không lấy hết một lô rồi dừng. </a:t>
            </a:r>
            <a:r>
              <a:rPr sz="1400" b="0">
                <a:solidFill>
                  <a:srgbClr val="1C2B24"/>
                </a:solidFill>
                <a:latin typeface="Calibri" panose="020F0502020204030204"/>
              </a:rPr>
              <a:t>Lô đầu chỉ có 100, hệ thống tự chuyển sang lô kế tiếp lấy nốt 50 còn thiếu.</a:t>
            </a:r>
            <a:endParaRPr sz="1400" b="0">
              <a:solidFill>
                <a:srgbClr val="1C2B24"/>
              </a:solidFill>
              <a:latin typeface="Calibri" panose="020F0502020204030204"/>
            </a:endParaRPr>
          </a:p>
          <a:p>
            <a:pPr>
              <a:spcAft>
                <a:spcPts val="900"/>
              </a:spcAft>
            </a:pPr>
            <a:r>
              <a:rPr sz="1400" b="1">
                <a:solidFill>
                  <a:srgbClr val="1F6F4F"/>
                </a:solidFill>
                <a:latin typeface="Calibri" panose="020F0502020204030204"/>
              </a:rPr>
              <a:t>Lô hết hạn bị loại khỏi danh sách. </a:t>
            </a:r>
            <a:r>
              <a:rPr sz="1400" b="0">
                <a:solidFill>
                  <a:srgbClr val="1C2B24"/>
                </a:solidFill>
                <a:latin typeface="Calibri" panose="020F0502020204030204"/>
              </a:rPr>
              <a:t>Cronjob đã khóa những lô quá date trước khi thuật toán chạy.</a:t>
            </a:r>
            <a:endParaRPr sz="1400" b="0">
              <a:solidFill>
                <a:srgbClr val="1C2B24"/>
              </a:solidFill>
              <a:latin typeface="Calibri" panose="020F0502020204030204"/>
            </a:endParaRPr>
          </a:p>
          <a:p>
            <a:pPr>
              <a:spcAft>
                <a:spcPts val="900"/>
              </a:spcAft>
            </a:pPr>
            <a:r>
              <a:rPr sz="1400" b="1">
                <a:solidFill>
                  <a:srgbClr val="1F6F4F"/>
                </a:solidFill>
                <a:latin typeface="Calibri" panose="020F0502020204030204"/>
              </a:rPr>
              <a:t>Không đủ tổng tồn thì từ chối cả đơn. </a:t>
            </a:r>
            <a:r>
              <a:rPr sz="1400" b="0">
                <a:solidFill>
                  <a:srgbClr val="1C2B24"/>
                </a:solidFill>
                <a:latin typeface="Calibri" panose="020F0502020204030204"/>
              </a:rPr>
              <a:t>Toàn bộ thao tác nằm trong một transaction, sai thì rollback, không để kho âm.</a:t>
            </a:r>
            <a:endParaRPr sz="1400" b="0">
              <a:solidFill>
                <a:srgbClr val="1C2B24"/>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Người dùng hệ thống</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Bốn vai trò khép kín luồng nghiệp vụ</a:t>
            </a:r>
            <a:endParaRPr sz="3000" b="1" i="0">
              <a:solidFill>
                <a:srgbClr val="1C2B24"/>
              </a:solidFill>
              <a:latin typeface="Cambria" panose="02040503050406030204"/>
            </a:endParaRPr>
          </a:p>
        </p:txBody>
      </p:sp>
      <p:sp>
        <p:nvSpPr>
          <p:cNvPr id="4" name="Rounded Rectangle 3"/>
          <p:cNvSpPr/>
          <p:nvPr/>
        </p:nvSpPr>
        <p:spPr>
          <a:xfrm>
            <a:off x="566928" y="1691640"/>
            <a:ext cx="5440680" cy="20574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41247" y="1965960"/>
            <a:ext cx="384048" cy="384048"/>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K</a:t>
            </a:r>
            <a:endParaRPr sz="1400" b="1">
              <a:solidFill>
                <a:srgbClr val="FFFFFF"/>
              </a:solidFill>
              <a:latin typeface="Calibri" panose="020F0502020204030204"/>
            </a:endParaRPr>
          </a:p>
        </p:txBody>
      </p:sp>
      <p:sp>
        <p:nvSpPr>
          <p:cNvPr id="6" name="TextBox 5"/>
          <p:cNvSpPr txBox="1"/>
          <p:nvPr/>
        </p:nvSpPr>
        <p:spPr>
          <a:xfrm>
            <a:off x="1344168" y="1929384"/>
            <a:ext cx="3108960" cy="292608"/>
          </a:xfrm>
          <a:prstGeom prst="rect">
            <a:avLst/>
          </a:prstGeom>
          <a:noFill/>
        </p:spPr>
        <p:txBody>
          <a:bodyPr wrap="square" lIns="0" tIns="0" rIns="0" bIns="0" anchor="t">
            <a:spAutoFit/>
          </a:bodyPr>
          <a:lstStyle/>
          <a:p>
            <a:pPr algn="l">
              <a:spcBef>
                <a:spcPts val="0"/>
              </a:spcBef>
              <a:spcAft>
                <a:spcPts val="0"/>
              </a:spcAft>
            </a:pPr>
            <a:r>
              <a:rPr sz="1550" b="1" i="0">
                <a:solidFill>
                  <a:srgbClr val="1C2B24"/>
                </a:solidFill>
                <a:latin typeface="Calibri" panose="020F0502020204030204"/>
              </a:rPr>
              <a:t>Thủ kho</a:t>
            </a:r>
            <a:endParaRPr sz="1550" b="1" i="0">
              <a:solidFill>
                <a:srgbClr val="1C2B24"/>
              </a:solidFill>
              <a:latin typeface="Calibri" panose="020F0502020204030204"/>
            </a:endParaRPr>
          </a:p>
        </p:txBody>
      </p:sp>
      <p:sp>
        <p:nvSpPr>
          <p:cNvPr id="7" name="TextBox 6"/>
          <p:cNvSpPr txBox="1"/>
          <p:nvPr/>
        </p:nvSpPr>
        <p:spPr>
          <a:xfrm>
            <a:off x="1344168" y="2221992"/>
            <a:ext cx="3108960" cy="256032"/>
          </a:xfrm>
          <a:prstGeom prst="rect">
            <a:avLst/>
          </a:prstGeom>
          <a:noFill/>
        </p:spPr>
        <p:txBody>
          <a:bodyPr wrap="square" lIns="0" tIns="0" rIns="0" bIns="0" anchor="t">
            <a:spAutoFit/>
          </a:bodyPr>
          <a:lstStyle/>
          <a:p>
            <a:pPr algn="l">
              <a:spcBef>
                <a:spcPts val="0"/>
              </a:spcBef>
              <a:spcAft>
                <a:spcPts val="0"/>
              </a:spcAft>
            </a:pPr>
            <a:r>
              <a:rPr sz="1150" b="0" i="1">
                <a:solidFill>
                  <a:srgbClr val="5A6B62"/>
                </a:solidFill>
                <a:latin typeface="Calibri" panose="020F0502020204030204"/>
              </a:rPr>
              <a:t>Warehouse Staff</a:t>
            </a:r>
            <a:endParaRPr sz="1150" b="0" i="1">
              <a:solidFill>
                <a:srgbClr val="5A6B62"/>
              </a:solidFill>
              <a:latin typeface="Calibri" panose="020F0502020204030204"/>
            </a:endParaRPr>
          </a:p>
        </p:txBody>
      </p:sp>
      <p:sp>
        <p:nvSpPr>
          <p:cNvPr id="8" name="TextBox 7"/>
          <p:cNvSpPr txBox="1"/>
          <p:nvPr/>
        </p:nvSpPr>
        <p:spPr>
          <a:xfrm>
            <a:off x="4361688" y="1965960"/>
            <a:ext cx="1417320" cy="274320"/>
          </a:xfrm>
          <a:prstGeom prst="rect">
            <a:avLst/>
          </a:prstGeom>
          <a:noFill/>
        </p:spPr>
        <p:txBody>
          <a:bodyPr wrap="square" lIns="0" tIns="0" rIns="0" bIns="0" anchor="t">
            <a:spAutoFit/>
          </a:bodyPr>
          <a:lstStyle/>
          <a:p>
            <a:pPr algn="r">
              <a:spcBef>
                <a:spcPts val="0"/>
              </a:spcBef>
              <a:spcAft>
                <a:spcPts val="0"/>
              </a:spcAft>
            </a:pPr>
            <a:r>
              <a:rPr sz="1100" b="1" i="0">
                <a:solidFill>
                  <a:srgbClr val="1F6F4F"/>
                </a:solidFill>
                <a:latin typeface="Calibri" panose="020F0502020204030204"/>
              </a:rPr>
              <a:t>Web Portal</a:t>
            </a:r>
            <a:endParaRPr sz="1100" b="1" i="0">
              <a:solidFill>
                <a:srgbClr val="1F6F4F"/>
              </a:solidFill>
              <a:latin typeface="Calibri" panose="020F0502020204030204"/>
            </a:endParaRPr>
          </a:p>
        </p:txBody>
      </p:sp>
      <p:sp>
        <p:nvSpPr>
          <p:cNvPr id="9" name="TextBox 8"/>
          <p:cNvSpPr txBox="1"/>
          <p:nvPr/>
        </p:nvSpPr>
        <p:spPr>
          <a:xfrm>
            <a:off x="841247" y="2606040"/>
            <a:ext cx="4892040" cy="10058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Khâu đầu vào và đầu ra vật lý: tạo và duyệt phiếu nhập, nhập hạn sử dụng để hệ thống sinh Batch ID, xác nhận xuất kho sau khi FEFO chạy xong.</a:t>
            </a:r>
            <a:endParaRPr sz="1250" b="0" i="0">
              <a:solidFill>
                <a:srgbClr val="5A6B62"/>
              </a:solidFill>
              <a:latin typeface="Calibri" panose="020F0502020204030204"/>
            </a:endParaRPr>
          </a:p>
        </p:txBody>
      </p:sp>
      <p:sp>
        <p:nvSpPr>
          <p:cNvPr id="10" name="Rounded Rectangle 9"/>
          <p:cNvSpPr/>
          <p:nvPr/>
        </p:nvSpPr>
        <p:spPr>
          <a:xfrm>
            <a:off x="6190488" y="1691640"/>
            <a:ext cx="5440680" cy="20574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4807" y="1965960"/>
            <a:ext cx="384048" cy="384048"/>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S</a:t>
            </a:r>
            <a:endParaRPr sz="1400" b="1">
              <a:solidFill>
                <a:srgbClr val="FFFFFF"/>
              </a:solidFill>
              <a:latin typeface="Calibri" panose="020F0502020204030204"/>
            </a:endParaRPr>
          </a:p>
        </p:txBody>
      </p:sp>
      <p:sp>
        <p:nvSpPr>
          <p:cNvPr id="12" name="TextBox 11"/>
          <p:cNvSpPr txBox="1"/>
          <p:nvPr/>
        </p:nvSpPr>
        <p:spPr>
          <a:xfrm>
            <a:off x="6967727" y="1929384"/>
            <a:ext cx="3108960" cy="292608"/>
          </a:xfrm>
          <a:prstGeom prst="rect">
            <a:avLst/>
          </a:prstGeom>
          <a:noFill/>
        </p:spPr>
        <p:txBody>
          <a:bodyPr wrap="square" lIns="0" tIns="0" rIns="0" bIns="0" anchor="t">
            <a:spAutoFit/>
          </a:bodyPr>
          <a:lstStyle/>
          <a:p>
            <a:pPr algn="l">
              <a:spcBef>
                <a:spcPts val="0"/>
              </a:spcBef>
              <a:spcAft>
                <a:spcPts val="0"/>
              </a:spcAft>
            </a:pPr>
            <a:r>
              <a:rPr sz="1550" b="1" i="0">
                <a:solidFill>
                  <a:srgbClr val="1C2B24"/>
                </a:solidFill>
                <a:latin typeface="Calibri" panose="020F0502020204030204"/>
              </a:rPr>
              <a:t>Nhân viên Bán hàng</a:t>
            </a:r>
            <a:endParaRPr sz="1550" b="1" i="0">
              <a:solidFill>
                <a:srgbClr val="1C2B24"/>
              </a:solidFill>
              <a:latin typeface="Calibri" panose="020F0502020204030204"/>
            </a:endParaRPr>
          </a:p>
        </p:txBody>
      </p:sp>
      <p:sp>
        <p:nvSpPr>
          <p:cNvPr id="13" name="TextBox 12"/>
          <p:cNvSpPr txBox="1"/>
          <p:nvPr/>
        </p:nvSpPr>
        <p:spPr>
          <a:xfrm>
            <a:off x="6967727" y="2221992"/>
            <a:ext cx="3108960" cy="256032"/>
          </a:xfrm>
          <a:prstGeom prst="rect">
            <a:avLst/>
          </a:prstGeom>
          <a:noFill/>
        </p:spPr>
        <p:txBody>
          <a:bodyPr wrap="square" lIns="0" tIns="0" rIns="0" bIns="0" anchor="t">
            <a:spAutoFit/>
          </a:bodyPr>
          <a:lstStyle/>
          <a:p>
            <a:pPr algn="l">
              <a:spcBef>
                <a:spcPts val="0"/>
              </a:spcBef>
              <a:spcAft>
                <a:spcPts val="0"/>
              </a:spcAft>
            </a:pPr>
            <a:r>
              <a:rPr sz="1150" b="0" i="1">
                <a:solidFill>
                  <a:srgbClr val="5A6B62"/>
                </a:solidFill>
                <a:latin typeface="Calibri" panose="020F0502020204030204"/>
              </a:rPr>
              <a:t>Sales</a:t>
            </a:r>
            <a:endParaRPr sz="1150" b="0" i="1">
              <a:solidFill>
                <a:srgbClr val="5A6B62"/>
              </a:solidFill>
              <a:latin typeface="Calibri" panose="020F0502020204030204"/>
            </a:endParaRPr>
          </a:p>
        </p:txBody>
      </p:sp>
      <p:sp>
        <p:nvSpPr>
          <p:cNvPr id="14" name="TextBox 13"/>
          <p:cNvSpPr txBox="1"/>
          <p:nvPr/>
        </p:nvSpPr>
        <p:spPr>
          <a:xfrm>
            <a:off x="9985248" y="1965960"/>
            <a:ext cx="1417320" cy="274320"/>
          </a:xfrm>
          <a:prstGeom prst="rect">
            <a:avLst/>
          </a:prstGeom>
          <a:noFill/>
        </p:spPr>
        <p:txBody>
          <a:bodyPr wrap="square" lIns="0" tIns="0" rIns="0" bIns="0" anchor="t">
            <a:spAutoFit/>
          </a:bodyPr>
          <a:lstStyle/>
          <a:p>
            <a:pPr algn="r">
              <a:spcBef>
                <a:spcPts val="0"/>
              </a:spcBef>
              <a:spcAft>
                <a:spcPts val="0"/>
              </a:spcAft>
            </a:pPr>
            <a:r>
              <a:rPr sz="1100" b="1" i="0">
                <a:solidFill>
                  <a:srgbClr val="1F6F4F"/>
                </a:solidFill>
                <a:latin typeface="Calibri" panose="020F0502020204030204"/>
              </a:rPr>
              <a:t>Mobile App</a:t>
            </a:r>
            <a:endParaRPr sz="1100" b="1" i="0">
              <a:solidFill>
                <a:srgbClr val="1F6F4F"/>
              </a:solidFill>
              <a:latin typeface="Calibri" panose="020F0502020204030204"/>
            </a:endParaRPr>
          </a:p>
        </p:txBody>
      </p:sp>
      <p:sp>
        <p:nvSpPr>
          <p:cNvPr id="15" name="TextBox 14"/>
          <p:cNvSpPr txBox="1"/>
          <p:nvPr/>
        </p:nvSpPr>
        <p:spPr>
          <a:xfrm>
            <a:off x="6464807" y="2606040"/>
            <a:ext cx="4892040" cy="10058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Hoạt động ngoài thị trường: xem danh mục, kiểm tra tồn kho, tạo đơn hàng kể cả khi mất mạng, chụp ảnh quầy kệ để AI chấm điểm trưng bày.</a:t>
            </a:r>
            <a:endParaRPr sz="1250" b="0" i="0">
              <a:solidFill>
                <a:srgbClr val="5A6B62"/>
              </a:solidFill>
              <a:latin typeface="Calibri" panose="020F0502020204030204"/>
            </a:endParaRPr>
          </a:p>
        </p:txBody>
      </p:sp>
      <p:sp>
        <p:nvSpPr>
          <p:cNvPr id="16" name="Rounded Rectangle 15"/>
          <p:cNvSpPr/>
          <p:nvPr/>
        </p:nvSpPr>
        <p:spPr>
          <a:xfrm>
            <a:off x="566928" y="3913632"/>
            <a:ext cx="5440680" cy="20574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41247" y="4187952"/>
            <a:ext cx="384048" cy="384048"/>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G</a:t>
            </a:r>
            <a:endParaRPr sz="1400" b="1">
              <a:solidFill>
                <a:srgbClr val="FFFFFF"/>
              </a:solidFill>
              <a:latin typeface="Calibri" panose="020F0502020204030204"/>
            </a:endParaRPr>
          </a:p>
        </p:txBody>
      </p:sp>
      <p:sp>
        <p:nvSpPr>
          <p:cNvPr id="18" name="TextBox 17"/>
          <p:cNvSpPr txBox="1"/>
          <p:nvPr/>
        </p:nvSpPr>
        <p:spPr>
          <a:xfrm>
            <a:off x="1344168" y="4151376"/>
            <a:ext cx="3108960" cy="292608"/>
          </a:xfrm>
          <a:prstGeom prst="rect">
            <a:avLst/>
          </a:prstGeom>
          <a:noFill/>
        </p:spPr>
        <p:txBody>
          <a:bodyPr wrap="square" lIns="0" tIns="0" rIns="0" bIns="0" anchor="t">
            <a:spAutoFit/>
          </a:bodyPr>
          <a:lstStyle/>
          <a:p>
            <a:pPr algn="l">
              <a:spcBef>
                <a:spcPts val="0"/>
              </a:spcBef>
              <a:spcAft>
                <a:spcPts val="0"/>
              </a:spcAft>
            </a:pPr>
            <a:r>
              <a:rPr sz="1550" b="1" i="0">
                <a:solidFill>
                  <a:srgbClr val="1C2B24"/>
                </a:solidFill>
                <a:latin typeface="Calibri" panose="020F0502020204030204"/>
              </a:rPr>
              <a:t>Nhân viên Giao hàng</a:t>
            </a:r>
            <a:endParaRPr sz="1550" b="1" i="0">
              <a:solidFill>
                <a:srgbClr val="1C2B24"/>
              </a:solidFill>
              <a:latin typeface="Calibri" panose="020F0502020204030204"/>
            </a:endParaRPr>
          </a:p>
        </p:txBody>
      </p:sp>
      <p:sp>
        <p:nvSpPr>
          <p:cNvPr id="19" name="TextBox 18"/>
          <p:cNvSpPr txBox="1"/>
          <p:nvPr/>
        </p:nvSpPr>
        <p:spPr>
          <a:xfrm>
            <a:off x="1344168" y="4443984"/>
            <a:ext cx="3108960" cy="256032"/>
          </a:xfrm>
          <a:prstGeom prst="rect">
            <a:avLst/>
          </a:prstGeom>
          <a:noFill/>
        </p:spPr>
        <p:txBody>
          <a:bodyPr wrap="square" lIns="0" tIns="0" rIns="0" bIns="0" anchor="t">
            <a:spAutoFit/>
          </a:bodyPr>
          <a:lstStyle/>
          <a:p>
            <a:pPr algn="l">
              <a:spcBef>
                <a:spcPts val="0"/>
              </a:spcBef>
              <a:spcAft>
                <a:spcPts val="0"/>
              </a:spcAft>
            </a:pPr>
            <a:r>
              <a:rPr sz="1150" b="0" i="1">
                <a:solidFill>
                  <a:srgbClr val="5A6B62"/>
                </a:solidFill>
                <a:latin typeface="Calibri" panose="020F0502020204030204"/>
              </a:rPr>
              <a:t>Delivery</a:t>
            </a:r>
            <a:endParaRPr sz="1150" b="0" i="1">
              <a:solidFill>
                <a:srgbClr val="5A6B62"/>
              </a:solidFill>
              <a:latin typeface="Calibri" panose="020F0502020204030204"/>
            </a:endParaRPr>
          </a:p>
        </p:txBody>
      </p:sp>
      <p:sp>
        <p:nvSpPr>
          <p:cNvPr id="20" name="TextBox 19"/>
          <p:cNvSpPr txBox="1"/>
          <p:nvPr/>
        </p:nvSpPr>
        <p:spPr>
          <a:xfrm>
            <a:off x="4361688" y="4187952"/>
            <a:ext cx="1417320" cy="274320"/>
          </a:xfrm>
          <a:prstGeom prst="rect">
            <a:avLst/>
          </a:prstGeom>
          <a:noFill/>
        </p:spPr>
        <p:txBody>
          <a:bodyPr wrap="square" lIns="0" tIns="0" rIns="0" bIns="0" anchor="t">
            <a:spAutoFit/>
          </a:bodyPr>
          <a:lstStyle/>
          <a:p>
            <a:pPr algn="r">
              <a:spcBef>
                <a:spcPts val="0"/>
              </a:spcBef>
              <a:spcAft>
                <a:spcPts val="0"/>
              </a:spcAft>
            </a:pPr>
            <a:r>
              <a:rPr sz="1100" b="1" i="0">
                <a:solidFill>
                  <a:srgbClr val="1F6F4F"/>
                </a:solidFill>
                <a:latin typeface="Calibri" panose="020F0502020204030204"/>
              </a:rPr>
              <a:t>Mobile App</a:t>
            </a:r>
            <a:endParaRPr sz="1100" b="1" i="0">
              <a:solidFill>
                <a:srgbClr val="1F6F4F"/>
              </a:solidFill>
              <a:latin typeface="Calibri" panose="020F0502020204030204"/>
            </a:endParaRPr>
          </a:p>
        </p:txBody>
      </p:sp>
      <p:sp>
        <p:nvSpPr>
          <p:cNvPr id="21" name="TextBox 20"/>
          <p:cNvSpPr txBox="1"/>
          <p:nvPr/>
        </p:nvSpPr>
        <p:spPr>
          <a:xfrm>
            <a:off x="841247" y="4828032"/>
            <a:ext cx="4892040" cy="10058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Mắt xích cuối: xem danh sách đơn cần giao trong ngày, chụp ảnh chứng từ có chữ ký khách hàng, xác nhận đã giao.</a:t>
            </a:r>
            <a:endParaRPr sz="1250" b="0" i="0">
              <a:solidFill>
                <a:srgbClr val="5A6B62"/>
              </a:solidFill>
              <a:latin typeface="Calibri" panose="020F0502020204030204"/>
            </a:endParaRPr>
          </a:p>
        </p:txBody>
      </p:sp>
      <p:sp>
        <p:nvSpPr>
          <p:cNvPr id="22" name="Rounded Rectangle 21"/>
          <p:cNvSpPr/>
          <p:nvPr/>
        </p:nvSpPr>
        <p:spPr>
          <a:xfrm>
            <a:off x="6190488" y="3913632"/>
            <a:ext cx="5440680" cy="20574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4807" y="4187952"/>
            <a:ext cx="384048" cy="384048"/>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Q</a:t>
            </a:r>
            <a:endParaRPr sz="1400" b="1">
              <a:solidFill>
                <a:srgbClr val="FFFFFF"/>
              </a:solidFill>
              <a:latin typeface="Calibri" panose="020F0502020204030204"/>
            </a:endParaRPr>
          </a:p>
        </p:txBody>
      </p:sp>
      <p:sp>
        <p:nvSpPr>
          <p:cNvPr id="24" name="TextBox 23"/>
          <p:cNvSpPr txBox="1"/>
          <p:nvPr/>
        </p:nvSpPr>
        <p:spPr>
          <a:xfrm>
            <a:off x="6967727" y="4151376"/>
            <a:ext cx="3108960" cy="292608"/>
          </a:xfrm>
          <a:prstGeom prst="rect">
            <a:avLst/>
          </a:prstGeom>
          <a:noFill/>
        </p:spPr>
        <p:txBody>
          <a:bodyPr wrap="square" lIns="0" tIns="0" rIns="0" bIns="0" anchor="t">
            <a:spAutoFit/>
          </a:bodyPr>
          <a:lstStyle/>
          <a:p>
            <a:pPr algn="l">
              <a:spcBef>
                <a:spcPts val="0"/>
              </a:spcBef>
              <a:spcAft>
                <a:spcPts val="0"/>
              </a:spcAft>
            </a:pPr>
            <a:r>
              <a:rPr sz="1550" b="1" i="0">
                <a:solidFill>
                  <a:srgbClr val="1C2B24"/>
                </a:solidFill>
                <a:latin typeface="Calibri" panose="020F0502020204030204"/>
              </a:rPr>
              <a:t>Quản trị viên / Quản lý</a:t>
            </a:r>
            <a:endParaRPr sz="1550" b="1" i="0">
              <a:solidFill>
                <a:srgbClr val="1C2B24"/>
              </a:solidFill>
              <a:latin typeface="Calibri" panose="020F0502020204030204"/>
            </a:endParaRPr>
          </a:p>
        </p:txBody>
      </p:sp>
      <p:sp>
        <p:nvSpPr>
          <p:cNvPr id="25" name="TextBox 24"/>
          <p:cNvSpPr txBox="1"/>
          <p:nvPr/>
        </p:nvSpPr>
        <p:spPr>
          <a:xfrm>
            <a:off x="6967727" y="4443984"/>
            <a:ext cx="3108960" cy="256032"/>
          </a:xfrm>
          <a:prstGeom prst="rect">
            <a:avLst/>
          </a:prstGeom>
          <a:noFill/>
        </p:spPr>
        <p:txBody>
          <a:bodyPr wrap="square" lIns="0" tIns="0" rIns="0" bIns="0" anchor="t">
            <a:spAutoFit/>
          </a:bodyPr>
          <a:lstStyle/>
          <a:p>
            <a:pPr algn="l">
              <a:spcBef>
                <a:spcPts val="0"/>
              </a:spcBef>
              <a:spcAft>
                <a:spcPts val="0"/>
              </a:spcAft>
            </a:pPr>
            <a:r>
              <a:rPr sz="1150" b="0" i="1">
                <a:solidFill>
                  <a:srgbClr val="5A6B62"/>
                </a:solidFill>
                <a:latin typeface="Calibri" panose="020F0502020204030204"/>
              </a:rPr>
              <a:t>Admin / Manager</a:t>
            </a:r>
            <a:endParaRPr sz="1150" b="0" i="1">
              <a:solidFill>
                <a:srgbClr val="5A6B62"/>
              </a:solidFill>
              <a:latin typeface="Calibri" panose="020F0502020204030204"/>
            </a:endParaRPr>
          </a:p>
        </p:txBody>
      </p:sp>
      <p:sp>
        <p:nvSpPr>
          <p:cNvPr id="26" name="TextBox 25"/>
          <p:cNvSpPr txBox="1"/>
          <p:nvPr/>
        </p:nvSpPr>
        <p:spPr>
          <a:xfrm>
            <a:off x="9985248" y="4187952"/>
            <a:ext cx="1417320" cy="274320"/>
          </a:xfrm>
          <a:prstGeom prst="rect">
            <a:avLst/>
          </a:prstGeom>
          <a:noFill/>
        </p:spPr>
        <p:txBody>
          <a:bodyPr wrap="square" lIns="0" tIns="0" rIns="0" bIns="0" anchor="t">
            <a:spAutoFit/>
          </a:bodyPr>
          <a:lstStyle/>
          <a:p>
            <a:pPr algn="r">
              <a:spcBef>
                <a:spcPts val="0"/>
              </a:spcBef>
              <a:spcAft>
                <a:spcPts val="0"/>
              </a:spcAft>
            </a:pPr>
            <a:r>
              <a:rPr sz="1100" b="1" i="0">
                <a:solidFill>
                  <a:srgbClr val="1F6F4F"/>
                </a:solidFill>
                <a:latin typeface="Calibri" panose="020F0502020204030204"/>
              </a:rPr>
              <a:t>Web Portal</a:t>
            </a:r>
            <a:endParaRPr sz="1100" b="1" i="0">
              <a:solidFill>
                <a:srgbClr val="1F6F4F"/>
              </a:solidFill>
              <a:latin typeface="Calibri" panose="020F0502020204030204"/>
            </a:endParaRPr>
          </a:p>
        </p:txBody>
      </p:sp>
      <p:sp>
        <p:nvSpPr>
          <p:cNvPr id="27" name="TextBox 26"/>
          <p:cNvSpPr txBox="1"/>
          <p:nvPr/>
        </p:nvSpPr>
        <p:spPr>
          <a:xfrm>
            <a:off x="6464807" y="4828032"/>
            <a:ext cx="4892040" cy="10058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Điều hành toàn cục: duyệt đơn khi Sales vượt hạn mức, cấu hình luật khuyến mãi xả hàng, theo dõi dashboard cảnh báo hàng cận date.</a:t>
            </a:r>
            <a:endParaRPr sz="1250" b="0" i="0">
              <a:solidFill>
                <a:srgbClr val="5A6B62"/>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Oval 1"/>
          <p:cNvSpPr/>
          <p:nvPr/>
        </p:nvSpPr>
        <p:spPr>
          <a:xfrm>
            <a:off x="868680" y="2331720"/>
            <a:ext cx="868680" cy="8686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12352A"/>
                </a:solidFill>
                <a:latin typeface="Calibri" panose="020F0502020204030204"/>
              </a:rPr>
              <a:t>3</a:t>
            </a:r>
            <a:endParaRPr sz="3000" b="1">
              <a:solidFill>
                <a:srgbClr val="12352A"/>
              </a:solidFill>
              <a:latin typeface="Calibri" panose="020F0502020204030204"/>
            </a:endParaRPr>
          </a:p>
        </p:txBody>
      </p:sp>
      <p:sp>
        <p:nvSpPr>
          <p:cNvPr id="3" name="TextBox 2"/>
          <p:cNvSpPr txBox="1"/>
          <p:nvPr/>
        </p:nvSpPr>
        <p:spPr>
          <a:xfrm>
            <a:off x="2057400" y="2395728"/>
            <a:ext cx="8961120" cy="822960"/>
          </a:xfrm>
          <a:prstGeom prst="rect">
            <a:avLst/>
          </a:prstGeom>
          <a:noFill/>
        </p:spPr>
        <p:txBody>
          <a:bodyPr wrap="square" lIns="0" tIns="0" rIns="0" bIns="0" anchor="t">
            <a:spAutoFit/>
          </a:bodyPr>
          <a:lstStyle/>
          <a:p>
            <a:pPr algn="l">
              <a:spcBef>
                <a:spcPts val="0"/>
              </a:spcBef>
              <a:spcAft>
                <a:spcPts val="0"/>
              </a:spcAft>
            </a:pPr>
            <a:r>
              <a:rPr sz="3600" b="1" i="0">
                <a:solidFill>
                  <a:srgbClr val="FFFFFF"/>
                </a:solidFill>
                <a:latin typeface="Cambria" panose="02040503050406030204"/>
              </a:rPr>
              <a:t>Thiết kế hệ thống</a:t>
            </a:r>
            <a:endParaRPr sz="3600" b="1" i="0">
              <a:solidFill>
                <a:srgbClr val="FFFFFF"/>
              </a:solidFill>
              <a:latin typeface="Cambria" panose="02040503050406030204"/>
            </a:endParaRPr>
          </a:p>
        </p:txBody>
      </p:sp>
      <p:sp>
        <p:nvSpPr>
          <p:cNvPr id="4" name="TextBox 3"/>
          <p:cNvSpPr txBox="1"/>
          <p:nvPr/>
        </p:nvSpPr>
        <p:spPr>
          <a:xfrm>
            <a:off x="2057400" y="3273552"/>
            <a:ext cx="8961120" cy="548640"/>
          </a:xfrm>
          <a:prstGeom prst="rect">
            <a:avLst/>
          </a:prstGeom>
          <a:noFill/>
        </p:spPr>
        <p:txBody>
          <a:bodyPr wrap="square" lIns="0" tIns="0" rIns="0" bIns="0" anchor="t">
            <a:spAutoFit/>
          </a:bodyPr>
          <a:lstStyle/>
          <a:p>
            <a:pPr algn="l">
              <a:spcBef>
                <a:spcPts val="0"/>
              </a:spcBef>
              <a:spcAft>
                <a:spcPts val="0"/>
              </a:spcAft>
            </a:pPr>
            <a:r>
              <a:rPr sz="1500" b="0" i="0">
                <a:solidFill>
                  <a:srgbClr val="8FBF9F"/>
                </a:solidFill>
                <a:latin typeface="Calibri" panose="020F0502020204030204"/>
              </a:rPr>
              <a:t>Kiến trúc đã chốt: Modular Monolith theo Clean Architecture</a:t>
            </a:r>
            <a:endParaRPr sz="1500" b="0" i="0">
              <a:solidFill>
                <a:srgbClr val="8FBF9F"/>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Tech stack</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Công nghệ đã chốt cho từng lớp hệ thống</a:t>
            </a:r>
            <a:endParaRPr sz="3000" b="1" i="0">
              <a:solidFill>
                <a:srgbClr val="1C2B24"/>
              </a:solidFill>
              <a:latin typeface="Cambria" panose="02040503050406030204"/>
            </a:endParaRPr>
          </a:p>
        </p:txBody>
      </p:sp>
      <p:sp>
        <p:nvSpPr>
          <p:cNvPr id="4" name="Rounded Rectangle 3"/>
          <p:cNvSpPr/>
          <p:nvPr/>
        </p:nvSpPr>
        <p:spPr>
          <a:xfrm>
            <a:off x="566928" y="1691640"/>
            <a:ext cx="5440680" cy="1938528"/>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59536" y="1911095"/>
            <a:ext cx="4846320" cy="274320"/>
          </a:xfrm>
          <a:prstGeom prst="rect">
            <a:avLst/>
          </a:prstGeom>
          <a:noFill/>
        </p:spPr>
        <p:txBody>
          <a:bodyPr wrap="square" lIns="0" tIns="0" rIns="0" bIns="0" anchor="t">
            <a:spAutoFit/>
          </a:bodyPr>
          <a:lstStyle/>
          <a:p>
            <a:pPr algn="l">
              <a:spcBef>
                <a:spcPts val="0"/>
              </a:spcBef>
              <a:spcAft>
                <a:spcPts val="0"/>
              </a:spcAft>
            </a:pPr>
            <a:r>
              <a:rPr sz="1200" b="1" i="0">
                <a:solidFill>
                  <a:srgbClr val="5A6B62"/>
                </a:solidFill>
                <a:latin typeface="Calibri" panose="020F0502020204030204"/>
              </a:rPr>
              <a:t>Backend &amp; Web Portal</a:t>
            </a:r>
            <a:endParaRPr sz="1200" b="1" i="0">
              <a:solidFill>
                <a:srgbClr val="5A6B62"/>
              </a:solidFill>
              <a:latin typeface="Calibri" panose="020F0502020204030204"/>
            </a:endParaRPr>
          </a:p>
        </p:txBody>
      </p:sp>
      <p:sp>
        <p:nvSpPr>
          <p:cNvPr id="6" name="TextBox 5"/>
          <p:cNvSpPr txBox="1"/>
          <p:nvPr/>
        </p:nvSpPr>
        <p:spPr>
          <a:xfrm>
            <a:off x="859536" y="2221992"/>
            <a:ext cx="4846320" cy="411480"/>
          </a:xfrm>
          <a:prstGeom prst="rect">
            <a:avLst/>
          </a:prstGeom>
          <a:noFill/>
        </p:spPr>
        <p:txBody>
          <a:bodyPr wrap="square" lIns="0" tIns="0" rIns="0" bIns="0" anchor="t">
            <a:spAutoFit/>
          </a:bodyPr>
          <a:lstStyle/>
          <a:p>
            <a:pPr algn="l">
              <a:spcBef>
                <a:spcPts val="0"/>
              </a:spcBef>
              <a:spcAft>
                <a:spcPts val="0"/>
              </a:spcAft>
            </a:pPr>
            <a:r>
              <a:rPr sz="2000" b="1" i="0">
                <a:solidFill>
                  <a:srgbClr val="1F6F4F"/>
                </a:solidFill>
                <a:latin typeface="Cambria" panose="02040503050406030204"/>
              </a:rPr>
              <a:t>.NET 8 · ASP.NET Core</a:t>
            </a:r>
            <a:endParaRPr sz="2000" b="1" i="0">
              <a:solidFill>
                <a:srgbClr val="1F6F4F"/>
              </a:solidFill>
              <a:latin typeface="Cambria" panose="02040503050406030204"/>
            </a:endParaRPr>
          </a:p>
        </p:txBody>
      </p:sp>
      <p:sp>
        <p:nvSpPr>
          <p:cNvPr id="7" name="TextBox 6"/>
          <p:cNvSpPr txBox="1"/>
          <p:nvPr/>
        </p:nvSpPr>
        <p:spPr>
          <a:xfrm>
            <a:off x="859536" y="2734056"/>
            <a:ext cx="4892040" cy="777240"/>
          </a:xfrm>
          <a:prstGeom prst="rect">
            <a:avLst/>
          </a:prstGeom>
          <a:noFill/>
        </p:spPr>
        <p:txBody>
          <a:bodyPr wrap="square" lIns="0" tIns="0" rIns="0" bIns="0" anchor="t">
            <a:spAutoFit/>
          </a:bodyPr>
          <a:lstStyle/>
          <a:p>
            <a:pPr algn="l">
              <a:spcBef>
                <a:spcPts val="0"/>
              </a:spcBef>
              <a:spcAft>
                <a:spcPts val="0"/>
              </a:spcAft>
            </a:pPr>
            <a:r>
              <a:rPr sz="1250" b="0" i="0">
                <a:solidFill>
                  <a:srgbClr val="1C2B24"/>
                </a:solidFill>
                <a:latin typeface="Calibri" panose="020F0502020204030204"/>
              </a:rPr>
              <a:t>Cấu trúc Solution/Project chia module rạch ròi, đúng tinh thần Modular Monolith. EF Core xử lý sẵn bài toán tương tranh.</a:t>
            </a:r>
            <a:endParaRPr sz="1250" b="0" i="0">
              <a:solidFill>
                <a:srgbClr val="1C2B24"/>
              </a:solidFill>
              <a:latin typeface="Calibri" panose="020F0502020204030204"/>
            </a:endParaRPr>
          </a:p>
        </p:txBody>
      </p:sp>
      <p:sp>
        <p:nvSpPr>
          <p:cNvPr id="8" name="Rounded Rectangle 7"/>
          <p:cNvSpPr/>
          <p:nvPr/>
        </p:nvSpPr>
        <p:spPr>
          <a:xfrm>
            <a:off x="6190488" y="1691640"/>
            <a:ext cx="5440680" cy="1938528"/>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1911095"/>
            <a:ext cx="4846320" cy="274320"/>
          </a:xfrm>
          <a:prstGeom prst="rect">
            <a:avLst/>
          </a:prstGeom>
          <a:noFill/>
        </p:spPr>
        <p:txBody>
          <a:bodyPr wrap="square" lIns="0" tIns="0" rIns="0" bIns="0" anchor="t">
            <a:spAutoFit/>
          </a:bodyPr>
          <a:lstStyle/>
          <a:p>
            <a:pPr algn="l">
              <a:spcBef>
                <a:spcPts val="0"/>
              </a:spcBef>
              <a:spcAft>
                <a:spcPts val="0"/>
              </a:spcAft>
            </a:pPr>
            <a:r>
              <a:rPr sz="1200" b="1" i="0">
                <a:solidFill>
                  <a:srgbClr val="5A6B62"/>
                </a:solidFill>
                <a:latin typeface="Calibri" panose="020F0502020204030204"/>
              </a:rPr>
              <a:t>Cơ sở dữ liệu</a:t>
            </a:r>
            <a:endParaRPr sz="1200" b="1" i="0">
              <a:solidFill>
                <a:srgbClr val="5A6B62"/>
              </a:solidFill>
              <a:latin typeface="Calibri" panose="020F0502020204030204"/>
            </a:endParaRPr>
          </a:p>
        </p:txBody>
      </p:sp>
      <p:sp>
        <p:nvSpPr>
          <p:cNvPr id="10" name="TextBox 9"/>
          <p:cNvSpPr txBox="1"/>
          <p:nvPr/>
        </p:nvSpPr>
        <p:spPr>
          <a:xfrm>
            <a:off x="6483096" y="2221992"/>
            <a:ext cx="4846320" cy="411480"/>
          </a:xfrm>
          <a:prstGeom prst="rect">
            <a:avLst/>
          </a:prstGeom>
          <a:noFill/>
        </p:spPr>
        <p:txBody>
          <a:bodyPr wrap="square" lIns="0" tIns="0" rIns="0" bIns="0" anchor="t">
            <a:spAutoFit/>
          </a:bodyPr>
          <a:lstStyle/>
          <a:p>
            <a:pPr algn="l">
              <a:spcBef>
                <a:spcPts val="0"/>
              </a:spcBef>
              <a:spcAft>
                <a:spcPts val="0"/>
              </a:spcAft>
            </a:pPr>
            <a:r>
              <a:rPr sz="2000" b="1" i="0">
                <a:solidFill>
                  <a:srgbClr val="1F6F4F"/>
                </a:solidFill>
                <a:latin typeface="Cambria" panose="02040503050406030204"/>
              </a:rPr>
              <a:t>Azure SQL</a:t>
            </a:r>
            <a:endParaRPr sz="2000" b="1" i="0">
              <a:solidFill>
                <a:srgbClr val="1F6F4F"/>
              </a:solidFill>
              <a:latin typeface="Cambria" panose="02040503050406030204"/>
            </a:endParaRPr>
          </a:p>
        </p:txBody>
      </p:sp>
      <p:sp>
        <p:nvSpPr>
          <p:cNvPr id="11" name="TextBox 10"/>
          <p:cNvSpPr txBox="1"/>
          <p:nvPr/>
        </p:nvSpPr>
        <p:spPr>
          <a:xfrm>
            <a:off x="6483096" y="2734056"/>
            <a:ext cx="4892040" cy="777240"/>
          </a:xfrm>
          <a:prstGeom prst="rect">
            <a:avLst/>
          </a:prstGeom>
          <a:noFill/>
        </p:spPr>
        <p:txBody>
          <a:bodyPr wrap="square" lIns="0" tIns="0" rIns="0" bIns="0" anchor="t">
            <a:spAutoFit/>
          </a:bodyPr>
          <a:lstStyle/>
          <a:p>
            <a:pPr algn="l">
              <a:spcBef>
                <a:spcPts val="0"/>
              </a:spcBef>
              <a:spcAft>
                <a:spcPts val="0"/>
              </a:spcAft>
            </a:pPr>
            <a:r>
              <a:rPr sz="1250" b="0" i="0">
                <a:solidFill>
                  <a:srgbClr val="1C2B24"/>
                </a:solidFill>
                <a:latin typeface="Calibri" panose="020F0502020204030204"/>
              </a:rPr>
              <a:t>Đảm bảo ACID chặt chẽ cho nghiệp vụ kho, tính sẵn sàng cao, nhóm không phải bảo trì server vật lý trong 15 tuần.</a:t>
            </a:r>
            <a:endParaRPr sz="1250" b="0" i="0">
              <a:solidFill>
                <a:srgbClr val="1C2B24"/>
              </a:solidFill>
              <a:latin typeface="Calibri" panose="020F0502020204030204"/>
            </a:endParaRPr>
          </a:p>
        </p:txBody>
      </p:sp>
      <p:sp>
        <p:nvSpPr>
          <p:cNvPr id="12" name="Rounded Rectangle 11"/>
          <p:cNvSpPr/>
          <p:nvPr/>
        </p:nvSpPr>
        <p:spPr>
          <a:xfrm>
            <a:off x="566928" y="3794760"/>
            <a:ext cx="5440680" cy="1938528"/>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9536" y="4014216"/>
            <a:ext cx="4846320" cy="274320"/>
          </a:xfrm>
          <a:prstGeom prst="rect">
            <a:avLst/>
          </a:prstGeom>
          <a:noFill/>
        </p:spPr>
        <p:txBody>
          <a:bodyPr wrap="square" lIns="0" tIns="0" rIns="0" bIns="0" anchor="t">
            <a:spAutoFit/>
          </a:bodyPr>
          <a:lstStyle/>
          <a:p>
            <a:pPr algn="l">
              <a:spcBef>
                <a:spcPts val="0"/>
              </a:spcBef>
              <a:spcAft>
                <a:spcPts val="0"/>
              </a:spcAft>
            </a:pPr>
            <a:r>
              <a:rPr sz="1200" b="1" i="0">
                <a:solidFill>
                  <a:srgbClr val="5A6B62"/>
                </a:solidFill>
                <a:latin typeface="Calibri" panose="020F0502020204030204"/>
              </a:rPr>
              <a:t>Mobile</a:t>
            </a:r>
            <a:endParaRPr sz="1200" b="1" i="0">
              <a:solidFill>
                <a:srgbClr val="5A6B62"/>
              </a:solidFill>
              <a:latin typeface="Calibri" panose="020F0502020204030204"/>
            </a:endParaRPr>
          </a:p>
        </p:txBody>
      </p:sp>
      <p:sp>
        <p:nvSpPr>
          <p:cNvPr id="14" name="TextBox 13"/>
          <p:cNvSpPr txBox="1"/>
          <p:nvPr/>
        </p:nvSpPr>
        <p:spPr>
          <a:xfrm>
            <a:off x="859536" y="4325112"/>
            <a:ext cx="4846320" cy="411480"/>
          </a:xfrm>
          <a:prstGeom prst="rect">
            <a:avLst/>
          </a:prstGeom>
          <a:noFill/>
        </p:spPr>
        <p:txBody>
          <a:bodyPr wrap="square" lIns="0" tIns="0" rIns="0" bIns="0" anchor="t">
            <a:spAutoFit/>
          </a:bodyPr>
          <a:lstStyle/>
          <a:p>
            <a:pPr algn="l">
              <a:spcBef>
                <a:spcPts val="0"/>
              </a:spcBef>
              <a:spcAft>
                <a:spcPts val="0"/>
              </a:spcAft>
            </a:pPr>
            <a:r>
              <a:rPr sz="2000" b="1" i="0">
                <a:solidFill>
                  <a:srgbClr val="1F6F4F"/>
                </a:solidFill>
                <a:latin typeface="Cambria" panose="02040503050406030204"/>
              </a:rPr>
              <a:t>Flutter · sqflite</a:t>
            </a:r>
            <a:endParaRPr sz="2000" b="1" i="0">
              <a:solidFill>
                <a:srgbClr val="1F6F4F"/>
              </a:solidFill>
              <a:latin typeface="Cambria" panose="02040503050406030204"/>
            </a:endParaRPr>
          </a:p>
        </p:txBody>
      </p:sp>
      <p:sp>
        <p:nvSpPr>
          <p:cNvPr id="15" name="TextBox 14"/>
          <p:cNvSpPr txBox="1"/>
          <p:nvPr/>
        </p:nvSpPr>
        <p:spPr>
          <a:xfrm>
            <a:off x="859536" y="4837176"/>
            <a:ext cx="4892040" cy="777240"/>
          </a:xfrm>
          <a:prstGeom prst="rect">
            <a:avLst/>
          </a:prstGeom>
          <a:noFill/>
        </p:spPr>
        <p:txBody>
          <a:bodyPr wrap="square" lIns="0" tIns="0" rIns="0" bIns="0" anchor="t">
            <a:spAutoFit/>
          </a:bodyPr>
          <a:lstStyle/>
          <a:p>
            <a:pPr algn="l">
              <a:spcBef>
                <a:spcPts val="0"/>
              </a:spcBef>
              <a:spcAft>
                <a:spcPts val="0"/>
              </a:spcAft>
            </a:pPr>
            <a:r>
              <a:rPr sz="1250" b="0" i="0">
                <a:solidFill>
                  <a:srgbClr val="1C2B24"/>
                </a:solidFill>
                <a:latin typeface="Calibri" panose="020F0502020204030204"/>
              </a:rPr>
              <a:t>Một mã nguồn cho cả Android và iOS. Thư viện sqflite tạo kho lưu trữ cục bộ phục vụ luồng O2O offline.</a:t>
            </a:r>
            <a:endParaRPr sz="1250" b="0" i="0">
              <a:solidFill>
                <a:srgbClr val="1C2B24"/>
              </a:solidFill>
              <a:latin typeface="Calibri" panose="020F0502020204030204"/>
            </a:endParaRPr>
          </a:p>
        </p:txBody>
      </p:sp>
      <p:sp>
        <p:nvSpPr>
          <p:cNvPr id="16" name="Rounded Rectangle 15"/>
          <p:cNvSpPr/>
          <p:nvPr/>
        </p:nvSpPr>
        <p:spPr>
          <a:xfrm>
            <a:off x="6190488" y="3794760"/>
            <a:ext cx="5440680" cy="193852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83096" y="4014216"/>
            <a:ext cx="4846320" cy="274320"/>
          </a:xfrm>
          <a:prstGeom prst="rect">
            <a:avLst/>
          </a:prstGeom>
          <a:noFill/>
        </p:spPr>
        <p:txBody>
          <a:bodyPr wrap="square" lIns="0" tIns="0" rIns="0" bIns="0" anchor="t">
            <a:spAutoFit/>
          </a:bodyPr>
          <a:lstStyle/>
          <a:p>
            <a:pPr algn="l">
              <a:spcBef>
                <a:spcPts val="0"/>
              </a:spcBef>
              <a:spcAft>
                <a:spcPts val="0"/>
              </a:spcAft>
            </a:pPr>
            <a:r>
              <a:rPr sz="1200" b="1" i="0">
                <a:solidFill>
                  <a:srgbClr val="5A6B62"/>
                </a:solidFill>
                <a:latin typeface="Calibri" panose="020F0502020204030204"/>
              </a:rPr>
              <a:t>Hạ tầng phụ trợ</a:t>
            </a:r>
            <a:endParaRPr sz="1200" b="1" i="0">
              <a:solidFill>
                <a:srgbClr val="5A6B62"/>
              </a:solidFill>
              <a:latin typeface="Calibri" panose="020F0502020204030204"/>
            </a:endParaRPr>
          </a:p>
        </p:txBody>
      </p:sp>
      <p:sp>
        <p:nvSpPr>
          <p:cNvPr id="18" name="TextBox 17"/>
          <p:cNvSpPr txBox="1"/>
          <p:nvPr/>
        </p:nvSpPr>
        <p:spPr>
          <a:xfrm>
            <a:off x="6483096" y="4325112"/>
            <a:ext cx="4846320" cy="411480"/>
          </a:xfrm>
          <a:prstGeom prst="rect">
            <a:avLst/>
          </a:prstGeom>
          <a:noFill/>
        </p:spPr>
        <p:txBody>
          <a:bodyPr wrap="square" lIns="0" tIns="0" rIns="0" bIns="0" anchor="t">
            <a:spAutoFit/>
          </a:bodyPr>
          <a:lstStyle/>
          <a:p>
            <a:pPr algn="l">
              <a:spcBef>
                <a:spcPts val="0"/>
              </a:spcBef>
              <a:spcAft>
                <a:spcPts val="0"/>
              </a:spcAft>
            </a:pPr>
            <a:r>
              <a:rPr sz="2000" b="1" i="0">
                <a:solidFill>
                  <a:srgbClr val="5A6B62"/>
                </a:solidFill>
                <a:latin typeface="Cambria" panose="02040503050406030204"/>
              </a:rPr>
              <a:t>Redis · Cloud AI API</a:t>
            </a:r>
            <a:endParaRPr sz="2000" b="1" i="0">
              <a:solidFill>
                <a:srgbClr val="5A6B62"/>
              </a:solidFill>
              <a:latin typeface="Cambria" panose="02040503050406030204"/>
            </a:endParaRPr>
          </a:p>
        </p:txBody>
      </p:sp>
      <p:sp>
        <p:nvSpPr>
          <p:cNvPr id="19" name="TextBox 18"/>
          <p:cNvSpPr txBox="1"/>
          <p:nvPr/>
        </p:nvSpPr>
        <p:spPr>
          <a:xfrm>
            <a:off x="6483096" y="4837176"/>
            <a:ext cx="4892040" cy="77724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Redis cache luật khuyến mãi cho tốc độ mili-giây. Cloud AI API xử lý OCR, LLM và Computer Vision.</a:t>
            </a:r>
            <a:endParaRPr sz="1250" b="0" i="0">
              <a:solidFill>
                <a:srgbClr val="5A6B62"/>
              </a:solidFill>
              <a:latin typeface="Calibri" panose="020F0502020204030204"/>
            </a:endParaRPr>
          </a:p>
        </p:txBody>
      </p:sp>
      <p:sp>
        <p:nvSpPr>
          <p:cNvPr id="20" name="Rounded Rectangle 19"/>
          <p:cNvSpPr/>
          <p:nvPr/>
        </p:nvSpPr>
        <p:spPr>
          <a:xfrm>
            <a:off x="566928" y="5943600"/>
            <a:ext cx="11064240" cy="658368"/>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6108192"/>
            <a:ext cx="10424160" cy="365760"/>
          </a:xfrm>
          <a:prstGeom prst="rect">
            <a:avLst/>
          </a:prstGeom>
          <a:noFill/>
        </p:spPr>
        <p:txBody>
          <a:bodyPr wrap="square" lIns="0" tIns="0" rIns="0" bIns="0" anchor="t">
            <a:spAutoFit/>
          </a:bodyPr>
          <a:lstStyle/>
          <a:p>
            <a:pPr algn="l">
              <a:spcBef>
                <a:spcPts val="0"/>
              </a:spcBef>
              <a:spcAft>
                <a:spcPts val="0"/>
              </a:spcAft>
            </a:pPr>
            <a:r>
              <a:rPr sz="1350" b="1" i="0">
                <a:solidFill>
                  <a:srgbClr val="8A520B"/>
                </a:solidFill>
                <a:latin typeface="Calibri" panose="020F0502020204030204"/>
              </a:rPr>
              <a:t>Cả ba lựa chọn đều phục vụ trực tiếp hai bài toán kỹ thuật lõi ở phần 4, không phải chọn theo sở thích.</a:t>
            </a:r>
            <a:endParaRPr sz="1350" b="1" i="0">
              <a:solidFill>
                <a:srgbClr val="8A520B"/>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Sơ đồ 1 · Context</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Tổng quan hệ thống và ranh giới phạm vi</a:t>
            </a:r>
            <a:endParaRPr sz="3000" b="1" i="0">
              <a:solidFill>
                <a:srgbClr val="1C2B24"/>
              </a:solidFill>
              <a:latin typeface="Cambria" panose="02040503050406030204"/>
            </a:endParaRPr>
          </a:p>
        </p:txBody>
      </p:sp>
      <p:pic>
        <p:nvPicPr>
          <p:cNvPr id="4" name="Picture 3" descr="SoDo_1_TongQuan_HeThong.png"/>
          <p:cNvPicPr>
            <a:picLocks noChangeAspect="1"/>
          </p:cNvPicPr>
          <p:nvPr/>
        </p:nvPicPr>
        <p:blipFill>
          <a:blip r:embed="rId1"/>
          <a:stretch>
            <a:fillRect/>
          </a:stretch>
        </p:blipFill>
        <p:spPr>
          <a:xfrm>
            <a:off x="1305481" y="1600200"/>
            <a:ext cx="5380892" cy="4937760"/>
          </a:xfrm>
          <a:prstGeom prst="rect">
            <a:avLst/>
          </a:prstGeom>
        </p:spPr>
      </p:pic>
      <p:sp>
        <p:nvSpPr>
          <p:cNvPr id="5" name="TextBox 4"/>
          <p:cNvSpPr txBox="1"/>
          <p:nvPr/>
        </p:nvSpPr>
        <p:spPr>
          <a:xfrm>
            <a:off x="7680960" y="1737360"/>
            <a:ext cx="3977639" cy="448056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mbria" panose="02040503050406030204"/>
              </a:rPr>
              <a:t>Đọc sơ đồ</a:t>
            </a:r>
            <a:endParaRPr sz="1600" b="1" i="0">
              <a:solidFill>
                <a:srgbClr val="1C2B24"/>
              </a:solidFill>
              <a:latin typeface="Cambria" panose="02040503050406030204"/>
            </a:endParaRPr>
          </a:p>
          <a:p>
            <a:pPr>
              <a:spcAft>
                <a:spcPts val="1000"/>
              </a:spcAft>
            </a:pPr>
            <a:r>
              <a:rPr sz="1300" b="1">
                <a:solidFill>
                  <a:srgbClr val="1F6F4F"/>
                </a:solidFill>
                <a:latin typeface="Calibri" panose="020F0502020204030204"/>
              </a:rPr>
              <a:t>Bốn Role </a:t>
            </a:r>
            <a:r>
              <a:rPr sz="1300" b="0">
                <a:solidFill>
                  <a:srgbClr val="1C2B24"/>
                </a:solidFill>
                <a:latin typeface="Calibri" panose="020F0502020204030204"/>
              </a:rPr>
              <a:t>chia thành hai đường vào: Thủ kho và Admin dùng Web, Sales và Giao hàng dùng Mobile.</a:t>
            </a:r>
            <a:endParaRPr sz="1300" b="0">
              <a:solidFill>
                <a:srgbClr val="1C2B24"/>
              </a:solidFill>
              <a:latin typeface="Calibri" panose="020F0502020204030204"/>
            </a:endParaRPr>
          </a:p>
          <a:p>
            <a:pPr>
              <a:spcAft>
                <a:spcPts val="1000"/>
              </a:spcAft>
            </a:pPr>
            <a:r>
              <a:rPr sz="1300" b="1">
                <a:solidFill>
                  <a:srgbClr val="1F6F4F"/>
                </a:solidFill>
                <a:latin typeface="Calibri" panose="020F0502020204030204"/>
              </a:rPr>
              <a:t>Web Portal viết bằng .NET, </a:t>
            </a:r>
            <a:r>
              <a:rPr sz="1300" b="0">
                <a:solidFill>
                  <a:srgbClr val="1C2B24"/>
                </a:solidFill>
                <a:latin typeface="Calibri" panose="020F0502020204030204"/>
              </a:rPr>
              <a:t>Mobile viết bằng Flutter, cùng gọi vào một API duy nhất.</a:t>
            </a:r>
            <a:endParaRPr sz="1300" b="0">
              <a:solidFill>
                <a:srgbClr val="1C2B24"/>
              </a:solidFill>
              <a:latin typeface="Calibri" panose="020F0502020204030204"/>
            </a:endParaRPr>
          </a:p>
          <a:p>
            <a:pPr>
              <a:spcAft>
                <a:spcPts val="1000"/>
              </a:spcAft>
            </a:pPr>
            <a:r>
              <a:rPr sz="1300" b="1">
                <a:solidFill>
                  <a:srgbClr val="1F6F4F"/>
                </a:solidFill>
                <a:latin typeface="Calibri" panose="020F0502020204030204"/>
              </a:rPr>
              <a:t>Khung nét đứt </a:t>
            </a:r>
            <a:r>
              <a:rPr sz="1300" b="0">
                <a:solidFill>
                  <a:srgbClr val="1C2B24"/>
                </a:solidFill>
                <a:latin typeface="Calibri" panose="020F0502020204030204"/>
              </a:rPr>
              <a:t>là ranh giới hệ thống. Toàn bộ module bên trong chạy chung một tiến trình.</a:t>
            </a:r>
            <a:endParaRPr sz="1300" b="0">
              <a:solidFill>
                <a:srgbClr val="1C2B24"/>
              </a:solidFill>
              <a:latin typeface="Calibri" panose="020F0502020204030204"/>
            </a:endParaRPr>
          </a:p>
          <a:p>
            <a:pPr>
              <a:spcAft>
                <a:spcPts val="1000"/>
              </a:spcAft>
            </a:pPr>
            <a:r>
              <a:rPr sz="1300" b="1">
                <a:solidFill>
                  <a:srgbClr val="1F6F4F"/>
                </a:solidFill>
                <a:latin typeface="Calibri" panose="020F0502020204030204"/>
              </a:rPr>
              <a:t>Azure SQL là nguồn dữ liệu gốc, </a:t>
            </a:r>
            <a:r>
              <a:rPr sz="1300" b="0">
                <a:solidFill>
                  <a:srgbClr val="1C2B24"/>
                </a:solidFill>
                <a:latin typeface="Calibri" panose="020F0502020204030204"/>
              </a:rPr>
              <a:t>Redis chỉ là bộ nhớ đệm phục vụ tính giá nhanh.</a:t>
            </a:r>
            <a:endParaRPr sz="1300" b="0">
              <a:solidFill>
                <a:srgbClr val="1C2B24"/>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Quyết định kiến trúc</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Vì sao chọn Modular Monolith</a:t>
            </a:r>
            <a:endParaRPr sz="3000" b="1" i="0">
              <a:solidFill>
                <a:srgbClr val="1C2B24"/>
              </a:solidFill>
              <a:latin typeface="Cambria" panose="02040503050406030204"/>
            </a:endParaRPr>
          </a:p>
        </p:txBody>
      </p:sp>
      <p:sp>
        <p:nvSpPr>
          <p:cNvPr id="4" name="Rounded Rectangle 3"/>
          <p:cNvSpPr/>
          <p:nvPr/>
        </p:nvSpPr>
        <p:spPr>
          <a:xfrm>
            <a:off x="566928" y="1691640"/>
            <a:ext cx="5440680" cy="320040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20240"/>
            <a:ext cx="4846320" cy="365760"/>
          </a:xfrm>
          <a:prstGeom prst="rect">
            <a:avLst/>
          </a:prstGeom>
          <a:noFill/>
        </p:spPr>
        <p:txBody>
          <a:bodyPr wrap="square" lIns="0" tIns="0" rIns="0" bIns="0" anchor="t">
            <a:spAutoFit/>
          </a:bodyPr>
          <a:lstStyle/>
          <a:p>
            <a:pPr algn="l">
              <a:spcBef>
                <a:spcPts val="0"/>
              </a:spcBef>
              <a:spcAft>
                <a:spcPts val="0"/>
              </a:spcAft>
            </a:pPr>
            <a:r>
              <a:rPr sz="1700" b="1" i="0">
                <a:solidFill>
                  <a:srgbClr val="1F6F4F"/>
                </a:solidFill>
                <a:latin typeface="Cambria" panose="02040503050406030204"/>
              </a:rPr>
              <a:t>Modular Monolith — đã chọn</a:t>
            </a:r>
            <a:endParaRPr sz="1700" b="1" i="0">
              <a:solidFill>
                <a:srgbClr val="1F6F4F"/>
              </a:solidFill>
              <a:latin typeface="Cambria" panose="02040503050406030204"/>
            </a:endParaRPr>
          </a:p>
        </p:txBody>
      </p:sp>
      <p:sp>
        <p:nvSpPr>
          <p:cNvPr id="6" name="TextBox 5"/>
          <p:cNvSpPr txBox="1"/>
          <p:nvPr/>
        </p:nvSpPr>
        <p:spPr>
          <a:xfrm>
            <a:off x="868680" y="2432304"/>
            <a:ext cx="4846320" cy="2286000"/>
          </a:xfrm>
          <a:prstGeom prst="rect">
            <a:avLst/>
          </a:prstGeom>
          <a:noFill/>
        </p:spPr>
        <p:txBody>
          <a:bodyPr wrap="square" lIns="0" tIns="0" rIns="0" bIns="0" anchor="t">
            <a:spAutoFit/>
          </a:bodyPr>
          <a:lstStyle/>
          <a:p>
            <a:pPr algn="l">
              <a:spcAft>
                <a:spcPts val="900"/>
              </a:spcAft>
            </a:pPr>
            <a:r>
              <a:rPr sz="1350" b="1">
                <a:solidFill>
                  <a:srgbClr val="1F6F4F"/>
                </a:solidFill>
                <a:latin typeface="Calibri" panose="020F0502020204030204"/>
              </a:rPr>
              <a:t>Một transaction ACID. </a:t>
            </a:r>
            <a:r>
              <a:rPr sz="1350" b="0">
                <a:solidFill>
                  <a:srgbClr val="1C2B24"/>
                </a:solidFill>
                <a:latin typeface="Calibri" panose="020F0502020204030204"/>
              </a:rPr>
              <a:t>Trừ kho qua nhiều lô nằm gọn trong một giao dịch, sai thì rollback sạch.</a:t>
            </a:r>
            <a:endParaRPr sz="1350" b="0">
              <a:solidFill>
                <a:srgbClr val="1C2B24"/>
              </a:solidFill>
              <a:latin typeface="Calibri" panose="020F0502020204030204"/>
            </a:endParaRPr>
          </a:p>
          <a:p>
            <a:pPr>
              <a:spcAft>
                <a:spcPts val="900"/>
              </a:spcAft>
            </a:pPr>
            <a:r>
              <a:rPr sz="1350" b="1">
                <a:solidFill>
                  <a:srgbClr val="1F6F4F"/>
                </a:solidFill>
                <a:latin typeface="Calibri" panose="020F0502020204030204"/>
              </a:rPr>
              <a:t>Không cần hạ tầng phức tạp. </a:t>
            </a:r>
            <a:r>
              <a:rPr sz="1350" b="0">
                <a:solidFill>
                  <a:srgbClr val="1C2B24"/>
                </a:solidFill>
                <a:latin typeface="Calibri" panose="020F0502020204030204"/>
              </a:rPr>
              <a:t>Deploy một lần, nhóm 5 người tập trung vào nghiệp vụ.</a:t>
            </a:r>
            <a:endParaRPr sz="1350" b="0">
              <a:solidFill>
                <a:srgbClr val="1C2B24"/>
              </a:solidFill>
              <a:latin typeface="Calibri" panose="020F0502020204030204"/>
            </a:endParaRPr>
          </a:p>
          <a:p>
            <a:pPr>
              <a:spcAft>
                <a:spcPts val="900"/>
              </a:spcAft>
            </a:pPr>
            <a:r>
              <a:rPr sz="1350" b="1">
                <a:solidFill>
                  <a:srgbClr val="1F6F4F"/>
                </a:solidFill>
                <a:latin typeface="Calibri" panose="020F0502020204030204"/>
              </a:rPr>
              <a:t>Vẫn tách được về sau. </a:t>
            </a:r>
            <a:r>
              <a:rPr sz="1350" b="0">
                <a:solidFill>
                  <a:srgbClr val="1C2B24"/>
                </a:solidFill>
                <a:latin typeface="Calibri" panose="020F0502020204030204"/>
              </a:rPr>
              <a:t>Ranh giới module rõ ràng nên đường cắt đã có sẵn.</a:t>
            </a:r>
            <a:endParaRPr sz="1350" b="0">
              <a:solidFill>
                <a:srgbClr val="1C2B24"/>
              </a:solidFill>
              <a:latin typeface="Calibri" panose="020F0502020204030204"/>
            </a:endParaRPr>
          </a:p>
          <a:p>
            <a:pPr>
              <a:spcAft>
                <a:spcPts val="900"/>
              </a:spcAft>
            </a:pPr>
            <a:r>
              <a:rPr sz="1350" b="1">
                <a:solidFill>
                  <a:srgbClr val="1F6F4F"/>
                </a:solidFill>
                <a:latin typeface="Calibri" panose="020F0502020204030204"/>
              </a:rPr>
              <a:t>Đúng thế mạnh của .NET. </a:t>
            </a:r>
            <a:r>
              <a:rPr sz="1350" b="0">
                <a:solidFill>
                  <a:srgbClr val="1C2B24"/>
                </a:solidFill>
                <a:latin typeface="Calibri" panose="020F0502020204030204"/>
              </a:rPr>
              <a:t>Solution chia project theo module, kết hợp Azure SQL cho tính sẵn sàng cao.</a:t>
            </a:r>
            <a:endParaRPr sz="1350" b="0">
              <a:solidFill>
                <a:srgbClr val="1C2B24"/>
              </a:solidFill>
              <a:latin typeface="Calibri" panose="020F0502020204030204"/>
            </a:endParaRPr>
          </a:p>
        </p:txBody>
      </p:sp>
      <p:sp>
        <p:nvSpPr>
          <p:cNvPr id="7" name="Rounded Rectangle 6"/>
          <p:cNvSpPr/>
          <p:nvPr/>
        </p:nvSpPr>
        <p:spPr>
          <a:xfrm>
            <a:off x="6190488" y="1691640"/>
            <a:ext cx="5440680" cy="320040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920240"/>
            <a:ext cx="4846320" cy="365760"/>
          </a:xfrm>
          <a:prstGeom prst="rect">
            <a:avLst/>
          </a:prstGeom>
          <a:noFill/>
        </p:spPr>
        <p:txBody>
          <a:bodyPr wrap="square" lIns="0" tIns="0" rIns="0" bIns="0" anchor="t">
            <a:spAutoFit/>
          </a:bodyPr>
          <a:lstStyle/>
          <a:p>
            <a:pPr algn="l">
              <a:spcBef>
                <a:spcPts val="0"/>
              </a:spcBef>
              <a:spcAft>
                <a:spcPts val="0"/>
              </a:spcAft>
            </a:pPr>
            <a:r>
              <a:rPr sz="1700" b="1" i="0">
                <a:solidFill>
                  <a:srgbClr val="5A6B62"/>
                </a:solidFill>
                <a:latin typeface="Cambria" panose="02040503050406030204"/>
              </a:rPr>
              <a:t>Microservices — đã cân nhắc và loại</a:t>
            </a:r>
            <a:endParaRPr sz="1700" b="1" i="0">
              <a:solidFill>
                <a:srgbClr val="5A6B62"/>
              </a:solidFill>
              <a:latin typeface="Cambria" panose="02040503050406030204"/>
            </a:endParaRPr>
          </a:p>
        </p:txBody>
      </p:sp>
      <p:sp>
        <p:nvSpPr>
          <p:cNvPr id="9" name="TextBox 8"/>
          <p:cNvSpPr txBox="1"/>
          <p:nvPr/>
        </p:nvSpPr>
        <p:spPr>
          <a:xfrm>
            <a:off x="6492240" y="2432304"/>
            <a:ext cx="4846320" cy="2286000"/>
          </a:xfrm>
          <a:prstGeom prst="rect">
            <a:avLst/>
          </a:prstGeom>
          <a:noFill/>
        </p:spPr>
        <p:txBody>
          <a:bodyPr wrap="square" lIns="0" tIns="0" rIns="0" bIns="0" anchor="t">
            <a:spAutoFit/>
          </a:bodyPr>
          <a:lstStyle/>
          <a:p>
            <a:pPr algn="l">
              <a:spcAft>
                <a:spcPts val="900"/>
              </a:spcAft>
            </a:pPr>
            <a:r>
              <a:rPr sz="1350" b="1">
                <a:solidFill>
                  <a:srgbClr val="1F6F4F"/>
                </a:solidFill>
                <a:latin typeface="Calibri" panose="020F0502020204030204"/>
              </a:rPr>
              <a:t>Distributed transaction. </a:t>
            </a:r>
            <a:r>
              <a:rPr sz="1350" b="0">
                <a:solidFill>
                  <a:srgbClr val="5A6B62"/>
                </a:solidFill>
                <a:latin typeface="Calibri" panose="020F0502020204030204"/>
              </a:rPr>
              <a:t>Trừ kho xuyên service phải dùng Saga, phức tạp gấp nhiều lần.</a:t>
            </a:r>
            <a:endParaRPr sz="1350" b="0">
              <a:solidFill>
                <a:srgbClr val="5A6B62"/>
              </a:solidFill>
              <a:latin typeface="Calibri" panose="020F0502020204030204"/>
            </a:endParaRPr>
          </a:p>
          <a:p>
            <a:pPr>
              <a:spcAft>
                <a:spcPts val="900"/>
              </a:spcAft>
            </a:pPr>
            <a:r>
              <a:rPr sz="1350" b="1">
                <a:solidFill>
                  <a:srgbClr val="1F6F4F"/>
                </a:solidFill>
                <a:latin typeface="Calibri" panose="020F0502020204030204"/>
              </a:rPr>
              <a:t>Chi phí DevOps lớn. </a:t>
            </a:r>
            <a:r>
              <a:rPr sz="1350" b="0">
                <a:solidFill>
                  <a:srgbClr val="5A6B62"/>
                </a:solidFill>
                <a:latin typeface="Calibri" panose="020F0502020204030204"/>
              </a:rPr>
              <a:t>Service mesh, tracing, orchestration — không đủ thời gian cho 15 tuần.</a:t>
            </a:r>
            <a:endParaRPr sz="1350" b="0">
              <a:solidFill>
                <a:srgbClr val="5A6B62"/>
              </a:solidFill>
              <a:latin typeface="Calibri" panose="020F0502020204030204"/>
            </a:endParaRPr>
          </a:p>
          <a:p>
            <a:pPr>
              <a:spcAft>
                <a:spcPts val="900"/>
              </a:spcAft>
            </a:pPr>
            <a:r>
              <a:rPr sz="1350" b="1">
                <a:solidFill>
                  <a:srgbClr val="1F6F4F"/>
                </a:solidFill>
                <a:latin typeface="Calibri" panose="020F0502020204030204"/>
              </a:rPr>
              <a:t>Lợi ích chưa cần tới. </a:t>
            </a:r>
            <a:r>
              <a:rPr sz="1350" b="0">
                <a:solidFill>
                  <a:srgbClr val="5A6B62"/>
                </a:solidFill>
                <a:latin typeface="Calibri" panose="020F0502020204030204"/>
              </a:rPr>
              <a:t>Quy mô SME chưa cần scale từng service độc lập.</a:t>
            </a:r>
            <a:endParaRPr sz="1350" b="0">
              <a:solidFill>
                <a:srgbClr val="5A6B62"/>
              </a:solidFill>
              <a:latin typeface="Calibri" panose="020F0502020204030204"/>
            </a:endParaRPr>
          </a:p>
        </p:txBody>
      </p:sp>
      <p:sp>
        <p:nvSpPr>
          <p:cNvPr id="10" name="Rounded Rectangle 9"/>
          <p:cNvSpPr/>
          <p:nvPr/>
        </p:nvSpPr>
        <p:spPr>
          <a:xfrm>
            <a:off x="566928" y="5120640"/>
            <a:ext cx="11064240" cy="1051560"/>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5303520"/>
            <a:ext cx="10424160" cy="731520"/>
          </a:xfrm>
          <a:prstGeom prst="rect">
            <a:avLst/>
          </a:prstGeom>
          <a:noFill/>
        </p:spPr>
        <p:txBody>
          <a:bodyPr wrap="square" lIns="0" tIns="0" rIns="0" bIns="0" anchor="t">
            <a:spAutoFit/>
          </a:bodyPr>
          <a:lstStyle/>
          <a:p>
            <a:pPr algn="l">
              <a:spcBef>
                <a:spcPts val="0"/>
              </a:spcBef>
              <a:spcAft>
                <a:spcPts val="0"/>
              </a:spcAft>
            </a:pPr>
            <a:r>
              <a:rPr sz="1500" b="1" i="0">
                <a:solidFill>
                  <a:srgbClr val="8A520B"/>
                </a:solidFill>
                <a:latin typeface="Calibri" panose="020F0502020204030204"/>
              </a:rPr>
              <a:t>Nguyên tắc bắt buộc: module không được truy vấn thẳng vào bảng của module khác. Chỉ giao tiếp qua interface nội bộ hoặc Event Bus.</a:t>
            </a:r>
            <a:endParaRPr sz="1500" b="1" i="0">
              <a:solidFill>
                <a:srgbClr val="8A520B"/>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Sơ đồ 2 · Kiến trúc thành phần</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Năm module nghiệp vụ và trục giao tiếp nội bộ</a:t>
            </a:r>
            <a:endParaRPr sz="3000" b="1" i="0">
              <a:solidFill>
                <a:srgbClr val="1C2B24"/>
              </a:solidFill>
              <a:latin typeface="Cambria" panose="02040503050406030204"/>
            </a:endParaRPr>
          </a:p>
        </p:txBody>
      </p:sp>
      <p:pic>
        <p:nvPicPr>
          <p:cNvPr id="4" name="Picture 3" descr="SoDo_2_KienTruc_Module_EventBus.png"/>
          <p:cNvPicPr>
            <a:picLocks noChangeAspect="1"/>
          </p:cNvPicPr>
          <p:nvPr/>
        </p:nvPicPr>
        <p:blipFill>
          <a:blip r:embed="rId1"/>
          <a:stretch>
            <a:fillRect/>
          </a:stretch>
        </p:blipFill>
        <p:spPr>
          <a:xfrm>
            <a:off x="1207159" y="1600200"/>
            <a:ext cx="5577536" cy="4937760"/>
          </a:xfrm>
          <a:prstGeom prst="rect">
            <a:avLst/>
          </a:prstGeom>
        </p:spPr>
      </p:pic>
      <p:sp>
        <p:nvSpPr>
          <p:cNvPr id="5" name="TextBox 4"/>
          <p:cNvSpPr txBox="1"/>
          <p:nvPr/>
        </p:nvSpPr>
        <p:spPr>
          <a:xfrm>
            <a:off x="7680960" y="1737360"/>
            <a:ext cx="3977639" cy="448056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mbria" panose="02040503050406030204"/>
              </a:rPr>
              <a:t>Điểm cần nhấn</a:t>
            </a:r>
            <a:endParaRPr sz="1600" b="1" i="0">
              <a:solidFill>
                <a:srgbClr val="1C2B24"/>
              </a:solidFill>
              <a:latin typeface="Cambria" panose="02040503050406030204"/>
            </a:endParaRPr>
          </a:p>
          <a:p>
            <a:pPr>
              <a:spcAft>
                <a:spcPts val="1100"/>
              </a:spcAft>
            </a:pPr>
            <a:r>
              <a:rPr sz="1300" b="1">
                <a:solidFill>
                  <a:srgbClr val="1F6F4F"/>
                </a:solidFill>
                <a:latin typeface="Calibri" panose="020F0502020204030204"/>
              </a:rPr>
              <a:t>Mỗi module sở hữu bảng riêng. </a:t>
            </a:r>
            <a:r>
              <a:rPr sz="1300" b="0">
                <a:solidFill>
                  <a:srgbClr val="1C2B24"/>
                </a:solidFill>
                <a:latin typeface="Calibri" panose="020F0502020204030204"/>
              </a:rPr>
              <a:t>Kho &amp; PIM giữ Product và Batch_Lot, Order giữ Order và Order_Line.</a:t>
            </a:r>
            <a:endParaRPr sz="1300" b="0">
              <a:solidFill>
                <a:srgbClr val="1C2B24"/>
              </a:solidFill>
              <a:latin typeface="Calibri" panose="020F0502020204030204"/>
            </a:endParaRPr>
          </a:p>
          <a:p>
            <a:pPr>
              <a:spcAft>
                <a:spcPts val="1100"/>
              </a:spcAft>
            </a:pPr>
            <a:r>
              <a:rPr sz="1300" b="1">
                <a:solidFill>
                  <a:srgbClr val="1F6F4F"/>
                </a:solidFill>
                <a:latin typeface="Calibri" panose="020F0502020204030204"/>
              </a:rPr>
              <a:t>AI Wrapper không sở hữu bảng nào. </a:t>
            </a:r>
            <a:r>
              <a:rPr sz="1300" b="0">
                <a:solidFill>
                  <a:srgbClr val="1C2B24"/>
                </a:solidFill>
                <a:latin typeface="Calibri" panose="020F0502020204030204"/>
              </a:rPr>
              <a:t>Nó chỉ bọc dịch vụ ngoài, đổi nhà cung cấp AI không ảnh hưởng lõi.</a:t>
            </a:r>
            <a:endParaRPr sz="1300" b="0">
              <a:solidFill>
                <a:srgbClr val="1C2B24"/>
              </a:solidFill>
              <a:latin typeface="Calibri" panose="020F0502020204030204"/>
            </a:endParaRPr>
          </a:p>
          <a:p>
            <a:pPr>
              <a:spcAft>
                <a:spcPts val="1100"/>
              </a:spcAft>
            </a:pPr>
            <a:r>
              <a:rPr sz="1300" b="1">
                <a:solidFill>
                  <a:srgbClr val="1F6F4F"/>
                </a:solidFill>
                <a:latin typeface="Calibri" panose="020F0502020204030204"/>
              </a:rPr>
              <a:t>Order Domain không tự trừ kho. </a:t>
            </a:r>
            <a:r>
              <a:rPr sz="1300" b="0">
                <a:solidFill>
                  <a:srgbClr val="1C2B24"/>
                </a:solidFill>
                <a:latin typeface="Calibri" panose="020F0502020204030204"/>
              </a:rPr>
              <a:t>Nó phát OrderConfirmedEvent, Kho &amp; PIM nghe được rồi mới chạy FEFO.</a:t>
            </a:r>
            <a:endParaRPr sz="1300" b="0">
              <a:solidFill>
                <a:srgbClr val="1C2B24"/>
              </a:solidFill>
              <a:latin typeface="Calibri" panose="020F0502020204030204"/>
            </a:endParaRPr>
          </a:p>
        </p:txBody>
      </p:sp>
      <p:sp>
        <p:nvSpPr>
          <p:cNvPr id="6" name="Rounded Rectangle 5"/>
          <p:cNvSpPr/>
          <p:nvPr/>
        </p:nvSpPr>
        <p:spPr>
          <a:xfrm>
            <a:off x="7680960" y="5074920"/>
            <a:ext cx="3977639" cy="1097280"/>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955279" y="5257800"/>
            <a:ext cx="3429000" cy="777240"/>
          </a:xfrm>
          <a:prstGeom prst="rect">
            <a:avLst/>
          </a:prstGeom>
          <a:noFill/>
        </p:spPr>
        <p:txBody>
          <a:bodyPr wrap="square" lIns="0" tIns="0" rIns="0" bIns="0" anchor="t">
            <a:spAutoFit/>
          </a:bodyPr>
          <a:lstStyle/>
          <a:p>
            <a:pPr algn="l">
              <a:spcBef>
                <a:spcPts val="0"/>
              </a:spcBef>
              <a:spcAft>
                <a:spcPts val="0"/>
              </a:spcAft>
            </a:pPr>
            <a:r>
              <a:rPr sz="1250" b="1" i="0">
                <a:solidFill>
                  <a:srgbClr val="8A520B"/>
                </a:solidFill>
                <a:latin typeface="Calibri" panose="020F0502020204030204"/>
              </a:rPr>
              <a:t>Event Bus là trái tim của Modular Monolith — nó giữ cho các module không dính chặt vào nhau.</a:t>
            </a:r>
            <a:endParaRPr sz="1250" b="1" i="0">
              <a:solidFill>
                <a:srgbClr val="8A520B"/>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Sơ đồ 3 · Phân tầng</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Clean Architecture bên trong mỗi module</a:t>
            </a:r>
            <a:endParaRPr sz="3000" b="1" i="0">
              <a:solidFill>
                <a:srgbClr val="1C2B24"/>
              </a:solidFill>
              <a:latin typeface="Cambria" panose="02040503050406030204"/>
            </a:endParaRPr>
          </a:p>
        </p:txBody>
      </p:sp>
      <p:pic>
        <p:nvPicPr>
          <p:cNvPr id="4" name="Picture 3" descr="SoDo_3_CleanArchitecture_TrongModule.png"/>
          <p:cNvPicPr>
            <a:picLocks noChangeAspect="1"/>
          </p:cNvPicPr>
          <p:nvPr/>
        </p:nvPicPr>
        <p:blipFill>
          <a:blip r:embed="rId1"/>
          <a:stretch>
            <a:fillRect/>
          </a:stretch>
        </p:blipFill>
        <p:spPr>
          <a:xfrm>
            <a:off x="1029782" y="1600200"/>
            <a:ext cx="5932291" cy="4937760"/>
          </a:xfrm>
          <a:prstGeom prst="rect">
            <a:avLst/>
          </a:prstGeom>
        </p:spPr>
      </p:pic>
      <p:sp>
        <p:nvSpPr>
          <p:cNvPr id="5" name="TextBox 4"/>
          <p:cNvSpPr txBox="1"/>
          <p:nvPr/>
        </p:nvSpPr>
        <p:spPr>
          <a:xfrm>
            <a:off x="7680960" y="1737360"/>
            <a:ext cx="3977639" cy="448056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mbria" panose="02040503050406030204"/>
              </a:rPr>
              <a:t>Hai khái niệm khác nhau</a:t>
            </a:r>
            <a:endParaRPr sz="1600" b="1" i="0">
              <a:solidFill>
                <a:srgbClr val="1C2B24"/>
              </a:solidFill>
              <a:latin typeface="Cambria" panose="02040503050406030204"/>
            </a:endParaRPr>
          </a:p>
          <a:p>
            <a:pPr>
              <a:spcAft>
                <a:spcPts val="1100"/>
              </a:spcAft>
            </a:pPr>
            <a:r>
              <a:rPr sz="1300" b="1">
                <a:solidFill>
                  <a:srgbClr val="1F6F4F"/>
                </a:solidFill>
                <a:latin typeface="Calibri" panose="020F0502020204030204"/>
              </a:rPr>
              <a:t>Modular Monolith </a:t>
            </a:r>
            <a:r>
              <a:rPr sz="1300" b="0">
                <a:solidFill>
                  <a:srgbClr val="1C2B24"/>
                </a:solidFill>
                <a:latin typeface="Calibri" panose="020F0502020204030204"/>
              </a:rPr>
              <a:t>chia ranh giới theo chiều ngang — theo module nghiệp vụ.</a:t>
            </a:r>
            <a:endParaRPr sz="1300" b="0">
              <a:solidFill>
                <a:srgbClr val="1C2B24"/>
              </a:solidFill>
              <a:latin typeface="Calibri" panose="020F0502020204030204"/>
            </a:endParaRPr>
          </a:p>
          <a:p>
            <a:pPr>
              <a:spcAft>
                <a:spcPts val="1100"/>
              </a:spcAft>
            </a:pPr>
            <a:r>
              <a:rPr sz="1300" b="1">
                <a:solidFill>
                  <a:srgbClr val="1F6F4F"/>
                </a:solidFill>
                <a:latin typeface="Calibri" panose="020F0502020204030204"/>
              </a:rPr>
              <a:t>Clean Architecture </a:t>
            </a:r>
            <a:r>
              <a:rPr sz="1300" b="0">
                <a:solidFill>
                  <a:srgbClr val="1C2B24"/>
                </a:solidFill>
                <a:latin typeface="Calibri" panose="020F0502020204030204"/>
              </a:rPr>
              <a:t>chia tầng theo chiều dọc — bên trong từng module.</a:t>
            </a:r>
            <a:endParaRPr sz="1300" b="0">
              <a:solidFill>
                <a:srgbClr val="1C2B24"/>
              </a:solidFill>
              <a:latin typeface="Calibri" panose="020F0502020204030204"/>
            </a:endParaRPr>
          </a:p>
        </p:txBody>
      </p:sp>
      <p:sp>
        <p:nvSpPr>
          <p:cNvPr id="6" name="TextBox 5"/>
          <p:cNvSpPr txBox="1"/>
          <p:nvPr/>
        </p:nvSpPr>
        <p:spPr>
          <a:xfrm>
            <a:off x="7680960" y="3657600"/>
            <a:ext cx="3977639" cy="246888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mbria" panose="02040503050406030204"/>
              </a:rPr>
              <a:t>Quy tắc phụ thuộc</a:t>
            </a:r>
            <a:endParaRPr sz="1600" b="1" i="0">
              <a:solidFill>
                <a:srgbClr val="1C2B24"/>
              </a:solidFill>
              <a:latin typeface="Cambria" panose="02040503050406030204"/>
            </a:endParaRPr>
          </a:p>
          <a:p>
            <a:pPr>
              <a:spcAft>
                <a:spcPts val="1000"/>
              </a:spcAft>
            </a:pPr>
            <a:r>
              <a:rPr sz="1300" b="1">
                <a:solidFill>
                  <a:srgbClr val="1F6F4F"/>
                </a:solidFill>
                <a:latin typeface="Calibri" panose="020F0502020204030204"/>
              </a:rPr>
              <a:t>Luồng gọi đi xuống. </a:t>
            </a:r>
            <a:r>
              <a:rPr sz="1300" b="0">
                <a:solidFill>
                  <a:srgbClr val="1C2B24"/>
                </a:solidFill>
                <a:latin typeface="Calibri" panose="020F0502020204030204"/>
              </a:rPr>
              <a:t>Controller gọi Use case, Use case gọi Domain.</a:t>
            </a:r>
            <a:endParaRPr sz="1300" b="0">
              <a:solidFill>
                <a:srgbClr val="1C2B24"/>
              </a:solidFill>
              <a:latin typeface="Calibri" panose="020F0502020204030204"/>
            </a:endParaRPr>
          </a:p>
          <a:p>
            <a:pPr>
              <a:spcAft>
                <a:spcPts val="1000"/>
              </a:spcAft>
            </a:pPr>
            <a:r>
              <a:rPr sz="1300" b="1">
                <a:solidFill>
                  <a:srgbClr val="1F6F4F"/>
                </a:solidFill>
                <a:latin typeface="Calibri" panose="020F0502020204030204"/>
              </a:rPr>
              <a:t>Phụ thuộc hướng lên. </a:t>
            </a:r>
            <a:r>
              <a:rPr sz="1300" b="0">
                <a:solidFill>
                  <a:srgbClr val="1C2B24"/>
                </a:solidFill>
                <a:latin typeface="Calibri" panose="020F0502020204030204"/>
              </a:rPr>
              <a:t>Domain định nghĩa interface repository, Infrastructure hiện thực nó.</a:t>
            </a:r>
            <a:endParaRPr sz="1300" b="0">
              <a:solidFill>
                <a:srgbClr val="1C2B24"/>
              </a:solidFill>
              <a:latin typeface="Calibri" panose="020F0502020204030204"/>
            </a:endParaRPr>
          </a:p>
          <a:p>
            <a:pPr>
              <a:spcAft>
                <a:spcPts val="1000"/>
              </a:spcAft>
            </a:pPr>
            <a:r>
              <a:rPr sz="1300" b="1">
                <a:solidFill>
                  <a:srgbClr val="1F6F4F"/>
                </a:solidFill>
                <a:latin typeface="Calibri" panose="020F0502020204030204"/>
              </a:rPr>
              <a:t>Lợi ích: </a:t>
            </a:r>
            <a:r>
              <a:rPr sz="1300" b="0">
                <a:solidFill>
                  <a:srgbClr val="1C2B24"/>
                </a:solidFill>
                <a:latin typeface="Calibri" panose="020F0502020204030204"/>
              </a:rPr>
              <a:t>đổi ORM hay đổi nhà cung cấp AI không phải sửa lõi nghiệp vụ.</a:t>
            </a:r>
            <a:endParaRPr sz="1300" b="0">
              <a:solidFill>
                <a:srgbClr val="1C2B24"/>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Oval 1"/>
          <p:cNvSpPr/>
          <p:nvPr/>
        </p:nvSpPr>
        <p:spPr>
          <a:xfrm>
            <a:off x="868680" y="2331720"/>
            <a:ext cx="868680" cy="8686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12352A"/>
                </a:solidFill>
                <a:latin typeface="Calibri" panose="020F0502020204030204"/>
              </a:rPr>
              <a:t>4</a:t>
            </a:r>
            <a:endParaRPr sz="3000" b="1">
              <a:solidFill>
                <a:srgbClr val="12352A"/>
              </a:solidFill>
              <a:latin typeface="Calibri" panose="020F0502020204030204"/>
            </a:endParaRPr>
          </a:p>
        </p:txBody>
      </p:sp>
      <p:sp>
        <p:nvSpPr>
          <p:cNvPr id="3" name="TextBox 2"/>
          <p:cNvSpPr txBox="1"/>
          <p:nvPr/>
        </p:nvSpPr>
        <p:spPr>
          <a:xfrm>
            <a:off x="2057400" y="2395728"/>
            <a:ext cx="8961120" cy="822960"/>
          </a:xfrm>
          <a:prstGeom prst="rect">
            <a:avLst/>
          </a:prstGeom>
          <a:noFill/>
        </p:spPr>
        <p:txBody>
          <a:bodyPr wrap="square" lIns="0" tIns="0" rIns="0" bIns="0" anchor="t">
            <a:spAutoFit/>
          </a:bodyPr>
          <a:lstStyle/>
          <a:p>
            <a:pPr algn="l">
              <a:spcBef>
                <a:spcPts val="0"/>
              </a:spcBef>
              <a:spcAft>
                <a:spcPts val="0"/>
              </a:spcAft>
            </a:pPr>
            <a:r>
              <a:rPr sz="3600" b="1" i="0">
                <a:solidFill>
                  <a:srgbClr val="FFFFFF"/>
                </a:solidFill>
                <a:latin typeface="Cambria" panose="02040503050406030204"/>
              </a:rPr>
              <a:t>Hai bài toán kỹ thuật lõi</a:t>
            </a:r>
            <a:endParaRPr sz="3600" b="1" i="0">
              <a:solidFill>
                <a:srgbClr val="FFFFFF"/>
              </a:solidFill>
              <a:latin typeface="Cambria" panose="02040503050406030204"/>
            </a:endParaRPr>
          </a:p>
        </p:txBody>
      </p:sp>
      <p:sp>
        <p:nvSpPr>
          <p:cNvPr id="4" name="TextBox 3"/>
          <p:cNvSpPr txBox="1"/>
          <p:nvPr/>
        </p:nvSpPr>
        <p:spPr>
          <a:xfrm>
            <a:off x="2057400" y="3273552"/>
            <a:ext cx="8961120" cy="548640"/>
          </a:xfrm>
          <a:prstGeom prst="rect">
            <a:avLst/>
          </a:prstGeom>
          <a:noFill/>
        </p:spPr>
        <p:txBody>
          <a:bodyPr wrap="square" lIns="0" tIns="0" rIns="0" bIns="0" anchor="t">
            <a:spAutoFit/>
          </a:bodyPr>
          <a:lstStyle/>
          <a:p>
            <a:pPr algn="l">
              <a:spcBef>
                <a:spcPts val="0"/>
              </a:spcBef>
              <a:spcAft>
                <a:spcPts val="0"/>
              </a:spcAft>
            </a:pPr>
            <a:r>
              <a:rPr sz="1500" b="0" i="0">
                <a:solidFill>
                  <a:srgbClr val="8FBF9F"/>
                </a:solidFill>
                <a:latin typeface="Calibri" panose="020F0502020204030204"/>
              </a:rPr>
              <a:t>Phần khó nhất của đề tài, cũng là phần tạo ra giá trị học thuật</a:t>
            </a:r>
            <a:endParaRPr sz="1500" b="0" i="0">
              <a:solidFill>
                <a:srgbClr val="8FBF9F"/>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Xử lý tương tranh</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Bài toán 1 — Nhiều Sales cùng chốt vào một lô cận date</a:t>
            </a:r>
            <a:endParaRPr sz="3000" b="1" i="0">
              <a:solidFill>
                <a:srgbClr val="1C2B24"/>
              </a:solidFill>
              <a:latin typeface="Cambria" panose="02040503050406030204"/>
            </a:endParaRPr>
          </a:p>
        </p:txBody>
      </p:sp>
      <p:sp>
        <p:nvSpPr>
          <p:cNvPr id="4" name="Rounded Rectangle 3"/>
          <p:cNvSpPr/>
          <p:nvPr/>
        </p:nvSpPr>
        <p:spPr>
          <a:xfrm>
            <a:off x="566928" y="1645920"/>
            <a:ext cx="11064240" cy="868680"/>
          </a:xfrm>
          <a:prstGeom prst="roundRect">
            <a:avLst>
              <a:gd name="adj" fmla="val 6000"/>
            </a:avLst>
          </a:prstGeom>
          <a:solidFill>
            <a:srgbClr val="FAECEA"/>
          </a:solidFill>
          <a:ln w="12700">
            <a:solidFill>
              <a:srgbClr val="B33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828800"/>
            <a:ext cx="10424160" cy="548640"/>
          </a:xfrm>
          <a:prstGeom prst="rect">
            <a:avLst/>
          </a:prstGeom>
          <a:noFill/>
        </p:spPr>
        <p:txBody>
          <a:bodyPr wrap="square" lIns="0" tIns="0" rIns="0" bIns="0" anchor="t">
            <a:spAutoFit/>
          </a:bodyPr>
          <a:lstStyle/>
          <a:p>
            <a:pPr algn="l">
              <a:spcBef>
                <a:spcPts val="0"/>
              </a:spcBef>
              <a:spcAft>
                <a:spcPts val="0"/>
              </a:spcAft>
            </a:pPr>
            <a:r>
              <a:rPr sz="1450" b="1" i="0">
                <a:solidFill>
                  <a:srgbClr val="B33A2F"/>
                </a:solidFill>
                <a:latin typeface="Calibri" panose="020F0502020204030204"/>
              </a:rPr>
              <a:t>Lô sữa cận date còn 10 thùng. Sales A và Sales B cùng chốt đơn 10 thùng tại đúng một thời điểm. Nếu không xử lý, hệ thống ghi nhận cả hai và tồn kho về âm 10.</a:t>
            </a:r>
            <a:endParaRPr sz="1450" b="1" i="0">
              <a:solidFill>
                <a:srgbClr val="B33A2F"/>
              </a:solidFill>
              <a:latin typeface="Calibri" panose="020F0502020204030204"/>
            </a:endParaRPr>
          </a:p>
        </p:txBody>
      </p:sp>
      <p:sp>
        <p:nvSpPr>
          <p:cNvPr id="6" name="Rounded Rectangle 5"/>
          <p:cNvSpPr/>
          <p:nvPr/>
        </p:nvSpPr>
        <p:spPr>
          <a:xfrm>
            <a:off x="566928" y="2743200"/>
            <a:ext cx="11064240" cy="932688"/>
          </a:xfrm>
          <a:prstGeom prst="roundRect">
            <a:avLst>
              <a:gd name="adj" fmla="val 6000"/>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3017520"/>
            <a:ext cx="3108960" cy="411480"/>
          </a:xfrm>
          <a:prstGeom prst="rect">
            <a:avLst/>
          </a:prstGeom>
          <a:noFill/>
        </p:spPr>
        <p:txBody>
          <a:bodyPr wrap="square" lIns="0" tIns="0" rIns="0" bIns="0" anchor="t">
            <a:spAutoFit/>
          </a:bodyPr>
          <a:lstStyle/>
          <a:p>
            <a:pPr algn="l">
              <a:spcBef>
                <a:spcPts val="0"/>
              </a:spcBef>
              <a:spcAft>
                <a:spcPts val="0"/>
              </a:spcAft>
            </a:pPr>
            <a:r>
              <a:rPr sz="1450" b="1" i="0">
                <a:solidFill>
                  <a:srgbClr val="B33A2F"/>
                </a:solidFill>
                <a:latin typeface="Calibri" panose="020F0502020204030204"/>
              </a:rPr>
              <a:t>Không xử lý</a:t>
            </a:r>
            <a:endParaRPr sz="1450" b="1" i="0">
              <a:solidFill>
                <a:srgbClr val="B33A2F"/>
              </a:solidFill>
              <a:latin typeface="Calibri" panose="020F0502020204030204"/>
            </a:endParaRPr>
          </a:p>
        </p:txBody>
      </p:sp>
      <p:sp>
        <p:nvSpPr>
          <p:cNvPr id="8" name="TextBox 7"/>
          <p:cNvSpPr txBox="1"/>
          <p:nvPr/>
        </p:nvSpPr>
        <p:spPr>
          <a:xfrm>
            <a:off x="4114800" y="3035808"/>
            <a:ext cx="3383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Cả hai đơn đều thành công</a:t>
            </a:r>
            <a:endParaRPr sz="1250" b="0" i="0">
              <a:solidFill>
                <a:srgbClr val="5A6B62"/>
              </a:solidFill>
              <a:latin typeface="Calibri" panose="020F0502020204030204"/>
            </a:endParaRPr>
          </a:p>
        </p:txBody>
      </p:sp>
      <p:sp>
        <p:nvSpPr>
          <p:cNvPr id="9" name="TextBox 8"/>
          <p:cNvSpPr txBox="1"/>
          <p:nvPr/>
        </p:nvSpPr>
        <p:spPr>
          <a:xfrm>
            <a:off x="7680960" y="3035808"/>
            <a:ext cx="3657600" cy="45720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Âm kho, cam kết giao hàng không có thật</a:t>
            </a:r>
            <a:endParaRPr sz="1250" b="0" i="0">
              <a:solidFill>
                <a:srgbClr val="5A6B62"/>
              </a:solidFill>
              <a:latin typeface="Calibri" panose="020F0502020204030204"/>
            </a:endParaRPr>
          </a:p>
        </p:txBody>
      </p:sp>
      <p:sp>
        <p:nvSpPr>
          <p:cNvPr id="10" name="Rounded Rectangle 9"/>
          <p:cNvSpPr/>
          <p:nvPr/>
        </p:nvSpPr>
        <p:spPr>
          <a:xfrm>
            <a:off x="566928" y="3822191"/>
            <a:ext cx="11064240" cy="93268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4096511"/>
            <a:ext cx="3108960" cy="411480"/>
          </a:xfrm>
          <a:prstGeom prst="rect">
            <a:avLst/>
          </a:prstGeom>
          <a:noFill/>
        </p:spPr>
        <p:txBody>
          <a:bodyPr wrap="square" lIns="0" tIns="0" rIns="0" bIns="0" anchor="t">
            <a:spAutoFit/>
          </a:bodyPr>
          <a:lstStyle/>
          <a:p>
            <a:pPr algn="l">
              <a:spcBef>
                <a:spcPts val="0"/>
              </a:spcBef>
              <a:spcAft>
                <a:spcPts val="0"/>
              </a:spcAft>
            </a:pPr>
            <a:r>
              <a:rPr sz="1450" b="1" i="0">
                <a:solidFill>
                  <a:srgbClr val="5A6B62"/>
                </a:solidFill>
                <a:latin typeface="Calibri" panose="020F0502020204030204"/>
              </a:rPr>
              <a:t>Khóa bi quan (Pessimistic)</a:t>
            </a:r>
            <a:endParaRPr sz="1450" b="1" i="0">
              <a:solidFill>
                <a:srgbClr val="5A6B62"/>
              </a:solidFill>
              <a:latin typeface="Calibri" panose="020F0502020204030204"/>
            </a:endParaRPr>
          </a:p>
        </p:txBody>
      </p:sp>
      <p:sp>
        <p:nvSpPr>
          <p:cNvPr id="12" name="TextBox 11"/>
          <p:cNvSpPr txBox="1"/>
          <p:nvPr/>
        </p:nvSpPr>
        <p:spPr>
          <a:xfrm>
            <a:off x="4114800" y="4114800"/>
            <a:ext cx="3383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Khóa dòng dữ liệu, ai đến sau phải chờ</a:t>
            </a:r>
            <a:endParaRPr sz="1250" b="0" i="0">
              <a:solidFill>
                <a:srgbClr val="5A6B62"/>
              </a:solidFill>
              <a:latin typeface="Calibri" panose="020F0502020204030204"/>
            </a:endParaRPr>
          </a:p>
        </p:txBody>
      </p:sp>
      <p:sp>
        <p:nvSpPr>
          <p:cNvPr id="13" name="TextBox 12"/>
          <p:cNvSpPr txBox="1"/>
          <p:nvPr/>
        </p:nvSpPr>
        <p:spPr>
          <a:xfrm>
            <a:off x="7680960" y="4114800"/>
            <a:ext cx="3657600" cy="45720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Thắt cổ chai khi nhiều Sales cùng thao tác</a:t>
            </a:r>
            <a:endParaRPr sz="1250" b="0" i="0">
              <a:solidFill>
                <a:srgbClr val="5A6B62"/>
              </a:solidFill>
              <a:latin typeface="Calibri" panose="020F0502020204030204"/>
            </a:endParaRPr>
          </a:p>
        </p:txBody>
      </p:sp>
      <p:sp>
        <p:nvSpPr>
          <p:cNvPr id="14" name="Rounded Rectangle 13"/>
          <p:cNvSpPr/>
          <p:nvPr/>
        </p:nvSpPr>
        <p:spPr>
          <a:xfrm>
            <a:off x="566928" y="4901183"/>
            <a:ext cx="11064240" cy="932688"/>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175503"/>
            <a:ext cx="3108960" cy="411480"/>
          </a:xfrm>
          <a:prstGeom prst="rect">
            <a:avLst/>
          </a:prstGeom>
          <a:noFill/>
        </p:spPr>
        <p:txBody>
          <a:bodyPr wrap="square" lIns="0" tIns="0" rIns="0" bIns="0" anchor="t">
            <a:spAutoFit/>
          </a:bodyPr>
          <a:lstStyle/>
          <a:p>
            <a:pPr algn="l">
              <a:spcBef>
                <a:spcPts val="0"/>
              </a:spcBef>
              <a:spcAft>
                <a:spcPts val="0"/>
              </a:spcAft>
            </a:pPr>
            <a:r>
              <a:rPr sz="1450" b="1" i="0">
                <a:solidFill>
                  <a:srgbClr val="1F6F4F"/>
                </a:solidFill>
                <a:latin typeface="Calibri" panose="020F0502020204030204"/>
              </a:rPr>
              <a:t>Khóa lạc quan (Optimistic)</a:t>
            </a:r>
            <a:endParaRPr sz="1450" b="1" i="0">
              <a:solidFill>
                <a:srgbClr val="1F6F4F"/>
              </a:solidFill>
              <a:latin typeface="Calibri" panose="020F0502020204030204"/>
            </a:endParaRPr>
          </a:p>
        </p:txBody>
      </p:sp>
      <p:sp>
        <p:nvSpPr>
          <p:cNvPr id="16" name="TextBox 15"/>
          <p:cNvSpPr txBox="1"/>
          <p:nvPr/>
        </p:nvSpPr>
        <p:spPr>
          <a:xfrm>
            <a:off x="4114800" y="5193792"/>
            <a:ext cx="3383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Cột RowVersion của EF Core phát hiện va chạm</a:t>
            </a:r>
            <a:endParaRPr sz="1250" b="0" i="0">
              <a:solidFill>
                <a:srgbClr val="5A6B62"/>
              </a:solidFill>
              <a:latin typeface="Calibri" panose="020F0502020204030204"/>
            </a:endParaRPr>
          </a:p>
        </p:txBody>
      </p:sp>
      <p:sp>
        <p:nvSpPr>
          <p:cNvPr id="17" name="TextBox 16"/>
          <p:cNvSpPr txBox="1"/>
          <p:nvPr/>
        </p:nvSpPr>
        <p:spPr>
          <a:xfrm>
            <a:off x="7680960" y="5193792"/>
            <a:ext cx="3657600" cy="45720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Được chọn — người thua tự động chuyển sang lô kế tiếp</a:t>
            </a:r>
            <a:endParaRPr sz="1250" b="1" i="0">
              <a:solidFill>
                <a:srgbClr val="1C2B24"/>
              </a:solidFill>
              <a:latin typeface="Calibri" panose="020F0502020204030204"/>
            </a:endParaRPr>
          </a:p>
        </p:txBody>
      </p:sp>
      <p:sp>
        <p:nvSpPr>
          <p:cNvPr id="18" name="Rounded Rectangle 17"/>
          <p:cNvSpPr/>
          <p:nvPr/>
        </p:nvSpPr>
        <p:spPr>
          <a:xfrm>
            <a:off x="566928" y="6035040"/>
            <a:ext cx="11064240" cy="621792"/>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6181344"/>
            <a:ext cx="10424160" cy="365760"/>
          </a:xfrm>
          <a:prstGeom prst="rect">
            <a:avLst/>
          </a:prstGeom>
          <a:noFill/>
        </p:spPr>
        <p:txBody>
          <a:bodyPr wrap="square" lIns="0" tIns="0" rIns="0" bIns="0" anchor="t">
            <a:spAutoFit/>
          </a:bodyPr>
          <a:lstStyle/>
          <a:p>
            <a:pPr algn="l">
              <a:spcBef>
                <a:spcPts val="0"/>
              </a:spcBef>
              <a:spcAft>
                <a:spcPts val="0"/>
              </a:spcAft>
            </a:pPr>
            <a:r>
              <a:rPr sz="1350" b="1" i="0">
                <a:solidFill>
                  <a:srgbClr val="8A520B"/>
                </a:solidFill>
                <a:latin typeface="Calibri" panose="020F0502020204030204"/>
              </a:rPr>
              <a:t>Tiêu chí nghiệm thu: bắn 100 request đồng thời vào cùng một lô — 0 bản ghi tồn kho âm, mọi request thua đều tự fallback thành công.</a:t>
            </a:r>
            <a:endParaRPr sz="1350" b="1" i="0">
              <a:solidFill>
                <a:srgbClr val="8A520B"/>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Kiến trúc offline-first</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Bài toán 2 — Sales lên đơn ở nơi sóng yếu</a:t>
            </a:r>
            <a:endParaRPr sz="3000" b="1" i="0">
              <a:solidFill>
                <a:srgbClr val="1C2B24"/>
              </a:solidFill>
              <a:latin typeface="Cambria" panose="02040503050406030204"/>
            </a:endParaRPr>
          </a:p>
        </p:txBody>
      </p:sp>
      <p:sp>
        <p:nvSpPr>
          <p:cNvPr id="4" name="Rounded Rectangle 3"/>
          <p:cNvSpPr/>
          <p:nvPr/>
        </p:nvSpPr>
        <p:spPr>
          <a:xfrm>
            <a:off x="566928" y="1645920"/>
            <a:ext cx="11064240" cy="777240"/>
          </a:xfrm>
          <a:prstGeom prst="roundRect">
            <a:avLst>
              <a:gd name="adj" fmla="val 6000"/>
            </a:avLst>
          </a:prstGeom>
          <a:solidFill>
            <a:srgbClr val="FAECEA"/>
          </a:solidFill>
          <a:ln w="12700">
            <a:solidFill>
              <a:srgbClr val="B33A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847088"/>
            <a:ext cx="10424160" cy="411480"/>
          </a:xfrm>
          <a:prstGeom prst="rect">
            <a:avLst/>
          </a:prstGeom>
          <a:noFill/>
        </p:spPr>
        <p:txBody>
          <a:bodyPr wrap="square" lIns="0" tIns="0" rIns="0" bIns="0" anchor="t">
            <a:spAutoFit/>
          </a:bodyPr>
          <a:lstStyle/>
          <a:p>
            <a:pPr algn="l">
              <a:spcBef>
                <a:spcPts val="0"/>
              </a:spcBef>
              <a:spcAft>
                <a:spcPts val="0"/>
              </a:spcAft>
            </a:pPr>
            <a:r>
              <a:rPr sz="1450" b="1" i="0">
                <a:solidFill>
                  <a:srgbClr val="B33A2F"/>
                </a:solidFill>
                <a:latin typeface="Calibri" panose="020F0502020204030204"/>
              </a:rPr>
              <a:t>Sales đứng tại tạp hóa, mạng chập chờn. Nếu app bắt buộc phải có mạng mới lên được đơn thì đơn hàng đó mất.</a:t>
            </a:r>
            <a:endParaRPr sz="1450" b="1" i="0">
              <a:solidFill>
                <a:srgbClr val="B33A2F"/>
              </a:solidFill>
              <a:latin typeface="Calibri" panose="020F0502020204030204"/>
            </a:endParaRPr>
          </a:p>
        </p:txBody>
      </p:sp>
      <p:sp>
        <p:nvSpPr>
          <p:cNvPr id="6" name="Rounded Rectangle 5"/>
          <p:cNvSpPr/>
          <p:nvPr/>
        </p:nvSpPr>
        <p:spPr>
          <a:xfrm>
            <a:off x="566928" y="2697480"/>
            <a:ext cx="2679192" cy="196596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60" y="2926080"/>
            <a:ext cx="402336" cy="402336"/>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1</a:t>
            </a:r>
            <a:endParaRPr sz="1400" b="1">
              <a:solidFill>
                <a:srgbClr val="FFFFFF"/>
              </a:solidFill>
              <a:latin typeface="Calibri" panose="020F0502020204030204"/>
            </a:endParaRPr>
          </a:p>
        </p:txBody>
      </p:sp>
      <p:sp>
        <p:nvSpPr>
          <p:cNvPr id="8" name="TextBox 7"/>
          <p:cNvSpPr txBox="1"/>
          <p:nvPr/>
        </p:nvSpPr>
        <p:spPr>
          <a:xfrm>
            <a:off x="822960" y="3493008"/>
            <a:ext cx="219456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sqflite trên Flutter</a:t>
            </a:r>
            <a:endParaRPr sz="1400" b="1" i="0">
              <a:solidFill>
                <a:srgbClr val="1C2B24"/>
              </a:solidFill>
              <a:latin typeface="Calibri" panose="020F0502020204030204"/>
            </a:endParaRPr>
          </a:p>
        </p:txBody>
      </p:sp>
      <p:sp>
        <p:nvSpPr>
          <p:cNvPr id="9" name="TextBox 8"/>
          <p:cNvSpPr txBox="1"/>
          <p:nvPr/>
        </p:nvSpPr>
        <p:spPr>
          <a:xfrm>
            <a:off x="822960" y="3840480"/>
            <a:ext cx="2194560" cy="7315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Tạo kho lưu trữ cục bộ, tải sẵn danh mục và tồn kho khả dụng về máy</a:t>
            </a:r>
            <a:endParaRPr sz="1200" b="0" i="0">
              <a:solidFill>
                <a:srgbClr val="5A6B62"/>
              </a:solidFill>
              <a:latin typeface="Calibri" panose="020F0502020204030204"/>
            </a:endParaRPr>
          </a:p>
        </p:txBody>
      </p:sp>
      <p:sp>
        <p:nvSpPr>
          <p:cNvPr id="10" name="Rounded Rectangle 9"/>
          <p:cNvSpPr/>
          <p:nvPr/>
        </p:nvSpPr>
        <p:spPr>
          <a:xfrm>
            <a:off x="3364992" y="2697480"/>
            <a:ext cx="2679192" cy="196596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21024" y="2926080"/>
            <a:ext cx="402336" cy="402336"/>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2</a:t>
            </a:r>
            <a:endParaRPr sz="1400" b="1">
              <a:solidFill>
                <a:srgbClr val="FFFFFF"/>
              </a:solidFill>
              <a:latin typeface="Calibri" panose="020F0502020204030204"/>
            </a:endParaRPr>
          </a:p>
        </p:txBody>
      </p:sp>
      <p:sp>
        <p:nvSpPr>
          <p:cNvPr id="12" name="TextBox 11"/>
          <p:cNvSpPr txBox="1"/>
          <p:nvPr/>
        </p:nvSpPr>
        <p:spPr>
          <a:xfrm>
            <a:off x="3621024" y="3493008"/>
            <a:ext cx="219456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Interceptor chặn request</a:t>
            </a:r>
            <a:endParaRPr sz="1400" b="1" i="0">
              <a:solidFill>
                <a:srgbClr val="1C2B24"/>
              </a:solidFill>
              <a:latin typeface="Calibri" panose="020F0502020204030204"/>
            </a:endParaRPr>
          </a:p>
        </p:txBody>
      </p:sp>
      <p:sp>
        <p:nvSpPr>
          <p:cNvPr id="13" name="TextBox 12"/>
          <p:cNvSpPr txBox="1"/>
          <p:nvPr/>
        </p:nvSpPr>
        <p:spPr>
          <a:xfrm>
            <a:off x="3621024" y="3840480"/>
            <a:ext cx="2194560" cy="7315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Mất mạng thì request không báo lỗi mà được ghi vào bảng OfflineQueue</a:t>
            </a:r>
            <a:endParaRPr sz="1200" b="0" i="0">
              <a:solidFill>
                <a:srgbClr val="5A6B62"/>
              </a:solidFill>
              <a:latin typeface="Calibri" panose="020F0502020204030204"/>
            </a:endParaRPr>
          </a:p>
        </p:txBody>
      </p:sp>
      <p:sp>
        <p:nvSpPr>
          <p:cNvPr id="14" name="Rounded Rectangle 13"/>
          <p:cNvSpPr/>
          <p:nvPr/>
        </p:nvSpPr>
        <p:spPr>
          <a:xfrm>
            <a:off x="6163056" y="2697480"/>
            <a:ext cx="2679192" cy="196596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419088" y="2926080"/>
            <a:ext cx="402336" cy="402336"/>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3</a:t>
            </a:r>
            <a:endParaRPr sz="1400" b="1">
              <a:solidFill>
                <a:srgbClr val="FFFFFF"/>
              </a:solidFill>
              <a:latin typeface="Calibri" panose="020F0502020204030204"/>
            </a:endParaRPr>
          </a:p>
        </p:txBody>
      </p:sp>
      <p:sp>
        <p:nvSpPr>
          <p:cNvPr id="16" name="TextBox 15"/>
          <p:cNvSpPr txBox="1"/>
          <p:nvPr/>
        </p:nvSpPr>
        <p:spPr>
          <a:xfrm>
            <a:off x="6419088" y="3493008"/>
            <a:ext cx="219456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Background Worker</a:t>
            </a:r>
            <a:endParaRPr sz="1400" b="1" i="0">
              <a:solidFill>
                <a:srgbClr val="1C2B24"/>
              </a:solidFill>
              <a:latin typeface="Calibri" panose="020F0502020204030204"/>
            </a:endParaRPr>
          </a:p>
        </p:txBody>
      </p:sp>
      <p:sp>
        <p:nvSpPr>
          <p:cNvPr id="17" name="TextBox 16"/>
          <p:cNvSpPr txBox="1"/>
          <p:nvPr/>
        </p:nvSpPr>
        <p:spPr>
          <a:xfrm>
            <a:off x="6419088" y="3840480"/>
            <a:ext cx="2194560" cy="7315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Phát hiện có mạng trở lại, tự động flush hàng đợi lên server theo thứ tự</a:t>
            </a:r>
            <a:endParaRPr sz="1200" b="0" i="0">
              <a:solidFill>
                <a:srgbClr val="5A6B62"/>
              </a:solidFill>
              <a:latin typeface="Calibri" panose="020F0502020204030204"/>
            </a:endParaRPr>
          </a:p>
        </p:txBody>
      </p:sp>
      <p:sp>
        <p:nvSpPr>
          <p:cNvPr id="18" name="Rounded Rectangle 17"/>
          <p:cNvSpPr/>
          <p:nvPr/>
        </p:nvSpPr>
        <p:spPr>
          <a:xfrm>
            <a:off x="8961120" y="2697480"/>
            <a:ext cx="2679192" cy="196596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217152" y="2926080"/>
            <a:ext cx="402336" cy="402336"/>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4</a:t>
            </a:r>
            <a:endParaRPr sz="1400" b="1">
              <a:solidFill>
                <a:srgbClr val="FFFFFF"/>
              </a:solidFill>
              <a:latin typeface="Calibri" panose="020F0502020204030204"/>
            </a:endParaRPr>
          </a:p>
        </p:txBody>
      </p:sp>
      <p:sp>
        <p:nvSpPr>
          <p:cNvPr id="20" name="TextBox 19"/>
          <p:cNvSpPr txBox="1"/>
          <p:nvPr/>
        </p:nvSpPr>
        <p:spPr>
          <a:xfrm>
            <a:off x="9217152" y="3493008"/>
            <a:ext cx="2194560" cy="320040"/>
          </a:xfrm>
          <a:prstGeom prst="rect">
            <a:avLst/>
          </a:prstGeom>
          <a:noFill/>
        </p:spPr>
        <p:txBody>
          <a:bodyPr wrap="square" lIns="0" tIns="0" rIns="0" bIns="0" anchor="t">
            <a:spAutoFit/>
          </a:bodyPr>
          <a:lstStyle/>
          <a:p>
            <a:pPr algn="l">
              <a:spcBef>
                <a:spcPts val="0"/>
              </a:spcBef>
              <a:spcAft>
                <a:spcPts val="0"/>
              </a:spcAft>
            </a:pPr>
            <a:r>
              <a:rPr sz="1400" b="1" i="0">
                <a:solidFill>
                  <a:srgbClr val="1C2B24"/>
                </a:solidFill>
                <a:latin typeface="Calibri" panose="020F0502020204030204"/>
              </a:rPr>
              <a:t>API idempotent</a:t>
            </a:r>
            <a:endParaRPr sz="1400" b="1" i="0">
              <a:solidFill>
                <a:srgbClr val="1C2B24"/>
              </a:solidFill>
              <a:latin typeface="Calibri" panose="020F0502020204030204"/>
            </a:endParaRPr>
          </a:p>
        </p:txBody>
      </p:sp>
      <p:sp>
        <p:nvSpPr>
          <p:cNvPr id="21" name="TextBox 20"/>
          <p:cNvSpPr txBox="1"/>
          <p:nvPr/>
        </p:nvSpPr>
        <p:spPr>
          <a:xfrm>
            <a:off x="9217152" y="3840480"/>
            <a:ext cx="2194560" cy="7315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Mỗi đơn có khóa duy nhất, gửi lại nhiều lần cũng chỉ tạo một bản ghi</a:t>
            </a:r>
            <a:endParaRPr sz="1200" b="0" i="0">
              <a:solidFill>
                <a:srgbClr val="5A6B62"/>
              </a:solidFill>
              <a:latin typeface="Calibri" panose="020F0502020204030204"/>
            </a:endParaRPr>
          </a:p>
        </p:txBody>
      </p:sp>
      <p:sp>
        <p:nvSpPr>
          <p:cNvPr id="22" name="TextBox 21"/>
          <p:cNvSpPr txBox="1"/>
          <p:nvPr/>
        </p:nvSpPr>
        <p:spPr>
          <a:xfrm>
            <a:off x="566928" y="4892040"/>
            <a:ext cx="11064240" cy="1188720"/>
          </a:xfrm>
          <a:prstGeom prst="rect">
            <a:avLst/>
          </a:prstGeom>
          <a:noFill/>
        </p:spPr>
        <p:txBody>
          <a:bodyPr wrap="square" lIns="0" tIns="0" rIns="0" bIns="0" anchor="t">
            <a:spAutoFit/>
          </a:bodyPr>
          <a:lstStyle/>
          <a:p>
            <a:pPr algn="l">
              <a:spcBef>
                <a:spcPts val="0"/>
              </a:spcBef>
              <a:spcAft>
                <a:spcPts val="0"/>
              </a:spcAft>
            </a:pPr>
            <a:r>
              <a:rPr sz="1600" b="1" i="0">
                <a:solidFill>
                  <a:srgbClr val="1C2B24"/>
                </a:solidFill>
                <a:latin typeface="Cambria" panose="02040503050406030204"/>
              </a:rPr>
              <a:t>Vì sao chọn hàng đợi một chiều thay vì đồng bộ hai chiều</a:t>
            </a:r>
            <a:endParaRPr sz="1600" b="1" i="0">
              <a:solidFill>
                <a:srgbClr val="1C2B24"/>
              </a:solidFill>
              <a:latin typeface="Cambria" panose="02040503050406030204"/>
            </a:endParaRPr>
          </a:p>
          <a:p>
            <a:pPr>
              <a:spcAft>
                <a:spcPts val="900"/>
              </a:spcAft>
            </a:pPr>
            <a:r>
              <a:rPr sz="1350" b="1">
                <a:solidFill>
                  <a:srgbClr val="1F6F4F"/>
                </a:solidFill>
                <a:latin typeface="Calibri" panose="020F0502020204030204"/>
              </a:rPr>
              <a:t>Đồng bộ hai chiều cần giải quyết xung đột dữ liệu </a:t>
            </a:r>
            <a:r>
              <a:rPr sz="1350" b="0">
                <a:solidFill>
                  <a:srgbClr val="1C2B24"/>
                </a:solidFill>
                <a:latin typeface="Calibri" panose="020F0502020204030204"/>
              </a:rPr>
              <a:t>— bài toán rất khó, không cần thiết vì Sales chỉ tạo đơn chứ không sửa dữ liệu gốc.</a:t>
            </a:r>
            <a:endParaRPr sz="1350" b="0">
              <a:solidFill>
                <a:srgbClr val="1C2B24"/>
              </a:solidFill>
              <a:latin typeface="Calibri" panose="020F0502020204030204"/>
            </a:endParaRPr>
          </a:p>
        </p:txBody>
      </p:sp>
      <p:sp>
        <p:nvSpPr>
          <p:cNvPr id="23" name="Rounded Rectangle 22"/>
          <p:cNvSpPr/>
          <p:nvPr/>
        </p:nvSpPr>
        <p:spPr>
          <a:xfrm>
            <a:off x="566928" y="6080760"/>
            <a:ext cx="11064240" cy="566928"/>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4400" y="6208776"/>
            <a:ext cx="10424160" cy="365760"/>
          </a:xfrm>
          <a:prstGeom prst="rect">
            <a:avLst/>
          </a:prstGeom>
          <a:noFill/>
        </p:spPr>
        <p:txBody>
          <a:bodyPr wrap="square" lIns="0" tIns="0" rIns="0" bIns="0" anchor="t">
            <a:spAutoFit/>
          </a:bodyPr>
          <a:lstStyle/>
          <a:p>
            <a:pPr algn="l">
              <a:spcBef>
                <a:spcPts val="0"/>
              </a:spcBef>
              <a:spcAft>
                <a:spcPts val="0"/>
              </a:spcAft>
            </a:pPr>
            <a:r>
              <a:rPr sz="1350" b="1" i="0">
                <a:solidFill>
                  <a:srgbClr val="8A520B"/>
                </a:solidFill>
                <a:latin typeface="Calibri" panose="020F0502020204030204"/>
              </a:rPr>
              <a:t>Tiêu chí nghiệm thu: tạo 20 đơn ở chế độ máy bay, bật mạng lại phải đồng bộ đủ 20/20, không trùng, không mất.</a:t>
            </a:r>
            <a:endParaRPr sz="1350" b="1" i="0">
              <a:solidFill>
                <a:srgbClr val="8A520B"/>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Sơ đồ 4 · Luồng xử lý</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Hai luồng nghiệp vụ đặc trưng của đề tài</a:t>
            </a:r>
            <a:endParaRPr sz="3000" b="1" i="0">
              <a:solidFill>
                <a:srgbClr val="1C2B24"/>
              </a:solidFill>
              <a:latin typeface="Cambria" panose="02040503050406030204"/>
            </a:endParaRPr>
          </a:p>
        </p:txBody>
      </p:sp>
      <p:pic>
        <p:nvPicPr>
          <p:cNvPr id="4" name="Picture 3" descr="SoDo_4_Luong_FEFO_va_O2O.png"/>
          <p:cNvPicPr>
            <a:picLocks noChangeAspect="1"/>
          </p:cNvPicPr>
          <p:nvPr/>
        </p:nvPicPr>
        <p:blipFill>
          <a:blip r:embed="rId1"/>
          <a:stretch>
            <a:fillRect/>
          </a:stretch>
        </p:blipFill>
        <p:spPr>
          <a:xfrm>
            <a:off x="1251876" y="1600200"/>
            <a:ext cx="5213783" cy="4937760"/>
          </a:xfrm>
          <a:prstGeom prst="rect">
            <a:avLst/>
          </a:prstGeom>
        </p:spPr>
      </p:pic>
      <p:sp>
        <p:nvSpPr>
          <p:cNvPr id="5" name="TextBox 4"/>
          <p:cNvSpPr txBox="1"/>
          <p:nvPr/>
        </p:nvSpPr>
        <p:spPr>
          <a:xfrm>
            <a:off x="7406640" y="1737360"/>
            <a:ext cx="4251960" cy="4480560"/>
          </a:xfrm>
          <a:prstGeom prst="rect">
            <a:avLst/>
          </a:prstGeom>
          <a:noFill/>
        </p:spPr>
        <p:txBody>
          <a:bodyPr wrap="square" lIns="0" tIns="0" rIns="0" bIns="0" anchor="t">
            <a:spAutoFit/>
          </a:bodyPr>
          <a:lstStyle/>
          <a:p>
            <a:pPr algn="l">
              <a:spcBef>
                <a:spcPts val="0"/>
              </a:spcBef>
              <a:spcAft>
                <a:spcPts val="0"/>
              </a:spcAft>
            </a:pPr>
            <a:r>
              <a:rPr sz="1600" b="1" i="0">
                <a:solidFill>
                  <a:srgbClr val="1F6F4F"/>
                </a:solidFill>
                <a:latin typeface="Cambria" panose="02040503050406030204"/>
              </a:rPr>
              <a:t>Luồng trên · FEFO</a:t>
            </a:r>
            <a:endParaRPr sz="1600" b="1" i="0">
              <a:solidFill>
                <a:srgbClr val="1F6F4F"/>
              </a:solidFill>
              <a:latin typeface="Cambria" panose="02040503050406030204"/>
            </a:endParaRPr>
          </a:p>
          <a:p>
            <a:pPr>
              <a:spcAft>
                <a:spcPts val="1000"/>
              </a:spcAft>
            </a:pPr>
            <a:r>
              <a:rPr sz="1300" b="0">
                <a:solidFill>
                  <a:srgbClr val="1C2B24"/>
                </a:solidFill>
                <a:latin typeface="Calibri" panose="020F0502020204030204"/>
              </a:rPr>
              <a:t>Admin duyệt đơn, Order Domain phát sự kiện, Kho &amp; PIM nghe rồi mới chạy thuật toán.</a:t>
            </a:r>
            <a:endParaRPr sz="1300" b="0">
              <a:solidFill>
                <a:srgbClr val="1C2B24"/>
              </a:solidFill>
              <a:latin typeface="Calibri" panose="020F0502020204030204"/>
            </a:endParaRPr>
          </a:p>
          <a:p>
            <a:pPr>
              <a:spcAft>
                <a:spcPts val="1000"/>
              </a:spcAft>
            </a:pPr>
            <a:r>
              <a:rPr sz="1300" b="0">
                <a:solidFill>
                  <a:srgbClr val="1C2B24"/>
                </a:solidFill>
                <a:latin typeface="Calibri" panose="020F0502020204030204"/>
              </a:rPr>
              <a:t>Nét đứt là nhánh ngoại lệ: gặp tranh chấp version thì tự chuyển sang lô kế tiếp.</a:t>
            </a:r>
            <a:endParaRPr sz="1300" b="0">
              <a:solidFill>
                <a:srgbClr val="1C2B24"/>
              </a:solidFill>
              <a:latin typeface="Calibri" panose="020F0502020204030204"/>
            </a:endParaRPr>
          </a:p>
        </p:txBody>
      </p:sp>
      <p:sp>
        <p:nvSpPr>
          <p:cNvPr id="6" name="TextBox 5"/>
          <p:cNvSpPr txBox="1"/>
          <p:nvPr/>
        </p:nvSpPr>
        <p:spPr>
          <a:xfrm>
            <a:off x="7406640" y="3794760"/>
            <a:ext cx="4251960" cy="2377440"/>
          </a:xfrm>
          <a:prstGeom prst="rect">
            <a:avLst/>
          </a:prstGeom>
          <a:noFill/>
        </p:spPr>
        <p:txBody>
          <a:bodyPr wrap="square" lIns="0" tIns="0" rIns="0" bIns="0" anchor="t">
            <a:spAutoFit/>
          </a:bodyPr>
          <a:lstStyle/>
          <a:p>
            <a:pPr algn="l">
              <a:spcBef>
                <a:spcPts val="0"/>
              </a:spcBef>
              <a:spcAft>
                <a:spcPts val="0"/>
              </a:spcAft>
            </a:pPr>
            <a:r>
              <a:rPr sz="1600" b="1" i="0">
                <a:solidFill>
                  <a:srgbClr val="1F6F4F"/>
                </a:solidFill>
                <a:latin typeface="Cambria" panose="02040503050406030204"/>
              </a:rPr>
              <a:t>Luồng dưới · O2O sync</a:t>
            </a:r>
            <a:endParaRPr sz="1600" b="1" i="0">
              <a:solidFill>
                <a:srgbClr val="1F6F4F"/>
              </a:solidFill>
              <a:latin typeface="Cambria" panose="02040503050406030204"/>
            </a:endParaRPr>
          </a:p>
          <a:p>
            <a:pPr>
              <a:spcAft>
                <a:spcPts val="1000"/>
              </a:spcAft>
            </a:pPr>
            <a:r>
              <a:rPr sz="1300" b="0">
                <a:solidFill>
                  <a:srgbClr val="1C2B24"/>
                </a:solidFill>
                <a:latin typeface="Calibri" panose="020F0502020204030204"/>
              </a:rPr>
              <a:t>Đơn chốt offline khi đồng bộ lên sẽ đi lại đúng luồng FEFO ở trên.</a:t>
            </a:r>
            <a:endParaRPr sz="1300" b="0">
              <a:solidFill>
                <a:srgbClr val="1C2B24"/>
              </a:solidFill>
              <a:latin typeface="Calibri" panose="020F0502020204030204"/>
            </a:endParaRPr>
          </a:p>
          <a:p>
            <a:pPr>
              <a:spcAft>
                <a:spcPts val="1000"/>
              </a:spcAft>
            </a:pPr>
            <a:r>
              <a:rPr sz="1300" b="0">
                <a:solidFill>
                  <a:srgbClr val="1C2B24"/>
                </a:solidFill>
                <a:latin typeface="Calibri" panose="020F0502020204030204"/>
              </a:rPr>
              <a:t>Không có đường tắt riêng cho đơn offline — cùng một bộ quy tắc nghiệp vụ.</a:t>
            </a:r>
            <a:endParaRPr sz="1300" b="0">
              <a:solidFill>
                <a:srgbClr val="1C2B24"/>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Oval 1"/>
          <p:cNvSpPr/>
          <p:nvPr/>
        </p:nvSpPr>
        <p:spPr>
          <a:xfrm>
            <a:off x="868680" y="2331720"/>
            <a:ext cx="868680" cy="868680"/>
          </a:xfrm>
          <a:prstGeom prst="ellipse">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3000" b="1">
                <a:solidFill>
                  <a:srgbClr val="12352A"/>
                </a:solidFill>
                <a:latin typeface="Calibri" panose="020F0502020204030204"/>
              </a:rPr>
              <a:t>5</a:t>
            </a:r>
            <a:endParaRPr sz="3000" b="1">
              <a:solidFill>
                <a:srgbClr val="12352A"/>
              </a:solidFill>
              <a:latin typeface="Calibri" panose="020F0502020204030204"/>
            </a:endParaRPr>
          </a:p>
        </p:txBody>
      </p:sp>
      <p:sp>
        <p:nvSpPr>
          <p:cNvPr id="3" name="TextBox 2"/>
          <p:cNvSpPr txBox="1"/>
          <p:nvPr/>
        </p:nvSpPr>
        <p:spPr>
          <a:xfrm>
            <a:off x="2057400" y="2395728"/>
            <a:ext cx="8961120" cy="822960"/>
          </a:xfrm>
          <a:prstGeom prst="rect">
            <a:avLst/>
          </a:prstGeom>
          <a:noFill/>
        </p:spPr>
        <p:txBody>
          <a:bodyPr wrap="square" lIns="0" tIns="0" rIns="0" bIns="0" anchor="t">
            <a:spAutoFit/>
          </a:bodyPr>
          <a:lstStyle/>
          <a:p>
            <a:pPr algn="l">
              <a:spcBef>
                <a:spcPts val="0"/>
              </a:spcBef>
              <a:spcAft>
                <a:spcPts val="0"/>
              </a:spcAft>
            </a:pPr>
            <a:r>
              <a:rPr sz="3600" b="1" i="0">
                <a:solidFill>
                  <a:srgbClr val="FFFFFF"/>
                </a:solidFill>
                <a:latin typeface="Cambria" panose="02040503050406030204"/>
              </a:rPr>
              <a:t>Phạm vi &amp; kế hoạch</a:t>
            </a:r>
            <a:endParaRPr sz="3600" b="1" i="0">
              <a:solidFill>
                <a:srgbClr val="FFFFFF"/>
              </a:solidFill>
              <a:latin typeface="Cambria" panose="02040503050406030204"/>
            </a:endParaRPr>
          </a:p>
        </p:txBody>
      </p:sp>
      <p:sp>
        <p:nvSpPr>
          <p:cNvPr id="4" name="TextBox 3"/>
          <p:cNvSpPr txBox="1"/>
          <p:nvPr/>
        </p:nvSpPr>
        <p:spPr>
          <a:xfrm>
            <a:off x="2057400" y="3273552"/>
            <a:ext cx="8961120" cy="548640"/>
          </a:xfrm>
          <a:prstGeom prst="rect">
            <a:avLst/>
          </a:prstGeom>
          <a:noFill/>
        </p:spPr>
        <p:txBody>
          <a:bodyPr wrap="square" lIns="0" tIns="0" rIns="0" bIns="0" anchor="t">
            <a:spAutoFit/>
          </a:bodyPr>
          <a:lstStyle/>
          <a:p>
            <a:pPr algn="l">
              <a:spcBef>
                <a:spcPts val="0"/>
              </a:spcBef>
              <a:spcAft>
                <a:spcPts val="0"/>
              </a:spcAft>
            </a:pPr>
            <a:r>
              <a:rPr sz="1500" b="0" i="0">
                <a:solidFill>
                  <a:srgbClr val="8FBF9F"/>
                </a:solidFill>
                <a:latin typeface="Calibri" panose="020F0502020204030204"/>
              </a:rPr>
              <a:t>Nhóm cam kết làm gì, không làm gì, và làm trong bao lâu</a:t>
            </a:r>
            <a:endParaRPr sz="1500" b="0" i="0">
              <a:solidFill>
                <a:srgbClr val="8FBF9F"/>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Phạm vi đề tài</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Phân loại tính năng theo MoSCoW</a:t>
            </a:r>
            <a:endParaRPr sz="3000" b="1" i="0">
              <a:solidFill>
                <a:srgbClr val="1C2B24"/>
              </a:solidFill>
              <a:latin typeface="Cambria" panose="02040503050406030204"/>
            </a:endParaRPr>
          </a:p>
        </p:txBody>
      </p:sp>
      <p:sp>
        <p:nvSpPr>
          <p:cNvPr id="4" name="Rounded Rectangle 3"/>
          <p:cNvSpPr/>
          <p:nvPr/>
        </p:nvSpPr>
        <p:spPr>
          <a:xfrm>
            <a:off x="566928" y="1691640"/>
            <a:ext cx="5440680" cy="379476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920240"/>
            <a:ext cx="4846320" cy="365760"/>
          </a:xfrm>
          <a:prstGeom prst="rect">
            <a:avLst/>
          </a:prstGeom>
          <a:noFill/>
        </p:spPr>
        <p:txBody>
          <a:bodyPr wrap="square" lIns="0" tIns="0" rIns="0" bIns="0" anchor="t">
            <a:spAutoFit/>
          </a:bodyPr>
          <a:lstStyle/>
          <a:p>
            <a:pPr algn="l">
              <a:spcBef>
                <a:spcPts val="0"/>
              </a:spcBef>
              <a:spcAft>
                <a:spcPts val="0"/>
              </a:spcAft>
            </a:pPr>
            <a:r>
              <a:rPr sz="1650" b="1" i="0">
                <a:solidFill>
                  <a:srgbClr val="1F6F4F"/>
                </a:solidFill>
                <a:latin typeface="Cambria" panose="02040503050406030204"/>
              </a:rPr>
              <a:t>Must Have — 5 tính năng bắt buộc</a:t>
            </a:r>
            <a:endParaRPr sz="1650" b="1" i="0">
              <a:solidFill>
                <a:srgbClr val="1F6F4F"/>
              </a:solidFill>
              <a:latin typeface="Cambria" panose="02040503050406030204"/>
            </a:endParaRPr>
          </a:p>
        </p:txBody>
      </p:sp>
      <p:sp>
        <p:nvSpPr>
          <p:cNvPr id="6" name="TextBox 5"/>
          <p:cNvSpPr txBox="1"/>
          <p:nvPr/>
        </p:nvSpPr>
        <p:spPr>
          <a:xfrm>
            <a:off x="868680" y="2395728"/>
            <a:ext cx="4846320" cy="2926080"/>
          </a:xfrm>
          <a:prstGeom prst="rect">
            <a:avLst/>
          </a:prstGeom>
          <a:noFill/>
        </p:spPr>
        <p:txBody>
          <a:bodyPr wrap="square" lIns="0" tIns="0" rIns="0" bIns="0" anchor="t">
            <a:spAutoFit/>
          </a:bodyPr>
          <a:lstStyle/>
          <a:p>
            <a:pPr algn="l">
              <a:spcAft>
                <a:spcPts val="1200"/>
              </a:spcAft>
            </a:pPr>
            <a:r>
              <a:rPr sz="1400" b="1">
                <a:solidFill>
                  <a:srgbClr val="1F6F4F"/>
                </a:solidFill>
                <a:latin typeface="Calibri" panose="020F0502020204030204"/>
              </a:rPr>
              <a:t>A1 · </a:t>
            </a:r>
            <a:r>
              <a:rPr sz="1400" b="0">
                <a:solidFill>
                  <a:srgbClr val="1C2B24"/>
                </a:solidFill>
                <a:latin typeface="Calibri" panose="020F0502020204030204"/>
              </a:rPr>
              <a:t>Duyệt phiếu nhập kho</a:t>
            </a:r>
            <a:endParaRPr sz="1400" b="0">
              <a:solidFill>
                <a:srgbClr val="1C2B24"/>
              </a:solidFill>
              <a:latin typeface="Calibri" panose="020F0502020204030204"/>
            </a:endParaRPr>
          </a:p>
          <a:p>
            <a:pPr>
              <a:spcAft>
                <a:spcPts val="1200"/>
              </a:spcAft>
            </a:pPr>
            <a:r>
              <a:rPr sz="1400" b="1">
                <a:solidFill>
                  <a:srgbClr val="1F6F4F"/>
                </a:solidFill>
                <a:latin typeface="Calibri" panose="020F0502020204030204"/>
              </a:rPr>
              <a:t>A2 · </a:t>
            </a:r>
            <a:r>
              <a:rPr sz="1400" b="0">
                <a:solidFill>
                  <a:srgbClr val="1C2B24"/>
                </a:solidFill>
                <a:latin typeface="Calibri" panose="020F0502020204030204"/>
              </a:rPr>
              <a:t>Sinh Batch/Lot và Cronjob theo dõi hạn sử dụng</a:t>
            </a:r>
            <a:endParaRPr sz="1400" b="0">
              <a:solidFill>
                <a:srgbClr val="1C2B24"/>
              </a:solidFill>
              <a:latin typeface="Calibri" panose="020F0502020204030204"/>
            </a:endParaRPr>
          </a:p>
          <a:p>
            <a:pPr>
              <a:spcAft>
                <a:spcPts val="1200"/>
              </a:spcAft>
            </a:pPr>
            <a:r>
              <a:rPr sz="1400" b="1">
                <a:solidFill>
                  <a:srgbClr val="1F6F4F"/>
                </a:solidFill>
                <a:latin typeface="Calibri" panose="020F0502020204030204"/>
              </a:rPr>
              <a:t>B1 · </a:t>
            </a:r>
            <a:r>
              <a:rPr sz="1400" b="0">
                <a:solidFill>
                  <a:srgbClr val="1C2B24"/>
                </a:solidFill>
                <a:latin typeface="Calibri" panose="020F0502020204030204"/>
              </a:rPr>
              <a:t>Máy trạng thái vòng đời đơn hàng</a:t>
            </a:r>
            <a:endParaRPr sz="1400" b="0">
              <a:solidFill>
                <a:srgbClr val="1C2B24"/>
              </a:solidFill>
              <a:latin typeface="Calibri" panose="020F0502020204030204"/>
            </a:endParaRPr>
          </a:p>
          <a:p>
            <a:pPr>
              <a:spcAft>
                <a:spcPts val="1200"/>
              </a:spcAft>
            </a:pPr>
            <a:r>
              <a:rPr sz="1400" b="1">
                <a:solidFill>
                  <a:srgbClr val="1F6F4F"/>
                </a:solidFill>
                <a:latin typeface="Calibri" panose="020F0502020204030204"/>
              </a:rPr>
              <a:t>B2 · </a:t>
            </a:r>
            <a:r>
              <a:rPr sz="1400" b="0">
                <a:solidFill>
                  <a:srgbClr val="1C2B24"/>
                </a:solidFill>
                <a:latin typeface="Calibri" panose="020F0502020204030204"/>
              </a:rPr>
              <a:t>Thuật toán FEFO và xử lý tương tranh</a:t>
            </a:r>
            <a:endParaRPr sz="1400" b="0">
              <a:solidFill>
                <a:srgbClr val="1C2B24"/>
              </a:solidFill>
              <a:latin typeface="Calibri" panose="020F0502020204030204"/>
            </a:endParaRPr>
          </a:p>
          <a:p>
            <a:pPr>
              <a:spcAft>
                <a:spcPts val="1200"/>
              </a:spcAft>
            </a:pPr>
            <a:r>
              <a:rPr sz="1400" b="1">
                <a:solidFill>
                  <a:srgbClr val="1F6F4F"/>
                </a:solidFill>
                <a:latin typeface="Calibri" panose="020F0502020204030204"/>
              </a:rPr>
              <a:t>C1 · </a:t>
            </a:r>
            <a:r>
              <a:rPr sz="1400" b="0">
                <a:solidFill>
                  <a:srgbClr val="1C2B24"/>
                </a:solidFill>
                <a:latin typeface="Calibri" panose="020F0502020204030204"/>
              </a:rPr>
              <a:t>Lên đơn trên Mobile ở chế độ offline</a:t>
            </a:r>
            <a:endParaRPr sz="1400" b="0">
              <a:solidFill>
                <a:srgbClr val="1C2B24"/>
              </a:solidFill>
              <a:latin typeface="Calibri" panose="020F0502020204030204"/>
            </a:endParaRPr>
          </a:p>
        </p:txBody>
      </p:sp>
      <p:sp>
        <p:nvSpPr>
          <p:cNvPr id="7" name="Rounded Rectangle 6"/>
          <p:cNvSpPr/>
          <p:nvPr/>
        </p:nvSpPr>
        <p:spPr>
          <a:xfrm>
            <a:off x="6190488" y="1691640"/>
            <a:ext cx="5440680" cy="379476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920240"/>
            <a:ext cx="4846320" cy="365760"/>
          </a:xfrm>
          <a:prstGeom prst="rect">
            <a:avLst/>
          </a:prstGeom>
          <a:noFill/>
        </p:spPr>
        <p:txBody>
          <a:bodyPr wrap="square" lIns="0" tIns="0" rIns="0" bIns="0" anchor="t">
            <a:spAutoFit/>
          </a:bodyPr>
          <a:lstStyle/>
          <a:p>
            <a:pPr algn="l">
              <a:spcBef>
                <a:spcPts val="0"/>
              </a:spcBef>
              <a:spcAft>
                <a:spcPts val="0"/>
              </a:spcAft>
            </a:pPr>
            <a:r>
              <a:rPr sz="1650" b="1" i="0">
                <a:solidFill>
                  <a:srgbClr val="5A6B62"/>
                </a:solidFill>
                <a:latin typeface="Cambria" panose="02040503050406030204"/>
              </a:rPr>
              <a:t>Nice to Have — 5 tính năng mở rộng</a:t>
            </a:r>
            <a:endParaRPr sz="1650" b="1" i="0">
              <a:solidFill>
                <a:srgbClr val="5A6B62"/>
              </a:solidFill>
              <a:latin typeface="Cambria" panose="02040503050406030204"/>
            </a:endParaRPr>
          </a:p>
        </p:txBody>
      </p:sp>
      <p:sp>
        <p:nvSpPr>
          <p:cNvPr id="9" name="TextBox 8"/>
          <p:cNvSpPr txBox="1"/>
          <p:nvPr/>
        </p:nvSpPr>
        <p:spPr>
          <a:xfrm>
            <a:off x="6492240" y="2395728"/>
            <a:ext cx="4846320" cy="2926080"/>
          </a:xfrm>
          <a:prstGeom prst="rect">
            <a:avLst/>
          </a:prstGeom>
          <a:noFill/>
        </p:spPr>
        <p:txBody>
          <a:bodyPr wrap="square" lIns="0" tIns="0" rIns="0" bIns="0" anchor="t">
            <a:spAutoFit/>
          </a:bodyPr>
          <a:lstStyle/>
          <a:p>
            <a:pPr algn="l">
              <a:spcAft>
                <a:spcPts val="1200"/>
              </a:spcAft>
            </a:pPr>
            <a:r>
              <a:rPr sz="1400" b="1">
                <a:solidFill>
                  <a:srgbClr val="1F6F4F"/>
                </a:solidFill>
                <a:latin typeface="Calibri" panose="020F0502020204030204"/>
              </a:rPr>
              <a:t>B3 · </a:t>
            </a:r>
            <a:r>
              <a:rPr sz="1400" b="0">
                <a:solidFill>
                  <a:srgbClr val="5A6B62"/>
                </a:solidFill>
                <a:latin typeface="Calibri" panose="020F0502020204030204"/>
              </a:rPr>
              <a:t>Dashboard tồn kho theo lô</a:t>
            </a:r>
            <a:endParaRPr sz="1400" b="0">
              <a:solidFill>
                <a:srgbClr val="5A6B62"/>
              </a:solidFill>
              <a:latin typeface="Calibri" panose="020F0502020204030204"/>
            </a:endParaRPr>
          </a:p>
          <a:p>
            <a:pPr>
              <a:spcAft>
                <a:spcPts val="1200"/>
              </a:spcAft>
            </a:pPr>
            <a:r>
              <a:rPr sz="1400" b="1">
                <a:solidFill>
                  <a:srgbClr val="1F6F4F"/>
                </a:solidFill>
                <a:latin typeface="Calibri" panose="020F0502020204030204"/>
              </a:rPr>
              <a:t>C2 · </a:t>
            </a:r>
            <a:r>
              <a:rPr sz="1400" b="0">
                <a:solidFill>
                  <a:srgbClr val="5A6B62"/>
                </a:solidFill>
                <a:latin typeface="Calibri" panose="020F0502020204030204"/>
              </a:rPr>
              <a:t>Xác nhận giao hàng bằng ảnh chứng từ</a:t>
            </a:r>
            <a:endParaRPr sz="1400" b="0">
              <a:solidFill>
                <a:srgbClr val="5A6B62"/>
              </a:solidFill>
              <a:latin typeface="Calibri" panose="020F0502020204030204"/>
            </a:endParaRPr>
          </a:p>
          <a:p>
            <a:pPr>
              <a:spcAft>
                <a:spcPts val="1200"/>
              </a:spcAft>
            </a:pPr>
            <a:r>
              <a:rPr sz="1400" b="1">
                <a:solidFill>
                  <a:srgbClr val="1F6F4F"/>
                </a:solidFill>
                <a:latin typeface="Calibri" panose="020F0502020204030204"/>
              </a:rPr>
              <a:t>D1 · </a:t>
            </a:r>
            <a:r>
              <a:rPr sz="1400" b="0">
                <a:solidFill>
                  <a:srgbClr val="5A6B62"/>
                </a:solidFill>
                <a:latin typeface="Calibri" panose="020F0502020204030204"/>
              </a:rPr>
              <a:t>Promotion Engine xả hàng trên Redis</a:t>
            </a:r>
            <a:endParaRPr sz="1400" b="0">
              <a:solidFill>
                <a:srgbClr val="5A6B62"/>
              </a:solidFill>
              <a:latin typeface="Calibri" panose="020F0502020204030204"/>
            </a:endParaRPr>
          </a:p>
          <a:p>
            <a:pPr>
              <a:spcAft>
                <a:spcPts val="1200"/>
              </a:spcAft>
            </a:pPr>
            <a:r>
              <a:rPr sz="1400" b="1">
                <a:solidFill>
                  <a:srgbClr val="1F6F4F"/>
                </a:solidFill>
                <a:latin typeface="Calibri" panose="020F0502020204030204"/>
              </a:rPr>
              <a:t>A3 · </a:t>
            </a:r>
            <a:r>
              <a:rPr sz="1400" b="0">
                <a:solidFill>
                  <a:srgbClr val="5A6B62"/>
                </a:solidFill>
                <a:latin typeface="Calibri" panose="020F0502020204030204"/>
              </a:rPr>
              <a:t>AI dịch nhãn phụ bằng OCR và LLM</a:t>
            </a:r>
            <a:endParaRPr sz="1400" b="0">
              <a:solidFill>
                <a:srgbClr val="5A6B62"/>
              </a:solidFill>
              <a:latin typeface="Calibri" panose="020F0502020204030204"/>
            </a:endParaRPr>
          </a:p>
          <a:p>
            <a:pPr>
              <a:spcAft>
                <a:spcPts val="1200"/>
              </a:spcAft>
            </a:pPr>
            <a:r>
              <a:rPr sz="1400" b="1">
                <a:solidFill>
                  <a:srgbClr val="1F6F4F"/>
                </a:solidFill>
                <a:latin typeface="Calibri" panose="020F0502020204030204"/>
              </a:rPr>
              <a:t>C3 · </a:t>
            </a:r>
            <a:r>
              <a:rPr sz="1400" b="0">
                <a:solidFill>
                  <a:srgbClr val="5A6B62"/>
                </a:solidFill>
                <a:latin typeface="Calibri" panose="020F0502020204030204"/>
              </a:rPr>
              <a:t>AI chấm điểm trưng bày bằng Computer Vision</a:t>
            </a:r>
            <a:endParaRPr sz="1400" b="0">
              <a:solidFill>
                <a:srgbClr val="5A6B62"/>
              </a:solidFill>
              <a:latin typeface="Calibri" panose="020F0502020204030204"/>
            </a:endParaRPr>
          </a:p>
        </p:txBody>
      </p:sp>
      <p:sp>
        <p:nvSpPr>
          <p:cNvPr id="10" name="Rounded Rectangle 9"/>
          <p:cNvSpPr/>
          <p:nvPr/>
        </p:nvSpPr>
        <p:spPr>
          <a:xfrm>
            <a:off x="566928" y="5715000"/>
            <a:ext cx="11064240" cy="868680"/>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5888736"/>
            <a:ext cx="10424160" cy="548640"/>
          </a:xfrm>
          <a:prstGeom prst="rect">
            <a:avLst/>
          </a:prstGeom>
          <a:noFill/>
        </p:spPr>
        <p:txBody>
          <a:bodyPr wrap="square" lIns="0" tIns="0" rIns="0" bIns="0" anchor="t">
            <a:spAutoFit/>
          </a:bodyPr>
          <a:lstStyle/>
          <a:p>
            <a:pPr algn="l">
              <a:spcBef>
                <a:spcPts val="0"/>
              </a:spcBef>
              <a:spcAft>
                <a:spcPts val="0"/>
              </a:spcAft>
            </a:pPr>
            <a:r>
              <a:rPr sz="1450" b="1" i="0">
                <a:solidFill>
                  <a:srgbClr val="8A520B"/>
                </a:solidFill>
                <a:latin typeface="Calibri" panose="020F0502020204030204"/>
              </a:rPr>
              <a:t>Nguyên tắc: chỉ bắt tay vào Nice to Have khi toàn bộ Must Have đã đạt tiêu chí nghiệm thu. Thà ít tính năng mà chạy hoàn chỉnh.</a:t>
            </a:r>
            <a:endParaRPr sz="1450" b="1" i="0">
              <a:solidFill>
                <a:srgbClr val="8A520B"/>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Định nghĩa hoàn thành</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Mỗi tính năng bắt buộc đều có tiêu chí đo được</a:t>
            </a:r>
            <a:endParaRPr sz="3000" b="1" i="0">
              <a:solidFill>
                <a:srgbClr val="1C2B24"/>
              </a:solidFill>
              <a:latin typeface="Cambria" panose="02040503050406030204"/>
            </a:endParaRPr>
          </a:p>
        </p:txBody>
      </p:sp>
      <p:sp>
        <p:nvSpPr>
          <p:cNvPr id="4" name="Rounded Rectangle 3"/>
          <p:cNvSpPr/>
          <p:nvPr/>
        </p:nvSpPr>
        <p:spPr>
          <a:xfrm>
            <a:off x="566928" y="1691640"/>
            <a:ext cx="11064240" cy="786384"/>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41248" y="1856232"/>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panose="020F0502020204030204"/>
              </a:rPr>
              <a:t>A1</a:t>
            </a:r>
            <a:endParaRPr sz="1200" b="1">
              <a:solidFill>
                <a:srgbClr val="FFFFFF"/>
              </a:solidFill>
              <a:latin typeface="Calibri" panose="020F0502020204030204"/>
            </a:endParaRPr>
          </a:p>
        </p:txBody>
      </p:sp>
      <p:sp>
        <p:nvSpPr>
          <p:cNvPr id="6" name="TextBox 5"/>
          <p:cNvSpPr txBox="1"/>
          <p:nvPr/>
        </p:nvSpPr>
        <p:spPr>
          <a:xfrm>
            <a:off x="1481328" y="1920240"/>
            <a:ext cx="3200400" cy="365760"/>
          </a:xfrm>
          <a:prstGeom prst="rect">
            <a:avLst/>
          </a:prstGeom>
          <a:noFill/>
        </p:spPr>
        <p:txBody>
          <a:bodyPr wrap="square" lIns="0" tIns="0" rIns="0" bIns="0" anchor="t">
            <a:spAutoFit/>
          </a:bodyPr>
          <a:lstStyle/>
          <a:p>
            <a:pPr algn="l">
              <a:spcBef>
                <a:spcPts val="0"/>
              </a:spcBef>
              <a:spcAft>
                <a:spcPts val="0"/>
              </a:spcAft>
            </a:pPr>
            <a:r>
              <a:rPr sz="1450" b="1" i="0">
                <a:solidFill>
                  <a:srgbClr val="1C2B24"/>
                </a:solidFill>
                <a:latin typeface="Calibri" panose="020F0502020204030204"/>
              </a:rPr>
              <a:t>Duyệt phiếu nhập kho</a:t>
            </a:r>
            <a:endParaRPr sz="1450" b="1" i="0">
              <a:solidFill>
                <a:srgbClr val="1C2B24"/>
              </a:solidFill>
              <a:latin typeface="Calibri" panose="020F0502020204030204"/>
            </a:endParaRPr>
          </a:p>
        </p:txBody>
      </p:sp>
      <p:sp>
        <p:nvSpPr>
          <p:cNvPr id="7" name="TextBox 6"/>
          <p:cNvSpPr txBox="1"/>
          <p:nvPr/>
        </p:nvSpPr>
        <p:spPr>
          <a:xfrm>
            <a:off x="4892040" y="1929384"/>
            <a:ext cx="6400800" cy="45720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Bảng Master Inventory tăng đúng số lượng tương ứng với từng SKU</a:t>
            </a:r>
            <a:endParaRPr sz="1300" b="0" i="0">
              <a:solidFill>
                <a:srgbClr val="5A6B62"/>
              </a:solidFill>
              <a:latin typeface="Calibri" panose="020F0502020204030204"/>
            </a:endParaRPr>
          </a:p>
        </p:txBody>
      </p:sp>
      <p:sp>
        <p:nvSpPr>
          <p:cNvPr id="8" name="Rounded Rectangle 7"/>
          <p:cNvSpPr/>
          <p:nvPr/>
        </p:nvSpPr>
        <p:spPr>
          <a:xfrm>
            <a:off x="566928" y="2587752"/>
            <a:ext cx="11064240" cy="786384"/>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41248" y="275234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panose="020F0502020204030204"/>
              </a:rPr>
              <a:t>A2</a:t>
            </a:r>
            <a:endParaRPr sz="1200" b="1">
              <a:solidFill>
                <a:srgbClr val="FFFFFF"/>
              </a:solidFill>
              <a:latin typeface="Calibri" panose="020F0502020204030204"/>
            </a:endParaRPr>
          </a:p>
        </p:txBody>
      </p:sp>
      <p:sp>
        <p:nvSpPr>
          <p:cNvPr id="10" name="TextBox 9"/>
          <p:cNvSpPr txBox="1"/>
          <p:nvPr/>
        </p:nvSpPr>
        <p:spPr>
          <a:xfrm>
            <a:off x="1481328" y="2816352"/>
            <a:ext cx="3200400" cy="365760"/>
          </a:xfrm>
          <a:prstGeom prst="rect">
            <a:avLst/>
          </a:prstGeom>
          <a:noFill/>
        </p:spPr>
        <p:txBody>
          <a:bodyPr wrap="square" lIns="0" tIns="0" rIns="0" bIns="0" anchor="t">
            <a:spAutoFit/>
          </a:bodyPr>
          <a:lstStyle/>
          <a:p>
            <a:pPr algn="l">
              <a:spcBef>
                <a:spcPts val="0"/>
              </a:spcBef>
              <a:spcAft>
                <a:spcPts val="0"/>
              </a:spcAft>
            </a:pPr>
            <a:r>
              <a:rPr sz="1450" b="1" i="0">
                <a:solidFill>
                  <a:srgbClr val="1C2B24"/>
                </a:solidFill>
                <a:latin typeface="Calibri" panose="020F0502020204030204"/>
              </a:rPr>
              <a:t>Batch/Lot và Date-tracker</a:t>
            </a:r>
            <a:endParaRPr sz="1450" b="1" i="0">
              <a:solidFill>
                <a:srgbClr val="1C2B24"/>
              </a:solidFill>
              <a:latin typeface="Calibri" panose="020F0502020204030204"/>
            </a:endParaRPr>
          </a:p>
        </p:txBody>
      </p:sp>
      <p:sp>
        <p:nvSpPr>
          <p:cNvPr id="11" name="TextBox 10"/>
          <p:cNvSpPr txBox="1"/>
          <p:nvPr/>
        </p:nvSpPr>
        <p:spPr>
          <a:xfrm>
            <a:off x="4892040" y="2825496"/>
            <a:ext cx="6400800" cy="45720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Kịch bản kiểm thử giả lập quá hạn sử dụng phải tự chuyển lô sang trạng thái Khóa</a:t>
            </a:r>
            <a:endParaRPr sz="1300" b="0" i="0">
              <a:solidFill>
                <a:srgbClr val="5A6B62"/>
              </a:solidFill>
              <a:latin typeface="Calibri" panose="020F0502020204030204"/>
            </a:endParaRPr>
          </a:p>
        </p:txBody>
      </p:sp>
      <p:sp>
        <p:nvSpPr>
          <p:cNvPr id="12" name="Rounded Rectangle 11"/>
          <p:cNvSpPr/>
          <p:nvPr/>
        </p:nvSpPr>
        <p:spPr>
          <a:xfrm>
            <a:off x="566928" y="3483864"/>
            <a:ext cx="11064240" cy="786384"/>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41248" y="3648456"/>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panose="020F0502020204030204"/>
              </a:rPr>
              <a:t>B1</a:t>
            </a:r>
            <a:endParaRPr sz="1200" b="1">
              <a:solidFill>
                <a:srgbClr val="FFFFFF"/>
              </a:solidFill>
              <a:latin typeface="Calibri" panose="020F0502020204030204"/>
            </a:endParaRPr>
          </a:p>
        </p:txBody>
      </p:sp>
      <p:sp>
        <p:nvSpPr>
          <p:cNvPr id="14" name="TextBox 13"/>
          <p:cNvSpPr txBox="1"/>
          <p:nvPr/>
        </p:nvSpPr>
        <p:spPr>
          <a:xfrm>
            <a:off x="1481328" y="3712464"/>
            <a:ext cx="3200400" cy="365760"/>
          </a:xfrm>
          <a:prstGeom prst="rect">
            <a:avLst/>
          </a:prstGeom>
          <a:noFill/>
        </p:spPr>
        <p:txBody>
          <a:bodyPr wrap="square" lIns="0" tIns="0" rIns="0" bIns="0" anchor="t">
            <a:spAutoFit/>
          </a:bodyPr>
          <a:lstStyle/>
          <a:p>
            <a:pPr algn="l">
              <a:spcBef>
                <a:spcPts val="0"/>
              </a:spcBef>
              <a:spcAft>
                <a:spcPts val="0"/>
              </a:spcAft>
            </a:pPr>
            <a:r>
              <a:rPr sz="1450" b="1" i="0">
                <a:solidFill>
                  <a:srgbClr val="1C2B24"/>
                </a:solidFill>
                <a:latin typeface="Calibri" panose="020F0502020204030204"/>
              </a:rPr>
              <a:t>Vòng đời đơn hàng</a:t>
            </a:r>
            <a:endParaRPr sz="1450" b="1" i="0">
              <a:solidFill>
                <a:srgbClr val="1C2B24"/>
              </a:solidFill>
              <a:latin typeface="Calibri" panose="020F0502020204030204"/>
            </a:endParaRPr>
          </a:p>
        </p:txBody>
      </p:sp>
      <p:sp>
        <p:nvSpPr>
          <p:cNvPr id="15" name="TextBox 14"/>
          <p:cNvSpPr txBox="1"/>
          <p:nvPr/>
        </p:nvSpPr>
        <p:spPr>
          <a:xfrm>
            <a:off x="4892040" y="3721608"/>
            <a:ext cx="6400800" cy="45720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Mọi chuyển trạng thái đều lưu vết người thao tác và thời điểm</a:t>
            </a:r>
            <a:endParaRPr sz="1300" b="0" i="0">
              <a:solidFill>
                <a:srgbClr val="5A6B62"/>
              </a:solidFill>
              <a:latin typeface="Calibri" panose="020F0502020204030204"/>
            </a:endParaRPr>
          </a:p>
        </p:txBody>
      </p:sp>
      <p:sp>
        <p:nvSpPr>
          <p:cNvPr id="16" name="Rounded Rectangle 15"/>
          <p:cNvSpPr/>
          <p:nvPr/>
        </p:nvSpPr>
        <p:spPr>
          <a:xfrm>
            <a:off x="566928" y="4379976"/>
            <a:ext cx="11064240" cy="786384"/>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41248" y="4544568"/>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panose="020F0502020204030204"/>
              </a:rPr>
              <a:t>B2</a:t>
            </a:r>
            <a:endParaRPr sz="1200" b="1">
              <a:solidFill>
                <a:srgbClr val="FFFFFF"/>
              </a:solidFill>
              <a:latin typeface="Calibri" panose="020F0502020204030204"/>
            </a:endParaRPr>
          </a:p>
        </p:txBody>
      </p:sp>
      <p:sp>
        <p:nvSpPr>
          <p:cNvPr id="18" name="TextBox 17"/>
          <p:cNvSpPr txBox="1"/>
          <p:nvPr/>
        </p:nvSpPr>
        <p:spPr>
          <a:xfrm>
            <a:off x="1481328" y="4608576"/>
            <a:ext cx="3200400" cy="365760"/>
          </a:xfrm>
          <a:prstGeom prst="rect">
            <a:avLst/>
          </a:prstGeom>
          <a:noFill/>
        </p:spPr>
        <p:txBody>
          <a:bodyPr wrap="square" lIns="0" tIns="0" rIns="0" bIns="0" anchor="t">
            <a:spAutoFit/>
          </a:bodyPr>
          <a:lstStyle/>
          <a:p>
            <a:pPr algn="l">
              <a:spcBef>
                <a:spcPts val="0"/>
              </a:spcBef>
              <a:spcAft>
                <a:spcPts val="0"/>
              </a:spcAft>
            </a:pPr>
            <a:r>
              <a:rPr sz="1450" b="1" i="0">
                <a:solidFill>
                  <a:srgbClr val="1C2B24"/>
                </a:solidFill>
                <a:latin typeface="Calibri" panose="020F0502020204030204"/>
              </a:rPr>
              <a:t>FEFO và tương tranh</a:t>
            </a:r>
            <a:endParaRPr sz="1450" b="1" i="0">
              <a:solidFill>
                <a:srgbClr val="1C2B24"/>
              </a:solidFill>
              <a:latin typeface="Calibri" panose="020F0502020204030204"/>
            </a:endParaRPr>
          </a:p>
        </p:txBody>
      </p:sp>
      <p:sp>
        <p:nvSpPr>
          <p:cNvPr id="19" name="TextBox 18"/>
          <p:cNvSpPr txBox="1"/>
          <p:nvPr/>
        </p:nvSpPr>
        <p:spPr>
          <a:xfrm>
            <a:off x="4892040" y="4617720"/>
            <a:ext cx="6400800" cy="45720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2 request đồng thời vào một lô: 1 thành công, 1 tự fallback, không âm kho</a:t>
            </a:r>
            <a:endParaRPr sz="1300" b="0" i="0">
              <a:solidFill>
                <a:srgbClr val="5A6B62"/>
              </a:solidFill>
              <a:latin typeface="Calibri" panose="020F0502020204030204"/>
            </a:endParaRPr>
          </a:p>
        </p:txBody>
      </p:sp>
      <p:sp>
        <p:nvSpPr>
          <p:cNvPr id="20" name="Rounded Rectangle 19"/>
          <p:cNvSpPr/>
          <p:nvPr/>
        </p:nvSpPr>
        <p:spPr>
          <a:xfrm>
            <a:off x="566928" y="5276088"/>
            <a:ext cx="11064240" cy="786384"/>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248" y="5440679"/>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panose="020F0502020204030204"/>
              </a:rPr>
              <a:t>C1</a:t>
            </a:r>
            <a:endParaRPr sz="1200" b="1">
              <a:solidFill>
                <a:srgbClr val="FFFFFF"/>
              </a:solidFill>
              <a:latin typeface="Calibri" panose="020F0502020204030204"/>
            </a:endParaRPr>
          </a:p>
        </p:txBody>
      </p:sp>
      <p:sp>
        <p:nvSpPr>
          <p:cNvPr id="22" name="TextBox 21"/>
          <p:cNvSpPr txBox="1"/>
          <p:nvPr/>
        </p:nvSpPr>
        <p:spPr>
          <a:xfrm>
            <a:off x="1481328" y="5504688"/>
            <a:ext cx="3200400" cy="365760"/>
          </a:xfrm>
          <a:prstGeom prst="rect">
            <a:avLst/>
          </a:prstGeom>
          <a:noFill/>
        </p:spPr>
        <p:txBody>
          <a:bodyPr wrap="square" lIns="0" tIns="0" rIns="0" bIns="0" anchor="t">
            <a:spAutoFit/>
          </a:bodyPr>
          <a:lstStyle/>
          <a:p>
            <a:pPr algn="l">
              <a:spcBef>
                <a:spcPts val="0"/>
              </a:spcBef>
              <a:spcAft>
                <a:spcPts val="0"/>
              </a:spcAft>
            </a:pPr>
            <a:r>
              <a:rPr sz="1450" b="1" i="0">
                <a:solidFill>
                  <a:srgbClr val="1C2B24"/>
                </a:solidFill>
                <a:latin typeface="Calibri" panose="020F0502020204030204"/>
              </a:rPr>
              <a:t>Lên đơn Mobile offline</a:t>
            </a:r>
            <a:endParaRPr sz="1450" b="1" i="0">
              <a:solidFill>
                <a:srgbClr val="1C2B24"/>
              </a:solidFill>
              <a:latin typeface="Calibri" panose="020F0502020204030204"/>
            </a:endParaRPr>
          </a:p>
        </p:txBody>
      </p:sp>
      <p:sp>
        <p:nvSpPr>
          <p:cNvPr id="23" name="TextBox 22"/>
          <p:cNvSpPr txBox="1"/>
          <p:nvPr/>
        </p:nvSpPr>
        <p:spPr>
          <a:xfrm>
            <a:off x="4892040" y="5513831"/>
            <a:ext cx="6400800" cy="457200"/>
          </a:xfrm>
          <a:prstGeom prst="rect">
            <a:avLst/>
          </a:prstGeom>
          <a:noFill/>
        </p:spPr>
        <p:txBody>
          <a:bodyPr wrap="square" lIns="0" tIns="0" rIns="0" bIns="0" anchor="t">
            <a:spAutoFit/>
          </a:bodyPr>
          <a:lstStyle/>
          <a:p>
            <a:pPr algn="l">
              <a:spcBef>
                <a:spcPts val="0"/>
              </a:spcBef>
              <a:spcAft>
                <a:spcPts val="0"/>
              </a:spcAft>
            </a:pPr>
            <a:r>
              <a:rPr sz="1300" b="0" i="0">
                <a:solidFill>
                  <a:srgbClr val="5A6B62"/>
                </a:solidFill>
                <a:latin typeface="Calibri" panose="020F0502020204030204"/>
              </a:rPr>
              <a:t>Mất mạng lưu vào sqflite, có mạng Background Worker tự đồng bộ hàng đợi</a:t>
            </a:r>
            <a:endParaRPr sz="1300" b="0" i="0">
              <a:solidFill>
                <a:srgbClr val="5A6B62"/>
              </a:solidFill>
              <a:latin typeface="Calibri" panose="020F0502020204030204"/>
            </a:endParaRPr>
          </a:p>
        </p:txBody>
      </p:sp>
      <p:sp>
        <p:nvSpPr>
          <p:cNvPr id="24" name="TextBox 23"/>
          <p:cNvSpPr txBox="1"/>
          <p:nvPr/>
        </p:nvSpPr>
        <p:spPr>
          <a:xfrm>
            <a:off x="566928" y="6291072"/>
            <a:ext cx="11064240" cy="457200"/>
          </a:xfrm>
          <a:prstGeom prst="rect">
            <a:avLst/>
          </a:prstGeom>
          <a:noFill/>
        </p:spPr>
        <p:txBody>
          <a:bodyPr wrap="square" lIns="0" tIns="0" rIns="0" bIns="0" anchor="t">
            <a:spAutoFit/>
          </a:bodyPr>
          <a:lstStyle/>
          <a:p>
            <a:pPr algn="l">
              <a:spcBef>
                <a:spcPts val="0"/>
              </a:spcBef>
              <a:spcAft>
                <a:spcPts val="0"/>
              </a:spcAft>
            </a:pPr>
            <a:r>
              <a:rPr sz="1400" b="1" i="0">
                <a:solidFill>
                  <a:srgbClr val="1F6F4F"/>
                </a:solidFill>
                <a:latin typeface="Calibri" panose="020F0502020204030204"/>
              </a:rPr>
              <a:t>Không có tiêu chí nào là cảm tính. Mỗi dòng đều kiểm chứng được bằng một test case cụ thể.</a:t>
            </a:r>
            <a:endParaRPr sz="1400" b="1" i="0">
              <a:solidFill>
                <a:srgbClr val="1F6F4F"/>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Nhân sự</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Phân công theo năng lực và theo module</a:t>
            </a:r>
            <a:endParaRPr sz="3000" b="1" i="0">
              <a:solidFill>
                <a:srgbClr val="1C2B24"/>
              </a:solidFill>
              <a:latin typeface="Cambria" panose="02040503050406030204"/>
            </a:endParaRPr>
          </a:p>
        </p:txBody>
      </p:sp>
      <p:sp>
        <p:nvSpPr>
          <p:cNvPr id="4" name="Rounded Rectangle 3"/>
          <p:cNvSpPr/>
          <p:nvPr/>
        </p:nvSpPr>
        <p:spPr>
          <a:xfrm>
            <a:off x="566928" y="1664208"/>
            <a:ext cx="11064240" cy="768096"/>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1819656"/>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N</a:t>
            </a:r>
            <a:endParaRPr sz="1500" b="1">
              <a:solidFill>
                <a:srgbClr val="FFFFFF"/>
              </a:solidFill>
              <a:latin typeface="Calibri" panose="020F0502020204030204"/>
            </a:endParaRPr>
          </a:p>
        </p:txBody>
      </p:sp>
      <p:sp>
        <p:nvSpPr>
          <p:cNvPr id="6" name="TextBox 5"/>
          <p:cNvSpPr txBox="1"/>
          <p:nvPr/>
        </p:nvSpPr>
        <p:spPr>
          <a:xfrm>
            <a:off x="1444752" y="1883664"/>
            <a:ext cx="1371600" cy="365760"/>
          </a:xfrm>
          <a:prstGeom prst="rect">
            <a:avLst/>
          </a:prstGeom>
          <a:noFill/>
        </p:spPr>
        <p:txBody>
          <a:bodyPr wrap="square" lIns="0" tIns="0" rIns="0" bIns="0" anchor="t">
            <a:spAutoFit/>
          </a:bodyPr>
          <a:lstStyle/>
          <a:p>
            <a:pPr algn="l">
              <a:spcBef>
                <a:spcPts val="0"/>
              </a:spcBef>
              <a:spcAft>
                <a:spcPts val="0"/>
              </a:spcAft>
            </a:pPr>
            <a:r>
              <a:rPr sz="1500" b="1" i="0">
                <a:solidFill>
                  <a:srgbClr val="1C2B24"/>
                </a:solidFill>
                <a:latin typeface="Calibri" panose="020F0502020204030204"/>
              </a:rPr>
              <a:t>Nhân</a:t>
            </a:r>
            <a:endParaRPr sz="1500" b="1" i="0">
              <a:solidFill>
                <a:srgbClr val="1C2B24"/>
              </a:solidFill>
              <a:latin typeface="Calibri" panose="020F0502020204030204"/>
            </a:endParaRPr>
          </a:p>
        </p:txBody>
      </p:sp>
      <p:sp>
        <p:nvSpPr>
          <p:cNvPr id="7" name="TextBox 6"/>
          <p:cNvSpPr txBox="1"/>
          <p:nvPr/>
        </p:nvSpPr>
        <p:spPr>
          <a:xfrm>
            <a:off x="2834640" y="1892808"/>
            <a:ext cx="2651760" cy="365760"/>
          </a:xfrm>
          <a:prstGeom prst="rect">
            <a:avLst/>
          </a:prstGeom>
          <a:noFill/>
        </p:spPr>
        <p:txBody>
          <a:bodyPr wrap="square" lIns="0" tIns="0" rIns="0" bIns="0" anchor="t">
            <a:spAutoFit/>
          </a:bodyPr>
          <a:lstStyle/>
          <a:p>
            <a:pPr algn="l">
              <a:spcBef>
                <a:spcPts val="0"/>
              </a:spcBef>
              <a:spcAft>
                <a:spcPts val="0"/>
              </a:spcAft>
            </a:pPr>
            <a:r>
              <a:rPr sz="1300" b="1" i="0">
                <a:solidFill>
                  <a:srgbClr val="1F6F4F"/>
                </a:solidFill>
                <a:latin typeface="Calibri" panose="020F0502020204030204"/>
              </a:rPr>
              <a:t>Backend Core · .NET</a:t>
            </a:r>
            <a:endParaRPr sz="1300" b="1" i="0">
              <a:solidFill>
                <a:srgbClr val="1F6F4F"/>
              </a:solidFill>
              <a:latin typeface="Calibri" panose="020F0502020204030204"/>
            </a:endParaRPr>
          </a:p>
        </p:txBody>
      </p:sp>
      <p:sp>
        <p:nvSpPr>
          <p:cNvPr id="8" name="TextBox 7"/>
          <p:cNvSpPr txBox="1"/>
          <p:nvPr/>
        </p:nvSpPr>
        <p:spPr>
          <a:xfrm>
            <a:off x="5669280" y="1892808"/>
            <a:ext cx="5669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Thiết kế database Azure SQL, API kho, thuật toán FEFO, xử lý tương tranh bằng EF Core</a:t>
            </a:r>
            <a:endParaRPr sz="1250" b="0" i="0">
              <a:solidFill>
                <a:srgbClr val="5A6B62"/>
              </a:solidFill>
              <a:latin typeface="Calibri" panose="020F0502020204030204"/>
            </a:endParaRPr>
          </a:p>
        </p:txBody>
      </p:sp>
      <p:sp>
        <p:nvSpPr>
          <p:cNvPr id="9" name="Rounded Rectangle 8"/>
          <p:cNvSpPr/>
          <p:nvPr/>
        </p:nvSpPr>
        <p:spPr>
          <a:xfrm>
            <a:off x="566928" y="2542032"/>
            <a:ext cx="11064240" cy="768096"/>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697480"/>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K</a:t>
            </a:r>
            <a:endParaRPr sz="1500" b="1">
              <a:solidFill>
                <a:srgbClr val="FFFFFF"/>
              </a:solidFill>
              <a:latin typeface="Calibri" panose="020F0502020204030204"/>
            </a:endParaRPr>
          </a:p>
        </p:txBody>
      </p:sp>
      <p:sp>
        <p:nvSpPr>
          <p:cNvPr id="11" name="TextBox 10"/>
          <p:cNvSpPr txBox="1"/>
          <p:nvPr/>
        </p:nvSpPr>
        <p:spPr>
          <a:xfrm>
            <a:off x="1444752" y="2761488"/>
            <a:ext cx="1371600" cy="365760"/>
          </a:xfrm>
          <a:prstGeom prst="rect">
            <a:avLst/>
          </a:prstGeom>
          <a:noFill/>
        </p:spPr>
        <p:txBody>
          <a:bodyPr wrap="square" lIns="0" tIns="0" rIns="0" bIns="0" anchor="t">
            <a:spAutoFit/>
          </a:bodyPr>
          <a:lstStyle/>
          <a:p>
            <a:pPr algn="l">
              <a:spcBef>
                <a:spcPts val="0"/>
              </a:spcBef>
              <a:spcAft>
                <a:spcPts val="0"/>
              </a:spcAft>
            </a:pPr>
            <a:r>
              <a:rPr sz="1500" b="1" i="0">
                <a:solidFill>
                  <a:srgbClr val="1C2B24"/>
                </a:solidFill>
                <a:latin typeface="Calibri" panose="020F0502020204030204"/>
              </a:rPr>
              <a:t>Khiết</a:t>
            </a:r>
            <a:endParaRPr sz="1500" b="1" i="0">
              <a:solidFill>
                <a:srgbClr val="1C2B24"/>
              </a:solidFill>
              <a:latin typeface="Calibri" panose="020F0502020204030204"/>
            </a:endParaRPr>
          </a:p>
        </p:txBody>
      </p:sp>
      <p:sp>
        <p:nvSpPr>
          <p:cNvPr id="12" name="TextBox 11"/>
          <p:cNvSpPr txBox="1"/>
          <p:nvPr/>
        </p:nvSpPr>
        <p:spPr>
          <a:xfrm>
            <a:off x="2834640" y="2770632"/>
            <a:ext cx="2651760" cy="365760"/>
          </a:xfrm>
          <a:prstGeom prst="rect">
            <a:avLst/>
          </a:prstGeom>
          <a:noFill/>
        </p:spPr>
        <p:txBody>
          <a:bodyPr wrap="square" lIns="0" tIns="0" rIns="0" bIns="0" anchor="t">
            <a:spAutoFit/>
          </a:bodyPr>
          <a:lstStyle/>
          <a:p>
            <a:pPr algn="l">
              <a:spcBef>
                <a:spcPts val="0"/>
              </a:spcBef>
              <a:spcAft>
                <a:spcPts val="0"/>
              </a:spcAft>
            </a:pPr>
            <a:r>
              <a:rPr sz="1300" b="1" i="0">
                <a:solidFill>
                  <a:srgbClr val="1F6F4F"/>
                </a:solidFill>
                <a:latin typeface="Calibri" panose="020F0502020204030204"/>
              </a:rPr>
              <a:t>Backend Integration · .NET</a:t>
            </a:r>
            <a:endParaRPr sz="1300" b="1" i="0">
              <a:solidFill>
                <a:srgbClr val="1F6F4F"/>
              </a:solidFill>
              <a:latin typeface="Calibri" panose="020F0502020204030204"/>
            </a:endParaRPr>
          </a:p>
        </p:txBody>
      </p:sp>
      <p:sp>
        <p:nvSpPr>
          <p:cNvPr id="13" name="TextBox 12"/>
          <p:cNvSpPr txBox="1"/>
          <p:nvPr/>
        </p:nvSpPr>
        <p:spPr>
          <a:xfrm>
            <a:off x="5669280" y="2770632"/>
            <a:ext cx="5669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Rule Engine tích hợp Redis, module PIM, API vòng đời đơn hàng</a:t>
            </a:r>
            <a:endParaRPr sz="1250" b="0" i="0">
              <a:solidFill>
                <a:srgbClr val="5A6B62"/>
              </a:solidFill>
              <a:latin typeface="Calibri" panose="020F0502020204030204"/>
            </a:endParaRPr>
          </a:p>
        </p:txBody>
      </p:sp>
      <p:sp>
        <p:nvSpPr>
          <p:cNvPr id="14" name="Rounded Rectangle 13"/>
          <p:cNvSpPr/>
          <p:nvPr/>
        </p:nvSpPr>
        <p:spPr>
          <a:xfrm>
            <a:off x="566928" y="3419856"/>
            <a:ext cx="11064240" cy="768096"/>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 y="3575304"/>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H</a:t>
            </a:r>
            <a:endParaRPr sz="1500" b="1">
              <a:solidFill>
                <a:srgbClr val="FFFFFF"/>
              </a:solidFill>
              <a:latin typeface="Calibri" panose="020F0502020204030204"/>
            </a:endParaRPr>
          </a:p>
        </p:txBody>
      </p:sp>
      <p:sp>
        <p:nvSpPr>
          <p:cNvPr id="16" name="TextBox 15"/>
          <p:cNvSpPr txBox="1"/>
          <p:nvPr/>
        </p:nvSpPr>
        <p:spPr>
          <a:xfrm>
            <a:off x="1444752" y="3639312"/>
            <a:ext cx="1371600" cy="365760"/>
          </a:xfrm>
          <a:prstGeom prst="rect">
            <a:avLst/>
          </a:prstGeom>
          <a:noFill/>
        </p:spPr>
        <p:txBody>
          <a:bodyPr wrap="square" lIns="0" tIns="0" rIns="0" bIns="0" anchor="t">
            <a:spAutoFit/>
          </a:bodyPr>
          <a:lstStyle/>
          <a:p>
            <a:pPr algn="l">
              <a:spcBef>
                <a:spcPts val="0"/>
              </a:spcBef>
              <a:spcAft>
                <a:spcPts val="0"/>
              </a:spcAft>
            </a:pPr>
            <a:r>
              <a:rPr sz="1500" b="1" i="0">
                <a:solidFill>
                  <a:srgbClr val="1C2B24"/>
                </a:solidFill>
                <a:latin typeface="Calibri" panose="020F0502020204030204"/>
              </a:rPr>
              <a:t>Hải</a:t>
            </a:r>
            <a:endParaRPr sz="1500" b="1" i="0">
              <a:solidFill>
                <a:srgbClr val="1C2B24"/>
              </a:solidFill>
              <a:latin typeface="Calibri" panose="020F0502020204030204"/>
            </a:endParaRPr>
          </a:p>
        </p:txBody>
      </p:sp>
      <p:sp>
        <p:nvSpPr>
          <p:cNvPr id="17" name="TextBox 16"/>
          <p:cNvSpPr txBox="1"/>
          <p:nvPr/>
        </p:nvSpPr>
        <p:spPr>
          <a:xfrm>
            <a:off x="2834640" y="3648456"/>
            <a:ext cx="2651760" cy="365760"/>
          </a:xfrm>
          <a:prstGeom prst="rect">
            <a:avLst/>
          </a:prstGeom>
          <a:noFill/>
        </p:spPr>
        <p:txBody>
          <a:bodyPr wrap="square" lIns="0" tIns="0" rIns="0" bIns="0" anchor="t">
            <a:spAutoFit/>
          </a:bodyPr>
          <a:lstStyle/>
          <a:p>
            <a:pPr algn="l">
              <a:spcBef>
                <a:spcPts val="0"/>
              </a:spcBef>
              <a:spcAft>
                <a:spcPts val="0"/>
              </a:spcAft>
            </a:pPr>
            <a:r>
              <a:rPr sz="1300" b="1" i="0">
                <a:solidFill>
                  <a:srgbClr val="1F6F4F"/>
                </a:solidFill>
                <a:latin typeface="Calibri" panose="020F0502020204030204"/>
              </a:rPr>
              <a:t>Backend + Admin Portal</a:t>
            </a:r>
            <a:endParaRPr sz="1300" b="1" i="0">
              <a:solidFill>
                <a:srgbClr val="1F6F4F"/>
              </a:solidFill>
              <a:latin typeface="Calibri" panose="020F0502020204030204"/>
            </a:endParaRPr>
          </a:p>
        </p:txBody>
      </p:sp>
      <p:sp>
        <p:nvSpPr>
          <p:cNvPr id="18" name="TextBox 17"/>
          <p:cNvSpPr txBox="1"/>
          <p:nvPr/>
        </p:nvSpPr>
        <p:spPr>
          <a:xfrm>
            <a:off x="5669280" y="3648456"/>
            <a:ext cx="5669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Hỗ trợ viết API và gánh vác chính mảng Web Frontend</a:t>
            </a:r>
            <a:endParaRPr sz="1250" b="0" i="0">
              <a:solidFill>
                <a:srgbClr val="5A6B62"/>
              </a:solidFill>
              <a:latin typeface="Calibri" panose="020F0502020204030204"/>
            </a:endParaRPr>
          </a:p>
        </p:txBody>
      </p:sp>
      <p:sp>
        <p:nvSpPr>
          <p:cNvPr id="19" name="Rounded Rectangle 18"/>
          <p:cNvSpPr/>
          <p:nvPr/>
        </p:nvSpPr>
        <p:spPr>
          <a:xfrm>
            <a:off x="566928" y="4297680"/>
            <a:ext cx="11064240" cy="768096"/>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4453128"/>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H</a:t>
            </a:r>
            <a:endParaRPr sz="1500" b="1">
              <a:solidFill>
                <a:srgbClr val="FFFFFF"/>
              </a:solidFill>
              <a:latin typeface="Calibri" panose="020F0502020204030204"/>
            </a:endParaRPr>
          </a:p>
        </p:txBody>
      </p:sp>
      <p:sp>
        <p:nvSpPr>
          <p:cNvPr id="21" name="TextBox 20"/>
          <p:cNvSpPr txBox="1"/>
          <p:nvPr/>
        </p:nvSpPr>
        <p:spPr>
          <a:xfrm>
            <a:off x="1444752" y="4517136"/>
            <a:ext cx="1371600" cy="365760"/>
          </a:xfrm>
          <a:prstGeom prst="rect">
            <a:avLst/>
          </a:prstGeom>
          <a:noFill/>
        </p:spPr>
        <p:txBody>
          <a:bodyPr wrap="square" lIns="0" tIns="0" rIns="0" bIns="0" anchor="t">
            <a:spAutoFit/>
          </a:bodyPr>
          <a:lstStyle/>
          <a:p>
            <a:pPr algn="l">
              <a:spcBef>
                <a:spcPts val="0"/>
              </a:spcBef>
              <a:spcAft>
                <a:spcPts val="0"/>
              </a:spcAft>
            </a:pPr>
            <a:r>
              <a:rPr sz="1500" b="1" i="0">
                <a:solidFill>
                  <a:srgbClr val="1C2B24"/>
                </a:solidFill>
                <a:latin typeface="Calibri" panose="020F0502020204030204"/>
              </a:rPr>
              <a:t>Hoàng</a:t>
            </a:r>
            <a:endParaRPr sz="1500" b="1" i="0">
              <a:solidFill>
                <a:srgbClr val="1C2B24"/>
              </a:solidFill>
              <a:latin typeface="Calibri" panose="020F0502020204030204"/>
            </a:endParaRPr>
          </a:p>
        </p:txBody>
      </p:sp>
      <p:sp>
        <p:nvSpPr>
          <p:cNvPr id="22" name="TextBox 21"/>
          <p:cNvSpPr txBox="1"/>
          <p:nvPr/>
        </p:nvSpPr>
        <p:spPr>
          <a:xfrm>
            <a:off x="2834640" y="4526280"/>
            <a:ext cx="2651760" cy="365760"/>
          </a:xfrm>
          <a:prstGeom prst="rect">
            <a:avLst/>
          </a:prstGeom>
          <a:noFill/>
        </p:spPr>
        <p:txBody>
          <a:bodyPr wrap="square" lIns="0" tIns="0" rIns="0" bIns="0" anchor="t">
            <a:spAutoFit/>
          </a:bodyPr>
          <a:lstStyle/>
          <a:p>
            <a:pPr algn="l">
              <a:spcBef>
                <a:spcPts val="0"/>
              </a:spcBef>
              <a:spcAft>
                <a:spcPts val="0"/>
              </a:spcAft>
            </a:pPr>
            <a:r>
              <a:rPr sz="1300" b="1" i="0">
                <a:solidFill>
                  <a:srgbClr val="1F6F4F"/>
                </a:solidFill>
                <a:latin typeface="Calibri" panose="020F0502020204030204"/>
              </a:rPr>
              <a:t>Mobile App · Flutter</a:t>
            </a:r>
            <a:endParaRPr sz="1300" b="1" i="0">
              <a:solidFill>
                <a:srgbClr val="1F6F4F"/>
              </a:solidFill>
              <a:latin typeface="Calibri" panose="020F0502020204030204"/>
            </a:endParaRPr>
          </a:p>
        </p:txBody>
      </p:sp>
      <p:sp>
        <p:nvSpPr>
          <p:cNvPr id="23" name="TextBox 22"/>
          <p:cNvSpPr txBox="1"/>
          <p:nvPr/>
        </p:nvSpPr>
        <p:spPr>
          <a:xfrm>
            <a:off x="5669280" y="4526280"/>
            <a:ext cx="5669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Giao diện Mobile, luồng tạo đơn hàng, tính năng xác nhận giao hàng</a:t>
            </a:r>
            <a:endParaRPr sz="1250" b="0" i="0">
              <a:solidFill>
                <a:srgbClr val="5A6B62"/>
              </a:solidFill>
              <a:latin typeface="Calibri" panose="020F0502020204030204"/>
            </a:endParaRPr>
          </a:p>
        </p:txBody>
      </p:sp>
      <p:sp>
        <p:nvSpPr>
          <p:cNvPr id="24" name="Rounded Rectangle 23"/>
          <p:cNvSpPr/>
          <p:nvPr/>
        </p:nvSpPr>
        <p:spPr>
          <a:xfrm>
            <a:off x="566928" y="5175504"/>
            <a:ext cx="11064240" cy="768096"/>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22960" y="5330952"/>
            <a:ext cx="457200" cy="457200"/>
          </a:xfrm>
          <a:prstGeom prst="ellipse">
            <a:avLst/>
          </a:prstGeom>
          <a:solidFill>
            <a:srgbClr val="1F6F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alibri" panose="020F0502020204030204"/>
              </a:rPr>
              <a:t>S</a:t>
            </a:r>
            <a:endParaRPr sz="1500" b="1">
              <a:solidFill>
                <a:srgbClr val="FFFFFF"/>
              </a:solidFill>
              <a:latin typeface="Calibri" panose="020F0502020204030204"/>
            </a:endParaRPr>
          </a:p>
        </p:txBody>
      </p:sp>
      <p:sp>
        <p:nvSpPr>
          <p:cNvPr id="26" name="TextBox 25"/>
          <p:cNvSpPr txBox="1"/>
          <p:nvPr/>
        </p:nvSpPr>
        <p:spPr>
          <a:xfrm>
            <a:off x="1444752" y="5394960"/>
            <a:ext cx="1371600" cy="365760"/>
          </a:xfrm>
          <a:prstGeom prst="rect">
            <a:avLst/>
          </a:prstGeom>
          <a:noFill/>
        </p:spPr>
        <p:txBody>
          <a:bodyPr wrap="square" lIns="0" tIns="0" rIns="0" bIns="0" anchor="t">
            <a:spAutoFit/>
          </a:bodyPr>
          <a:lstStyle/>
          <a:p>
            <a:pPr algn="l">
              <a:spcBef>
                <a:spcPts val="0"/>
              </a:spcBef>
              <a:spcAft>
                <a:spcPts val="0"/>
              </a:spcAft>
            </a:pPr>
            <a:r>
              <a:rPr sz="1500" b="1" i="0">
                <a:solidFill>
                  <a:srgbClr val="1C2B24"/>
                </a:solidFill>
                <a:latin typeface="Calibri" panose="020F0502020204030204"/>
              </a:rPr>
              <a:t>Sơn</a:t>
            </a:r>
            <a:endParaRPr sz="1500" b="1" i="0">
              <a:solidFill>
                <a:srgbClr val="1C2B24"/>
              </a:solidFill>
              <a:latin typeface="Calibri" panose="020F0502020204030204"/>
            </a:endParaRPr>
          </a:p>
        </p:txBody>
      </p:sp>
      <p:sp>
        <p:nvSpPr>
          <p:cNvPr id="27" name="TextBox 26"/>
          <p:cNvSpPr txBox="1"/>
          <p:nvPr/>
        </p:nvSpPr>
        <p:spPr>
          <a:xfrm>
            <a:off x="2834640" y="5404104"/>
            <a:ext cx="2651760" cy="365760"/>
          </a:xfrm>
          <a:prstGeom prst="rect">
            <a:avLst/>
          </a:prstGeom>
          <a:noFill/>
        </p:spPr>
        <p:txBody>
          <a:bodyPr wrap="square" lIns="0" tIns="0" rIns="0" bIns="0" anchor="t">
            <a:spAutoFit/>
          </a:bodyPr>
          <a:lstStyle/>
          <a:p>
            <a:pPr algn="l">
              <a:spcBef>
                <a:spcPts val="0"/>
              </a:spcBef>
              <a:spcAft>
                <a:spcPts val="0"/>
              </a:spcAft>
            </a:pPr>
            <a:r>
              <a:rPr sz="1300" b="1" i="0">
                <a:solidFill>
                  <a:srgbClr val="1F6F4F"/>
                </a:solidFill>
                <a:latin typeface="Calibri" panose="020F0502020204030204"/>
              </a:rPr>
              <a:t>Mobile O2O · Flutter</a:t>
            </a:r>
            <a:endParaRPr sz="1300" b="1" i="0">
              <a:solidFill>
                <a:srgbClr val="1F6F4F"/>
              </a:solidFill>
              <a:latin typeface="Calibri" panose="020F0502020204030204"/>
            </a:endParaRPr>
          </a:p>
        </p:txBody>
      </p:sp>
      <p:sp>
        <p:nvSpPr>
          <p:cNvPr id="28" name="TextBox 27"/>
          <p:cNvSpPr txBox="1"/>
          <p:nvPr/>
        </p:nvSpPr>
        <p:spPr>
          <a:xfrm>
            <a:off x="5669280" y="5404104"/>
            <a:ext cx="56692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Xử lý logic sqflite và hàng đợi offline, dành 30–40% thời gian hỗ trợ Web</a:t>
            </a:r>
            <a:endParaRPr sz="1250" b="0" i="0">
              <a:solidFill>
                <a:srgbClr val="5A6B62"/>
              </a:solidFill>
              <a:latin typeface="Calibri" panose="020F0502020204030204"/>
            </a:endParaRPr>
          </a:p>
        </p:txBody>
      </p:sp>
      <p:sp>
        <p:nvSpPr>
          <p:cNvPr id="29" name="TextBox 28"/>
          <p:cNvSpPr txBox="1"/>
          <p:nvPr/>
        </p:nvSpPr>
        <p:spPr>
          <a:xfrm>
            <a:off x="566928" y="6199632"/>
            <a:ext cx="11064240" cy="457200"/>
          </a:xfrm>
          <a:prstGeom prst="rect">
            <a:avLst/>
          </a:prstGeom>
          <a:noFill/>
        </p:spPr>
        <p:txBody>
          <a:bodyPr wrap="square" lIns="0" tIns="0" rIns="0" bIns="0" anchor="t">
            <a:spAutoFit/>
          </a:bodyPr>
          <a:lstStyle/>
          <a:p>
            <a:pPr algn="l">
              <a:spcBef>
                <a:spcPts val="0"/>
              </a:spcBef>
              <a:spcAft>
                <a:spcPts val="0"/>
              </a:spcAft>
            </a:pPr>
            <a:r>
              <a:rPr sz="1400" b="1" i="0">
                <a:solidFill>
                  <a:srgbClr val="1F6F4F"/>
                </a:solidFill>
                <a:latin typeface="Calibri" panose="020F0502020204030204"/>
              </a:rPr>
              <a:t>Mỗi module có một người chịu trách nhiệm chính và một người backup nắm sơ bộ, tránh phụ thuộc một cá nhân.</a:t>
            </a:r>
            <a:endParaRPr sz="1400" b="1" i="0">
              <a:solidFill>
                <a:srgbClr val="1F6F4F"/>
              </a:solidFill>
              <a:latin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Kế hoạch triển khai</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Bốn tuần chạy sớm cộng mười lăm tuần chính thức</a:t>
            </a:r>
            <a:endParaRPr sz="3000" b="1" i="0">
              <a:solidFill>
                <a:srgbClr val="1C2B24"/>
              </a:solidFill>
              <a:latin typeface="Cambria" panose="02040503050406030204"/>
            </a:endParaRPr>
          </a:p>
        </p:txBody>
      </p:sp>
      <p:sp>
        <p:nvSpPr>
          <p:cNvPr id="4" name="TextBox 3"/>
          <p:cNvSpPr txBox="1"/>
          <p:nvPr/>
        </p:nvSpPr>
        <p:spPr>
          <a:xfrm>
            <a:off x="566928" y="1600200"/>
            <a:ext cx="11064240" cy="365760"/>
          </a:xfrm>
          <a:prstGeom prst="rect">
            <a:avLst/>
          </a:prstGeom>
          <a:noFill/>
        </p:spPr>
        <p:txBody>
          <a:bodyPr wrap="square" lIns="0" tIns="0" rIns="0" bIns="0" anchor="t">
            <a:spAutoFit/>
          </a:bodyPr>
          <a:lstStyle/>
          <a:p>
            <a:pPr algn="l">
              <a:spcBef>
                <a:spcPts val="0"/>
              </a:spcBef>
              <a:spcAft>
                <a:spcPts val="0"/>
              </a:spcAft>
            </a:pPr>
            <a:r>
              <a:rPr sz="1350" b="0" i="0">
                <a:solidFill>
                  <a:srgbClr val="5A6B62"/>
                </a:solidFill>
                <a:latin typeface="Calibri" panose="020F0502020204030204"/>
              </a:rPr>
              <a:t>Nhóm bắt đầu từ 04/08/2026, sớm hơn 4 tuần so với mốc chính thức 01/09/2026 — dùng thời gian này để thử nghiệm các kỹ thuật rủi ro cao.</a:t>
            </a:r>
            <a:endParaRPr sz="1350" b="0" i="0">
              <a:solidFill>
                <a:srgbClr val="5A6B62"/>
              </a:solidFill>
              <a:latin typeface="Calibri" panose="020F0502020204030204"/>
            </a:endParaRPr>
          </a:p>
        </p:txBody>
      </p:sp>
      <p:sp>
        <p:nvSpPr>
          <p:cNvPr id="5" name="Rounded Rectangle 4"/>
          <p:cNvSpPr/>
          <p:nvPr/>
        </p:nvSpPr>
        <p:spPr>
          <a:xfrm>
            <a:off x="566928" y="2148840"/>
            <a:ext cx="11064240" cy="73152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2350008"/>
            <a:ext cx="2011680" cy="365760"/>
          </a:xfrm>
          <a:prstGeom prst="rect">
            <a:avLst/>
          </a:prstGeom>
          <a:noFill/>
        </p:spPr>
        <p:txBody>
          <a:bodyPr wrap="square" lIns="0" tIns="0" rIns="0" bIns="0" anchor="t">
            <a:spAutoFit/>
          </a:bodyPr>
          <a:lstStyle/>
          <a:p>
            <a:pPr algn="l">
              <a:spcBef>
                <a:spcPts val="0"/>
              </a:spcBef>
              <a:spcAft>
                <a:spcPts val="0"/>
              </a:spcAft>
            </a:pPr>
            <a:r>
              <a:rPr sz="1450" b="1" i="0">
                <a:solidFill>
                  <a:srgbClr val="5A6B62"/>
                </a:solidFill>
                <a:latin typeface="Calibri" panose="020F0502020204030204"/>
              </a:rPr>
              <a:t>Chạy sớm</a:t>
            </a:r>
            <a:endParaRPr sz="1450" b="1" i="0">
              <a:solidFill>
                <a:srgbClr val="5A6B62"/>
              </a:solidFill>
              <a:latin typeface="Calibri" panose="020F0502020204030204"/>
            </a:endParaRPr>
          </a:p>
        </p:txBody>
      </p:sp>
      <p:sp>
        <p:nvSpPr>
          <p:cNvPr id="7" name="TextBox 6"/>
          <p:cNvSpPr txBox="1"/>
          <p:nvPr/>
        </p:nvSpPr>
        <p:spPr>
          <a:xfrm>
            <a:off x="2971800" y="2368296"/>
            <a:ext cx="1920240" cy="36576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T1 – T4</a:t>
            </a:r>
            <a:endParaRPr sz="1250" b="0" i="0">
              <a:solidFill>
                <a:srgbClr val="5A6B62"/>
              </a:solidFill>
              <a:latin typeface="Calibri" panose="020F0502020204030204"/>
            </a:endParaRPr>
          </a:p>
        </p:txBody>
      </p:sp>
      <p:sp>
        <p:nvSpPr>
          <p:cNvPr id="8" name="TextBox 7"/>
          <p:cNvSpPr txBox="1"/>
          <p:nvPr/>
        </p:nvSpPr>
        <p:spPr>
          <a:xfrm>
            <a:off x="4983480" y="2368296"/>
            <a:ext cx="1828800" cy="36576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04/08 – 31/08</a:t>
            </a:r>
            <a:endParaRPr sz="1250" b="1" i="0">
              <a:solidFill>
                <a:srgbClr val="1C2B24"/>
              </a:solidFill>
              <a:latin typeface="Calibri" panose="020F0502020204030204"/>
            </a:endParaRPr>
          </a:p>
        </p:txBody>
      </p:sp>
      <p:sp>
        <p:nvSpPr>
          <p:cNvPr id="9" name="TextBox 8"/>
          <p:cNvSpPr txBox="1"/>
          <p:nvPr/>
        </p:nvSpPr>
        <p:spPr>
          <a:xfrm>
            <a:off x="7040880" y="2368296"/>
            <a:ext cx="42976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Spike kỹ thuật, bản nháp tài liệu, dựng base code</a:t>
            </a:r>
            <a:endParaRPr sz="1250" b="0" i="0">
              <a:solidFill>
                <a:srgbClr val="5A6B62"/>
              </a:solidFill>
              <a:latin typeface="Calibri" panose="020F0502020204030204"/>
            </a:endParaRPr>
          </a:p>
        </p:txBody>
      </p:sp>
      <p:sp>
        <p:nvSpPr>
          <p:cNvPr id="10" name="Rounded Rectangle 9"/>
          <p:cNvSpPr/>
          <p:nvPr/>
        </p:nvSpPr>
        <p:spPr>
          <a:xfrm>
            <a:off x="566928" y="2971800"/>
            <a:ext cx="11064240" cy="73152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3172968"/>
            <a:ext cx="2011680" cy="365760"/>
          </a:xfrm>
          <a:prstGeom prst="rect">
            <a:avLst/>
          </a:prstGeom>
          <a:noFill/>
        </p:spPr>
        <p:txBody>
          <a:bodyPr wrap="square" lIns="0" tIns="0" rIns="0" bIns="0" anchor="t">
            <a:spAutoFit/>
          </a:bodyPr>
          <a:lstStyle/>
          <a:p>
            <a:pPr algn="l">
              <a:spcBef>
                <a:spcPts val="0"/>
              </a:spcBef>
              <a:spcAft>
                <a:spcPts val="0"/>
              </a:spcAft>
            </a:pPr>
            <a:r>
              <a:rPr sz="1450" b="1" i="0">
                <a:solidFill>
                  <a:srgbClr val="1F6F4F"/>
                </a:solidFill>
                <a:latin typeface="Calibri" panose="020F0502020204030204"/>
              </a:rPr>
              <a:t>Review 1</a:t>
            </a:r>
            <a:endParaRPr sz="1450" b="1" i="0">
              <a:solidFill>
                <a:srgbClr val="1F6F4F"/>
              </a:solidFill>
              <a:latin typeface="Calibri" panose="020F0502020204030204"/>
            </a:endParaRPr>
          </a:p>
        </p:txBody>
      </p:sp>
      <p:sp>
        <p:nvSpPr>
          <p:cNvPr id="12" name="TextBox 11"/>
          <p:cNvSpPr txBox="1"/>
          <p:nvPr/>
        </p:nvSpPr>
        <p:spPr>
          <a:xfrm>
            <a:off x="2971800" y="3191256"/>
            <a:ext cx="1920240" cy="36576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T7 · tuần 3</a:t>
            </a:r>
            <a:endParaRPr sz="1250" b="0" i="0">
              <a:solidFill>
                <a:srgbClr val="5A6B62"/>
              </a:solidFill>
              <a:latin typeface="Calibri" panose="020F0502020204030204"/>
            </a:endParaRPr>
          </a:p>
        </p:txBody>
      </p:sp>
      <p:sp>
        <p:nvSpPr>
          <p:cNvPr id="13" name="TextBox 12"/>
          <p:cNvSpPr txBox="1"/>
          <p:nvPr/>
        </p:nvSpPr>
        <p:spPr>
          <a:xfrm>
            <a:off x="4983480" y="3191256"/>
            <a:ext cx="1828800" cy="36576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15 – 21/09</a:t>
            </a:r>
            <a:endParaRPr sz="1250" b="1" i="0">
              <a:solidFill>
                <a:srgbClr val="1C2B24"/>
              </a:solidFill>
              <a:latin typeface="Calibri" panose="020F0502020204030204"/>
            </a:endParaRPr>
          </a:p>
        </p:txBody>
      </p:sp>
      <p:sp>
        <p:nvSpPr>
          <p:cNvPr id="14" name="TextBox 13"/>
          <p:cNvSpPr txBox="1"/>
          <p:nvPr/>
        </p:nvSpPr>
        <p:spPr>
          <a:xfrm>
            <a:off x="7040880" y="3191256"/>
            <a:ext cx="42976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Chốt Scope, MVP, sơ đồ hệ thống, code base, phân công</a:t>
            </a:r>
            <a:endParaRPr sz="1250" b="0" i="0">
              <a:solidFill>
                <a:srgbClr val="5A6B62"/>
              </a:solidFill>
              <a:latin typeface="Calibri" panose="020F0502020204030204"/>
            </a:endParaRPr>
          </a:p>
        </p:txBody>
      </p:sp>
      <p:sp>
        <p:nvSpPr>
          <p:cNvPr id="15" name="Rounded Rectangle 14"/>
          <p:cNvSpPr/>
          <p:nvPr/>
        </p:nvSpPr>
        <p:spPr>
          <a:xfrm>
            <a:off x="566928" y="3794760"/>
            <a:ext cx="11064240" cy="73152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3995928"/>
            <a:ext cx="2011680" cy="365760"/>
          </a:xfrm>
          <a:prstGeom prst="rect">
            <a:avLst/>
          </a:prstGeom>
          <a:noFill/>
        </p:spPr>
        <p:txBody>
          <a:bodyPr wrap="square" lIns="0" tIns="0" rIns="0" bIns="0" anchor="t">
            <a:spAutoFit/>
          </a:bodyPr>
          <a:lstStyle/>
          <a:p>
            <a:pPr algn="l">
              <a:spcBef>
                <a:spcPts val="0"/>
              </a:spcBef>
              <a:spcAft>
                <a:spcPts val="0"/>
              </a:spcAft>
            </a:pPr>
            <a:r>
              <a:rPr sz="1450" b="1" i="0">
                <a:solidFill>
                  <a:srgbClr val="1F6F4F"/>
                </a:solidFill>
                <a:latin typeface="Calibri" panose="020F0502020204030204"/>
              </a:rPr>
              <a:t>Review 2</a:t>
            </a:r>
            <a:endParaRPr sz="1450" b="1" i="0">
              <a:solidFill>
                <a:srgbClr val="1F6F4F"/>
              </a:solidFill>
              <a:latin typeface="Calibri" panose="020F0502020204030204"/>
            </a:endParaRPr>
          </a:p>
        </p:txBody>
      </p:sp>
      <p:sp>
        <p:nvSpPr>
          <p:cNvPr id="17" name="TextBox 16"/>
          <p:cNvSpPr txBox="1"/>
          <p:nvPr/>
        </p:nvSpPr>
        <p:spPr>
          <a:xfrm>
            <a:off x="2971800" y="4014216"/>
            <a:ext cx="1920240" cy="36576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T12 · tuần 8</a:t>
            </a:r>
            <a:endParaRPr sz="1250" b="0" i="0">
              <a:solidFill>
                <a:srgbClr val="5A6B62"/>
              </a:solidFill>
              <a:latin typeface="Calibri" panose="020F0502020204030204"/>
            </a:endParaRPr>
          </a:p>
        </p:txBody>
      </p:sp>
      <p:sp>
        <p:nvSpPr>
          <p:cNvPr id="18" name="TextBox 17"/>
          <p:cNvSpPr txBox="1"/>
          <p:nvPr/>
        </p:nvSpPr>
        <p:spPr>
          <a:xfrm>
            <a:off x="4983480" y="4014216"/>
            <a:ext cx="1828800" cy="36576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20 – 26/10</a:t>
            </a:r>
            <a:endParaRPr sz="1250" b="1" i="0">
              <a:solidFill>
                <a:srgbClr val="1C2B24"/>
              </a:solidFill>
              <a:latin typeface="Calibri" panose="020F0502020204030204"/>
            </a:endParaRPr>
          </a:p>
        </p:txBody>
      </p:sp>
      <p:sp>
        <p:nvSpPr>
          <p:cNvPr id="19" name="TextBox 18"/>
          <p:cNvSpPr txBox="1"/>
          <p:nvPr/>
        </p:nvSpPr>
        <p:spPr>
          <a:xfrm>
            <a:off x="7040880" y="4014216"/>
            <a:ext cx="42976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Thiết kế hệ thống chi tiết và demo core FEFO đang chạy</a:t>
            </a:r>
            <a:endParaRPr sz="1250" b="0" i="0">
              <a:solidFill>
                <a:srgbClr val="5A6B62"/>
              </a:solidFill>
              <a:latin typeface="Calibri" panose="020F0502020204030204"/>
            </a:endParaRPr>
          </a:p>
        </p:txBody>
      </p:sp>
      <p:sp>
        <p:nvSpPr>
          <p:cNvPr id="20" name="Rounded Rectangle 19"/>
          <p:cNvSpPr/>
          <p:nvPr/>
        </p:nvSpPr>
        <p:spPr>
          <a:xfrm>
            <a:off x="566928" y="4617720"/>
            <a:ext cx="11064240" cy="731520"/>
          </a:xfrm>
          <a:prstGeom prst="roundRect">
            <a:avLst>
              <a:gd name="adj" fmla="val 6000"/>
            </a:avLst>
          </a:prstGeom>
          <a:solidFill>
            <a:srgbClr val="E9F2EC"/>
          </a:solidFill>
          <a:ln w="12700">
            <a:solidFill>
              <a:srgbClr val="1F6F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818888"/>
            <a:ext cx="2011680" cy="365760"/>
          </a:xfrm>
          <a:prstGeom prst="rect">
            <a:avLst/>
          </a:prstGeom>
          <a:noFill/>
        </p:spPr>
        <p:txBody>
          <a:bodyPr wrap="square" lIns="0" tIns="0" rIns="0" bIns="0" anchor="t">
            <a:spAutoFit/>
          </a:bodyPr>
          <a:lstStyle/>
          <a:p>
            <a:pPr algn="l">
              <a:spcBef>
                <a:spcPts val="0"/>
              </a:spcBef>
              <a:spcAft>
                <a:spcPts val="0"/>
              </a:spcAft>
            </a:pPr>
            <a:r>
              <a:rPr sz="1450" b="1" i="0">
                <a:solidFill>
                  <a:srgbClr val="1F6F4F"/>
                </a:solidFill>
                <a:latin typeface="Calibri" panose="020F0502020204030204"/>
              </a:rPr>
              <a:t>Review 3</a:t>
            </a:r>
            <a:endParaRPr sz="1450" b="1" i="0">
              <a:solidFill>
                <a:srgbClr val="1F6F4F"/>
              </a:solidFill>
              <a:latin typeface="Calibri" panose="020F0502020204030204"/>
            </a:endParaRPr>
          </a:p>
        </p:txBody>
      </p:sp>
      <p:sp>
        <p:nvSpPr>
          <p:cNvPr id="22" name="TextBox 21"/>
          <p:cNvSpPr txBox="1"/>
          <p:nvPr/>
        </p:nvSpPr>
        <p:spPr>
          <a:xfrm>
            <a:off x="2971800" y="4837176"/>
            <a:ext cx="1920240" cy="36576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T15 · tuần 11</a:t>
            </a:r>
            <a:endParaRPr sz="1250" b="0" i="0">
              <a:solidFill>
                <a:srgbClr val="5A6B62"/>
              </a:solidFill>
              <a:latin typeface="Calibri" panose="020F0502020204030204"/>
            </a:endParaRPr>
          </a:p>
        </p:txBody>
      </p:sp>
      <p:sp>
        <p:nvSpPr>
          <p:cNvPr id="23" name="TextBox 22"/>
          <p:cNvSpPr txBox="1"/>
          <p:nvPr/>
        </p:nvSpPr>
        <p:spPr>
          <a:xfrm>
            <a:off x="4983480" y="4837176"/>
            <a:ext cx="1828800" cy="36576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10 – 16/11</a:t>
            </a:r>
            <a:endParaRPr sz="1250" b="1" i="0">
              <a:solidFill>
                <a:srgbClr val="1C2B24"/>
              </a:solidFill>
              <a:latin typeface="Calibri" panose="020F0502020204030204"/>
            </a:endParaRPr>
          </a:p>
        </p:txBody>
      </p:sp>
      <p:sp>
        <p:nvSpPr>
          <p:cNvPr id="24" name="TextBox 23"/>
          <p:cNvSpPr txBox="1"/>
          <p:nvPr/>
        </p:nvSpPr>
        <p:spPr>
          <a:xfrm>
            <a:off x="7040880" y="4837176"/>
            <a:ext cx="42976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Bảo vệ thử, toàn bộ Must Have phải hoạt động</a:t>
            </a:r>
            <a:endParaRPr sz="1250" b="0" i="0">
              <a:solidFill>
                <a:srgbClr val="5A6B62"/>
              </a:solidFill>
              <a:latin typeface="Calibri" panose="020F0502020204030204"/>
            </a:endParaRPr>
          </a:p>
        </p:txBody>
      </p:sp>
      <p:sp>
        <p:nvSpPr>
          <p:cNvPr id="25" name="Rounded Rectangle 24"/>
          <p:cNvSpPr/>
          <p:nvPr/>
        </p:nvSpPr>
        <p:spPr>
          <a:xfrm>
            <a:off x="566928" y="5440680"/>
            <a:ext cx="11064240" cy="731520"/>
          </a:xfrm>
          <a:prstGeom prst="roundRect">
            <a:avLst>
              <a:gd name="adj" fmla="val 6000"/>
            </a:avLst>
          </a:prstGeom>
          <a:solidFill>
            <a:srgbClr val="FDF2E0"/>
          </a:solidFill>
          <a:ln w="127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8680" y="5641848"/>
            <a:ext cx="2011680" cy="365760"/>
          </a:xfrm>
          <a:prstGeom prst="rect">
            <a:avLst/>
          </a:prstGeom>
          <a:noFill/>
        </p:spPr>
        <p:txBody>
          <a:bodyPr wrap="square" lIns="0" tIns="0" rIns="0" bIns="0" anchor="t">
            <a:spAutoFit/>
          </a:bodyPr>
          <a:lstStyle/>
          <a:p>
            <a:pPr algn="l">
              <a:spcBef>
                <a:spcPts val="0"/>
              </a:spcBef>
              <a:spcAft>
                <a:spcPts val="0"/>
              </a:spcAft>
            </a:pPr>
            <a:r>
              <a:rPr sz="1450" b="1" i="0">
                <a:solidFill>
                  <a:srgbClr val="8A520B"/>
                </a:solidFill>
                <a:latin typeface="Calibri" panose="020F0502020204030204"/>
              </a:rPr>
              <a:t>Hội đồng</a:t>
            </a:r>
            <a:endParaRPr sz="1450" b="1" i="0">
              <a:solidFill>
                <a:srgbClr val="8A520B"/>
              </a:solidFill>
              <a:latin typeface="Calibri" panose="020F0502020204030204"/>
            </a:endParaRPr>
          </a:p>
        </p:txBody>
      </p:sp>
      <p:sp>
        <p:nvSpPr>
          <p:cNvPr id="27" name="TextBox 26"/>
          <p:cNvSpPr txBox="1"/>
          <p:nvPr/>
        </p:nvSpPr>
        <p:spPr>
          <a:xfrm>
            <a:off x="2971800" y="5660136"/>
            <a:ext cx="1920240" cy="36576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T19 · tuần 15</a:t>
            </a:r>
            <a:endParaRPr sz="1250" b="0" i="0">
              <a:solidFill>
                <a:srgbClr val="5A6B62"/>
              </a:solidFill>
              <a:latin typeface="Calibri" panose="020F0502020204030204"/>
            </a:endParaRPr>
          </a:p>
        </p:txBody>
      </p:sp>
      <p:sp>
        <p:nvSpPr>
          <p:cNvPr id="28" name="TextBox 27"/>
          <p:cNvSpPr txBox="1"/>
          <p:nvPr/>
        </p:nvSpPr>
        <p:spPr>
          <a:xfrm>
            <a:off x="4983480" y="5660136"/>
            <a:ext cx="1828800" cy="36576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08 – 14/12</a:t>
            </a:r>
            <a:endParaRPr sz="1250" b="1" i="0">
              <a:solidFill>
                <a:srgbClr val="1C2B24"/>
              </a:solidFill>
              <a:latin typeface="Calibri" panose="020F0502020204030204"/>
            </a:endParaRPr>
          </a:p>
        </p:txBody>
      </p:sp>
      <p:sp>
        <p:nvSpPr>
          <p:cNvPr id="29" name="TextBox 28"/>
          <p:cNvSpPr txBox="1"/>
          <p:nvPr/>
        </p:nvSpPr>
        <p:spPr>
          <a:xfrm>
            <a:off x="7040880" y="5660136"/>
            <a:ext cx="4297680" cy="411480"/>
          </a:xfrm>
          <a:prstGeom prst="rect">
            <a:avLst/>
          </a:prstGeom>
          <a:noFill/>
        </p:spPr>
        <p:txBody>
          <a:bodyPr wrap="square" lIns="0" tIns="0" rIns="0" bIns="0" anchor="t">
            <a:spAutoFit/>
          </a:bodyPr>
          <a:lstStyle/>
          <a:p>
            <a:pPr algn="l">
              <a:spcBef>
                <a:spcPts val="0"/>
              </a:spcBef>
              <a:spcAft>
                <a:spcPts val="0"/>
              </a:spcAft>
            </a:pPr>
            <a:r>
              <a:rPr sz="1250" b="0" i="0">
                <a:solidFill>
                  <a:srgbClr val="5A6B62"/>
                </a:solidFill>
                <a:latin typeface="Calibri" panose="020F0502020204030204"/>
              </a:rPr>
              <a:t>Bảo vệ chính thức, nộp báo cáo và mã nguồn</a:t>
            </a:r>
            <a:endParaRPr sz="1250" b="0" i="0">
              <a:solidFill>
                <a:srgbClr val="5A6B62"/>
              </a:solidFill>
              <a:latin typeface="Calibri" panose="020F0502020204030204"/>
            </a:endParaRPr>
          </a:p>
        </p:txBody>
      </p:sp>
      <p:sp>
        <p:nvSpPr>
          <p:cNvPr id="30" name="TextBox 29"/>
          <p:cNvSpPr txBox="1"/>
          <p:nvPr/>
        </p:nvSpPr>
        <p:spPr>
          <a:xfrm>
            <a:off x="566928" y="6355080"/>
            <a:ext cx="11064240" cy="365760"/>
          </a:xfrm>
          <a:prstGeom prst="rect">
            <a:avLst/>
          </a:prstGeom>
          <a:noFill/>
        </p:spPr>
        <p:txBody>
          <a:bodyPr wrap="square" lIns="0" tIns="0" rIns="0" bIns="0" anchor="t">
            <a:spAutoFit/>
          </a:bodyPr>
          <a:lstStyle/>
          <a:p>
            <a:pPr algn="l">
              <a:spcBef>
                <a:spcPts val="0"/>
              </a:spcBef>
              <a:spcAft>
                <a:spcPts val="0"/>
              </a:spcAft>
            </a:pPr>
            <a:r>
              <a:rPr sz="1350" b="1" i="0">
                <a:solidFill>
                  <a:srgbClr val="1F6F4F"/>
                </a:solidFill>
                <a:latin typeface="Calibri" panose="020F0502020204030204"/>
              </a:rPr>
              <a:t>Kế hoạch có sẵn 5 tuần đệm dự phòng và 2 cổng quyết định để kiểm soát tiến độ giữa chừng.</a:t>
            </a:r>
            <a:endParaRPr sz="1350" b="1" i="0">
              <a:solidFill>
                <a:srgbClr val="1F6F4F"/>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84048"/>
            <a:ext cx="11064240" cy="274320"/>
          </a:xfrm>
          <a:prstGeom prst="rect">
            <a:avLst/>
          </a:prstGeom>
          <a:noFill/>
        </p:spPr>
        <p:txBody>
          <a:bodyPr wrap="square" lIns="0" tIns="0" rIns="0" bIns="0" anchor="t">
            <a:spAutoFit/>
          </a:bodyPr>
          <a:lstStyle/>
          <a:p>
            <a:pPr algn="l">
              <a:spcBef>
                <a:spcPts val="0"/>
              </a:spcBef>
              <a:spcAft>
                <a:spcPts val="0"/>
              </a:spcAft>
            </a:pPr>
            <a:r>
              <a:rPr sz="1200" b="1" i="0">
                <a:solidFill>
                  <a:srgbClr val="1F6F4F"/>
                </a:solidFill>
                <a:latin typeface="Calibri" panose="020F0502020204030204"/>
              </a:rPr>
              <a:t>Quản trị rủi ro</a:t>
            </a:r>
            <a:endParaRPr sz="1200" b="1" i="0">
              <a:solidFill>
                <a:srgbClr val="1F6F4F"/>
              </a:solidFill>
              <a:latin typeface="Calibri" panose="020F0502020204030204"/>
            </a:endParaRPr>
          </a:p>
        </p:txBody>
      </p:sp>
      <p:sp>
        <p:nvSpPr>
          <p:cNvPr id="3" name="TextBox 2"/>
          <p:cNvSpPr txBox="1"/>
          <p:nvPr/>
        </p:nvSpPr>
        <p:spPr>
          <a:xfrm>
            <a:off x="566928" y="658368"/>
            <a:ext cx="11064240" cy="658368"/>
          </a:xfrm>
          <a:prstGeom prst="rect">
            <a:avLst/>
          </a:prstGeom>
          <a:noFill/>
        </p:spPr>
        <p:txBody>
          <a:bodyPr wrap="square" lIns="0" tIns="0" rIns="0" bIns="0" anchor="t">
            <a:spAutoFit/>
          </a:bodyPr>
          <a:lstStyle/>
          <a:p>
            <a:pPr algn="l">
              <a:spcBef>
                <a:spcPts val="0"/>
              </a:spcBef>
              <a:spcAft>
                <a:spcPts val="0"/>
              </a:spcAft>
            </a:pPr>
            <a:r>
              <a:rPr sz="3000" b="1" i="0">
                <a:solidFill>
                  <a:srgbClr val="1C2B24"/>
                </a:solidFill>
                <a:latin typeface="Cambria" panose="02040503050406030204"/>
              </a:rPr>
              <a:t>Nhóm đã lường trước rủi ro và có kịch bản xử lý</a:t>
            </a:r>
            <a:endParaRPr sz="3000" b="1" i="0">
              <a:solidFill>
                <a:srgbClr val="1C2B24"/>
              </a:solidFill>
              <a:latin typeface="Cambria" panose="02040503050406030204"/>
            </a:endParaRPr>
          </a:p>
        </p:txBody>
      </p:sp>
      <p:sp>
        <p:nvSpPr>
          <p:cNvPr id="4" name="TextBox 3"/>
          <p:cNvSpPr txBox="1"/>
          <p:nvPr/>
        </p:nvSpPr>
        <p:spPr>
          <a:xfrm>
            <a:off x="566928" y="1600200"/>
            <a:ext cx="5440680" cy="365760"/>
          </a:xfrm>
          <a:prstGeom prst="rect">
            <a:avLst/>
          </a:prstGeom>
          <a:noFill/>
        </p:spPr>
        <p:txBody>
          <a:bodyPr wrap="square" lIns="0" tIns="0" rIns="0" bIns="0" anchor="t">
            <a:spAutoFit/>
          </a:bodyPr>
          <a:lstStyle/>
          <a:p>
            <a:pPr algn="l">
              <a:spcBef>
                <a:spcPts val="0"/>
              </a:spcBef>
              <a:spcAft>
                <a:spcPts val="0"/>
              </a:spcAft>
            </a:pPr>
            <a:r>
              <a:rPr sz="1650" b="1" i="0">
                <a:solidFill>
                  <a:srgbClr val="1C2B24"/>
                </a:solidFill>
                <a:latin typeface="Cambria" panose="02040503050406030204"/>
              </a:rPr>
              <a:t>Ba rủi ro lớn nhất</a:t>
            </a:r>
            <a:endParaRPr sz="1650" b="1" i="0">
              <a:solidFill>
                <a:srgbClr val="1C2B24"/>
              </a:solidFill>
              <a:latin typeface="Cambria" panose="02040503050406030204"/>
            </a:endParaRPr>
          </a:p>
        </p:txBody>
      </p:sp>
      <p:sp>
        <p:nvSpPr>
          <p:cNvPr id="5" name="Rounded Rectangle 4"/>
          <p:cNvSpPr/>
          <p:nvPr/>
        </p:nvSpPr>
        <p:spPr>
          <a:xfrm>
            <a:off x="566928" y="2057400"/>
            <a:ext cx="5440680" cy="12984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8" y="2240280"/>
            <a:ext cx="4892040" cy="548640"/>
          </a:xfrm>
          <a:prstGeom prst="rect">
            <a:avLst/>
          </a:prstGeom>
          <a:noFill/>
        </p:spPr>
        <p:txBody>
          <a:bodyPr wrap="square" lIns="0" tIns="0" rIns="0" bIns="0" anchor="t">
            <a:spAutoFit/>
          </a:bodyPr>
          <a:lstStyle/>
          <a:p>
            <a:pPr algn="l">
              <a:spcBef>
                <a:spcPts val="0"/>
              </a:spcBef>
              <a:spcAft>
                <a:spcPts val="0"/>
              </a:spcAft>
            </a:pPr>
            <a:r>
              <a:rPr sz="1350" b="1" i="0">
                <a:solidFill>
                  <a:srgbClr val="1C2B24"/>
                </a:solidFill>
                <a:latin typeface="Calibri" panose="020F0502020204030204"/>
              </a:rPr>
              <a:t>Phần FEFO và Optimistic Locking tập trung vào một người</a:t>
            </a:r>
            <a:endParaRPr sz="1350" b="1" i="0">
              <a:solidFill>
                <a:srgbClr val="1C2B24"/>
              </a:solidFill>
              <a:latin typeface="Calibri" panose="020F0502020204030204"/>
            </a:endParaRPr>
          </a:p>
        </p:txBody>
      </p:sp>
      <p:sp>
        <p:nvSpPr>
          <p:cNvPr id="7" name="TextBox 6"/>
          <p:cNvSpPr txBox="1"/>
          <p:nvPr/>
        </p:nvSpPr>
        <p:spPr>
          <a:xfrm>
            <a:off x="841248" y="2770632"/>
            <a:ext cx="4892040" cy="5029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Pair-programming từ tuần 6, review chéo hàng tuần, bắt buộc viết tài liệu thuật toán</a:t>
            </a:r>
            <a:endParaRPr sz="1200" b="0" i="0">
              <a:solidFill>
                <a:srgbClr val="5A6B62"/>
              </a:solidFill>
              <a:latin typeface="Calibri" panose="020F0502020204030204"/>
            </a:endParaRPr>
          </a:p>
        </p:txBody>
      </p:sp>
      <p:sp>
        <p:nvSpPr>
          <p:cNvPr id="8" name="Rounded Rectangle 7"/>
          <p:cNvSpPr/>
          <p:nvPr/>
        </p:nvSpPr>
        <p:spPr>
          <a:xfrm>
            <a:off x="566928" y="3474720"/>
            <a:ext cx="5440680" cy="12984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8" y="3657600"/>
            <a:ext cx="4892040" cy="548640"/>
          </a:xfrm>
          <a:prstGeom prst="rect">
            <a:avLst/>
          </a:prstGeom>
          <a:noFill/>
        </p:spPr>
        <p:txBody>
          <a:bodyPr wrap="square" lIns="0" tIns="0" rIns="0" bIns="0" anchor="t">
            <a:spAutoFit/>
          </a:bodyPr>
          <a:lstStyle/>
          <a:p>
            <a:pPr algn="l">
              <a:spcBef>
                <a:spcPts val="0"/>
              </a:spcBef>
              <a:spcAft>
                <a:spcPts val="0"/>
              </a:spcAft>
            </a:pPr>
            <a:r>
              <a:rPr sz="1350" b="1" i="0">
                <a:solidFill>
                  <a:srgbClr val="1C2B24"/>
                </a:solidFill>
                <a:latin typeface="Calibri" panose="020F0502020204030204"/>
              </a:rPr>
              <a:t>Đồng bộ offline khó test, dễ có bug ẩn làm mất đơn</a:t>
            </a:r>
            <a:endParaRPr sz="1350" b="1" i="0">
              <a:solidFill>
                <a:srgbClr val="1C2B24"/>
              </a:solidFill>
              <a:latin typeface="Calibri" panose="020F0502020204030204"/>
            </a:endParaRPr>
          </a:p>
        </p:txBody>
      </p:sp>
      <p:sp>
        <p:nvSpPr>
          <p:cNvPr id="10" name="TextBox 9"/>
          <p:cNvSpPr txBox="1"/>
          <p:nvPr/>
        </p:nvSpPr>
        <p:spPr>
          <a:xfrm>
            <a:off x="841248" y="4187952"/>
            <a:ext cx="4892040" cy="5029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Viết test tự động cho hàng đợi ngay từ đầu, thiết kế API idempotent chống trùng</a:t>
            </a:r>
            <a:endParaRPr sz="1200" b="0" i="0">
              <a:solidFill>
                <a:srgbClr val="5A6B62"/>
              </a:solidFill>
              <a:latin typeface="Calibri" panose="020F0502020204030204"/>
            </a:endParaRPr>
          </a:p>
        </p:txBody>
      </p:sp>
      <p:sp>
        <p:nvSpPr>
          <p:cNvPr id="11" name="Rounded Rectangle 10"/>
          <p:cNvSpPr/>
          <p:nvPr/>
        </p:nvSpPr>
        <p:spPr>
          <a:xfrm>
            <a:off x="566928" y="4892040"/>
            <a:ext cx="5440680" cy="1298448"/>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5074920"/>
            <a:ext cx="4892040" cy="548640"/>
          </a:xfrm>
          <a:prstGeom prst="rect">
            <a:avLst/>
          </a:prstGeom>
          <a:noFill/>
        </p:spPr>
        <p:txBody>
          <a:bodyPr wrap="square" lIns="0" tIns="0" rIns="0" bIns="0" anchor="t">
            <a:spAutoFit/>
          </a:bodyPr>
          <a:lstStyle/>
          <a:p>
            <a:pPr algn="l">
              <a:spcBef>
                <a:spcPts val="0"/>
              </a:spcBef>
              <a:spcAft>
                <a:spcPts val="0"/>
              </a:spcAft>
            </a:pPr>
            <a:r>
              <a:rPr sz="1350" b="1" i="0">
                <a:solidFill>
                  <a:srgbClr val="1C2B24"/>
                </a:solidFill>
                <a:latin typeface="Calibri" panose="020F0502020204030204"/>
              </a:rPr>
              <a:t>Báo cáo đồ án bị dồn vào phút chót</a:t>
            </a:r>
            <a:endParaRPr sz="1350" b="1" i="0">
              <a:solidFill>
                <a:srgbClr val="1C2B24"/>
              </a:solidFill>
              <a:latin typeface="Calibri" panose="020F0502020204030204"/>
            </a:endParaRPr>
          </a:p>
        </p:txBody>
      </p:sp>
      <p:sp>
        <p:nvSpPr>
          <p:cNvPr id="13" name="TextBox 12"/>
          <p:cNvSpPr txBox="1"/>
          <p:nvPr/>
        </p:nvSpPr>
        <p:spPr>
          <a:xfrm>
            <a:off x="841248" y="5605272"/>
            <a:ext cx="4892040" cy="50292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Viết song song từ tuần 4, mỗi tuần chốt một mục nhỏ</a:t>
            </a:r>
            <a:endParaRPr sz="1200" b="0" i="0">
              <a:solidFill>
                <a:srgbClr val="5A6B62"/>
              </a:solidFill>
              <a:latin typeface="Calibri" panose="020F0502020204030204"/>
            </a:endParaRPr>
          </a:p>
        </p:txBody>
      </p:sp>
      <p:sp>
        <p:nvSpPr>
          <p:cNvPr id="14" name="TextBox 13"/>
          <p:cNvSpPr txBox="1"/>
          <p:nvPr/>
        </p:nvSpPr>
        <p:spPr>
          <a:xfrm>
            <a:off x="6190488" y="1600200"/>
            <a:ext cx="5440680" cy="365760"/>
          </a:xfrm>
          <a:prstGeom prst="rect">
            <a:avLst/>
          </a:prstGeom>
          <a:noFill/>
        </p:spPr>
        <p:txBody>
          <a:bodyPr wrap="square" lIns="0" tIns="0" rIns="0" bIns="0" anchor="t">
            <a:spAutoFit/>
          </a:bodyPr>
          <a:lstStyle/>
          <a:p>
            <a:pPr algn="l">
              <a:spcBef>
                <a:spcPts val="0"/>
              </a:spcBef>
              <a:spcAft>
                <a:spcPts val="0"/>
              </a:spcAft>
            </a:pPr>
            <a:r>
              <a:rPr sz="1650" b="1" i="0">
                <a:solidFill>
                  <a:srgbClr val="1C2B24"/>
                </a:solidFill>
                <a:latin typeface="Cambria" panose="02040503050406030204"/>
              </a:rPr>
              <a:t>Thang cắt scope nếu chậm tiến độ</a:t>
            </a:r>
            <a:endParaRPr sz="1650" b="1" i="0">
              <a:solidFill>
                <a:srgbClr val="1C2B24"/>
              </a:solidFill>
              <a:latin typeface="Cambria" panose="02040503050406030204"/>
            </a:endParaRPr>
          </a:p>
        </p:txBody>
      </p:sp>
      <p:sp>
        <p:nvSpPr>
          <p:cNvPr id="15" name="Rounded Rectangle 14"/>
          <p:cNvSpPr/>
          <p:nvPr/>
        </p:nvSpPr>
        <p:spPr>
          <a:xfrm>
            <a:off x="6190488" y="2057400"/>
            <a:ext cx="5440680" cy="96012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64808" y="2203704"/>
            <a:ext cx="1005840" cy="274320"/>
          </a:xfrm>
          <a:prstGeom prst="rect">
            <a:avLst/>
          </a:prstGeom>
          <a:noFill/>
        </p:spPr>
        <p:txBody>
          <a:bodyPr wrap="square" lIns="0" tIns="0" rIns="0" bIns="0" anchor="t">
            <a:spAutoFit/>
          </a:bodyPr>
          <a:lstStyle/>
          <a:p>
            <a:pPr algn="l">
              <a:spcBef>
                <a:spcPts val="0"/>
              </a:spcBef>
              <a:spcAft>
                <a:spcPts val="0"/>
              </a:spcAft>
            </a:pPr>
            <a:r>
              <a:rPr sz="1300" b="1" i="0">
                <a:solidFill>
                  <a:srgbClr val="1C2B24"/>
                </a:solidFill>
                <a:latin typeface="Calibri" panose="020F0502020204030204"/>
              </a:rPr>
              <a:t>Mức 1</a:t>
            </a:r>
            <a:endParaRPr sz="1300" b="1" i="0">
              <a:solidFill>
                <a:srgbClr val="1C2B24"/>
              </a:solidFill>
              <a:latin typeface="Calibri" panose="020F0502020204030204"/>
            </a:endParaRPr>
          </a:p>
        </p:txBody>
      </p:sp>
      <p:sp>
        <p:nvSpPr>
          <p:cNvPr id="17" name="TextBox 16"/>
          <p:cNvSpPr txBox="1"/>
          <p:nvPr/>
        </p:nvSpPr>
        <p:spPr>
          <a:xfrm>
            <a:off x="7498079" y="2203704"/>
            <a:ext cx="3931920" cy="32004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Hết tuần 7 mà FEFO chưa chạy đúng</a:t>
            </a:r>
            <a:endParaRPr sz="1200" b="0" i="0">
              <a:solidFill>
                <a:srgbClr val="5A6B62"/>
              </a:solidFill>
              <a:latin typeface="Calibri" panose="020F0502020204030204"/>
            </a:endParaRPr>
          </a:p>
        </p:txBody>
      </p:sp>
      <p:sp>
        <p:nvSpPr>
          <p:cNvPr id="18" name="TextBox 17"/>
          <p:cNvSpPr txBox="1"/>
          <p:nvPr/>
        </p:nvSpPr>
        <p:spPr>
          <a:xfrm>
            <a:off x="6464808" y="2606040"/>
            <a:ext cx="4937760" cy="32004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Hoãn hai tính năng AI, dồn lực cho thuật toán</a:t>
            </a:r>
            <a:endParaRPr sz="1250" b="1" i="0">
              <a:solidFill>
                <a:srgbClr val="1C2B24"/>
              </a:solidFill>
              <a:latin typeface="Calibri" panose="020F0502020204030204"/>
            </a:endParaRPr>
          </a:p>
        </p:txBody>
      </p:sp>
      <p:sp>
        <p:nvSpPr>
          <p:cNvPr id="19" name="Rounded Rectangle 18"/>
          <p:cNvSpPr/>
          <p:nvPr/>
        </p:nvSpPr>
        <p:spPr>
          <a:xfrm>
            <a:off x="6190488" y="3108960"/>
            <a:ext cx="5440680" cy="96012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64808" y="3255264"/>
            <a:ext cx="1005840" cy="274320"/>
          </a:xfrm>
          <a:prstGeom prst="rect">
            <a:avLst/>
          </a:prstGeom>
          <a:noFill/>
        </p:spPr>
        <p:txBody>
          <a:bodyPr wrap="square" lIns="0" tIns="0" rIns="0" bIns="0" anchor="t">
            <a:spAutoFit/>
          </a:bodyPr>
          <a:lstStyle/>
          <a:p>
            <a:pPr algn="l">
              <a:spcBef>
                <a:spcPts val="0"/>
              </a:spcBef>
              <a:spcAft>
                <a:spcPts val="0"/>
              </a:spcAft>
            </a:pPr>
            <a:r>
              <a:rPr sz="1300" b="1" i="0">
                <a:solidFill>
                  <a:srgbClr val="1C2B24"/>
                </a:solidFill>
                <a:latin typeface="Calibri" panose="020F0502020204030204"/>
              </a:rPr>
              <a:t>Mức 2</a:t>
            </a:r>
            <a:endParaRPr sz="1300" b="1" i="0">
              <a:solidFill>
                <a:srgbClr val="1C2B24"/>
              </a:solidFill>
              <a:latin typeface="Calibri" panose="020F0502020204030204"/>
            </a:endParaRPr>
          </a:p>
        </p:txBody>
      </p:sp>
      <p:sp>
        <p:nvSpPr>
          <p:cNvPr id="21" name="TextBox 20"/>
          <p:cNvSpPr txBox="1"/>
          <p:nvPr/>
        </p:nvSpPr>
        <p:spPr>
          <a:xfrm>
            <a:off x="7498079" y="3255264"/>
            <a:ext cx="3931920" cy="32004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Hết tuần 9 mà tương tranh chưa pass</a:t>
            </a:r>
            <a:endParaRPr sz="1200" b="0" i="0">
              <a:solidFill>
                <a:srgbClr val="5A6B62"/>
              </a:solidFill>
              <a:latin typeface="Calibri" panose="020F0502020204030204"/>
            </a:endParaRPr>
          </a:p>
        </p:txBody>
      </p:sp>
      <p:sp>
        <p:nvSpPr>
          <p:cNvPr id="22" name="TextBox 21"/>
          <p:cNvSpPr txBox="1"/>
          <p:nvPr/>
        </p:nvSpPr>
        <p:spPr>
          <a:xfrm>
            <a:off x="6464808" y="3657600"/>
            <a:ext cx="4937760" cy="32004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Cắt thêm Promotion Engine trên Redis</a:t>
            </a:r>
            <a:endParaRPr sz="1250" b="1" i="0">
              <a:solidFill>
                <a:srgbClr val="1C2B24"/>
              </a:solidFill>
              <a:latin typeface="Calibri" panose="020F0502020204030204"/>
            </a:endParaRPr>
          </a:p>
        </p:txBody>
      </p:sp>
      <p:sp>
        <p:nvSpPr>
          <p:cNvPr id="23" name="Rounded Rectangle 22"/>
          <p:cNvSpPr/>
          <p:nvPr/>
        </p:nvSpPr>
        <p:spPr>
          <a:xfrm>
            <a:off x="6190488" y="4160520"/>
            <a:ext cx="5440680" cy="960120"/>
          </a:xfrm>
          <a:prstGeom prst="roundRect">
            <a:avLst>
              <a:gd name="adj" fmla="val 6000"/>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4808" y="4306824"/>
            <a:ext cx="1005840" cy="274320"/>
          </a:xfrm>
          <a:prstGeom prst="rect">
            <a:avLst/>
          </a:prstGeom>
          <a:noFill/>
        </p:spPr>
        <p:txBody>
          <a:bodyPr wrap="square" lIns="0" tIns="0" rIns="0" bIns="0" anchor="t">
            <a:spAutoFit/>
          </a:bodyPr>
          <a:lstStyle/>
          <a:p>
            <a:pPr algn="l">
              <a:spcBef>
                <a:spcPts val="0"/>
              </a:spcBef>
              <a:spcAft>
                <a:spcPts val="0"/>
              </a:spcAft>
            </a:pPr>
            <a:r>
              <a:rPr sz="1300" b="1" i="0">
                <a:solidFill>
                  <a:srgbClr val="1C2B24"/>
                </a:solidFill>
                <a:latin typeface="Calibri" panose="020F0502020204030204"/>
              </a:rPr>
              <a:t>Mức 3</a:t>
            </a:r>
            <a:endParaRPr sz="1300" b="1" i="0">
              <a:solidFill>
                <a:srgbClr val="1C2B24"/>
              </a:solidFill>
              <a:latin typeface="Calibri" panose="020F0502020204030204"/>
            </a:endParaRPr>
          </a:p>
        </p:txBody>
      </p:sp>
      <p:sp>
        <p:nvSpPr>
          <p:cNvPr id="25" name="TextBox 24"/>
          <p:cNvSpPr txBox="1"/>
          <p:nvPr/>
        </p:nvSpPr>
        <p:spPr>
          <a:xfrm>
            <a:off x="7498079" y="4306824"/>
            <a:ext cx="3931920" cy="32004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Hết tuần 11 còn Must Have dang dở</a:t>
            </a:r>
            <a:endParaRPr sz="1200" b="0" i="0">
              <a:solidFill>
                <a:srgbClr val="5A6B62"/>
              </a:solidFill>
              <a:latin typeface="Calibri" panose="020F0502020204030204"/>
            </a:endParaRPr>
          </a:p>
        </p:txBody>
      </p:sp>
      <p:sp>
        <p:nvSpPr>
          <p:cNvPr id="26" name="TextBox 25"/>
          <p:cNvSpPr txBox="1"/>
          <p:nvPr/>
        </p:nvSpPr>
        <p:spPr>
          <a:xfrm>
            <a:off x="6464808" y="4709159"/>
            <a:ext cx="4937760" cy="32004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Cắt toàn bộ Nice to Have, giữ đúng phần lõi</a:t>
            </a:r>
            <a:endParaRPr sz="1250" b="1" i="0">
              <a:solidFill>
                <a:srgbClr val="1C2B24"/>
              </a:solidFill>
              <a:latin typeface="Calibri" panose="020F0502020204030204"/>
            </a:endParaRPr>
          </a:p>
        </p:txBody>
      </p:sp>
      <p:sp>
        <p:nvSpPr>
          <p:cNvPr id="27" name="Rounded Rectangle 26"/>
          <p:cNvSpPr/>
          <p:nvPr/>
        </p:nvSpPr>
        <p:spPr>
          <a:xfrm>
            <a:off x="6190488" y="5212079"/>
            <a:ext cx="5440680" cy="960120"/>
          </a:xfrm>
          <a:prstGeom prst="roundRect">
            <a:avLst>
              <a:gd name="adj" fmla="val 6000"/>
            </a:avLst>
          </a:prstGeom>
          <a:solidFill>
            <a:srgbClr val="F4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64808" y="5358383"/>
            <a:ext cx="1005840" cy="274320"/>
          </a:xfrm>
          <a:prstGeom prst="rect">
            <a:avLst/>
          </a:prstGeom>
          <a:noFill/>
        </p:spPr>
        <p:txBody>
          <a:bodyPr wrap="square" lIns="0" tIns="0" rIns="0" bIns="0" anchor="t">
            <a:spAutoFit/>
          </a:bodyPr>
          <a:lstStyle/>
          <a:p>
            <a:pPr algn="l">
              <a:spcBef>
                <a:spcPts val="0"/>
              </a:spcBef>
              <a:spcAft>
                <a:spcPts val="0"/>
              </a:spcAft>
            </a:pPr>
            <a:r>
              <a:rPr sz="1300" b="1" i="0">
                <a:solidFill>
                  <a:srgbClr val="1C2B24"/>
                </a:solidFill>
                <a:latin typeface="Calibri" panose="020F0502020204030204"/>
              </a:rPr>
              <a:t>Mức 4</a:t>
            </a:r>
            <a:endParaRPr sz="1300" b="1" i="0">
              <a:solidFill>
                <a:srgbClr val="1C2B24"/>
              </a:solidFill>
              <a:latin typeface="Calibri" panose="020F0502020204030204"/>
            </a:endParaRPr>
          </a:p>
        </p:txBody>
      </p:sp>
      <p:sp>
        <p:nvSpPr>
          <p:cNvPr id="29" name="TextBox 28"/>
          <p:cNvSpPr txBox="1"/>
          <p:nvPr/>
        </p:nvSpPr>
        <p:spPr>
          <a:xfrm>
            <a:off x="7498079" y="5358383"/>
            <a:ext cx="3931920" cy="320040"/>
          </a:xfrm>
          <a:prstGeom prst="rect">
            <a:avLst/>
          </a:prstGeom>
          <a:noFill/>
        </p:spPr>
        <p:txBody>
          <a:bodyPr wrap="square" lIns="0" tIns="0" rIns="0" bIns="0" anchor="t">
            <a:spAutoFit/>
          </a:bodyPr>
          <a:lstStyle/>
          <a:p>
            <a:pPr algn="l">
              <a:spcBef>
                <a:spcPts val="0"/>
              </a:spcBef>
              <a:spcAft>
                <a:spcPts val="0"/>
              </a:spcAft>
            </a:pPr>
            <a:r>
              <a:rPr sz="1200" b="0" i="0">
                <a:solidFill>
                  <a:srgbClr val="5A6B62"/>
                </a:solidFill>
                <a:latin typeface="Calibri" panose="020F0502020204030204"/>
              </a:rPr>
              <a:t>Từ tuần 14 trở đi</a:t>
            </a:r>
            <a:endParaRPr sz="1200" b="0" i="0">
              <a:solidFill>
                <a:srgbClr val="5A6B62"/>
              </a:solidFill>
              <a:latin typeface="Calibri" panose="020F0502020204030204"/>
            </a:endParaRPr>
          </a:p>
        </p:txBody>
      </p:sp>
      <p:sp>
        <p:nvSpPr>
          <p:cNvPr id="30" name="TextBox 29"/>
          <p:cNvSpPr txBox="1"/>
          <p:nvPr/>
        </p:nvSpPr>
        <p:spPr>
          <a:xfrm>
            <a:off x="6464808" y="5760719"/>
            <a:ext cx="4937760" cy="320040"/>
          </a:xfrm>
          <a:prstGeom prst="rect">
            <a:avLst/>
          </a:prstGeom>
          <a:noFill/>
        </p:spPr>
        <p:txBody>
          <a:bodyPr wrap="square" lIns="0" tIns="0" rIns="0" bIns="0" anchor="t">
            <a:spAutoFit/>
          </a:bodyPr>
          <a:lstStyle/>
          <a:p>
            <a:pPr algn="l">
              <a:spcBef>
                <a:spcPts val="0"/>
              </a:spcBef>
              <a:spcAft>
                <a:spcPts val="0"/>
              </a:spcAft>
            </a:pPr>
            <a:r>
              <a:rPr sz="1250" b="1" i="0">
                <a:solidFill>
                  <a:srgbClr val="1C2B24"/>
                </a:solidFill>
                <a:latin typeface="Calibri" panose="020F0502020204030204"/>
              </a:rPr>
              <a:t>Đóng băng tính năng, chỉ sửa lỗi và luyện trình bày</a:t>
            </a:r>
            <a:endParaRPr sz="1250" b="1" i="0">
              <a:solidFill>
                <a:srgbClr val="1C2B24"/>
              </a:solidFill>
              <a:latin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352A"/>
        </a:solidFill>
        <a:effectLst/>
      </p:bgPr>
    </p:bg>
    <p:spTree>
      <p:nvGrpSpPr>
        <p:cNvPr id="1" name=""/>
        <p:cNvGrpSpPr/>
        <p:nvPr/>
      </p:nvGrpSpPr>
      <p:grpSpPr>
        <a:xfrm>
          <a:off x="0" y="0"/>
          <a:ext cx="0" cy="0"/>
          <a:chOff x="0" y="0"/>
          <a:chExt cx="0" cy="0"/>
        </a:xfrm>
      </p:grpSpPr>
      <p:sp>
        <p:nvSpPr>
          <p:cNvPr id="2" name="TextBox 1"/>
          <p:cNvSpPr txBox="1"/>
          <p:nvPr/>
        </p:nvSpPr>
        <p:spPr>
          <a:xfrm>
            <a:off x="914400" y="1051560"/>
            <a:ext cx="10332720" cy="365760"/>
          </a:xfrm>
          <a:prstGeom prst="rect">
            <a:avLst/>
          </a:prstGeom>
          <a:noFill/>
        </p:spPr>
        <p:txBody>
          <a:bodyPr wrap="square" lIns="0" tIns="0" rIns="0" bIns="0" anchor="t">
            <a:spAutoFit/>
          </a:bodyPr>
          <a:lstStyle/>
          <a:p>
            <a:pPr algn="l">
              <a:spcBef>
                <a:spcPts val="0"/>
              </a:spcBef>
              <a:spcAft>
                <a:spcPts val="0"/>
              </a:spcAft>
            </a:pPr>
            <a:r>
              <a:rPr sz="1300" b="1" i="0">
                <a:solidFill>
                  <a:srgbClr val="E08A1E"/>
                </a:solidFill>
                <a:latin typeface="Calibri" panose="020F0502020204030204"/>
              </a:rPr>
              <a:t>KẾT LUẬN</a:t>
            </a:r>
            <a:endParaRPr sz="1300" b="1" i="0">
              <a:solidFill>
                <a:srgbClr val="E08A1E"/>
              </a:solidFill>
              <a:latin typeface="Calibri" panose="020F0502020204030204"/>
            </a:endParaRPr>
          </a:p>
        </p:txBody>
      </p:sp>
      <p:sp>
        <p:nvSpPr>
          <p:cNvPr id="3" name="TextBox 2"/>
          <p:cNvSpPr txBox="1"/>
          <p:nvPr/>
        </p:nvSpPr>
        <p:spPr>
          <a:xfrm>
            <a:off x="914400" y="1536192"/>
            <a:ext cx="10332720" cy="640080"/>
          </a:xfrm>
          <a:prstGeom prst="rect">
            <a:avLst/>
          </a:prstGeom>
          <a:noFill/>
        </p:spPr>
        <p:txBody>
          <a:bodyPr wrap="square" lIns="0" tIns="0" rIns="0" bIns="0" anchor="t">
            <a:spAutoFit/>
          </a:bodyPr>
          <a:lstStyle/>
          <a:p>
            <a:pPr algn="l">
              <a:spcBef>
                <a:spcPts val="0"/>
              </a:spcBef>
              <a:spcAft>
                <a:spcPts val="0"/>
              </a:spcAft>
            </a:pPr>
            <a:r>
              <a:rPr sz="3400" b="1" i="0">
                <a:solidFill>
                  <a:srgbClr val="FFFFFF"/>
                </a:solidFill>
                <a:latin typeface="Cambria" panose="02040503050406030204"/>
              </a:rPr>
              <a:t>Vì sao đề tài này đáng làm</a:t>
            </a:r>
            <a:endParaRPr sz="3400" b="1" i="0">
              <a:solidFill>
                <a:srgbClr val="FFFFFF"/>
              </a:solidFill>
              <a:latin typeface="Cambria" panose="02040503050406030204"/>
            </a:endParaRPr>
          </a:p>
        </p:txBody>
      </p:sp>
      <p:sp>
        <p:nvSpPr>
          <p:cNvPr id="4" name="Rounded Rectangle 3"/>
          <p:cNvSpPr/>
          <p:nvPr/>
        </p:nvSpPr>
        <p:spPr>
          <a:xfrm>
            <a:off x="914400" y="2514600"/>
            <a:ext cx="10332720" cy="1051560"/>
          </a:xfrm>
          <a:prstGeom prst="roundRect">
            <a:avLst>
              <a:gd name="adj" fmla="val 6000"/>
            </a:avLst>
          </a:prstGeom>
          <a:solidFill>
            <a:srgbClr val="1B4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34440" y="2697480"/>
            <a:ext cx="9692640" cy="320040"/>
          </a:xfrm>
          <a:prstGeom prst="rect">
            <a:avLst/>
          </a:prstGeom>
          <a:noFill/>
        </p:spPr>
        <p:txBody>
          <a:bodyPr wrap="square" lIns="0" tIns="0" rIns="0" bIns="0" anchor="t">
            <a:spAutoFit/>
          </a:bodyPr>
          <a:lstStyle/>
          <a:p>
            <a:pPr algn="l">
              <a:spcBef>
                <a:spcPts val="0"/>
              </a:spcBef>
              <a:spcAft>
                <a:spcPts val="0"/>
              </a:spcAft>
            </a:pPr>
            <a:r>
              <a:rPr sz="1600" b="1" i="0">
                <a:solidFill>
                  <a:srgbClr val="E08A1E"/>
                </a:solidFill>
                <a:latin typeface="Calibri" panose="020F0502020204030204"/>
              </a:rPr>
              <a:t>Bài toán có thật</a:t>
            </a:r>
            <a:endParaRPr sz="1600" b="1" i="0">
              <a:solidFill>
                <a:srgbClr val="E08A1E"/>
              </a:solidFill>
              <a:latin typeface="Calibri" panose="020F0502020204030204"/>
            </a:endParaRPr>
          </a:p>
        </p:txBody>
      </p:sp>
      <p:sp>
        <p:nvSpPr>
          <p:cNvPr id="6" name="TextBox 5"/>
          <p:cNvSpPr txBox="1"/>
          <p:nvPr/>
        </p:nvSpPr>
        <p:spPr>
          <a:xfrm>
            <a:off x="1234440" y="3044952"/>
            <a:ext cx="9692640" cy="457200"/>
          </a:xfrm>
          <a:prstGeom prst="rect">
            <a:avLst/>
          </a:prstGeom>
          <a:noFill/>
        </p:spPr>
        <p:txBody>
          <a:bodyPr wrap="square" lIns="0" tIns="0" rIns="0" bIns="0" anchor="t">
            <a:spAutoFit/>
          </a:bodyPr>
          <a:lstStyle/>
          <a:p>
            <a:pPr algn="l">
              <a:spcBef>
                <a:spcPts val="0"/>
              </a:spcBef>
              <a:spcAft>
                <a:spcPts val="0"/>
              </a:spcAft>
            </a:pPr>
            <a:r>
              <a:rPr sz="1350" b="0" i="0">
                <a:solidFill>
                  <a:srgbClr val="8FBF9F"/>
                </a:solidFill>
                <a:latin typeface="Calibri" panose="020F0502020204030204"/>
              </a:rPr>
              <a:t>Hàng cận date bị kẹt kho là nỗi đau đo được bằng tiền của nhà phân phối FMCG vừa và nhỏ.</a:t>
            </a:r>
            <a:endParaRPr sz="1350" b="0" i="0">
              <a:solidFill>
                <a:srgbClr val="8FBF9F"/>
              </a:solidFill>
              <a:latin typeface="Calibri" panose="020F0502020204030204"/>
            </a:endParaRPr>
          </a:p>
        </p:txBody>
      </p:sp>
      <p:sp>
        <p:nvSpPr>
          <p:cNvPr id="7" name="Rounded Rectangle 6"/>
          <p:cNvSpPr/>
          <p:nvPr/>
        </p:nvSpPr>
        <p:spPr>
          <a:xfrm>
            <a:off x="914400" y="3703320"/>
            <a:ext cx="10332720" cy="1051560"/>
          </a:xfrm>
          <a:prstGeom prst="roundRect">
            <a:avLst>
              <a:gd name="adj" fmla="val 6000"/>
            </a:avLst>
          </a:prstGeom>
          <a:solidFill>
            <a:srgbClr val="1B4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34440" y="3886200"/>
            <a:ext cx="9692640" cy="320040"/>
          </a:xfrm>
          <a:prstGeom prst="rect">
            <a:avLst/>
          </a:prstGeom>
          <a:noFill/>
        </p:spPr>
        <p:txBody>
          <a:bodyPr wrap="square" lIns="0" tIns="0" rIns="0" bIns="0" anchor="t">
            <a:spAutoFit/>
          </a:bodyPr>
          <a:lstStyle/>
          <a:p>
            <a:pPr algn="l">
              <a:spcBef>
                <a:spcPts val="0"/>
              </a:spcBef>
              <a:spcAft>
                <a:spcPts val="0"/>
              </a:spcAft>
            </a:pPr>
            <a:r>
              <a:rPr sz="1600" b="1" i="0">
                <a:solidFill>
                  <a:srgbClr val="E08A1E"/>
                </a:solidFill>
                <a:latin typeface="Calibri" panose="020F0502020204030204"/>
              </a:rPr>
              <a:t>Giải pháp có chiều sâu kỹ thuật</a:t>
            </a:r>
            <a:endParaRPr sz="1600" b="1" i="0">
              <a:solidFill>
                <a:srgbClr val="E08A1E"/>
              </a:solidFill>
              <a:latin typeface="Calibri" panose="020F0502020204030204"/>
            </a:endParaRPr>
          </a:p>
        </p:txBody>
      </p:sp>
      <p:sp>
        <p:nvSpPr>
          <p:cNvPr id="9" name="TextBox 8"/>
          <p:cNvSpPr txBox="1"/>
          <p:nvPr/>
        </p:nvSpPr>
        <p:spPr>
          <a:xfrm>
            <a:off x="1234440" y="4233672"/>
            <a:ext cx="9692640" cy="457200"/>
          </a:xfrm>
          <a:prstGeom prst="rect">
            <a:avLst/>
          </a:prstGeom>
          <a:noFill/>
        </p:spPr>
        <p:txBody>
          <a:bodyPr wrap="square" lIns="0" tIns="0" rIns="0" bIns="0" anchor="t">
            <a:spAutoFit/>
          </a:bodyPr>
          <a:lstStyle/>
          <a:p>
            <a:pPr algn="l">
              <a:spcBef>
                <a:spcPts val="0"/>
              </a:spcBef>
              <a:spcAft>
                <a:spcPts val="0"/>
              </a:spcAft>
            </a:pPr>
            <a:r>
              <a:rPr sz="1350" b="0" i="0">
                <a:solidFill>
                  <a:srgbClr val="8FBF9F"/>
                </a:solidFill>
                <a:latin typeface="Calibri" panose="020F0502020204030204"/>
              </a:rPr>
              <a:t>Không dừng ở CRUD: mô hình dữ liệu theo lô, thuật toán trừ dồn đa lô, xử lý tương tranh và kiến trúc offline-first.</a:t>
            </a:r>
            <a:endParaRPr sz="1350" b="0" i="0">
              <a:solidFill>
                <a:srgbClr val="8FBF9F"/>
              </a:solidFill>
              <a:latin typeface="Calibri" panose="020F0502020204030204"/>
            </a:endParaRPr>
          </a:p>
        </p:txBody>
      </p:sp>
      <p:sp>
        <p:nvSpPr>
          <p:cNvPr id="10" name="Rounded Rectangle 9"/>
          <p:cNvSpPr/>
          <p:nvPr/>
        </p:nvSpPr>
        <p:spPr>
          <a:xfrm>
            <a:off x="914400" y="4892040"/>
            <a:ext cx="10332720" cy="1051560"/>
          </a:xfrm>
          <a:prstGeom prst="roundRect">
            <a:avLst>
              <a:gd name="adj" fmla="val 6000"/>
            </a:avLst>
          </a:prstGeom>
          <a:solidFill>
            <a:srgbClr val="1B47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5074920"/>
            <a:ext cx="9692640" cy="320040"/>
          </a:xfrm>
          <a:prstGeom prst="rect">
            <a:avLst/>
          </a:prstGeom>
          <a:noFill/>
        </p:spPr>
        <p:txBody>
          <a:bodyPr wrap="square" lIns="0" tIns="0" rIns="0" bIns="0" anchor="t">
            <a:spAutoFit/>
          </a:bodyPr>
          <a:lstStyle/>
          <a:p>
            <a:pPr algn="l">
              <a:spcBef>
                <a:spcPts val="0"/>
              </a:spcBef>
              <a:spcAft>
                <a:spcPts val="0"/>
              </a:spcAft>
            </a:pPr>
            <a:r>
              <a:rPr sz="1600" b="1" i="0">
                <a:solidFill>
                  <a:srgbClr val="E08A1E"/>
                </a:solidFill>
                <a:latin typeface="Calibri" panose="020F0502020204030204"/>
              </a:rPr>
              <a:t>Phạm vi được kiểm soát</a:t>
            </a:r>
            <a:endParaRPr sz="1600" b="1" i="0">
              <a:solidFill>
                <a:srgbClr val="E08A1E"/>
              </a:solidFill>
              <a:latin typeface="Calibri" panose="020F0502020204030204"/>
            </a:endParaRPr>
          </a:p>
        </p:txBody>
      </p:sp>
      <p:sp>
        <p:nvSpPr>
          <p:cNvPr id="12" name="TextBox 11"/>
          <p:cNvSpPr txBox="1"/>
          <p:nvPr/>
        </p:nvSpPr>
        <p:spPr>
          <a:xfrm>
            <a:off x="1234440" y="5422392"/>
            <a:ext cx="9692640" cy="457200"/>
          </a:xfrm>
          <a:prstGeom prst="rect">
            <a:avLst/>
          </a:prstGeom>
          <a:noFill/>
        </p:spPr>
        <p:txBody>
          <a:bodyPr wrap="square" lIns="0" tIns="0" rIns="0" bIns="0" anchor="t">
            <a:spAutoFit/>
          </a:bodyPr>
          <a:lstStyle/>
          <a:p>
            <a:pPr algn="l">
              <a:spcBef>
                <a:spcPts val="0"/>
              </a:spcBef>
              <a:spcAft>
                <a:spcPts val="0"/>
              </a:spcAft>
            </a:pPr>
            <a:r>
              <a:rPr sz="1350" b="0" i="0">
                <a:solidFill>
                  <a:srgbClr val="8FBF9F"/>
                </a:solidFill>
                <a:latin typeface="Calibri" panose="020F0502020204030204"/>
              </a:rPr>
              <a:t>5 tính năng bắt buộc có tiêu chí nghiệm thu đo được, 5 tính năng mở rộng sẵn sàng cắt khi cần.</a:t>
            </a:r>
            <a:endParaRPr sz="1350" b="0" i="0">
              <a:solidFill>
                <a:srgbClr val="8FBF9F"/>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13646</Words>
  <Application>WPS Presentation</Application>
  <PresentationFormat>Widescreen</PresentationFormat>
  <Paragraphs>669</Paragraphs>
  <Slides>28</Slides>
  <Notes>28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SimSun</vt:lpstr>
      <vt:lpstr>Wingdings</vt:lpstr>
      <vt:lpstr>Arial</vt:lpstr>
      <vt:lpstr>Calibri</vt:lpstr>
      <vt:lpstr>Cambria</vt:lpstr>
      <vt:lpstr>Microsoft YaHei</vt:lpstr>
      <vt:lpstr/>
      <vt:lpstr>Arial Unicode MS</vt:lpstr>
      <vt:lpstr>Aptos</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ACER</cp:lastModifiedBy>
  <cp:revision>3</cp:revision>
  <dcterms:created xsi:type="dcterms:W3CDTF">2013-01-27T09:14:00Z</dcterms:created>
  <dcterms:modified xsi:type="dcterms:W3CDTF">2026-08-07T12:11:54Z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