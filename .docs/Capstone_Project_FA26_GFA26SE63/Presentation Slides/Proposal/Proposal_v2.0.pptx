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30"/>
        </a:solidFill>
      </p:bgPr>
    </p:bg>
    <p:spTree>
      <p:nvGrpSpPr>
        <p:cNvPr id="1" name=""/>
        <p:cNvGrpSpPr/>
        <p:nvPr/>
      </p:nvGrpSpPr>
      <p:grpSpPr>
        <a:xfrm>
          <a:off x="0" y="0"/>
          <a:ext cx="0" cy="0"/>
          <a:chOff x="0" y="0"/>
          <a:chExt cx="0" cy="0"/>
        </a:xfrm>
      </p:grpSpPr>
      <p:sp>
        <p:nvSpPr>
          <p:cNvPr id="2" name="Shape 0"/>
          <p:cNvSpPr/>
          <p:nvPr/>
        </p:nvSpPr>
        <p:spPr>
          <a:xfrm>
            <a:off x="9692640" y="1188720"/>
            <a:ext cx="1371600" cy="1097280"/>
          </a:xfrm>
          <a:prstGeom prst="line">
            <a:avLst/>
          </a:prstGeom>
          <a:noFill/>
          <a:ln w="15875">
            <a:solidFill>
              <a:srgbClr val="1C7293">
                <a:alpha val="65000"/>
              </a:srgbClr>
            </a:solidFill>
            <a:prstDash val="solid"/>
          </a:ln>
        </p:spPr>
      </p:sp>
      <p:sp>
        <p:nvSpPr>
          <p:cNvPr id="3" name="Shape 1"/>
          <p:cNvSpPr/>
          <p:nvPr/>
        </p:nvSpPr>
        <p:spPr>
          <a:xfrm>
            <a:off x="9692640" y="1188720"/>
            <a:ext cx="274320" cy="2194560"/>
          </a:xfrm>
          <a:prstGeom prst="line">
            <a:avLst/>
          </a:prstGeom>
          <a:noFill/>
          <a:ln w="15875">
            <a:solidFill>
              <a:srgbClr val="1C7293">
                <a:alpha val="65000"/>
              </a:srgbClr>
            </a:solidFill>
            <a:prstDash val="solid"/>
          </a:ln>
        </p:spPr>
      </p:sp>
      <p:sp>
        <p:nvSpPr>
          <p:cNvPr id="4" name="Shape 2"/>
          <p:cNvSpPr/>
          <p:nvPr/>
        </p:nvSpPr>
        <p:spPr>
          <a:xfrm flipH="1">
            <a:off x="9966960" y="2286000"/>
            <a:ext cx="1097280" cy="1097280"/>
          </a:xfrm>
          <a:prstGeom prst="line">
            <a:avLst/>
          </a:prstGeom>
          <a:noFill/>
          <a:ln w="15875">
            <a:solidFill>
              <a:srgbClr val="1C7293">
                <a:alpha val="65000"/>
              </a:srgbClr>
            </a:solidFill>
            <a:prstDash val="solid"/>
          </a:ln>
        </p:spPr>
      </p:sp>
      <p:sp>
        <p:nvSpPr>
          <p:cNvPr id="5" name="Shape 3"/>
          <p:cNvSpPr/>
          <p:nvPr/>
        </p:nvSpPr>
        <p:spPr>
          <a:xfrm>
            <a:off x="9491472" y="987552"/>
            <a:ext cx="402336" cy="402336"/>
          </a:xfrm>
          <a:prstGeom prst="ellipse">
            <a:avLst/>
          </a:prstGeom>
          <a:solidFill>
            <a:srgbClr val="0FA3B1">
              <a:alpha val="65000"/>
            </a:srgbClr>
          </a:solidFill>
          <a:ln/>
        </p:spPr>
      </p:sp>
      <p:sp>
        <p:nvSpPr>
          <p:cNvPr id="6" name="Shape 4"/>
          <p:cNvSpPr/>
          <p:nvPr/>
        </p:nvSpPr>
        <p:spPr>
          <a:xfrm>
            <a:off x="10863072" y="2084832"/>
            <a:ext cx="402336" cy="402336"/>
          </a:xfrm>
          <a:prstGeom prst="ellipse">
            <a:avLst/>
          </a:prstGeom>
          <a:solidFill>
            <a:srgbClr val="0FA3B1">
              <a:alpha val="65000"/>
            </a:srgbClr>
          </a:solidFill>
          <a:ln/>
        </p:spPr>
      </p:sp>
      <p:sp>
        <p:nvSpPr>
          <p:cNvPr id="7" name="Shape 5"/>
          <p:cNvSpPr/>
          <p:nvPr/>
        </p:nvSpPr>
        <p:spPr>
          <a:xfrm>
            <a:off x="9765792" y="3182112"/>
            <a:ext cx="402336" cy="402336"/>
          </a:xfrm>
          <a:prstGeom prst="ellipse">
            <a:avLst/>
          </a:prstGeom>
          <a:solidFill>
            <a:srgbClr val="0FA3B1">
              <a:alpha val="65000"/>
            </a:srgbClr>
          </a:solidFill>
          <a:ln/>
        </p:spPr>
      </p:sp>
      <p:sp>
        <p:nvSpPr>
          <p:cNvPr id="8" name="Text 6"/>
          <p:cNvSpPr/>
          <p:nvPr/>
        </p:nvSpPr>
        <p:spPr>
          <a:xfrm>
            <a:off x="685800" y="1234440"/>
            <a:ext cx="9144000" cy="320040"/>
          </a:xfrm>
          <a:prstGeom prst="rect">
            <a:avLst/>
          </a:prstGeom>
          <a:noFill/>
          <a:ln/>
        </p:spPr>
        <p:txBody>
          <a:bodyPr wrap="square" rtlCol="0" anchor="ctr"/>
          <a:lstStyle/>
          <a:p>
            <a:pPr indent="0" marL="0">
              <a:buNone/>
            </a:pPr>
            <a:r>
              <a:rPr lang="en-US" sz="1300" b="1" spc="200" kern="0" dirty="0">
                <a:solidFill>
                  <a:srgbClr val="0FA3B1"/>
                </a:solidFill>
                <a:latin typeface="Calibri" pitchFamily="34" charset="0"/>
                <a:ea typeface="Calibri" pitchFamily="34" charset="-122"/>
                <a:cs typeface="Calibri" pitchFamily="34" charset="-120"/>
              </a:rPr>
              <a:t>BÁO CÁO PHƯƠNG PHÁP LUẬN  ·  KHOÁ LUẬN TỐT NGHIỆP</a:t>
            </a:r>
            <a:endParaRPr lang="en-US" sz="1300" dirty="0"/>
          </a:p>
        </p:txBody>
      </p:sp>
      <p:sp>
        <p:nvSpPr>
          <p:cNvPr id="9" name="Text 7"/>
          <p:cNvSpPr/>
          <p:nvPr/>
        </p:nvSpPr>
        <p:spPr>
          <a:xfrm>
            <a:off x="685800" y="1691640"/>
            <a:ext cx="9692640" cy="1737360"/>
          </a:xfrm>
          <a:prstGeom prst="rect">
            <a:avLst/>
          </a:prstGeom>
          <a:noFill/>
          <a:ln/>
        </p:spPr>
        <p:txBody>
          <a:bodyPr wrap="square" rtlCol="0" anchor="ctr"/>
          <a:lstStyle/>
          <a:p>
            <a:pPr indent="0" marL="0">
              <a:lnSpc>
                <a:spcPts val="4400"/>
              </a:lnSpc>
              <a:buNone/>
            </a:pPr>
            <a:r>
              <a:rPr lang="en-US" sz="3800" b="1" dirty="0">
                <a:solidFill>
                  <a:srgbClr val="FFFFFF"/>
                </a:solidFill>
                <a:latin typeface="Times New Roman" pitchFamily="34" charset="0"/>
                <a:ea typeface="Times New Roman" pitchFamily="34" charset="-122"/>
                <a:cs typeface="Times New Roman" pitchFamily="34" charset="-120"/>
              </a:rPr>
              <a:t>TỐI ƯU LƯU KHO – PHÂN PHỐI – LUÂN CHUYỂN</a:t>
            </a:r>
            <a:endParaRPr lang="en-US" sz="3800" dirty="0"/>
          </a:p>
          <a:p>
            <a:pPr indent="0" marL="0">
              <a:lnSpc>
                <a:spcPts val="4400"/>
              </a:lnSpc>
              <a:buNone/>
            </a:pPr>
            <a:r>
              <a:rPr lang="en-US" sz="3800" b="1" dirty="0">
                <a:solidFill>
                  <a:srgbClr val="FFFFFF"/>
                </a:solidFill>
                <a:latin typeface="Times New Roman" pitchFamily="34" charset="0"/>
                <a:ea typeface="Times New Roman" pitchFamily="34" charset="-122"/>
                <a:cs typeface="Times New Roman" pitchFamily="34" charset="-120"/>
              </a:rPr>
              <a:t>HÀNG DỄ HỎNG ĐA KHO</a:t>
            </a:r>
            <a:endParaRPr lang="en-US" sz="3800" dirty="0"/>
          </a:p>
        </p:txBody>
      </p:sp>
      <p:sp>
        <p:nvSpPr>
          <p:cNvPr id="10" name="Text 8"/>
          <p:cNvSpPr/>
          <p:nvPr/>
        </p:nvSpPr>
        <p:spPr>
          <a:xfrm>
            <a:off x="685800" y="3520440"/>
            <a:ext cx="9326880" cy="45720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Khung ra quyết định cân bằng lợi ích Doanh nghiệp  ·  Nhà bán lẻ  ·  Người tiêu dùng</a:t>
            </a:r>
            <a:endParaRPr lang="en-US" sz="1800" dirty="0"/>
          </a:p>
        </p:txBody>
      </p:sp>
      <p:sp>
        <p:nvSpPr>
          <p:cNvPr id="11" name="Shape 9"/>
          <p:cNvSpPr/>
          <p:nvPr/>
        </p:nvSpPr>
        <p:spPr>
          <a:xfrm>
            <a:off x="685800" y="5349240"/>
            <a:ext cx="10789920" cy="914400"/>
          </a:xfrm>
          <a:prstGeom prst="roundRect">
            <a:avLst>
              <a:gd name="adj" fmla="val 9000"/>
            </a:avLst>
          </a:prstGeom>
          <a:solidFill>
            <a:srgbClr val="13253F"/>
          </a:solidFill>
          <a:ln/>
        </p:spPr>
      </p:sp>
      <p:sp>
        <p:nvSpPr>
          <p:cNvPr id="12" name="Text 10"/>
          <p:cNvSpPr/>
          <p:nvPr/>
        </p:nvSpPr>
        <p:spPr>
          <a:xfrm>
            <a:off x="960120" y="5468112"/>
            <a:ext cx="10241280" cy="320040"/>
          </a:xfrm>
          <a:prstGeom prst="rect">
            <a:avLst/>
          </a:prstGeom>
          <a:noFill/>
          <a:ln/>
        </p:spPr>
        <p:txBody>
          <a:bodyPr wrap="square" rtlCol="0" anchor="ctr"/>
          <a:lstStyle/>
          <a:p>
            <a:pPr indent="0" marL="0">
              <a:buNone/>
            </a:pPr>
            <a:r>
              <a:rPr lang="en-US" sz="1300" b="1" dirty="0">
                <a:solidFill>
                  <a:srgbClr val="0FA3B1"/>
                </a:solidFill>
                <a:latin typeface="Calibri" pitchFamily="34" charset="0"/>
                <a:ea typeface="Calibri" pitchFamily="34" charset="-122"/>
                <a:cs typeface="Calibri" pitchFamily="34" charset="-120"/>
              </a:rPr>
              <a:t>Case minh hoạ vận hành:  </a:t>
            </a:r>
            <a:pPr indent="0" marL="0">
              <a:buNone/>
            </a:pPr>
            <a:r>
              <a:rPr lang="en-US" sz="1300" dirty="0">
                <a:solidFill>
                  <a:srgbClr val="CADCFC"/>
                </a:solidFill>
                <a:latin typeface="Calibri" pitchFamily="34" charset="0"/>
                <a:ea typeface="Calibri" pitchFamily="34" charset="-122"/>
                <a:cs typeface="Calibri" pitchFamily="34" charset="-120"/>
              </a:rPr>
              <a:t>mạng lưới kho Distra — đơn hàng khu vực Quận 12, TP. Hồ Chí Minh</a:t>
            </a:r>
            <a:endParaRPr lang="en-US" sz="1300" dirty="0"/>
          </a:p>
        </p:txBody>
      </p:sp>
      <p:sp>
        <p:nvSpPr>
          <p:cNvPr id="13" name="Text 11"/>
          <p:cNvSpPr/>
          <p:nvPr/>
        </p:nvSpPr>
        <p:spPr>
          <a:xfrm>
            <a:off x="960120" y="5815584"/>
            <a:ext cx="10241280" cy="320040"/>
          </a:xfrm>
          <a:prstGeom prst="rect">
            <a:avLst/>
          </a:prstGeom>
          <a:noFill/>
          <a:ln/>
        </p:spPr>
        <p:txBody>
          <a:bodyPr wrap="square" rtlCol="0" anchor="ctr"/>
          <a:lstStyle/>
          <a:p>
            <a:pPr indent="0" marL="0">
              <a:buNone/>
            </a:pPr>
            <a:r>
              <a:rPr lang="en-US" sz="1300" b="1" dirty="0">
                <a:solidFill>
                  <a:srgbClr val="0FA3B1"/>
                </a:solidFill>
                <a:latin typeface="Calibri" pitchFamily="34" charset="0"/>
                <a:ea typeface="Calibri" pitchFamily="34" charset="-122"/>
                <a:cs typeface="Calibri" pitchFamily="34" charset="-120"/>
              </a:rPr>
              <a:t>Nền tảng học thuật:  </a:t>
            </a:r>
            <a:pPr indent="0" marL="0">
              <a:buNone/>
            </a:pPr>
            <a:r>
              <a:rPr lang="en-US" sz="1300" dirty="0">
                <a:solidFill>
                  <a:srgbClr val="CADCFC"/>
                </a:solidFill>
                <a:latin typeface="Calibri" pitchFamily="34" charset="0"/>
                <a:ea typeface="Calibri" pitchFamily="34" charset="-122"/>
                <a:cs typeface="Calibri" pitchFamily="34" charset="-120"/>
              </a:rPr>
              <a:t>21 nguồn tham khảo bình duyệt, kiểm chứng DOI độc lập  ·  cập nhật 24/08/2026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01 · TỔNG QUAN</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300" b="1" dirty="0">
                <a:solidFill>
                  <a:srgbClr val="13294B"/>
                </a:solidFill>
                <a:latin typeface="Times New Roman" pitchFamily="34" charset="0"/>
                <a:ea typeface="Times New Roman" pitchFamily="34" charset="-122"/>
                <a:cs typeface="Times New Roman" pitchFamily="34" charset="-120"/>
              </a:rPr>
              <a:t>Tổng quan hệ thống — từ đặt hàng đến tay người tiêu dùng</a:t>
            </a:r>
            <a:endParaRPr lang="en-US" sz="2300" dirty="0"/>
          </a:p>
        </p:txBody>
      </p:sp>
      <p:sp>
        <p:nvSpPr>
          <p:cNvPr id="4" name="Shape 2"/>
          <p:cNvSpPr/>
          <p:nvPr/>
        </p:nvSpPr>
        <p:spPr>
          <a:xfrm>
            <a:off x="457200" y="1417320"/>
            <a:ext cx="1737360" cy="2331720"/>
          </a:xfrm>
          <a:prstGeom prst="roundRect">
            <a:avLst>
              <a:gd name="adj" fmla="val 4737"/>
            </a:avLst>
          </a:prstGeom>
          <a:solidFill>
            <a:srgbClr val="1C7293"/>
          </a:solidFill>
          <a:ln w="12700">
            <a:solidFill>
              <a:srgbClr val="DCE4EC"/>
            </a:solidFill>
            <a:prstDash val="solid"/>
          </a:ln>
        </p:spPr>
      </p:sp>
      <p:sp>
        <p:nvSpPr>
          <p:cNvPr id="5" name="Text 3"/>
          <p:cNvSpPr/>
          <p:nvPr/>
        </p:nvSpPr>
        <p:spPr>
          <a:xfrm>
            <a:off x="548640" y="1581912"/>
            <a:ext cx="1554480" cy="548640"/>
          </a:xfrm>
          <a:prstGeom prst="rect">
            <a:avLst/>
          </a:prstGeom>
          <a:noFill/>
          <a:ln/>
        </p:spPr>
        <p:txBody>
          <a:bodyPr wrap="square" rtlCol="0" anchor="t"/>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NHÀ BÁN LẺ</a:t>
            </a:r>
            <a:endParaRPr lang="en-US" sz="1300" dirty="0"/>
          </a:p>
        </p:txBody>
      </p:sp>
      <p:sp>
        <p:nvSpPr>
          <p:cNvPr id="6" name="Text 4"/>
          <p:cNvSpPr/>
          <p:nvPr/>
        </p:nvSpPr>
        <p:spPr>
          <a:xfrm>
            <a:off x="566928" y="2194560"/>
            <a:ext cx="1517904" cy="1051560"/>
          </a:xfrm>
          <a:prstGeom prst="rect">
            <a:avLst/>
          </a:prstGeom>
          <a:noFill/>
          <a:ln/>
        </p:spPr>
        <p:txBody>
          <a:bodyPr wrap="square"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Đặt hàng theo chu kỳ tuần</a:t>
            </a:r>
            <a:endParaRPr lang="en-US" sz="950" dirty="0"/>
          </a:p>
        </p:txBody>
      </p:sp>
      <p:sp>
        <p:nvSpPr>
          <p:cNvPr id="7" name="Text 5"/>
          <p:cNvSpPr/>
          <p:nvPr/>
        </p:nvSpPr>
        <p:spPr>
          <a:xfrm>
            <a:off x="548640" y="3364992"/>
            <a:ext cx="1554480" cy="274320"/>
          </a:xfrm>
          <a:prstGeom prst="rect">
            <a:avLst/>
          </a:prstGeom>
          <a:noFill/>
          <a:ln/>
        </p:spPr>
        <p:txBody>
          <a:bodyPr wrap="square" rtlCol="0" anchor="ctr"/>
          <a:lstStyle/>
          <a:p>
            <a:pPr algn="ctr" indent="0" marL="0">
              <a:buNone/>
            </a:pPr>
            <a:r>
              <a:rPr lang="en-US" sz="850" i="1" dirty="0">
                <a:solidFill>
                  <a:srgbClr val="CADCFC"/>
                </a:solidFill>
                <a:latin typeface="Calibri" pitchFamily="34" charset="0"/>
                <a:ea typeface="Calibri" pitchFamily="34" charset="-122"/>
                <a:cs typeface="Calibri" pitchFamily="34" charset="-120"/>
              </a:rPr>
              <a:t>Bước A</a:t>
            </a:r>
            <a:endParaRPr lang="en-US" sz="850" dirty="0"/>
          </a:p>
        </p:txBody>
      </p:sp>
      <p:sp>
        <p:nvSpPr>
          <p:cNvPr id="8" name="Shape 6"/>
          <p:cNvSpPr/>
          <p:nvPr/>
        </p:nvSpPr>
        <p:spPr>
          <a:xfrm>
            <a:off x="2514600" y="1417320"/>
            <a:ext cx="1783080" cy="2331720"/>
          </a:xfrm>
          <a:prstGeom prst="roundRect">
            <a:avLst>
              <a:gd name="adj" fmla="val 4615"/>
            </a:avLst>
          </a:prstGeom>
          <a:solidFill>
            <a:srgbClr val="FFFFFF"/>
          </a:solidFill>
          <a:ln w="12700">
            <a:solidFill>
              <a:srgbClr val="DCE4EC"/>
            </a:solidFill>
            <a:prstDash val="solid"/>
          </a:ln>
        </p:spPr>
      </p:sp>
      <p:sp>
        <p:nvSpPr>
          <p:cNvPr id="9" name="Text 7"/>
          <p:cNvSpPr/>
          <p:nvPr/>
        </p:nvSpPr>
        <p:spPr>
          <a:xfrm>
            <a:off x="2606040" y="1581912"/>
            <a:ext cx="1600200" cy="548640"/>
          </a:xfrm>
          <a:prstGeom prst="rect">
            <a:avLst/>
          </a:prstGeom>
          <a:noFill/>
          <a:ln/>
        </p:spPr>
        <p:txBody>
          <a:bodyPr wrap="square" rtlCol="0" anchor="t"/>
          <a:lstStyle/>
          <a:p>
            <a:pPr algn="ctr" indent="0" marL="0">
              <a:buNone/>
            </a:pPr>
            <a:r>
              <a:rPr lang="en-US" sz="1300" b="1" dirty="0">
                <a:solidFill>
                  <a:srgbClr val="13294B"/>
                </a:solidFill>
                <a:latin typeface="Times New Roman" pitchFamily="34" charset="0"/>
                <a:ea typeface="Times New Roman" pitchFamily="34" charset="-122"/>
                <a:cs typeface="Times New Roman" pitchFamily="34" charset="-120"/>
              </a:rPr>
              <a:t>DỰ BÁO NHU CẦU</a:t>
            </a:r>
            <a:endParaRPr lang="en-US" sz="1300" dirty="0"/>
          </a:p>
        </p:txBody>
      </p:sp>
      <p:sp>
        <p:nvSpPr>
          <p:cNvPr id="10" name="Text 8"/>
          <p:cNvSpPr/>
          <p:nvPr/>
        </p:nvSpPr>
        <p:spPr>
          <a:xfrm>
            <a:off x="2624328" y="2194560"/>
            <a:ext cx="1563624" cy="1051560"/>
          </a:xfrm>
          <a:prstGeom prst="rect">
            <a:avLst/>
          </a:prstGeom>
          <a:noFill/>
          <a:ln/>
        </p:spPr>
        <p:txBody>
          <a:bodyPr wrap="square" rtlCol="0" anchor="t"/>
          <a:lstStyle/>
          <a:p>
            <a:pPr algn="ctr" indent="0" marL="0">
              <a:buNone/>
            </a:pPr>
            <a:r>
              <a:rPr lang="en-US" sz="950" dirty="0">
                <a:solidFill>
                  <a:srgbClr val="5B6B7C"/>
                </a:solidFill>
                <a:latin typeface="Calibri" pitchFamily="34" charset="0"/>
                <a:ea typeface="Calibri" pitchFamily="34" charset="-122"/>
                <a:cs typeface="Calibri" pitchFamily="34" charset="-120"/>
              </a:rPr>
              <a:t>Phân cụm cửa hàng tương đồng + cập nhật Bayes tuần tự</a:t>
            </a:r>
            <a:endParaRPr lang="en-US" sz="950" dirty="0"/>
          </a:p>
        </p:txBody>
      </p:sp>
      <p:sp>
        <p:nvSpPr>
          <p:cNvPr id="11" name="Text 9"/>
          <p:cNvSpPr/>
          <p:nvPr/>
        </p:nvSpPr>
        <p:spPr>
          <a:xfrm>
            <a:off x="2606040" y="3364992"/>
            <a:ext cx="1600200" cy="274320"/>
          </a:xfrm>
          <a:prstGeom prst="rect">
            <a:avLst/>
          </a:prstGeom>
          <a:noFill/>
          <a:ln/>
        </p:spPr>
        <p:txBody>
          <a:bodyPr wrap="square" rtlCol="0" anchor="ctr"/>
          <a:lstStyle/>
          <a:p>
            <a:pPr algn="ctr" indent="0" marL="0">
              <a:buNone/>
            </a:pPr>
            <a:r>
              <a:rPr lang="en-US" sz="850" i="1" dirty="0">
                <a:solidFill>
                  <a:srgbClr val="1C7293"/>
                </a:solidFill>
                <a:latin typeface="Calibri" pitchFamily="34" charset="0"/>
                <a:ea typeface="Calibri" pitchFamily="34" charset="-122"/>
                <a:cs typeface="Calibri" pitchFamily="34" charset="-120"/>
              </a:rPr>
              <a:t>Mô hình 1–4 · Bước A,B</a:t>
            </a:r>
            <a:endParaRPr lang="en-US" sz="850" dirty="0"/>
          </a:p>
        </p:txBody>
      </p:sp>
      <p:sp>
        <p:nvSpPr>
          <p:cNvPr id="12" name="Shape 10"/>
          <p:cNvSpPr/>
          <p:nvPr/>
        </p:nvSpPr>
        <p:spPr>
          <a:xfrm>
            <a:off x="4480560" y="1417320"/>
            <a:ext cx="2606040" cy="2331720"/>
          </a:xfrm>
          <a:prstGeom prst="roundRect">
            <a:avLst>
              <a:gd name="adj" fmla="val 3529"/>
            </a:avLst>
          </a:prstGeom>
          <a:solidFill>
            <a:srgbClr val="FFFFFF"/>
          </a:solidFill>
          <a:ln w="19050">
            <a:solidFill>
              <a:srgbClr val="0FA3B1"/>
            </a:solidFill>
            <a:prstDash val="solid"/>
          </a:ln>
        </p:spPr>
      </p:sp>
      <p:sp>
        <p:nvSpPr>
          <p:cNvPr id="13" name="Text 11"/>
          <p:cNvSpPr/>
          <p:nvPr/>
        </p:nvSpPr>
        <p:spPr>
          <a:xfrm>
            <a:off x="4572000" y="1554480"/>
            <a:ext cx="2423160" cy="320040"/>
          </a:xfrm>
          <a:prstGeom prst="rect">
            <a:avLst/>
          </a:prstGeom>
          <a:noFill/>
          <a:ln/>
        </p:spPr>
        <p:txBody>
          <a:bodyPr wrap="square" rtlCol="0" anchor="ctr"/>
          <a:lstStyle/>
          <a:p>
            <a:pPr algn="ctr" indent="0" marL="0">
              <a:buNone/>
            </a:pPr>
            <a:r>
              <a:rPr lang="en-US" sz="1250" b="1" dirty="0">
                <a:solidFill>
                  <a:srgbClr val="13294B"/>
                </a:solidFill>
                <a:latin typeface="Times New Roman" pitchFamily="34" charset="0"/>
                <a:ea typeface="Times New Roman" pitchFamily="34" charset="-122"/>
                <a:cs typeface="Times New Roman" pitchFamily="34" charset="-120"/>
              </a:rPr>
              <a:t>MẠNG LƯỚI KHO DISTRA</a:t>
            </a:r>
            <a:endParaRPr lang="en-US" sz="1250" dirty="0"/>
          </a:p>
        </p:txBody>
      </p:sp>
      <p:sp>
        <p:nvSpPr>
          <p:cNvPr id="14" name="Text 12"/>
          <p:cNvSpPr/>
          <p:nvPr/>
        </p:nvSpPr>
        <p:spPr>
          <a:xfrm>
            <a:off x="4572000" y="1874520"/>
            <a:ext cx="2423160" cy="274320"/>
          </a:xfrm>
          <a:prstGeom prst="rect">
            <a:avLst/>
          </a:prstGeom>
          <a:noFill/>
          <a:ln/>
        </p:spPr>
        <p:txBody>
          <a:bodyPr wrap="square" rtlCol="0" anchor="ctr"/>
          <a:lstStyle/>
          <a:p>
            <a:pPr algn="ctr" indent="0" marL="0">
              <a:buNone/>
            </a:pPr>
            <a:r>
              <a:rPr lang="en-US" sz="850" dirty="0">
                <a:solidFill>
                  <a:srgbClr val="5B6B7C"/>
                </a:solidFill>
                <a:latin typeface="Calibri" pitchFamily="34" charset="0"/>
                <a:ea typeface="Calibri" pitchFamily="34" charset="-122"/>
                <a:cs typeface="Calibri" pitchFamily="34" charset="-120"/>
              </a:rPr>
              <a:t>Sàng lọc theo khoảng cách (Haversine)</a:t>
            </a:r>
            <a:endParaRPr lang="en-US" sz="850" dirty="0"/>
          </a:p>
        </p:txBody>
      </p:sp>
      <p:sp>
        <p:nvSpPr>
          <p:cNvPr id="15" name="Shape 13"/>
          <p:cNvSpPr/>
          <p:nvPr/>
        </p:nvSpPr>
        <p:spPr>
          <a:xfrm>
            <a:off x="5166360" y="2560320"/>
            <a:ext cx="388620" cy="9144"/>
          </a:xfrm>
          <a:prstGeom prst="line">
            <a:avLst/>
          </a:prstGeom>
          <a:noFill/>
          <a:ln w="19050">
            <a:solidFill>
              <a:srgbClr val="E8A33D"/>
            </a:solidFill>
            <a:prstDash val="solid"/>
            <a:headEnd type="arrow"/>
            <a:tailEnd type="arrow"/>
          </a:ln>
        </p:spPr>
      </p:sp>
      <p:sp>
        <p:nvSpPr>
          <p:cNvPr id="16" name="Shape 14"/>
          <p:cNvSpPr/>
          <p:nvPr/>
        </p:nvSpPr>
        <p:spPr>
          <a:xfrm>
            <a:off x="6012180" y="2560320"/>
            <a:ext cx="388620" cy="9144"/>
          </a:xfrm>
          <a:prstGeom prst="line">
            <a:avLst/>
          </a:prstGeom>
          <a:noFill/>
          <a:ln w="19050">
            <a:solidFill>
              <a:srgbClr val="E8A33D"/>
            </a:solidFill>
            <a:prstDash val="solid"/>
            <a:headEnd type="arrow"/>
            <a:tailEnd type="arrow"/>
          </a:ln>
        </p:spPr>
      </p:sp>
      <p:sp>
        <p:nvSpPr>
          <p:cNvPr id="17" name="Shape 15"/>
          <p:cNvSpPr/>
          <p:nvPr/>
        </p:nvSpPr>
        <p:spPr>
          <a:xfrm>
            <a:off x="4709160" y="2331720"/>
            <a:ext cx="457200" cy="457200"/>
          </a:xfrm>
          <a:prstGeom prst="ellipse">
            <a:avLst/>
          </a:prstGeom>
          <a:solidFill>
            <a:srgbClr val="1C7293"/>
          </a:solidFill>
          <a:ln/>
        </p:spPr>
      </p:sp>
      <p:sp>
        <p:nvSpPr>
          <p:cNvPr id="18" name="Text 16"/>
          <p:cNvSpPr/>
          <p:nvPr/>
        </p:nvSpPr>
        <p:spPr>
          <a:xfrm>
            <a:off x="4709160" y="2331720"/>
            <a:ext cx="457200" cy="457200"/>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A</a:t>
            </a:r>
            <a:endParaRPr lang="en-US" sz="1300" dirty="0"/>
          </a:p>
        </p:txBody>
      </p:sp>
      <p:sp>
        <p:nvSpPr>
          <p:cNvPr id="19" name="Shape 17"/>
          <p:cNvSpPr/>
          <p:nvPr/>
        </p:nvSpPr>
        <p:spPr>
          <a:xfrm>
            <a:off x="5554980" y="2331720"/>
            <a:ext cx="457200" cy="457200"/>
          </a:xfrm>
          <a:prstGeom prst="ellipse">
            <a:avLst/>
          </a:prstGeom>
          <a:solidFill>
            <a:srgbClr val="1C7293"/>
          </a:solidFill>
          <a:ln/>
        </p:spPr>
      </p:sp>
      <p:sp>
        <p:nvSpPr>
          <p:cNvPr id="20" name="Text 18"/>
          <p:cNvSpPr/>
          <p:nvPr/>
        </p:nvSpPr>
        <p:spPr>
          <a:xfrm>
            <a:off x="5554980" y="2331720"/>
            <a:ext cx="457200" cy="457200"/>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B</a:t>
            </a:r>
            <a:endParaRPr lang="en-US" sz="1300" dirty="0"/>
          </a:p>
        </p:txBody>
      </p:sp>
      <p:sp>
        <p:nvSpPr>
          <p:cNvPr id="21" name="Shape 19"/>
          <p:cNvSpPr/>
          <p:nvPr/>
        </p:nvSpPr>
        <p:spPr>
          <a:xfrm>
            <a:off x="6400800" y="2331720"/>
            <a:ext cx="457200" cy="457200"/>
          </a:xfrm>
          <a:prstGeom prst="ellipse">
            <a:avLst/>
          </a:prstGeom>
          <a:solidFill>
            <a:srgbClr val="1C7293"/>
          </a:solidFill>
          <a:ln/>
        </p:spPr>
      </p:sp>
      <p:sp>
        <p:nvSpPr>
          <p:cNvPr id="22" name="Text 20"/>
          <p:cNvSpPr/>
          <p:nvPr/>
        </p:nvSpPr>
        <p:spPr>
          <a:xfrm>
            <a:off x="6400800" y="2331720"/>
            <a:ext cx="457200" cy="457200"/>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C</a:t>
            </a:r>
            <a:endParaRPr lang="en-US" sz="1300" dirty="0"/>
          </a:p>
        </p:txBody>
      </p:sp>
      <p:sp>
        <p:nvSpPr>
          <p:cNvPr id="23" name="Text 21"/>
          <p:cNvSpPr/>
          <p:nvPr/>
        </p:nvSpPr>
        <p:spPr>
          <a:xfrm>
            <a:off x="4572000" y="2898648"/>
            <a:ext cx="2423160" cy="274320"/>
          </a:xfrm>
          <a:prstGeom prst="rect">
            <a:avLst/>
          </a:prstGeom>
          <a:noFill/>
          <a:ln/>
        </p:spPr>
        <p:txBody>
          <a:bodyPr wrap="square" rtlCol="0" anchor="ctr"/>
          <a:lstStyle/>
          <a:p>
            <a:pPr algn="ctr" indent="0" marL="0">
              <a:buNone/>
            </a:pPr>
            <a:r>
              <a:rPr lang="en-US" sz="800" i="1" dirty="0">
                <a:solidFill>
                  <a:srgbClr val="E8A33D"/>
                </a:solidFill>
                <a:latin typeface="Calibri" pitchFamily="34" charset="0"/>
                <a:ea typeface="Calibri" pitchFamily="34" charset="-122"/>
                <a:cs typeface="Calibri" pitchFamily="34" charset="-120"/>
              </a:rPr>
              <a:t>luân chuyển khi tồn kho lệch — Mô hình 13</a:t>
            </a:r>
            <a:endParaRPr lang="en-US" sz="800" dirty="0"/>
          </a:p>
        </p:txBody>
      </p:sp>
      <p:sp>
        <p:nvSpPr>
          <p:cNvPr id="24" name="Text 22"/>
          <p:cNvSpPr/>
          <p:nvPr/>
        </p:nvSpPr>
        <p:spPr>
          <a:xfrm>
            <a:off x="4572000" y="3364992"/>
            <a:ext cx="2423160" cy="274320"/>
          </a:xfrm>
          <a:prstGeom prst="rect">
            <a:avLst/>
          </a:prstGeom>
          <a:noFill/>
          <a:ln/>
        </p:spPr>
        <p:txBody>
          <a:bodyPr wrap="square" rtlCol="0" anchor="ctr"/>
          <a:lstStyle/>
          <a:p>
            <a:pPr algn="ctr" indent="0" marL="0">
              <a:buNone/>
            </a:pPr>
            <a:r>
              <a:rPr lang="en-US" sz="850" i="1" dirty="0">
                <a:solidFill>
                  <a:srgbClr val="1C7293"/>
                </a:solidFill>
                <a:latin typeface="Calibri" pitchFamily="34" charset="0"/>
                <a:ea typeface="Calibri" pitchFamily="34" charset="-122"/>
                <a:cs typeface="Calibri" pitchFamily="34" charset="-120"/>
              </a:rPr>
              <a:t>Bước F · I</a:t>
            </a:r>
            <a:endParaRPr lang="en-US" sz="850" dirty="0"/>
          </a:p>
        </p:txBody>
      </p:sp>
      <p:sp>
        <p:nvSpPr>
          <p:cNvPr id="25" name="Shape 23"/>
          <p:cNvSpPr/>
          <p:nvPr/>
        </p:nvSpPr>
        <p:spPr>
          <a:xfrm>
            <a:off x="7360920" y="1417320"/>
            <a:ext cx="2148840" cy="2331720"/>
          </a:xfrm>
          <a:prstGeom prst="roundRect">
            <a:avLst>
              <a:gd name="adj" fmla="val 3830"/>
            </a:avLst>
          </a:prstGeom>
          <a:solidFill>
            <a:srgbClr val="FFFFFF"/>
          </a:solidFill>
          <a:ln w="12700">
            <a:solidFill>
              <a:srgbClr val="DCE4EC"/>
            </a:solidFill>
            <a:prstDash val="solid"/>
          </a:ln>
        </p:spPr>
      </p:sp>
      <p:sp>
        <p:nvSpPr>
          <p:cNvPr id="26" name="Text 24"/>
          <p:cNvSpPr/>
          <p:nvPr/>
        </p:nvSpPr>
        <p:spPr>
          <a:xfrm>
            <a:off x="7452360" y="1554480"/>
            <a:ext cx="1965960" cy="274320"/>
          </a:xfrm>
          <a:prstGeom prst="rect">
            <a:avLst/>
          </a:prstGeom>
          <a:noFill/>
          <a:ln/>
        </p:spPr>
        <p:txBody>
          <a:bodyPr wrap="square" rtlCol="0" anchor="ctr"/>
          <a:lstStyle/>
          <a:p>
            <a:pPr algn="ctr" indent="0" marL="0">
              <a:buNone/>
            </a:pPr>
            <a:r>
              <a:rPr lang="en-US" sz="1150" b="1" dirty="0">
                <a:solidFill>
                  <a:srgbClr val="13294B"/>
                </a:solidFill>
                <a:latin typeface="Times New Roman" pitchFamily="34" charset="0"/>
                <a:ea typeface="Times New Roman" pitchFamily="34" charset="-122"/>
                <a:cs typeface="Times New Roman" pitchFamily="34" charset="-120"/>
              </a:rPr>
              <a:t>HAI RÀNG BUỘC ĐỘ TƯƠI</a:t>
            </a:r>
            <a:endParaRPr lang="en-US" sz="1150" dirty="0"/>
          </a:p>
        </p:txBody>
      </p:sp>
      <p:sp>
        <p:nvSpPr>
          <p:cNvPr id="27" name="Shape 25"/>
          <p:cNvSpPr/>
          <p:nvPr/>
        </p:nvSpPr>
        <p:spPr>
          <a:xfrm>
            <a:off x="7498080" y="1920240"/>
            <a:ext cx="1874520" cy="384048"/>
          </a:xfrm>
          <a:prstGeom prst="roundRect">
            <a:avLst>
              <a:gd name="adj" fmla="val 14286"/>
            </a:avLst>
          </a:prstGeom>
          <a:solidFill>
            <a:srgbClr val="E6EEF5"/>
          </a:solidFill>
          <a:ln/>
        </p:spPr>
      </p:sp>
      <p:sp>
        <p:nvSpPr>
          <p:cNvPr id="28" name="Text 26"/>
          <p:cNvSpPr/>
          <p:nvPr/>
        </p:nvSpPr>
        <p:spPr>
          <a:xfrm>
            <a:off x="7543800" y="1920240"/>
            <a:ext cx="1783080" cy="384048"/>
          </a:xfrm>
          <a:prstGeom prst="rect">
            <a:avLst/>
          </a:prstGeom>
          <a:noFill/>
          <a:ln/>
        </p:spPr>
        <p:txBody>
          <a:bodyPr wrap="square"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MLOR — bảo vệ nhà bán lẻ</a:t>
            </a:r>
            <a:endParaRPr lang="en-US" sz="900" dirty="0"/>
          </a:p>
        </p:txBody>
      </p:sp>
      <p:sp>
        <p:nvSpPr>
          <p:cNvPr id="29" name="Shape 27"/>
          <p:cNvSpPr/>
          <p:nvPr/>
        </p:nvSpPr>
        <p:spPr>
          <a:xfrm>
            <a:off x="7498080" y="2350008"/>
            <a:ext cx="1874520" cy="384048"/>
          </a:xfrm>
          <a:prstGeom prst="roundRect">
            <a:avLst>
              <a:gd name="adj" fmla="val 14286"/>
            </a:avLst>
          </a:prstGeom>
          <a:solidFill>
            <a:srgbClr val="FCF0DC"/>
          </a:solidFill>
          <a:ln/>
        </p:spPr>
      </p:sp>
      <p:sp>
        <p:nvSpPr>
          <p:cNvPr id="30" name="Text 28"/>
          <p:cNvSpPr/>
          <p:nvPr/>
        </p:nvSpPr>
        <p:spPr>
          <a:xfrm>
            <a:off x="7543800" y="2350008"/>
            <a:ext cx="1783080" cy="384048"/>
          </a:xfrm>
          <a:prstGeom prst="rect">
            <a:avLst/>
          </a:prstGeom>
          <a:noFill/>
          <a:ln/>
        </p:spPr>
        <p:txBody>
          <a:bodyPr wrap="square" rtlCol="0" anchor="ctr"/>
          <a:lstStyle/>
          <a:p>
            <a:pPr algn="ctr" indent="0" marL="0">
              <a:buNone/>
            </a:pPr>
            <a:r>
              <a:rPr lang="en-US" sz="900" b="1" dirty="0">
                <a:solidFill>
                  <a:srgbClr val="8A5A15"/>
                </a:solidFill>
                <a:latin typeface="Calibri" pitchFamily="34" charset="0"/>
                <a:ea typeface="Calibri" pitchFamily="34" charset="-122"/>
                <a:cs typeface="Calibri" pitchFamily="34" charset="-120"/>
              </a:rPr>
              <a:t>Min-RSL — bảo vệ người tiêu dùng</a:t>
            </a:r>
            <a:endParaRPr lang="en-US" sz="900" dirty="0"/>
          </a:p>
        </p:txBody>
      </p:sp>
      <p:sp>
        <p:nvSpPr>
          <p:cNvPr id="31" name="Shape 29"/>
          <p:cNvSpPr/>
          <p:nvPr/>
        </p:nvSpPr>
        <p:spPr>
          <a:xfrm>
            <a:off x="8435340" y="2734056"/>
            <a:ext cx="9144" cy="128016"/>
          </a:xfrm>
          <a:prstGeom prst="line">
            <a:avLst/>
          </a:prstGeom>
          <a:noFill/>
          <a:ln w="19050">
            <a:solidFill>
              <a:srgbClr val="13294B"/>
            </a:solidFill>
            <a:prstDash val="solid"/>
            <a:headEnd type="none"/>
            <a:tailEnd type="arrow"/>
          </a:ln>
        </p:spPr>
      </p:sp>
      <p:sp>
        <p:nvSpPr>
          <p:cNvPr id="32" name="Shape 30"/>
          <p:cNvSpPr/>
          <p:nvPr/>
        </p:nvSpPr>
        <p:spPr>
          <a:xfrm>
            <a:off x="7498080" y="2880360"/>
            <a:ext cx="1874520" cy="384048"/>
          </a:xfrm>
          <a:prstGeom prst="roundRect">
            <a:avLst>
              <a:gd name="adj" fmla="val 14286"/>
            </a:avLst>
          </a:prstGeom>
          <a:solidFill>
            <a:srgbClr val="E4F1E8"/>
          </a:solidFill>
          <a:ln/>
        </p:spPr>
      </p:sp>
      <p:sp>
        <p:nvSpPr>
          <p:cNvPr id="33" name="Text 31"/>
          <p:cNvSpPr/>
          <p:nvPr/>
        </p:nvSpPr>
        <p:spPr>
          <a:xfrm>
            <a:off x="7543800" y="2880360"/>
            <a:ext cx="1783080" cy="384048"/>
          </a:xfrm>
          <a:prstGeom prst="rect">
            <a:avLst/>
          </a:prstGeom>
          <a:noFill/>
          <a:ln/>
        </p:spPr>
        <p:txBody>
          <a:bodyPr wrap="square" rtlCol="0" anchor="ctr"/>
          <a:lstStyle/>
          <a:p>
            <a:pPr algn="ctr" indent="0" marL="0">
              <a:buNone/>
            </a:pPr>
            <a:r>
              <a:rPr lang="en-US" sz="900" b="1" dirty="0">
                <a:solidFill>
                  <a:srgbClr val="1E7145"/>
                </a:solidFill>
                <a:latin typeface="Calibri" pitchFamily="34" charset="0"/>
                <a:ea typeface="Calibri" pitchFamily="34" charset="-122"/>
                <a:cs typeface="Calibri" pitchFamily="34" charset="-120"/>
              </a:rPr>
              <a:t>FEFO trong tập hợp lệ</a:t>
            </a:r>
            <a:endParaRPr lang="en-US" sz="900" dirty="0"/>
          </a:p>
        </p:txBody>
      </p:sp>
      <p:sp>
        <p:nvSpPr>
          <p:cNvPr id="34" name="Text 32"/>
          <p:cNvSpPr/>
          <p:nvPr/>
        </p:nvSpPr>
        <p:spPr>
          <a:xfrm>
            <a:off x="7452360" y="3364992"/>
            <a:ext cx="1965960" cy="274320"/>
          </a:xfrm>
          <a:prstGeom prst="rect">
            <a:avLst/>
          </a:prstGeom>
          <a:noFill/>
          <a:ln/>
        </p:spPr>
        <p:txBody>
          <a:bodyPr wrap="square" rtlCol="0" anchor="ctr"/>
          <a:lstStyle/>
          <a:p>
            <a:pPr algn="ctr" indent="0" marL="0">
              <a:buNone/>
            </a:pPr>
            <a:r>
              <a:rPr lang="en-US" sz="850" i="1" dirty="0">
                <a:solidFill>
                  <a:srgbClr val="1C7293"/>
                </a:solidFill>
                <a:latin typeface="Calibri" pitchFamily="34" charset="0"/>
                <a:ea typeface="Calibri" pitchFamily="34" charset="-122"/>
                <a:cs typeface="Calibri" pitchFamily="34" charset="-120"/>
              </a:rPr>
              <a:t>Mô hình 7 · 8 · 9</a:t>
            </a:r>
            <a:endParaRPr lang="en-US" sz="850" dirty="0"/>
          </a:p>
        </p:txBody>
      </p:sp>
      <p:sp>
        <p:nvSpPr>
          <p:cNvPr id="35" name="Shape 33"/>
          <p:cNvSpPr/>
          <p:nvPr/>
        </p:nvSpPr>
        <p:spPr>
          <a:xfrm>
            <a:off x="9829800" y="1417320"/>
            <a:ext cx="1874520" cy="2331720"/>
          </a:xfrm>
          <a:prstGeom prst="roundRect">
            <a:avLst>
              <a:gd name="adj" fmla="val 4390"/>
            </a:avLst>
          </a:prstGeom>
          <a:solidFill>
            <a:srgbClr val="13294B"/>
          </a:solidFill>
          <a:ln w="12700">
            <a:solidFill>
              <a:srgbClr val="13294B"/>
            </a:solidFill>
            <a:prstDash val="solid"/>
          </a:ln>
        </p:spPr>
      </p:sp>
      <p:sp>
        <p:nvSpPr>
          <p:cNvPr id="36" name="Text 34"/>
          <p:cNvSpPr/>
          <p:nvPr/>
        </p:nvSpPr>
        <p:spPr>
          <a:xfrm>
            <a:off x="9921240" y="1581912"/>
            <a:ext cx="1691640" cy="548640"/>
          </a:xfrm>
          <a:prstGeom prst="rect">
            <a:avLst/>
          </a:prstGeom>
          <a:noFill/>
          <a:ln/>
        </p:spPr>
        <p:txBody>
          <a:bodyPr wrap="square" rtlCol="0" anchor="t"/>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CHỌN KHO GẦN &amp; ĐỊNH TUYẾN</a:t>
            </a:r>
            <a:endParaRPr lang="en-US" sz="1200" dirty="0"/>
          </a:p>
        </p:txBody>
      </p:sp>
      <p:sp>
        <p:nvSpPr>
          <p:cNvPr id="37" name="Text 35"/>
          <p:cNvSpPr/>
          <p:nvPr/>
        </p:nvSpPr>
        <p:spPr>
          <a:xfrm>
            <a:off x="9939528" y="2194560"/>
            <a:ext cx="1655064" cy="1051560"/>
          </a:xfrm>
          <a:prstGeom prst="rect">
            <a:avLst/>
          </a:prstGeom>
          <a:noFill/>
          <a:ln/>
        </p:spPr>
        <p:txBody>
          <a:bodyPr wrap="square"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Haversine → Dijkstra → phân bổ / chia đơn giữa kho</a:t>
            </a:r>
            <a:endParaRPr lang="en-US" sz="950" dirty="0"/>
          </a:p>
        </p:txBody>
      </p:sp>
      <p:sp>
        <p:nvSpPr>
          <p:cNvPr id="38" name="Text 36"/>
          <p:cNvSpPr/>
          <p:nvPr/>
        </p:nvSpPr>
        <p:spPr>
          <a:xfrm>
            <a:off x="9921240" y="3364992"/>
            <a:ext cx="1691640" cy="274320"/>
          </a:xfrm>
          <a:prstGeom prst="rect">
            <a:avLst/>
          </a:prstGeom>
          <a:noFill/>
          <a:ln/>
        </p:spPr>
        <p:txBody>
          <a:bodyPr wrap="square" rtlCol="0" anchor="ctr"/>
          <a:lstStyle/>
          <a:p>
            <a:pPr algn="ctr" indent="0" marL="0">
              <a:buNone/>
            </a:pPr>
            <a:r>
              <a:rPr lang="en-US" sz="850" i="1" dirty="0">
                <a:solidFill>
                  <a:srgbClr val="CADCFC"/>
                </a:solidFill>
                <a:latin typeface="Calibri" pitchFamily="34" charset="0"/>
                <a:ea typeface="Calibri" pitchFamily="34" charset="-122"/>
                <a:cs typeface="Calibri" pitchFamily="34" charset="-120"/>
              </a:rPr>
              <a:t>Mô hình 10–12 · Bước G,H</a:t>
            </a:r>
            <a:endParaRPr lang="en-US" sz="850" dirty="0"/>
          </a:p>
        </p:txBody>
      </p:sp>
      <p:sp>
        <p:nvSpPr>
          <p:cNvPr id="39" name="Shape 37"/>
          <p:cNvSpPr/>
          <p:nvPr/>
        </p:nvSpPr>
        <p:spPr>
          <a:xfrm>
            <a:off x="2194560" y="2583180"/>
            <a:ext cx="320040" cy="9144"/>
          </a:xfrm>
          <a:prstGeom prst="line">
            <a:avLst/>
          </a:prstGeom>
          <a:noFill/>
          <a:ln w="22225">
            <a:solidFill>
              <a:srgbClr val="13294B"/>
            </a:solidFill>
            <a:prstDash val="solid"/>
            <a:headEnd type="none"/>
            <a:tailEnd type="arrow"/>
          </a:ln>
        </p:spPr>
      </p:sp>
      <p:sp>
        <p:nvSpPr>
          <p:cNvPr id="40" name="Shape 38"/>
          <p:cNvSpPr/>
          <p:nvPr/>
        </p:nvSpPr>
        <p:spPr>
          <a:xfrm>
            <a:off x="4297680" y="2583180"/>
            <a:ext cx="182880" cy="9144"/>
          </a:xfrm>
          <a:prstGeom prst="line">
            <a:avLst/>
          </a:prstGeom>
          <a:noFill/>
          <a:ln w="22225">
            <a:solidFill>
              <a:srgbClr val="13294B"/>
            </a:solidFill>
            <a:prstDash val="solid"/>
            <a:headEnd type="none"/>
            <a:tailEnd type="arrow"/>
          </a:ln>
        </p:spPr>
      </p:sp>
      <p:sp>
        <p:nvSpPr>
          <p:cNvPr id="41" name="Shape 39"/>
          <p:cNvSpPr/>
          <p:nvPr/>
        </p:nvSpPr>
        <p:spPr>
          <a:xfrm>
            <a:off x="7086600" y="2583180"/>
            <a:ext cx="274320" cy="9144"/>
          </a:xfrm>
          <a:prstGeom prst="line">
            <a:avLst/>
          </a:prstGeom>
          <a:noFill/>
          <a:ln w="22225">
            <a:solidFill>
              <a:srgbClr val="13294B"/>
            </a:solidFill>
            <a:prstDash val="solid"/>
            <a:headEnd type="none"/>
            <a:tailEnd type="arrow"/>
          </a:ln>
        </p:spPr>
      </p:sp>
      <p:sp>
        <p:nvSpPr>
          <p:cNvPr id="42" name="Shape 40"/>
          <p:cNvSpPr/>
          <p:nvPr/>
        </p:nvSpPr>
        <p:spPr>
          <a:xfrm>
            <a:off x="9509760" y="2583180"/>
            <a:ext cx="320040" cy="9144"/>
          </a:xfrm>
          <a:prstGeom prst="line">
            <a:avLst/>
          </a:prstGeom>
          <a:noFill/>
          <a:ln w="22225">
            <a:solidFill>
              <a:srgbClr val="13294B"/>
            </a:solidFill>
            <a:prstDash val="solid"/>
            <a:headEnd type="none"/>
            <a:tailEnd type="arrow"/>
          </a:ln>
        </p:spPr>
      </p:sp>
      <p:sp>
        <p:nvSpPr>
          <p:cNvPr id="43" name="Shape 41"/>
          <p:cNvSpPr/>
          <p:nvPr/>
        </p:nvSpPr>
        <p:spPr>
          <a:xfrm>
            <a:off x="10767060" y="3749040"/>
            <a:ext cx="9144" cy="256032"/>
          </a:xfrm>
          <a:prstGeom prst="line">
            <a:avLst/>
          </a:prstGeom>
          <a:noFill/>
          <a:ln w="22225">
            <a:solidFill>
              <a:srgbClr val="13294B"/>
            </a:solidFill>
            <a:prstDash val="solid"/>
            <a:headEnd type="none"/>
            <a:tailEnd type="arrow"/>
          </a:ln>
        </p:spPr>
      </p:sp>
      <p:sp>
        <p:nvSpPr>
          <p:cNvPr id="44" name="Shape 42"/>
          <p:cNvSpPr/>
          <p:nvPr/>
        </p:nvSpPr>
        <p:spPr>
          <a:xfrm flipH="1">
            <a:off x="6309360" y="4005072"/>
            <a:ext cx="4457700" cy="9144"/>
          </a:xfrm>
          <a:prstGeom prst="line">
            <a:avLst/>
          </a:prstGeom>
          <a:noFill/>
          <a:ln w="22225">
            <a:solidFill>
              <a:srgbClr val="13294B"/>
            </a:solidFill>
            <a:prstDash val="solid"/>
            <a:headEnd type="none"/>
            <a:tailEnd type="none"/>
          </a:ln>
        </p:spPr>
      </p:sp>
      <p:sp>
        <p:nvSpPr>
          <p:cNvPr id="45" name="Shape 43"/>
          <p:cNvSpPr/>
          <p:nvPr/>
        </p:nvSpPr>
        <p:spPr>
          <a:xfrm>
            <a:off x="6309360" y="4005072"/>
            <a:ext cx="9144" cy="128016"/>
          </a:xfrm>
          <a:prstGeom prst="line">
            <a:avLst/>
          </a:prstGeom>
          <a:noFill/>
          <a:ln w="22225">
            <a:solidFill>
              <a:srgbClr val="13294B"/>
            </a:solidFill>
            <a:prstDash val="solid"/>
            <a:headEnd type="none"/>
            <a:tailEnd type="arrow"/>
          </a:ln>
        </p:spPr>
      </p:sp>
      <p:sp>
        <p:nvSpPr>
          <p:cNvPr id="46" name="Shape 44"/>
          <p:cNvSpPr/>
          <p:nvPr/>
        </p:nvSpPr>
        <p:spPr>
          <a:xfrm>
            <a:off x="457200" y="4133088"/>
            <a:ext cx="11247120" cy="1051560"/>
          </a:xfrm>
          <a:prstGeom prst="roundRect">
            <a:avLst>
              <a:gd name="adj" fmla="val 7826"/>
            </a:avLst>
          </a:prstGeom>
          <a:solidFill>
            <a:srgbClr val="13294B"/>
          </a:solidFill>
          <a:ln/>
        </p:spPr>
      </p:sp>
      <p:sp>
        <p:nvSpPr>
          <p:cNvPr id="47" name="Text 45"/>
          <p:cNvSpPr/>
          <p:nvPr/>
        </p:nvSpPr>
        <p:spPr>
          <a:xfrm>
            <a:off x="640080" y="4224528"/>
            <a:ext cx="10881360" cy="274320"/>
          </a:xfrm>
          <a:prstGeom prst="rect">
            <a:avLst/>
          </a:prstGeom>
          <a:noFill/>
          <a:ln/>
        </p:spPr>
        <p:txBody>
          <a:bodyPr wrap="square"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NGƯỜI TIÊU DÙNG NHẬN HÀNG  —  CÂN BẰNG BA LỢI ÍCH ĐỒNG THỜI</a:t>
            </a:r>
            <a:endParaRPr lang="en-US" sz="1200" dirty="0"/>
          </a:p>
        </p:txBody>
      </p:sp>
      <p:sp>
        <p:nvSpPr>
          <p:cNvPr id="48" name="Text 46"/>
          <p:cNvSpPr/>
          <p:nvPr/>
        </p:nvSpPr>
        <p:spPr>
          <a:xfrm>
            <a:off x="640080" y="4608576"/>
            <a:ext cx="3383280" cy="502920"/>
          </a:xfrm>
          <a:prstGeom prst="rect">
            <a:avLst/>
          </a:prstGeom>
          <a:noFill/>
          <a:ln/>
        </p:spPr>
        <p:txBody>
          <a:bodyPr wrap="square" rtlCol="0" anchor="t"/>
          <a:lstStyle/>
          <a:p>
            <a:pPr algn="ctr" indent="0" marL="0">
              <a:buNone/>
            </a:pPr>
            <a:r>
              <a:rPr lang="en-US" sz="950" b="1" dirty="0">
                <a:solidFill>
                  <a:srgbClr val="0FA3B1"/>
                </a:solidFill>
                <a:latin typeface="Calibri" pitchFamily="34" charset="0"/>
                <a:ea typeface="Calibri" pitchFamily="34" charset="-122"/>
                <a:cs typeface="Calibri" pitchFamily="34" charset="-120"/>
              </a:rPr>
              <a:t>Doanh nghiệp  </a:t>
            </a:r>
            <a:pPr algn="ctr" indent="0" marL="0">
              <a:buNone/>
            </a:pPr>
            <a:r>
              <a:rPr lang="en-US" sz="950" dirty="0">
                <a:solidFill>
                  <a:srgbClr val="CADCFC"/>
                </a:solidFill>
                <a:latin typeface="Calibri" pitchFamily="34" charset="0"/>
                <a:ea typeface="Calibri" pitchFamily="34" charset="-122"/>
                <a:cs typeface="Calibri" pitchFamily="34" charset="-120"/>
              </a:rPr>
              <a:t>Chi phí thấp nhất trong lựa chọn hợp lệ, giảm lãng phí</a:t>
            </a:r>
            <a:endParaRPr lang="en-US" sz="950" dirty="0"/>
          </a:p>
        </p:txBody>
      </p:sp>
      <p:sp>
        <p:nvSpPr>
          <p:cNvPr id="49" name="Text 47"/>
          <p:cNvSpPr/>
          <p:nvPr/>
        </p:nvSpPr>
        <p:spPr>
          <a:xfrm>
            <a:off x="4206240" y="4608576"/>
            <a:ext cx="3383280" cy="502920"/>
          </a:xfrm>
          <a:prstGeom prst="rect">
            <a:avLst/>
          </a:prstGeom>
          <a:noFill/>
          <a:ln/>
        </p:spPr>
        <p:txBody>
          <a:bodyPr wrap="square" rtlCol="0" anchor="t"/>
          <a:lstStyle/>
          <a:p>
            <a:pPr algn="ctr" indent="0" marL="0">
              <a:buNone/>
            </a:pPr>
            <a:r>
              <a:rPr lang="en-US" sz="950" b="1" dirty="0">
                <a:solidFill>
                  <a:srgbClr val="0FA3B1"/>
                </a:solidFill>
                <a:latin typeface="Calibri" pitchFamily="34" charset="0"/>
                <a:ea typeface="Calibri" pitchFamily="34" charset="-122"/>
                <a:cs typeface="Calibri" pitchFamily="34" charset="-120"/>
              </a:rPr>
              <a:t>Nhà bán lẻ  </a:t>
            </a:r>
            <a:pPr algn="ctr" indent="0" marL="0">
              <a:buNone/>
            </a:pPr>
            <a:r>
              <a:rPr lang="en-US" sz="950" dirty="0">
                <a:solidFill>
                  <a:srgbClr val="CADCFC"/>
                </a:solidFill>
                <a:latin typeface="Calibri" pitchFamily="34" charset="0"/>
                <a:ea typeface="Calibri" pitchFamily="34" charset="-122"/>
                <a:cs typeface="Calibri" pitchFamily="34" charset="-120"/>
              </a:rPr>
              <a:t>Hàng đến đúng cam kết MLOR trong hợp đồng</a:t>
            </a:r>
            <a:endParaRPr lang="en-US" sz="950" dirty="0"/>
          </a:p>
        </p:txBody>
      </p:sp>
      <p:sp>
        <p:nvSpPr>
          <p:cNvPr id="50" name="Text 48"/>
          <p:cNvSpPr/>
          <p:nvPr/>
        </p:nvSpPr>
        <p:spPr>
          <a:xfrm>
            <a:off x="7772400" y="4608576"/>
            <a:ext cx="3383280" cy="502920"/>
          </a:xfrm>
          <a:prstGeom prst="rect">
            <a:avLst/>
          </a:prstGeom>
          <a:noFill/>
          <a:ln/>
        </p:spPr>
        <p:txBody>
          <a:bodyPr wrap="square" rtlCol="0" anchor="t"/>
          <a:lstStyle/>
          <a:p>
            <a:pPr algn="ctr" indent="0" marL="0">
              <a:buNone/>
            </a:pPr>
            <a:r>
              <a:rPr lang="en-US" sz="950" b="1" dirty="0">
                <a:solidFill>
                  <a:srgbClr val="0FA3B1"/>
                </a:solidFill>
                <a:latin typeface="Calibri" pitchFamily="34" charset="0"/>
                <a:ea typeface="Calibri" pitchFamily="34" charset="-122"/>
                <a:cs typeface="Calibri" pitchFamily="34" charset="-120"/>
              </a:rPr>
              <a:t>Người tiêu dùng  </a:t>
            </a:r>
            <a:pPr algn="ctr" indent="0" marL="0">
              <a:buNone/>
            </a:pPr>
            <a:r>
              <a:rPr lang="en-US" sz="950" dirty="0">
                <a:solidFill>
                  <a:srgbClr val="CADCFC"/>
                </a:solidFill>
                <a:latin typeface="Calibri" pitchFamily="34" charset="0"/>
                <a:ea typeface="Calibri" pitchFamily="34" charset="-122"/>
                <a:cs typeface="Calibri" pitchFamily="34" charset="-120"/>
              </a:rPr>
              <a:t>Nhận sản phẩm với hạn sử dụng đủ dài</a:t>
            </a:r>
            <a:endParaRPr lang="en-US" sz="950" dirty="0"/>
          </a:p>
        </p:txBody>
      </p:sp>
      <p:sp>
        <p:nvSpPr>
          <p:cNvPr id="51" name="Text 49"/>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52" name="Text 50"/>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02 · ĐẶT VẤN ĐỀ</a:t>
            </a:r>
            <a:endParaRPr lang="en-US" sz="1200" dirty="0"/>
          </a:p>
        </p:txBody>
      </p:sp>
      <p:sp>
        <p:nvSpPr>
          <p:cNvPr id="3" name="Text 1"/>
          <p:cNvSpPr/>
          <p:nvPr/>
        </p:nvSpPr>
        <p:spPr>
          <a:xfrm>
            <a:off x="502920" y="640080"/>
            <a:ext cx="11155680" cy="594360"/>
          </a:xfrm>
          <a:prstGeom prst="rect">
            <a:avLst/>
          </a:prstGeom>
          <a:noFill/>
          <a:ln/>
        </p:spPr>
        <p:txBody>
          <a:bodyPr wrap="square" rtlCol="0" anchor="ctr"/>
          <a:lstStyle/>
          <a:p>
            <a:pPr algn="l" indent="0" marL="0">
              <a:buNone/>
            </a:pPr>
            <a:r>
              <a:rPr lang="en-US" sz="2600" b="1" dirty="0">
                <a:solidFill>
                  <a:srgbClr val="13294B"/>
                </a:solidFill>
                <a:latin typeface="Times New Roman" pitchFamily="34" charset="0"/>
                <a:ea typeface="Times New Roman" pitchFamily="34" charset="-122"/>
                <a:cs typeface="Times New Roman" pitchFamily="34" charset="-120"/>
              </a:rPr>
              <a:t>Bốn câu hỏi vận hành cốt lõi</a:t>
            </a:r>
            <a:endParaRPr lang="en-US" sz="2600" dirty="0"/>
          </a:p>
        </p:txBody>
      </p:sp>
      <p:sp>
        <p:nvSpPr>
          <p:cNvPr id="4" name="Text 2"/>
          <p:cNvSpPr/>
          <p:nvPr/>
        </p:nvSpPr>
        <p:spPr>
          <a:xfrm>
            <a:off x="502920" y="1325880"/>
            <a:ext cx="11155680" cy="548640"/>
          </a:xfrm>
          <a:prstGeom prst="rect">
            <a:avLst/>
          </a:prstGeom>
          <a:noFill/>
          <a:ln/>
        </p:spPr>
        <p:txBody>
          <a:bodyPr wrap="square" rtlCol="0" anchor="ctr"/>
          <a:lstStyle/>
          <a:p>
            <a:pPr indent="0" marL="0">
              <a:buNone/>
            </a:pPr>
            <a:r>
              <a:rPr lang="en-US" sz="1250" dirty="0">
                <a:solidFill>
                  <a:srgbClr val="5B6B7C"/>
                </a:solidFill>
                <a:latin typeface="Calibri" pitchFamily="34" charset="0"/>
                <a:ea typeface="Calibri" pitchFamily="34" charset="-122"/>
                <a:cs typeface="Calibri" pitchFamily="34" charset="-120"/>
              </a:rPr>
              <a:t>Distra vận hành nhiều kho, phục vụ nhiều nhà bán lẻ; mỗi lô hàng có hạn sử dụng riêng, mỗi kho ở một vị trí địa lý khác nhau. Báo cáo trả lời trực tiếp bốn câu hỏi vận hành sau — mỗi câu hỏi được ánh xạ sang các mô hình cụ thể.</a:t>
            </a:r>
            <a:endParaRPr lang="en-US" sz="1250" dirty="0"/>
          </a:p>
        </p:txBody>
      </p:sp>
      <p:sp>
        <p:nvSpPr>
          <p:cNvPr id="5" name="Shape 3"/>
          <p:cNvSpPr/>
          <p:nvPr/>
        </p:nvSpPr>
        <p:spPr>
          <a:xfrm>
            <a:off x="502920" y="2148840"/>
            <a:ext cx="5349240" cy="1874520"/>
          </a:xfrm>
          <a:prstGeom prst="roundRect">
            <a:avLst>
              <a:gd name="adj" fmla="val 4878"/>
            </a:avLst>
          </a:prstGeom>
          <a:solidFill>
            <a:srgbClr val="F5F8FB"/>
          </a:solidFill>
          <a:ln w="12700">
            <a:solidFill>
              <a:srgbClr val="DCE4EC"/>
            </a:solidFill>
            <a:prstDash val="solid"/>
          </a:ln>
        </p:spPr>
      </p:sp>
      <p:sp>
        <p:nvSpPr>
          <p:cNvPr id="6" name="Shape 4"/>
          <p:cNvSpPr/>
          <p:nvPr/>
        </p:nvSpPr>
        <p:spPr>
          <a:xfrm>
            <a:off x="731520" y="2404872"/>
            <a:ext cx="502920" cy="502920"/>
          </a:xfrm>
          <a:prstGeom prst="ellipse">
            <a:avLst/>
          </a:prstGeom>
          <a:solidFill>
            <a:srgbClr val="1C7293"/>
          </a:solidFill>
          <a:ln/>
        </p:spPr>
      </p:sp>
      <p:sp>
        <p:nvSpPr>
          <p:cNvPr id="7" name="Text 5"/>
          <p:cNvSpPr/>
          <p:nvPr/>
        </p:nvSpPr>
        <p:spPr>
          <a:xfrm>
            <a:off x="731520" y="2404872"/>
            <a:ext cx="5029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8" name="Text 6"/>
          <p:cNvSpPr/>
          <p:nvPr/>
        </p:nvSpPr>
        <p:spPr>
          <a:xfrm>
            <a:off x="1417320" y="2350008"/>
            <a:ext cx="4251960" cy="594360"/>
          </a:xfrm>
          <a:prstGeom prst="rect">
            <a:avLst/>
          </a:prstGeom>
          <a:noFill/>
          <a:ln/>
        </p:spPr>
        <p:txBody>
          <a:bodyPr wrap="square" rtlCol="0" anchor="t"/>
          <a:lstStyle/>
          <a:p>
            <a:pPr indent="0" marL="0">
              <a:buNone/>
            </a:pPr>
            <a:r>
              <a:rPr lang="en-US" sz="1450" b="1" dirty="0">
                <a:solidFill>
                  <a:srgbClr val="13294B"/>
                </a:solidFill>
                <a:latin typeface="Times New Roman" pitchFamily="34" charset="0"/>
                <a:ea typeface="Times New Roman" pitchFamily="34" charset="-122"/>
                <a:cs typeface="Times New Roman" pitchFamily="34" charset="-120"/>
              </a:rPr>
              <a:t>Lưu kho – phân phối – luân chuyển</a:t>
            </a:r>
            <a:endParaRPr lang="en-US" sz="1450" dirty="0"/>
          </a:p>
        </p:txBody>
      </p:sp>
      <p:sp>
        <p:nvSpPr>
          <p:cNvPr id="9" name="Text 7"/>
          <p:cNvSpPr/>
          <p:nvPr/>
        </p:nvSpPr>
        <p:spPr>
          <a:xfrm>
            <a:off x="777240" y="3017520"/>
            <a:ext cx="4800600" cy="914400"/>
          </a:xfrm>
          <a:prstGeom prst="rect">
            <a:avLst/>
          </a:prstGeom>
          <a:noFill/>
          <a:ln/>
        </p:spPr>
        <p:txBody>
          <a:bodyPr wrap="square" rtlCol="0" anchor="t"/>
          <a:lstStyle/>
          <a:p>
            <a:pPr indent="0" marL="0">
              <a:buNone/>
            </a:pPr>
            <a:r>
              <a:rPr lang="en-US" sz="1050" dirty="0">
                <a:solidFill>
                  <a:srgbClr val="5B6B7C"/>
                </a:solidFill>
                <a:latin typeface="Calibri" pitchFamily="34" charset="0"/>
                <a:ea typeface="Calibri" pitchFamily="34" charset="-122"/>
                <a:cs typeface="Calibri" pitchFamily="34" charset="-120"/>
              </a:rPr>
              <a:t>Nên lưu hàng ở kho nào, phân phối ra sao, luân chuyển giữa các kho Distra thế nào để hàng đến tay người tiêu dùng nhanh nhất?</a:t>
            </a:r>
            <a:endParaRPr lang="en-US" sz="1050" dirty="0"/>
          </a:p>
        </p:txBody>
      </p:sp>
      <p:sp>
        <p:nvSpPr>
          <p:cNvPr id="10" name="Shape 8"/>
          <p:cNvSpPr/>
          <p:nvPr/>
        </p:nvSpPr>
        <p:spPr>
          <a:xfrm>
            <a:off x="6172200" y="2148840"/>
            <a:ext cx="5349240" cy="1874520"/>
          </a:xfrm>
          <a:prstGeom prst="roundRect">
            <a:avLst>
              <a:gd name="adj" fmla="val 4878"/>
            </a:avLst>
          </a:prstGeom>
          <a:solidFill>
            <a:srgbClr val="F5F8FB"/>
          </a:solidFill>
          <a:ln w="12700">
            <a:solidFill>
              <a:srgbClr val="DCE4EC"/>
            </a:solidFill>
            <a:prstDash val="solid"/>
          </a:ln>
        </p:spPr>
      </p:sp>
      <p:sp>
        <p:nvSpPr>
          <p:cNvPr id="11" name="Shape 9"/>
          <p:cNvSpPr/>
          <p:nvPr/>
        </p:nvSpPr>
        <p:spPr>
          <a:xfrm>
            <a:off x="6400800" y="2404872"/>
            <a:ext cx="502920" cy="502920"/>
          </a:xfrm>
          <a:prstGeom prst="ellipse">
            <a:avLst/>
          </a:prstGeom>
          <a:solidFill>
            <a:srgbClr val="E8A33D"/>
          </a:solidFill>
          <a:ln/>
        </p:spPr>
      </p:sp>
      <p:sp>
        <p:nvSpPr>
          <p:cNvPr id="12" name="Text 10"/>
          <p:cNvSpPr/>
          <p:nvPr/>
        </p:nvSpPr>
        <p:spPr>
          <a:xfrm>
            <a:off x="6400800" y="2404872"/>
            <a:ext cx="5029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3" name="Text 11"/>
          <p:cNvSpPr/>
          <p:nvPr/>
        </p:nvSpPr>
        <p:spPr>
          <a:xfrm>
            <a:off x="7086600" y="2350008"/>
            <a:ext cx="4251960" cy="594360"/>
          </a:xfrm>
          <a:prstGeom prst="rect">
            <a:avLst/>
          </a:prstGeom>
          <a:noFill/>
          <a:ln/>
        </p:spPr>
        <p:txBody>
          <a:bodyPr wrap="square" rtlCol="0" anchor="t"/>
          <a:lstStyle/>
          <a:p>
            <a:pPr indent="0" marL="0">
              <a:buNone/>
            </a:pPr>
            <a:r>
              <a:rPr lang="en-US" sz="1450" b="1" dirty="0">
                <a:solidFill>
                  <a:srgbClr val="13294B"/>
                </a:solidFill>
                <a:latin typeface="Times New Roman" pitchFamily="34" charset="0"/>
                <a:ea typeface="Times New Roman" pitchFamily="34" charset="-122"/>
                <a:cs typeface="Times New Roman" pitchFamily="34" charset="-120"/>
              </a:rPr>
              <a:t>Mâu thuẫn hạn ngắn ↔ hạn dài</a:t>
            </a:r>
            <a:endParaRPr lang="en-US" sz="1450" dirty="0"/>
          </a:p>
        </p:txBody>
      </p:sp>
      <p:sp>
        <p:nvSpPr>
          <p:cNvPr id="14" name="Text 12"/>
          <p:cNvSpPr/>
          <p:nvPr/>
        </p:nvSpPr>
        <p:spPr>
          <a:xfrm>
            <a:off x="6446520" y="3017520"/>
            <a:ext cx="4800600" cy="914400"/>
          </a:xfrm>
          <a:prstGeom prst="rect">
            <a:avLst/>
          </a:prstGeom>
          <a:noFill/>
          <a:ln/>
        </p:spPr>
        <p:txBody>
          <a:bodyPr wrap="square" rtlCol="0" anchor="t"/>
          <a:lstStyle/>
          <a:p>
            <a:pPr indent="0" marL="0">
              <a:buNone/>
            </a:pPr>
            <a:r>
              <a:rPr lang="en-US" sz="1050" dirty="0">
                <a:solidFill>
                  <a:srgbClr val="5B6B7C"/>
                </a:solidFill>
                <a:latin typeface="Calibri" pitchFamily="34" charset="0"/>
                <a:ea typeface="Calibri" pitchFamily="34" charset="-122"/>
                <a:cs typeface="Calibri" pitchFamily="34" charset="-120"/>
              </a:rPr>
              <a:t>Muốn xuất hết hàng hạn ngắn trước để giảm huỷ, nhưng vẫn phải đảm bảo người tiêu dùng nhận hạn sử dụng đủ dài — giải quyết đồng thời thế nào?</a:t>
            </a:r>
            <a:endParaRPr lang="en-US" sz="1050" dirty="0"/>
          </a:p>
        </p:txBody>
      </p:sp>
      <p:sp>
        <p:nvSpPr>
          <p:cNvPr id="15" name="Shape 13"/>
          <p:cNvSpPr/>
          <p:nvPr/>
        </p:nvSpPr>
        <p:spPr>
          <a:xfrm>
            <a:off x="502920" y="4160520"/>
            <a:ext cx="5349240" cy="1874520"/>
          </a:xfrm>
          <a:prstGeom prst="roundRect">
            <a:avLst>
              <a:gd name="adj" fmla="val 4878"/>
            </a:avLst>
          </a:prstGeom>
          <a:solidFill>
            <a:srgbClr val="F5F8FB"/>
          </a:solidFill>
          <a:ln w="12700">
            <a:solidFill>
              <a:srgbClr val="DCE4EC"/>
            </a:solidFill>
            <a:prstDash val="solid"/>
          </a:ln>
        </p:spPr>
      </p:sp>
      <p:sp>
        <p:nvSpPr>
          <p:cNvPr id="16" name="Shape 14"/>
          <p:cNvSpPr/>
          <p:nvPr/>
        </p:nvSpPr>
        <p:spPr>
          <a:xfrm>
            <a:off x="731520" y="4416552"/>
            <a:ext cx="502920" cy="502920"/>
          </a:xfrm>
          <a:prstGeom prst="ellipse">
            <a:avLst/>
          </a:prstGeom>
          <a:solidFill>
            <a:srgbClr val="0FA3B1"/>
          </a:solidFill>
          <a:ln/>
        </p:spPr>
      </p:sp>
      <p:sp>
        <p:nvSpPr>
          <p:cNvPr id="17" name="Text 15"/>
          <p:cNvSpPr/>
          <p:nvPr/>
        </p:nvSpPr>
        <p:spPr>
          <a:xfrm>
            <a:off x="731520" y="4416552"/>
            <a:ext cx="5029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8" name="Text 16"/>
          <p:cNvSpPr/>
          <p:nvPr/>
        </p:nvSpPr>
        <p:spPr>
          <a:xfrm>
            <a:off x="1417320" y="4361688"/>
            <a:ext cx="4251960" cy="594360"/>
          </a:xfrm>
          <a:prstGeom prst="rect">
            <a:avLst/>
          </a:prstGeom>
          <a:noFill/>
          <a:ln/>
        </p:spPr>
        <p:txBody>
          <a:bodyPr wrap="square" rtlCol="0" anchor="t"/>
          <a:lstStyle/>
          <a:p>
            <a:pPr indent="0" marL="0">
              <a:buNone/>
            </a:pPr>
            <a:r>
              <a:rPr lang="en-US" sz="1450" b="1" dirty="0">
                <a:solidFill>
                  <a:srgbClr val="13294B"/>
                </a:solidFill>
                <a:latin typeface="Times New Roman" pitchFamily="34" charset="0"/>
                <a:ea typeface="Times New Roman" pitchFamily="34" charset="-122"/>
                <a:cs typeface="Times New Roman" pitchFamily="34" charset="-120"/>
              </a:rPr>
              <a:t>Lô hàng vào kho nào, theo chu kỳ tuần</a:t>
            </a:r>
            <a:endParaRPr lang="en-US" sz="1450" dirty="0"/>
          </a:p>
        </p:txBody>
      </p:sp>
      <p:sp>
        <p:nvSpPr>
          <p:cNvPr id="19" name="Text 17"/>
          <p:cNvSpPr/>
          <p:nvPr/>
        </p:nvSpPr>
        <p:spPr>
          <a:xfrm>
            <a:off x="777240" y="5029200"/>
            <a:ext cx="4800600" cy="914400"/>
          </a:xfrm>
          <a:prstGeom prst="rect">
            <a:avLst/>
          </a:prstGeom>
          <a:noFill/>
          <a:ln/>
        </p:spPr>
        <p:txBody>
          <a:bodyPr wrap="square" rtlCol="0" anchor="t"/>
          <a:lstStyle/>
          <a:p>
            <a:pPr indent="0" marL="0">
              <a:buNone/>
            </a:pPr>
            <a:r>
              <a:rPr lang="en-US" sz="1050" dirty="0">
                <a:solidFill>
                  <a:srgbClr val="5B6B7C"/>
                </a:solidFill>
                <a:latin typeface="Calibri" pitchFamily="34" charset="0"/>
                <a:ea typeface="Calibri" pitchFamily="34" charset="-122"/>
                <a:cs typeface="Calibri" pitchFamily="34" charset="-120"/>
              </a:rPr>
              <a:t>Một lô hàng cụ thể nên đưa vào kho nào, trong bối cảnh các nhà bán lẻ đặt hàng theo tuần với tần suất khác nhau?</a:t>
            </a:r>
            <a:endParaRPr lang="en-US" sz="1050" dirty="0"/>
          </a:p>
        </p:txBody>
      </p:sp>
      <p:sp>
        <p:nvSpPr>
          <p:cNvPr id="20" name="Shape 18"/>
          <p:cNvSpPr/>
          <p:nvPr/>
        </p:nvSpPr>
        <p:spPr>
          <a:xfrm>
            <a:off x="6172200" y="4160520"/>
            <a:ext cx="5349240" cy="1874520"/>
          </a:xfrm>
          <a:prstGeom prst="roundRect">
            <a:avLst>
              <a:gd name="adj" fmla="val 4878"/>
            </a:avLst>
          </a:prstGeom>
          <a:solidFill>
            <a:srgbClr val="F5F8FB"/>
          </a:solidFill>
          <a:ln w="12700">
            <a:solidFill>
              <a:srgbClr val="DCE4EC"/>
            </a:solidFill>
            <a:prstDash val="solid"/>
          </a:ln>
        </p:spPr>
      </p:sp>
      <p:sp>
        <p:nvSpPr>
          <p:cNvPr id="21" name="Shape 19"/>
          <p:cNvSpPr/>
          <p:nvPr/>
        </p:nvSpPr>
        <p:spPr>
          <a:xfrm>
            <a:off x="6400800" y="4416552"/>
            <a:ext cx="502920" cy="502920"/>
          </a:xfrm>
          <a:prstGeom prst="ellipse">
            <a:avLst/>
          </a:prstGeom>
          <a:solidFill>
            <a:srgbClr val="1E7145"/>
          </a:solidFill>
          <a:ln/>
        </p:spPr>
      </p:sp>
      <p:sp>
        <p:nvSpPr>
          <p:cNvPr id="22" name="Text 20"/>
          <p:cNvSpPr/>
          <p:nvPr/>
        </p:nvSpPr>
        <p:spPr>
          <a:xfrm>
            <a:off x="6400800" y="4416552"/>
            <a:ext cx="5029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23" name="Text 21"/>
          <p:cNvSpPr/>
          <p:nvPr/>
        </p:nvSpPr>
        <p:spPr>
          <a:xfrm>
            <a:off x="7086600" y="4361688"/>
            <a:ext cx="4251960" cy="594360"/>
          </a:xfrm>
          <a:prstGeom prst="rect">
            <a:avLst/>
          </a:prstGeom>
          <a:noFill/>
          <a:ln/>
        </p:spPr>
        <p:txBody>
          <a:bodyPr wrap="square" rtlCol="0" anchor="t"/>
          <a:lstStyle/>
          <a:p>
            <a:pPr indent="0" marL="0">
              <a:buNone/>
            </a:pPr>
            <a:r>
              <a:rPr lang="en-US" sz="1450" b="1" dirty="0">
                <a:solidFill>
                  <a:srgbClr val="13294B"/>
                </a:solidFill>
                <a:latin typeface="Times New Roman" pitchFamily="34" charset="0"/>
                <a:ea typeface="Times New Roman" pitchFamily="34" charset="-122"/>
                <a:cs typeface="Times New Roman" pitchFamily="34" charset="-120"/>
              </a:rPr>
              <a:t>Cân bằng lợi ích ba bên</a:t>
            </a:r>
            <a:endParaRPr lang="en-US" sz="1450" dirty="0"/>
          </a:p>
        </p:txBody>
      </p:sp>
      <p:sp>
        <p:nvSpPr>
          <p:cNvPr id="24" name="Text 22"/>
          <p:cNvSpPr/>
          <p:nvPr/>
        </p:nvSpPr>
        <p:spPr>
          <a:xfrm>
            <a:off x="6446520" y="5029200"/>
            <a:ext cx="4800600" cy="914400"/>
          </a:xfrm>
          <a:prstGeom prst="rect">
            <a:avLst/>
          </a:prstGeom>
          <a:noFill/>
          <a:ln/>
        </p:spPr>
        <p:txBody>
          <a:bodyPr wrap="square" rtlCol="0" anchor="t"/>
          <a:lstStyle/>
          <a:p>
            <a:pPr indent="0" marL="0">
              <a:buNone/>
            </a:pPr>
            <a:r>
              <a:rPr lang="en-US" sz="1050" dirty="0">
                <a:solidFill>
                  <a:srgbClr val="5B6B7C"/>
                </a:solidFill>
                <a:latin typeface="Calibri" pitchFamily="34" charset="0"/>
                <a:ea typeface="Calibri" pitchFamily="34" charset="-122"/>
                <a:cs typeface="Calibri" pitchFamily="34" charset="-120"/>
              </a:rPr>
              <a:t>Với một đơn hàng cụ thể (ví dụ Quận 12), kho nào nên phục vụ để có lợi cho cả doanh nghiệp, nhà bán lẻ và người tiêu dùng — không thiên vị riêng ai?</a:t>
            </a:r>
            <a:endParaRPr lang="en-US" sz="1050" dirty="0"/>
          </a:p>
        </p:txBody>
      </p:sp>
      <p:sp>
        <p:nvSpPr>
          <p:cNvPr id="25" name="Text 23"/>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26" name="Text 24"/>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03 · KIẾN TRÚC TỔNG THỂ</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100" b="1" dirty="0">
                <a:solidFill>
                  <a:srgbClr val="13294B"/>
                </a:solidFill>
                <a:latin typeface="Times New Roman" pitchFamily="34" charset="0"/>
                <a:ea typeface="Times New Roman" pitchFamily="34" charset="-122"/>
                <a:cs typeface="Times New Roman" pitchFamily="34" charset="-120"/>
              </a:rPr>
              <a:t>Chuỗi quyết định 10 bước, gom thành 4 nhóm chức năng</a:t>
            </a:r>
            <a:endParaRPr lang="en-US" sz="2100" dirty="0"/>
          </a:p>
        </p:txBody>
      </p:sp>
      <p:sp>
        <p:nvSpPr>
          <p:cNvPr id="4" name="Shape 2"/>
          <p:cNvSpPr/>
          <p:nvPr/>
        </p:nvSpPr>
        <p:spPr>
          <a:xfrm>
            <a:off x="502920" y="1371600"/>
            <a:ext cx="182880" cy="182880"/>
          </a:xfrm>
          <a:prstGeom prst="rect">
            <a:avLst/>
          </a:prstGeom>
          <a:solidFill>
            <a:srgbClr val="1C7293"/>
          </a:solidFill>
          <a:ln/>
        </p:spPr>
      </p:sp>
      <p:sp>
        <p:nvSpPr>
          <p:cNvPr id="5" name="Text 3"/>
          <p:cNvSpPr/>
          <p:nvPr/>
        </p:nvSpPr>
        <p:spPr>
          <a:xfrm>
            <a:off x="758952" y="1325880"/>
            <a:ext cx="2106778" cy="274320"/>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Khởi tạo &amp; học nhu cầu</a:t>
            </a:r>
            <a:endParaRPr lang="en-US" sz="1050" dirty="0"/>
          </a:p>
        </p:txBody>
      </p:sp>
      <p:sp>
        <p:nvSpPr>
          <p:cNvPr id="6" name="Shape 4"/>
          <p:cNvSpPr/>
          <p:nvPr/>
        </p:nvSpPr>
        <p:spPr>
          <a:xfrm>
            <a:off x="3094330" y="1371600"/>
            <a:ext cx="182880" cy="182880"/>
          </a:xfrm>
          <a:prstGeom prst="rect">
            <a:avLst/>
          </a:prstGeom>
          <a:solidFill>
            <a:srgbClr val="E8A33D"/>
          </a:solidFill>
          <a:ln/>
        </p:spPr>
      </p:sp>
      <p:sp>
        <p:nvSpPr>
          <p:cNvPr id="7" name="Text 5"/>
          <p:cNvSpPr/>
          <p:nvPr/>
        </p:nvSpPr>
        <p:spPr>
          <a:xfrm>
            <a:off x="3350362" y="1325880"/>
            <a:ext cx="2256739" cy="274320"/>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Ràng buộc độ tươi + FEFO</a:t>
            </a:r>
            <a:endParaRPr lang="en-US" sz="1050" dirty="0"/>
          </a:p>
        </p:txBody>
      </p:sp>
      <p:sp>
        <p:nvSpPr>
          <p:cNvPr id="8" name="Shape 6"/>
          <p:cNvSpPr/>
          <p:nvPr/>
        </p:nvSpPr>
        <p:spPr>
          <a:xfrm>
            <a:off x="5835701" y="1371600"/>
            <a:ext cx="182880" cy="182880"/>
          </a:xfrm>
          <a:prstGeom prst="rect">
            <a:avLst/>
          </a:prstGeom>
          <a:solidFill>
            <a:srgbClr val="0FA3B1"/>
          </a:solidFill>
          <a:ln/>
        </p:spPr>
      </p:sp>
      <p:sp>
        <p:nvSpPr>
          <p:cNvPr id="9" name="Text 7"/>
          <p:cNvSpPr/>
          <p:nvPr/>
        </p:nvSpPr>
        <p:spPr>
          <a:xfrm>
            <a:off x="6091733" y="1325880"/>
            <a:ext cx="2556662" cy="274320"/>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Chọn kho + chi phí + phân bổ</a:t>
            </a:r>
            <a:endParaRPr lang="en-US" sz="1050" dirty="0"/>
          </a:p>
        </p:txBody>
      </p:sp>
      <p:sp>
        <p:nvSpPr>
          <p:cNvPr id="10" name="Shape 8"/>
          <p:cNvSpPr/>
          <p:nvPr/>
        </p:nvSpPr>
        <p:spPr>
          <a:xfrm>
            <a:off x="8876995" y="1371600"/>
            <a:ext cx="182880" cy="182880"/>
          </a:xfrm>
          <a:prstGeom prst="rect">
            <a:avLst/>
          </a:prstGeom>
          <a:solidFill>
            <a:srgbClr val="13294B"/>
          </a:solidFill>
          <a:ln/>
        </p:spPr>
      </p:sp>
      <p:sp>
        <p:nvSpPr>
          <p:cNvPr id="11" name="Text 9"/>
          <p:cNvSpPr/>
          <p:nvPr/>
        </p:nvSpPr>
        <p:spPr>
          <a:xfrm>
            <a:off x="9133027" y="1325880"/>
            <a:ext cx="2256739" cy="274320"/>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Luân chuyển kho + đầu ra</a:t>
            </a:r>
            <a:endParaRPr lang="en-US" sz="1050" dirty="0"/>
          </a:p>
        </p:txBody>
      </p:sp>
      <p:sp>
        <p:nvSpPr>
          <p:cNvPr id="12" name="Shape 10"/>
          <p:cNvSpPr/>
          <p:nvPr/>
        </p:nvSpPr>
        <p:spPr>
          <a:xfrm>
            <a:off x="502920" y="1874520"/>
            <a:ext cx="1069848" cy="777240"/>
          </a:xfrm>
          <a:prstGeom prst="chevron">
            <a:avLst/>
          </a:prstGeom>
          <a:solidFill>
            <a:srgbClr val="1C7293"/>
          </a:solidFill>
          <a:ln w="19050">
            <a:solidFill>
              <a:srgbClr val="FFFFFF"/>
            </a:solidFill>
            <a:prstDash val="solid"/>
          </a:ln>
        </p:spPr>
      </p:sp>
      <p:sp>
        <p:nvSpPr>
          <p:cNvPr id="13" name="Text 11"/>
          <p:cNvSpPr/>
          <p:nvPr/>
        </p:nvSpPr>
        <p:spPr>
          <a:xfrm>
            <a:off x="502920"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A</a:t>
            </a:r>
            <a:endParaRPr lang="en-US" sz="2000" dirty="0"/>
          </a:p>
        </p:txBody>
      </p:sp>
      <p:sp>
        <p:nvSpPr>
          <p:cNvPr id="14" name="Shape 12"/>
          <p:cNvSpPr/>
          <p:nvPr/>
        </p:nvSpPr>
        <p:spPr>
          <a:xfrm>
            <a:off x="1444752" y="1874520"/>
            <a:ext cx="1069848" cy="777240"/>
          </a:xfrm>
          <a:prstGeom prst="chevron">
            <a:avLst/>
          </a:prstGeom>
          <a:solidFill>
            <a:srgbClr val="1C7293"/>
          </a:solidFill>
          <a:ln w="19050">
            <a:solidFill>
              <a:srgbClr val="FFFFFF"/>
            </a:solidFill>
            <a:prstDash val="solid"/>
          </a:ln>
        </p:spPr>
      </p:sp>
      <p:sp>
        <p:nvSpPr>
          <p:cNvPr id="15" name="Text 13"/>
          <p:cNvSpPr/>
          <p:nvPr/>
        </p:nvSpPr>
        <p:spPr>
          <a:xfrm>
            <a:off x="1444752"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B</a:t>
            </a:r>
            <a:endParaRPr lang="en-US" sz="2000" dirty="0"/>
          </a:p>
        </p:txBody>
      </p:sp>
      <p:sp>
        <p:nvSpPr>
          <p:cNvPr id="16" name="Shape 14"/>
          <p:cNvSpPr/>
          <p:nvPr/>
        </p:nvSpPr>
        <p:spPr>
          <a:xfrm>
            <a:off x="2386584" y="1874520"/>
            <a:ext cx="1069848" cy="777240"/>
          </a:xfrm>
          <a:prstGeom prst="chevron">
            <a:avLst/>
          </a:prstGeom>
          <a:solidFill>
            <a:srgbClr val="E8A33D"/>
          </a:solidFill>
          <a:ln w="19050">
            <a:solidFill>
              <a:srgbClr val="FFFFFF"/>
            </a:solidFill>
            <a:prstDash val="solid"/>
          </a:ln>
        </p:spPr>
      </p:sp>
      <p:sp>
        <p:nvSpPr>
          <p:cNvPr id="17" name="Text 15"/>
          <p:cNvSpPr/>
          <p:nvPr/>
        </p:nvSpPr>
        <p:spPr>
          <a:xfrm>
            <a:off x="2386584"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C</a:t>
            </a:r>
            <a:endParaRPr lang="en-US" sz="2000" dirty="0"/>
          </a:p>
        </p:txBody>
      </p:sp>
      <p:sp>
        <p:nvSpPr>
          <p:cNvPr id="18" name="Shape 16"/>
          <p:cNvSpPr/>
          <p:nvPr/>
        </p:nvSpPr>
        <p:spPr>
          <a:xfrm>
            <a:off x="3328416" y="1874520"/>
            <a:ext cx="1069848" cy="777240"/>
          </a:xfrm>
          <a:prstGeom prst="chevron">
            <a:avLst/>
          </a:prstGeom>
          <a:solidFill>
            <a:srgbClr val="E8A33D"/>
          </a:solidFill>
          <a:ln w="19050">
            <a:solidFill>
              <a:srgbClr val="FFFFFF"/>
            </a:solidFill>
            <a:prstDash val="solid"/>
          </a:ln>
        </p:spPr>
      </p:sp>
      <p:sp>
        <p:nvSpPr>
          <p:cNvPr id="19" name="Text 17"/>
          <p:cNvSpPr/>
          <p:nvPr/>
        </p:nvSpPr>
        <p:spPr>
          <a:xfrm>
            <a:off x="3328416"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D</a:t>
            </a:r>
            <a:endParaRPr lang="en-US" sz="2000" dirty="0"/>
          </a:p>
        </p:txBody>
      </p:sp>
      <p:sp>
        <p:nvSpPr>
          <p:cNvPr id="20" name="Shape 18"/>
          <p:cNvSpPr/>
          <p:nvPr/>
        </p:nvSpPr>
        <p:spPr>
          <a:xfrm>
            <a:off x="4270248" y="1874520"/>
            <a:ext cx="1069848" cy="777240"/>
          </a:xfrm>
          <a:prstGeom prst="chevron">
            <a:avLst/>
          </a:prstGeom>
          <a:solidFill>
            <a:srgbClr val="E8A33D"/>
          </a:solidFill>
          <a:ln w="19050">
            <a:solidFill>
              <a:srgbClr val="FFFFFF"/>
            </a:solidFill>
            <a:prstDash val="solid"/>
          </a:ln>
        </p:spPr>
      </p:sp>
      <p:sp>
        <p:nvSpPr>
          <p:cNvPr id="21" name="Text 19"/>
          <p:cNvSpPr/>
          <p:nvPr/>
        </p:nvSpPr>
        <p:spPr>
          <a:xfrm>
            <a:off x="4270248"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E</a:t>
            </a:r>
            <a:endParaRPr lang="en-US" sz="2000" dirty="0"/>
          </a:p>
        </p:txBody>
      </p:sp>
      <p:sp>
        <p:nvSpPr>
          <p:cNvPr id="22" name="Shape 20"/>
          <p:cNvSpPr/>
          <p:nvPr/>
        </p:nvSpPr>
        <p:spPr>
          <a:xfrm>
            <a:off x="5212080" y="1874520"/>
            <a:ext cx="1069848" cy="777240"/>
          </a:xfrm>
          <a:prstGeom prst="chevron">
            <a:avLst/>
          </a:prstGeom>
          <a:solidFill>
            <a:srgbClr val="0FA3B1"/>
          </a:solidFill>
          <a:ln w="19050">
            <a:solidFill>
              <a:srgbClr val="FFFFFF"/>
            </a:solidFill>
            <a:prstDash val="solid"/>
          </a:ln>
        </p:spPr>
      </p:sp>
      <p:sp>
        <p:nvSpPr>
          <p:cNvPr id="23" name="Text 21"/>
          <p:cNvSpPr/>
          <p:nvPr/>
        </p:nvSpPr>
        <p:spPr>
          <a:xfrm>
            <a:off x="5212080"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F</a:t>
            </a:r>
            <a:endParaRPr lang="en-US" sz="2000" dirty="0"/>
          </a:p>
        </p:txBody>
      </p:sp>
      <p:sp>
        <p:nvSpPr>
          <p:cNvPr id="24" name="Shape 22"/>
          <p:cNvSpPr/>
          <p:nvPr/>
        </p:nvSpPr>
        <p:spPr>
          <a:xfrm>
            <a:off x="6153912" y="1874520"/>
            <a:ext cx="1069848" cy="777240"/>
          </a:xfrm>
          <a:prstGeom prst="chevron">
            <a:avLst/>
          </a:prstGeom>
          <a:solidFill>
            <a:srgbClr val="0FA3B1"/>
          </a:solidFill>
          <a:ln w="19050">
            <a:solidFill>
              <a:srgbClr val="FFFFFF"/>
            </a:solidFill>
            <a:prstDash val="solid"/>
          </a:ln>
        </p:spPr>
      </p:sp>
      <p:sp>
        <p:nvSpPr>
          <p:cNvPr id="25" name="Text 23"/>
          <p:cNvSpPr/>
          <p:nvPr/>
        </p:nvSpPr>
        <p:spPr>
          <a:xfrm>
            <a:off x="6153912"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G</a:t>
            </a:r>
            <a:endParaRPr lang="en-US" sz="2000" dirty="0"/>
          </a:p>
        </p:txBody>
      </p:sp>
      <p:sp>
        <p:nvSpPr>
          <p:cNvPr id="26" name="Shape 24"/>
          <p:cNvSpPr/>
          <p:nvPr/>
        </p:nvSpPr>
        <p:spPr>
          <a:xfrm>
            <a:off x="7095744" y="1874520"/>
            <a:ext cx="1069848" cy="777240"/>
          </a:xfrm>
          <a:prstGeom prst="chevron">
            <a:avLst/>
          </a:prstGeom>
          <a:solidFill>
            <a:srgbClr val="0FA3B1"/>
          </a:solidFill>
          <a:ln w="19050">
            <a:solidFill>
              <a:srgbClr val="FFFFFF"/>
            </a:solidFill>
            <a:prstDash val="solid"/>
          </a:ln>
        </p:spPr>
      </p:sp>
      <p:sp>
        <p:nvSpPr>
          <p:cNvPr id="27" name="Text 25"/>
          <p:cNvSpPr/>
          <p:nvPr/>
        </p:nvSpPr>
        <p:spPr>
          <a:xfrm>
            <a:off x="7095744"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H</a:t>
            </a:r>
            <a:endParaRPr lang="en-US" sz="2000" dirty="0"/>
          </a:p>
        </p:txBody>
      </p:sp>
      <p:sp>
        <p:nvSpPr>
          <p:cNvPr id="28" name="Shape 26"/>
          <p:cNvSpPr/>
          <p:nvPr/>
        </p:nvSpPr>
        <p:spPr>
          <a:xfrm>
            <a:off x="8037576" y="1874520"/>
            <a:ext cx="1069848" cy="777240"/>
          </a:xfrm>
          <a:prstGeom prst="chevron">
            <a:avLst/>
          </a:prstGeom>
          <a:solidFill>
            <a:srgbClr val="13294B"/>
          </a:solidFill>
          <a:ln w="19050">
            <a:solidFill>
              <a:srgbClr val="FFFFFF"/>
            </a:solidFill>
            <a:prstDash val="solid"/>
          </a:ln>
        </p:spPr>
      </p:sp>
      <p:sp>
        <p:nvSpPr>
          <p:cNvPr id="29" name="Text 27"/>
          <p:cNvSpPr/>
          <p:nvPr/>
        </p:nvSpPr>
        <p:spPr>
          <a:xfrm>
            <a:off x="8037576"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I</a:t>
            </a:r>
            <a:endParaRPr lang="en-US" sz="2000" dirty="0"/>
          </a:p>
        </p:txBody>
      </p:sp>
      <p:sp>
        <p:nvSpPr>
          <p:cNvPr id="30" name="Shape 28"/>
          <p:cNvSpPr/>
          <p:nvPr/>
        </p:nvSpPr>
        <p:spPr>
          <a:xfrm>
            <a:off x="8979408" y="1874520"/>
            <a:ext cx="1069848" cy="777240"/>
          </a:xfrm>
          <a:prstGeom prst="chevron">
            <a:avLst/>
          </a:prstGeom>
          <a:solidFill>
            <a:srgbClr val="13294B"/>
          </a:solidFill>
          <a:ln w="19050">
            <a:solidFill>
              <a:srgbClr val="FFFFFF"/>
            </a:solidFill>
            <a:prstDash val="solid"/>
          </a:ln>
        </p:spPr>
      </p:sp>
      <p:sp>
        <p:nvSpPr>
          <p:cNvPr id="31" name="Text 29"/>
          <p:cNvSpPr/>
          <p:nvPr/>
        </p:nvSpPr>
        <p:spPr>
          <a:xfrm>
            <a:off x="8979408" y="1874520"/>
            <a:ext cx="1069848" cy="777240"/>
          </a:xfrm>
          <a:prstGeom prst="rect">
            <a:avLst/>
          </a:prstGeom>
          <a:noFill/>
          <a:ln/>
        </p:spPr>
        <p:txBody>
          <a:bodyPr wrap="square" rtlCol="0" anchor="ctr"/>
          <a:lstStyle/>
          <a:p>
            <a:pPr algn="ctr" indent="0" marL="0">
              <a:buNone/>
            </a:pPr>
            <a:r>
              <a:rPr lang="en-US" sz="2000" b="1" dirty="0">
                <a:solidFill>
                  <a:srgbClr val="FFFFFF"/>
                </a:solidFill>
                <a:latin typeface="Times New Roman" pitchFamily="34" charset="0"/>
                <a:ea typeface="Times New Roman" pitchFamily="34" charset="-122"/>
                <a:cs typeface="Times New Roman" pitchFamily="34" charset="-120"/>
              </a:rPr>
              <a:t>J</a:t>
            </a:r>
            <a:endParaRPr lang="en-US" sz="2000" dirty="0"/>
          </a:p>
        </p:txBody>
      </p:sp>
      <p:sp>
        <p:nvSpPr>
          <p:cNvPr id="32" name="Text 30"/>
          <p:cNvSpPr/>
          <p:nvPr/>
        </p:nvSpPr>
        <p:spPr>
          <a:xfrm>
            <a:off x="603504"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Cold-start</a:t>
            </a:r>
            <a:endParaRPr lang="en-US" sz="900" dirty="0"/>
          </a:p>
        </p:txBody>
      </p:sp>
      <p:sp>
        <p:nvSpPr>
          <p:cNvPr id="33" name="Text 31"/>
          <p:cNvSpPr/>
          <p:nvPr/>
        </p:nvSpPr>
        <p:spPr>
          <a:xfrm>
            <a:off x="603504"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Phân cụm cửa hàng tương đồng, người xác nhận đơn đầu tiên</a:t>
            </a:r>
            <a:endParaRPr lang="en-US" sz="780" dirty="0"/>
          </a:p>
        </p:txBody>
      </p:sp>
      <p:sp>
        <p:nvSpPr>
          <p:cNvPr id="34" name="Text 32"/>
          <p:cNvSpPr/>
          <p:nvPr/>
        </p:nvSpPr>
        <p:spPr>
          <a:xfrm>
            <a:off x="1545336"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Học tuần tự</a:t>
            </a:r>
            <a:endParaRPr lang="en-US" sz="900" dirty="0"/>
          </a:p>
        </p:txBody>
      </p:sp>
      <p:sp>
        <p:nvSpPr>
          <p:cNvPr id="35" name="Text 33"/>
          <p:cNvSpPr/>
          <p:nvPr/>
        </p:nvSpPr>
        <p:spPr>
          <a:xfrm>
            <a:off x="1545336"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Cập nhật nhu cầu sau mỗi chu kỳ bằng Bayes</a:t>
            </a:r>
            <a:endParaRPr lang="en-US" sz="780" dirty="0"/>
          </a:p>
        </p:txBody>
      </p:sp>
      <p:sp>
        <p:nvSpPr>
          <p:cNvPr id="36" name="Text 34"/>
          <p:cNvSpPr/>
          <p:nvPr/>
        </p:nvSpPr>
        <p:spPr>
          <a:xfrm>
            <a:off x="2487168"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Tách ràng buộc</a:t>
            </a:r>
            <a:endParaRPr lang="en-US" sz="900" dirty="0"/>
          </a:p>
        </p:txBody>
      </p:sp>
      <p:sp>
        <p:nvSpPr>
          <p:cNvPr id="37" name="Text 35"/>
          <p:cNvSpPr/>
          <p:nvPr/>
        </p:nvSpPr>
        <p:spPr>
          <a:xfrm>
            <a:off x="2487168"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MLOR (hợp đồng) và Min-RSL (người tiêu dùng)</a:t>
            </a:r>
            <a:endParaRPr lang="en-US" sz="780" dirty="0"/>
          </a:p>
        </p:txBody>
      </p:sp>
      <p:sp>
        <p:nvSpPr>
          <p:cNvPr id="38" name="Text 36"/>
          <p:cNvSpPr/>
          <p:nvPr/>
        </p:nvSpPr>
        <p:spPr>
          <a:xfrm>
            <a:off x="3429000"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Lọc khả thi</a:t>
            </a:r>
            <a:endParaRPr lang="en-US" sz="900" dirty="0"/>
          </a:p>
        </p:txBody>
      </p:sp>
      <p:sp>
        <p:nvSpPr>
          <p:cNvPr id="39" name="Text 37"/>
          <p:cNvSpPr/>
          <p:nvPr/>
        </p:nvSpPr>
        <p:spPr>
          <a:xfrm>
            <a:off x="3429000"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Loại lô không đủ hạn để giao an toàn</a:t>
            </a:r>
            <a:endParaRPr lang="en-US" sz="780" dirty="0"/>
          </a:p>
        </p:txBody>
      </p:sp>
      <p:sp>
        <p:nvSpPr>
          <p:cNvPr id="40" name="Text 38"/>
          <p:cNvSpPr/>
          <p:nvPr/>
        </p:nvSpPr>
        <p:spPr>
          <a:xfrm>
            <a:off x="4370832"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FEFO có lọc</a:t>
            </a:r>
            <a:endParaRPr lang="en-US" sz="900" dirty="0"/>
          </a:p>
        </p:txBody>
      </p:sp>
      <p:sp>
        <p:nvSpPr>
          <p:cNvPr id="41" name="Text 39"/>
          <p:cNvSpPr/>
          <p:nvPr/>
        </p:nvSpPr>
        <p:spPr>
          <a:xfrm>
            <a:off x="4370832"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FEFO trong tập đã qua bước D</a:t>
            </a:r>
            <a:endParaRPr lang="en-US" sz="780" dirty="0"/>
          </a:p>
        </p:txBody>
      </p:sp>
      <p:sp>
        <p:nvSpPr>
          <p:cNvPr id="42" name="Text 40"/>
          <p:cNvSpPr/>
          <p:nvPr/>
        </p:nvSpPr>
        <p:spPr>
          <a:xfrm>
            <a:off x="5312664"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Sàng lọc kho</a:t>
            </a:r>
            <a:endParaRPr lang="en-US" sz="900" dirty="0"/>
          </a:p>
        </p:txBody>
      </p:sp>
      <p:sp>
        <p:nvSpPr>
          <p:cNvPr id="43" name="Text 41"/>
          <p:cNvSpPr/>
          <p:nvPr/>
        </p:nvSpPr>
        <p:spPr>
          <a:xfrm>
            <a:off x="5312664"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Lọc nhanh kho gần theo khoảng cách</a:t>
            </a:r>
            <a:endParaRPr lang="en-US" sz="780" dirty="0"/>
          </a:p>
        </p:txBody>
      </p:sp>
      <p:sp>
        <p:nvSpPr>
          <p:cNvPr id="44" name="Text 42"/>
          <p:cNvSpPr/>
          <p:nvPr/>
        </p:nvSpPr>
        <p:spPr>
          <a:xfrm>
            <a:off x="6254496"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Chi phí đường bộ</a:t>
            </a:r>
            <a:endParaRPr lang="en-US" sz="900" dirty="0"/>
          </a:p>
        </p:txBody>
      </p:sp>
      <p:sp>
        <p:nvSpPr>
          <p:cNvPr id="45" name="Text 43"/>
          <p:cNvSpPr/>
          <p:nvPr/>
        </p:nvSpPr>
        <p:spPr>
          <a:xfrm>
            <a:off x="6254496"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Chi phí/thời gian thực tế giữa kho và điểm giao</a:t>
            </a:r>
            <a:endParaRPr lang="en-US" sz="780" dirty="0"/>
          </a:p>
        </p:txBody>
      </p:sp>
      <p:sp>
        <p:nvSpPr>
          <p:cNvPr id="46" name="Text 44"/>
          <p:cNvSpPr/>
          <p:nvPr/>
        </p:nvSpPr>
        <p:spPr>
          <a:xfrm>
            <a:off x="7196328"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Phân bổ giao hàng</a:t>
            </a:r>
            <a:endParaRPr lang="en-US" sz="900" dirty="0"/>
          </a:p>
        </p:txBody>
      </p:sp>
      <p:sp>
        <p:nvSpPr>
          <p:cNvPr id="47" name="Text 45"/>
          <p:cNvSpPr/>
          <p:nvPr/>
        </p:nvSpPr>
        <p:spPr>
          <a:xfrm>
            <a:off x="7196328"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Giao thẳng, hoặc chia nhỏ từ nhiều kho</a:t>
            </a:r>
            <a:endParaRPr lang="en-US" sz="780" dirty="0"/>
          </a:p>
        </p:txBody>
      </p:sp>
      <p:sp>
        <p:nvSpPr>
          <p:cNvPr id="48" name="Text 46"/>
          <p:cNvSpPr/>
          <p:nvPr/>
        </p:nvSpPr>
        <p:spPr>
          <a:xfrm>
            <a:off x="8138160"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Luân chuyển kho</a:t>
            </a:r>
            <a:endParaRPr lang="en-US" sz="900" dirty="0"/>
          </a:p>
        </p:txBody>
      </p:sp>
      <p:sp>
        <p:nvSpPr>
          <p:cNvPr id="49" name="Text 47"/>
          <p:cNvSpPr/>
          <p:nvPr/>
        </p:nvSpPr>
        <p:spPr>
          <a:xfrm>
            <a:off x="8138160"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Chuyển hàng giữa kho khi tồn kho lệch</a:t>
            </a:r>
            <a:endParaRPr lang="en-US" sz="780" dirty="0"/>
          </a:p>
        </p:txBody>
      </p:sp>
      <p:sp>
        <p:nvSpPr>
          <p:cNvPr id="50" name="Text 48"/>
          <p:cNvSpPr/>
          <p:nvPr/>
        </p:nvSpPr>
        <p:spPr>
          <a:xfrm>
            <a:off x="9079992" y="2779776"/>
            <a:ext cx="868680" cy="292608"/>
          </a:xfrm>
          <a:prstGeom prst="rect">
            <a:avLst/>
          </a:prstGeom>
          <a:noFill/>
          <a:ln/>
        </p:spPr>
        <p:txBody>
          <a:bodyPr wrap="square" rtlCol="0" anchor="ctr"/>
          <a:lstStyle/>
          <a:p>
            <a:pPr algn="ctr" indent="0" marL="0">
              <a:buNone/>
            </a:pPr>
            <a:r>
              <a:rPr lang="en-US" sz="900" b="1" dirty="0">
                <a:solidFill>
                  <a:srgbClr val="13294B"/>
                </a:solidFill>
                <a:latin typeface="Calibri" pitchFamily="34" charset="0"/>
                <a:ea typeface="Calibri" pitchFamily="34" charset="-122"/>
                <a:cs typeface="Calibri" pitchFamily="34" charset="-120"/>
              </a:rPr>
              <a:t>Đầu ra</a:t>
            </a:r>
            <a:endParaRPr lang="en-US" sz="900" dirty="0"/>
          </a:p>
        </p:txBody>
      </p:sp>
      <p:sp>
        <p:nvSpPr>
          <p:cNvPr id="51" name="Text 49"/>
          <p:cNvSpPr/>
          <p:nvPr/>
        </p:nvSpPr>
        <p:spPr>
          <a:xfrm>
            <a:off x="9079992" y="3072384"/>
            <a:ext cx="868680" cy="1188720"/>
          </a:xfrm>
          <a:prstGeom prst="rect">
            <a:avLst/>
          </a:prstGeom>
          <a:noFill/>
          <a:ln/>
        </p:spPr>
        <p:txBody>
          <a:bodyPr wrap="square" rtlCol="0" anchor="t"/>
          <a:lstStyle/>
          <a:p>
            <a:pPr algn="ctr" indent="0" marL="0">
              <a:buNone/>
            </a:pPr>
            <a:r>
              <a:rPr lang="en-US" sz="780" dirty="0">
                <a:solidFill>
                  <a:srgbClr val="5B6B7C"/>
                </a:solidFill>
                <a:latin typeface="Calibri" pitchFamily="34" charset="0"/>
                <a:ea typeface="Calibri" pitchFamily="34" charset="-122"/>
                <a:cs typeface="Calibri" pitchFamily="34" charset="-120"/>
              </a:rPr>
              <a:t>Kế hoạch phân phối cuối, cờ cảnh báo</a:t>
            </a:r>
            <a:endParaRPr lang="en-US" sz="780" dirty="0"/>
          </a:p>
        </p:txBody>
      </p:sp>
      <p:sp>
        <p:nvSpPr>
          <p:cNvPr id="52" name="Shape 50"/>
          <p:cNvSpPr/>
          <p:nvPr/>
        </p:nvSpPr>
        <p:spPr>
          <a:xfrm>
            <a:off x="502920" y="5989320"/>
            <a:ext cx="11183112" cy="457200"/>
          </a:xfrm>
          <a:prstGeom prst="roundRect">
            <a:avLst>
              <a:gd name="adj" fmla="val 16000"/>
            </a:avLst>
          </a:prstGeom>
          <a:solidFill>
            <a:srgbClr val="FFFFFF"/>
          </a:solidFill>
          <a:ln w="12700">
            <a:solidFill>
              <a:srgbClr val="DCE4EC"/>
            </a:solidFill>
            <a:prstDash val="solid"/>
          </a:ln>
        </p:spPr>
      </p:sp>
      <p:sp>
        <p:nvSpPr>
          <p:cNvPr id="53" name="Text 51"/>
          <p:cNvSpPr/>
          <p:nvPr/>
        </p:nvSpPr>
        <p:spPr>
          <a:xfrm>
            <a:off x="685800" y="5989320"/>
            <a:ext cx="10881360" cy="457200"/>
          </a:xfrm>
          <a:prstGeom prst="rect">
            <a:avLst/>
          </a:prstGeom>
          <a:noFill/>
          <a:ln/>
        </p:spPr>
        <p:txBody>
          <a:bodyPr wrap="square" rtlCol="0" anchor="ctr"/>
          <a:lstStyle/>
          <a:p>
            <a:pPr indent="0" marL="0">
              <a:buNone/>
            </a:pPr>
            <a:r>
              <a:rPr lang="en-US" sz="950" i="1" dirty="0">
                <a:solidFill>
                  <a:srgbClr val="5B6B7C"/>
                </a:solidFill>
                <a:latin typeface="Calibri" pitchFamily="34" charset="0"/>
                <a:ea typeface="Calibri" pitchFamily="34" charset="-122"/>
                <a:cs typeface="Calibri" pitchFamily="34" charset="-120"/>
              </a:rPr>
              <a:t>Không một bài báo nào bao phủ trọn 10 bước — đây là đóng góp tích hợp của đồ án từ các phương pháp đã qua bình duyệt (xem Mục 3.11 báo cáo đầy đủ).</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04 · PHƯƠNG PHÁP LUẬN</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100" b="1" dirty="0">
                <a:solidFill>
                  <a:srgbClr val="13294B"/>
                </a:solidFill>
                <a:latin typeface="Times New Roman" pitchFamily="34" charset="0"/>
                <a:ea typeface="Times New Roman" pitchFamily="34" charset="-122"/>
                <a:cs typeface="Times New Roman" pitchFamily="34" charset="-120"/>
              </a:rPr>
              <a:t>Hai ràng buộc tách biệt: bảo vệ nhà bán lẻ và bảo vệ người tiêu dùng</a:t>
            </a:r>
            <a:endParaRPr lang="en-US" sz="2100" dirty="0"/>
          </a:p>
        </p:txBody>
      </p:sp>
      <p:sp>
        <p:nvSpPr>
          <p:cNvPr id="4" name="Shape 2"/>
          <p:cNvSpPr/>
          <p:nvPr/>
        </p:nvSpPr>
        <p:spPr>
          <a:xfrm>
            <a:off x="502920" y="1554480"/>
            <a:ext cx="5257800" cy="3200400"/>
          </a:xfrm>
          <a:prstGeom prst="roundRect">
            <a:avLst>
              <a:gd name="adj" fmla="val 2857"/>
            </a:avLst>
          </a:prstGeom>
          <a:solidFill>
            <a:srgbClr val="E6EEF5"/>
          </a:solidFill>
          <a:ln/>
        </p:spPr>
      </p:sp>
      <p:sp>
        <p:nvSpPr>
          <p:cNvPr id="5" name="Shape 3"/>
          <p:cNvSpPr/>
          <p:nvPr/>
        </p:nvSpPr>
        <p:spPr>
          <a:xfrm>
            <a:off x="502920" y="1554480"/>
            <a:ext cx="5257800" cy="777240"/>
          </a:xfrm>
          <a:prstGeom prst="roundRect">
            <a:avLst>
              <a:gd name="adj" fmla="val 11765"/>
            </a:avLst>
          </a:prstGeom>
          <a:solidFill>
            <a:srgbClr val="1C7293"/>
          </a:solidFill>
          <a:ln/>
        </p:spPr>
      </p:sp>
      <p:sp>
        <p:nvSpPr>
          <p:cNvPr id="6" name="Shape 4"/>
          <p:cNvSpPr/>
          <p:nvPr/>
        </p:nvSpPr>
        <p:spPr>
          <a:xfrm>
            <a:off x="502920" y="1965960"/>
            <a:ext cx="5257800" cy="365760"/>
          </a:xfrm>
          <a:prstGeom prst="rect">
            <a:avLst/>
          </a:prstGeom>
          <a:solidFill>
            <a:srgbClr val="1C7293"/>
          </a:solidFill>
          <a:ln/>
        </p:spPr>
      </p:sp>
      <p:sp>
        <p:nvSpPr>
          <p:cNvPr id="7" name="Text 5"/>
          <p:cNvSpPr/>
          <p:nvPr/>
        </p:nvSpPr>
        <p:spPr>
          <a:xfrm>
            <a:off x="731520" y="1627632"/>
            <a:ext cx="4800600" cy="411480"/>
          </a:xfrm>
          <a:prstGeom prst="rect">
            <a:avLst/>
          </a:prstGeom>
          <a:noFill/>
          <a:ln/>
        </p:spPr>
        <p:txBody>
          <a:bodyPr wrap="square" rtlCol="0" anchor="ctr"/>
          <a:lstStyle/>
          <a:p>
            <a:pPr indent="0" marL="0">
              <a:buNone/>
            </a:pPr>
            <a:r>
              <a:rPr lang="en-US" sz="2200" b="1" dirty="0">
                <a:solidFill>
                  <a:srgbClr val="FFFFFF"/>
                </a:solidFill>
                <a:latin typeface="Times New Roman" pitchFamily="34" charset="0"/>
                <a:ea typeface="Times New Roman" pitchFamily="34" charset="-122"/>
                <a:cs typeface="Times New Roman" pitchFamily="34" charset="-120"/>
              </a:rPr>
              <a:t>MLOR</a:t>
            </a:r>
            <a:endParaRPr lang="en-US" sz="2200" dirty="0"/>
          </a:p>
        </p:txBody>
      </p:sp>
      <p:sp>
        <p:nvSpPr>
          <p:cNvPr id="8" name="Text 6"/>
          <p:cNvSpPr/>
          <p:nvPr/>
        </p:nvSpPr>
        <p:spPr>
          <a:xfrm>
            <a:off x="731520" y="2029968"/>
            <a:ext cx="4800600" cy="27432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Minimum Life On Receipt — Mô hình 5</a:t>
            </a:r>
            <a:endParaRPr lang="en-US" sz="1050" dirty="0"/>
          </a:p>
        </p:txBody>
      </p:sp>
      <p:sp>
        <p:nvSpPr>
          <p:cNvPr id="9" name="Text 7"/>
          <p:cNvSpPr/>
          <p:nvPr/>
        </p:nvSpPr>
        <p:spPr>
          <a:xfrm>
            <a:off x="731520" y="2468880"/>
            <a:ext cx="4800600" cy="320040"/>
          </a:xfrm>
          <a:prstGeom prst="rect">
            <a:avLst/>
          </a:prstGeom>
          <a:noFill/>
          <a:ln/>
        </p:spPr>
        <p:txBody>
          <a:bodyPr wrap="square"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Bảo vệ: NHÀ BÁN LẺ</a:t>
            </a:r>
            <a:endParaRPr lang="en-US" sz="1200" dirty="0"/>
          </a:p>
        </p:txBody>
      </p:sp>
      <p:sp>
        <p:nvSpPr>
          <p:cNvPr id="10" name="Text 8"/>
          <p:cNvSpPr/>
          <p:nvPr/>
        </p:nvSpPr>
        <p:spPr>
          <a:xfrm>
            <a:off x="731520" y="2834640"/>
            <a:ext cx="4800600" cy="1005840"/>
          </a:xfrm>
          <a:prstGeom prst="rect">
            <a:avLst/>
          </a:prstGeom>
          <a:noFill/>
          <a:ln/>
        </p:spPr>
        <p:txBody>
          <a:bodyPr wrap="square" rtlCol="0" anchor="ctr"/>
          <a:lstStyle/>
          <a:p>
            <a:pPr indent="0" marL="0">
              <a:buNone/>
            </a:pPr>
            <a:r>
              <a:rPr lang="en-US" sz="1150" dirty="0">
                <a:solidFill>
                  <a:srgbClr val="13294B"/>
                </a:solidFill>
                <a:latin typeface="Calibri" pitchFamily="34" charset="0"/>
                <a:ea typeface="Calibri" pitchFamily="34" charset="-122"/>
                <a:cs typeface="Calibri" pitchFamily="34" charset="-120"/>
              </a:rPr>
              <a:t>Hạn sử dụng còn lại tối thiểu khi nhà bán lẻ NHẬN hàng — điều kiện (a) trong Mô hình 7: Sᵢ − Tⱼ ≥ MLORⱼ</a:t>
            </a:r>
            <a:endParaRPr lang="en-US" sz="1150" dirty="0"/>
          </a:p>
        </p:txBody>
      </p:sp>
      <p:sp>
        <p:nvSpPr>
          <p:cNvPr id="11" name="Text 9"/>
          <p:cNvSpPr/>
          <p:nvPr/>
        </p:nvSpPr>
        <p:spPr>
          <a:xfrm>
            <a:off x="731520" y="3886200"/>
            <a:ext cx="4800600" cy="292608"/>
          </a:xfrm>
          <a:prstGeom prst="rect">
            <a:avLst/>
          </a:prstGeom>
          <a:noFill/>
          <a:ln/>
        </p:spPr>
        <p:txBody>
          <a:bodyPr wrap="square" rtlCol="0" anchor="ctr"/>
          <a:lstStyle/>
          <a:p>
            <a:pPr indent="0" marL="0">
              <a:buNone/>
            </a:pPr>
            <a:r>
              <a:rPr lang="en-US" sz="950" b="1" dirty="0">
                <a:solidFill>
                  <a:srgbClr val="13294B"/>
                </a:solidFill>
                <a:latin typeface="Calibri" pitchFamily="34" charset="0"/>
                <a:ea typeface="Calibri" pitchFamily="34" charset="-122"/>
                <a:cs typeface="Calibri" pitchFamily="34" charset="-120"/>
              </a:rPr>
              <a:t>Nguồn: Santos et al. (2022, Omega) [R4]</a:t>
            </a:r>
            <a:endParaRPr lang="en-US" sz="950" dirty="0"/>
          </a:p>
        </p:txBody>
      </p:sp>
      <p:sp>
        <p:nvSpPr>
          <p:cNvPr id="12" name="Text 10"/>
          <p:cNvSpPr/>
          <p:nvPr/>
        </p:nvSpPr>
        <p:spPr>
          <a:xfrm>
            <a:off x="731520" y="4187952"/>
            <a:ext cx="4800600" cy="502920"/>
          </a:xfrm>
          <a:prstGeom prst="rect">
            <a:avLst/>
          </a:prstGeom>
          <a:noFill/>
          <a:ln/>
        </p:spPr>
        <p:txBody>
          <a:bodyPr wrap="square" rtlCol="0" anchor="ctr"/>
          <a:lstStyle/>
          <a:p>
            <a:pPr indent="0" marL="0">
              <a:buNone/>
            </a:pPr>
            <a:r>
              <a:rPr lang="en-US" sz="900" i="1" dirty="0">
                <a:solidFill>
                  <a:srgbClr val="5B6B7C"/>
                </a:solidFill>
                <a:latin typeface="Calibri" pitchFamily="34" charset="0"/>
                <a:ea typeface="Calibri" pitchFamily="34" charset="-122"/>
                <a:cs typeface="Calibri" pitchFamily="34" charset="-120"/>
              </a:rPr>
              <a:t>Nâng cấp ngưỡng: Akkas &amp; Honhon (2023) [R20] · Mohamadi et al. (2025) [R21]</a:t>
            </a:r>
            <a:endParaRPr lang="en-US" sz="900" dirty="0"/>
          </a:p>
        </p:txBody>
      </p:sp>
      <p:sp>
        <p:nvSpPr>
          <p:cNvPr id="13" name="Shape 11"/>
          <p:cNvSpPr/>
          <p:nvPr/>
        </p:nvSpPr>
        <p:spPr>
          <a:xfrm>
            <a:off x="6400800" y="1554480"/>
            <a:ext cx="5257800" cy="3200400"/>
          </a:xfrm>
          <a:prstGeom prst="roundRect">
            <a:avLst>
              <a:gd name="adj" fmla="val 2857"/>
            </a:avLst>
          </a:prstGeom>
          <a:solidFill>
            <a:srgbClr val="FCF0DC"/>
          </a:solidFill>
          <a:ln/>
        </p:spPr>
      </p:sp>
      <p:sp>
        <p:nvSpPr>
          <p:cNvPr id="14" name="Shape 12"/>
          <p:cNvSpPr/>
          <p:nvPr/>
        </p:nvSpPr>
        <p:spPr>
          <a:xfrm>
            <a:off x="6400800" y="1554480"/>
            <a:ext cx="5257800" cy="777240"/>
          </a:xfrm>
          <a:prstGeom prst="roundRect">
            <a:avLst>
              <a:gd name="adj" fmla="val 11765"/>
            </a:avLst>
          </a:prstGeom>
          <a:solidFill>
            <a:srgbClr val="E8A33D"/>
          </a:solidFill>
          <a:ln/>
        </p:spPr>
      </p:sp>
      <p:sp>
        <p:nvSpPr>
          <p:cNvPr id="15" name="Shape 13"/>
          <p:cNvSpPr/>
          <p:nvPr/>
        </p:nvSpPr>
        <p:spPr>
          <a:xfrm>
            <a:off x="6400800" y="1965960"/>
            <a:ext cx="5257800" cy="365760"/>
          </a:xfrm>
          <a:prstGeom prst="rect">
            <a:avLst/>
          </a:prstGeom>
          <a:solidFill>
            <a:srgbClr val="E8A33D"/>
          </a:solidFill>
          <a:ln/>
        </p:spPr>
      </p:sp>
      <p:sp>
        <p:nvSpPr>
          <p:cNvPr id="16" name="Text 14"/>
          <p:cNvSpPr/>
          <p:nvPr/>
        </p:nvSpPr>
        <p:spPr>
          <a:xfrm>
            <a:off x="6629400" y="1627632"/>
            <a:ext cx="4800600" cy="411480"/>
          </a:xfrm>
          <a:prstGeom prst="rect">
            <a:avLst/>
          </a:prstGeom>
          <a:noFill/>
          <a:ln/>
        </p:spPr>
        <p:txBody>
          <a:bodyPr wrap="square" rtlCol="0" anchor="ctr"/>
          <a:lstStyle/>
          <a:p>
            <a:pPr indent="0" marL="0">
              <a:buNone/>
            </a:pPr>
            <a:r>
              <a:rPr lang="en-US" sz="2200" b="1" dirty="0">
                <a:solidFill>
                  <a:srgbClr val="FFFFFF"/>
                </a:solidFill>
                <a:latin typeface="Times New Roman" pitchFamily="34" charset="0"/>
                <a:ea typeface="Times New Roman" pitchFamily="34" charset="-122"/>
                <a:cs typeface="Times New Roman" pitchFamily="34" charset="-120"/>
              </a:rPr>
              <a:t>Min-RSL</a:t>
            </a:r>
            <a:endParaRPr lang="en-US" sz="2200" dirty="0"/>
          </a:p>
        </p:txBody>
      </p:sp>
      <p:sp>
        <p:nvSpPr>
          <p:cNvPr id="17" name="Text 15"/>
          <p:cNvSpPr/>
          <p:nvPr/>
        </p:nvSpPr>
        <p:spPr>
          <a:xfrm>
            <a:off x="6629400" y="2029968"/>
            <a:ext cx="4800600" cy="27432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Target Minimum Remaining Shelf-Life — Mô hình 6</a:t>
            </a:r>
            <a:endParaRPr lang="en-US" sz="1050" dirty="0"/>
          </a:p>
        </p:txBody>
      </p:sp>
      <p:sp>
        <p:nvSpPr>
          <p:cNvPr id="18" name="Text 16"/>
          <p:cNvSpPr/>
          <p:nvPr/>
        </p:nvSpPr>
        <p:spPr>
          <a:xfrm>
            <a:off x="6629400" y="2468880"/>
            <a:ext cx="4800600" cy="320040"/>
          </a:xfrm>
          <a:prstGeom prst="rect">
            <a:avLst/>
          </a:prstGeom>
          <a:noFill/>
          <a:ln/>
        </p:spPr>
        <p:txBody>
          <a:bodyPr wrap="square" rtlCol="0" anchor="ctr"/>
          <a:lstStyle/>
          <a:p>
            <a:pPr indent="0" marL="0">
              <a:buNone/>
            </a:pPr>
            <a:r>
              <a:rPr lang="en-US" sz="1200" b="1" dirty="0">
                <a:solidFill>
                  <a:srgbClr val="8A5A15"/>
                </a:solidFill>
                <a:latin typeface="Calibri" pitchFamily="34" charset="0"/>
                <a:ea typeface="Calibri" pitchFamily="34" charset="-122"/>
                <a:cs typeface="Calibri" pitchFamily="34" charset="-120"/>
              </a:rPr>
              <a:t>Bảo vệ: NGƯỜI TIÊU DÙNG</a:t>
            </a:r>
            <a:endParaRPr lang="en-US" sz="1200" dirty="0"/>
          </a:p>
        </p:txBody>
      </p:sp>
      <p:sp>
        <p:nvSpPr>
          <p:cNvPr id="19" name="Text 17"/>
          <p:cNvSpPr/>
          <p:nvPr/>
        </p:nvSpPr>
        <p:spPr>
          <a:xfrm>
            <a:off x="6629400" y="2834640"/>
            <a:ext cx="4800600" cy="1005840"/>
          </a:xfrm>
          <a:prstGeom prst="rect">
            <a:avLst/>
          </a:prstGeom>
          <a:noFill/>
          <a:ln/>
        </p:spPr>
        <p:txBody>
          <a:bodyPr wrap="square" rtlCol="0" anchor="ctr"/>
          <a:lstStyle/>
          <a:p>
            <a:pPr indent="0" marL="0">
              <a:buNone/>
            </a:pPr>
            <a:r>
              <a:rPr lang="en-US" sz="1150" dirty="0">
                <a:solidFill>
                  <a:srgbClr val="13294B"/>
                </a:solidFill>
                <a:latin typeface="Calibri" pitchFamily="34" charset="0"/>
                <a:ea typeface="Calibri" pitchFamily="34" charset="-122"/>
                <a:cs typeface="Calibri" pitchFamily="34" charset="-120"/>
              </a:rPr>
              <a:t>Hạn sử dụng còn lại mục tiêu khi người tiêu dùng MUA — điều kiện (b) trong Mô hình 7: Sᵢ − Tⱼ − Cⱼ ≥ Min-RSL mục tiêu</a:t>
            </a:r>
            <a:endParaRPr lang="en-US" sz="1150" dirty="0"/>
          </a:p>
        </p:txBody>
      </p:sp>
      <p:sp>
        <p:nvSpPr>
          <p:cNvPr id="20" name="Text 18"/>
          <p:cNvSpPr/>
          <p:nvPr/>
        </p:nvSpPr>
        <p:spPr>
          <a:xfrm>
            <a:off x="6629400" y="3886200"/>
            <a:ext cx="4800600" cy="292608"/>
          </a:xfrm>
          <a:prstGeom prst="rect">
            <a:avLst/>
          </a:prstGeom>
          <a:noFill/>
          <a:ln/>
        </p:spPr>
        <p:txBody>
          <a:bodyPr wrap="square" rtlCol="0" anchor="ctr"/>
          <a:lstStyle/>
          <a:p>
            <a:pPr indent="0" marL="0">
              <a:buNone/>
            </a:pPr>
            <a:r>
              <a:rPr lang="en-US" sz="950" b="1" dirty="0">
                <a:solidFill>
                  <a:srgbClr val="13294B"/>
                </a:solidFill>
                <a:latin typeface="Calibri" pitchFamily="34" charset="0"/>
                <a:ea typeface="Calibri" pitchFamily="34" charset="-122"/>
                <a:cs typeface="Calibri" pitchFamily="34" charset="-120"/>
              </a:rPr>
              <a:t>Nguồn: Singh &amp; Kuthambalayan (2022, C&amp;IE) [R5]</a:t>
            </a:r>
            <a:endParaRPr lang="en-US" sz="950" dirty="0"/>
          </a:p>
        </p:txBody>
      </p:sp>
      <p:sp>
        <p:nvSpPr>
          <p:cNvPr id="21" name="Shape 19"/>
          <p:cNvSpPr/>
          <p:nvPr/>
        </p:nvSpPr>
        <p:spPr>
          <a:xfrm>
            <a:off x="502920" y="5029200"/>
            <a:ext cx="11183112" cy="640080"/>
          </a:xfrm>
          <a:prstGeom prst="roundRect">
            <a:avLst>
              <a:gd name="adj" fmla="val 12857"/>
            </a:avLst>
          </a:prstGeom>
          <a:solidFill>
            <a:srgbClr val="13294B"/>
          </a:solidFill>
          <a:ln/>
        </p:spPr>
      </p:sp>
      <p:sp>
        <p:nvSpPr>
          <p:cNvPr id="22" name="Text 20"/>
          <p:cNvSpPr/>
          <p:nvPr/>
        </p:nvSpPr>
        <p:spPr>
          <a:xfrm>
            <a:off x="777240" y="5029200"/>
            <a:ext cx="10698480" cy="640080"/>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Không gộp làm một — mỗi ràng buộc bảo vệ một đối tượng khác nhau. Mô hình 7 (slide sau) tích hợp cả hai thành một điều kiện xét đồng thời.</a:t>
            </a:r>
            <a:endParaRPr lang="en-US" sz="1200" dirty="0"/>
          </a:p>
        </p:txBody>
      </p:sp>
      <p:sp>
        <p:nvSpPr>
          <p:cNvPr id="23" name="Text 21"/>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24" name="Text 22"/>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04 · PHƯƠNG PHÁP LUẬN</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000" b="1" dirty="0">
                <a:solidFill>
                  <a:srgbClr val="13294B"/>
                </a:solidFill>
                <a:latin typeface="Times New Roman" pitchFamily="34" charset="0"/>
                <a:ea typeface="Times New Roman" pitchFamily="34" charset="-122"/>
                <a:cs typeface="Times New Roman" pitchFamily="34" charset="-120"/>
              </a:rPr>
              <a:t>Mô hình 7 — Ràng buộc tích hợp: giải “mâu thuẫn” hạn ngắn / hạn dài</a:t>
            </a:r>
            <a:endParaRPr lang="en-US" sz="2000" dirty="0"/>
          </a:p>
        </p:txBody>
      </p:sp>
      <p:sp>
        <p:nvSpPr>
          <p:cNvPr id="4" name="Shape 2"/>
          <p:cNvSpPr/>
          <p:nvPr/>
        </p:nvSpPr>
        <p:spPr>
          <a:xfrm>
            <a:off x="502920" y="1463040"/>
            <a:ext cx="11183112" cy="1417320"/>
          </a:xfrm>
          <a:prstGeom prst="roundRect">
            <a:avLst>
              <a:gd name="adj" fmla="val 6452"/>
            </a:avLst>
          </a:prstGeom>
          <a:solidFill>
            <a:srgbClr val="13294B"/>
          </a:solidFill>
          <a:ln/>
        </p:spPr>
      </p:sp>
      <p:sp>
        <p:nvSpPr>
          <p:cNvPr id="5" name="Text 3"/>
          <p:cNvSpPr/>
          <p:nvPr/>
        </p:nvSpPr>
        <p:spPr>
          <a:xfrm>
            <a:off x="822960" y="1600200"/>
            <a:ext cx="10515600" cy="32004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Lô i giao được cho điểm đến j khi và chỉ khi:</a:t>
            </a:r>
            <a:endParaRPr lang="en-US" sz="1200" dirty="0"/>
          </a:p>
        </p:txBody>
      </p:sp>
      <p:sp>
        <p:nvSpPr>
          <p:cNvPr id="6" name="Text 4"/>
          <p:cNvSpPr/>
          <p:nvPr/>
        </p:nvSpPr>
        <p:spPr>
          <a:xfrm>
            <a:off x="822960" y="1920240"/>
            <a:ext cx="10515600" cy="548640"/>
          </a:xfrm>
          <a:prstGeom prst="rect">
            <a:avLst/>
          </a:prstGeom>
          <a:noFill/>
          <a:ln/>
        </p:spPr>
        <p:txBody>
          <a:bodyPr wrap="square" rtlCol="0" anchor="ctr"/>
          <a:lstStyle/>
          <a:p>
            <a:pPr algn="l" indent="0" marL="0">
              <a:buNone/>
            </a:pPr>
            <a:r>
              <a:rPr lang="en-US" sz="1900" b="1" dirty="0">
                <a:solidFill>
                  <a:srgbClr val="9FD8E0"/>
                </a:solidFill>
                <a:latin typeface="Consolas" pitchFamily="34" charset="0"/>
                <a:ea typeface="Consolas" pitchFamily="34" charset="-122"/>
                <a:cs typeface="Consolas" pitchFamily="34" charset="-120"/>
              </a:rPr>
              <a:t>(a)  Sᵢ − Tⱼ ≥ MLORⱼ</a:t>
            </a:r>
            <a:pPr algn="l" indent="0" marL="0">
              <a:buNone/>
            </a:pPr>
            <a:r>
              <a:rPr lang="en-US" sz="1600" b="1" dirty="0">
                <a:solidFill>
                  <a:srgbClr val="CADCFC"/>
                </a:solidFill>
                <a:latin typeface="Consolas" pitchFamily="34" charset="0"/>
                <a:ea typeface="Consolas" pitchFamily="34" charset="-122"/>
                <a:cs typeface="Consolas" pitchFamily="34" charset="-120"/>
              </a:rPr>
              <a:t>        VÀ        </a:t>
            </a:r>
            <a:pPr algn="l" indent="0" marL="0">
              <a:buNone/>
            </a:pPr>
            <a:r>
              <a:rPr lang="en-US" sz="1900" b="1" dirty="0">
                <a:solidFill>
                  <a:srgbClr val="F5D48A"/>
                </a:solidFill>
                <a:latin typeface="Consolas" pitchFamily="34" charset="0"/>
                <a:ea typeface="Consolas" pitchFamily="34" charset="-122"/>
                <a:cs typeface="Consolas" pitchFamily="34" charset="-120"/>
              </a:rPr>
              <a:t>(b)  Sᵢ − Tⱼ − Cⱼ ≥ Min-RSL mục tiêu</a:t>
            </a:r>
            <a:endParaRPr lang="en-US" sz="1900" dirty="0"/>
          </a:p>
        </p:txBody>
      </p:sp>
      <p:sp>
        <p:nvSpPr>
          <p:cNvPr id="7" name="Text 5"/>
          <p:cNvSpPr/>
          <p:nvPr/>
        </p:nvSpPr>
        <p:spPr>
          <a:xfrm>
            <a:off x="822960" y="2514600"/>
            <a:ext cx="10515600" cy="274320"/>
          </a:xfrm>
          <a:prstGeom prst="rect">
            <a:avLst/>
          </a:prstGeom>
          <a:noFill/>
          <a:ln/>
        </p:spPr>
        <p:txBody>
          <a:bodyPr wrap="square" rtlCol="0" anchor="ctr"/>
          <a:lstStyle/>
          <a:p>
            <a:pPr indent="0" marL="0">
              <a:buNone/>
            </a:pPr>
            <a:r>
              <a:rPr lang="en-US" sz="1050" i="1" dirty="0">
                <a:solidFill>
                  <a:srgbClr val="B9C6D6"/>
                </a:solidFill>
                <a:latin typeface="Calibri" pitchFamily="34" charset="0"/>
                <a:ea typeface="Calibri" pitchFamily="34" charset="-122"/>
                <a:cs typeface="Calibri" pitchFamily="34" charset="-120"/>
              </a:rPr>
              <a:t>(a) bảo vệ nhà bán lẻ — MLOR       (b) bảo vệ người tiêu dùng — Min-RSL</a:t>
            </a:r>
            <a:endParaRPr lang="en-US" sz="1050" dirty="0"/>
          </a:p>
        </p:txBody>
      </p:sp>
      <p:sp>
        <p:nvSpPr>
          <p:cNvPr id="8" name="Shape 6"/>
          <p:cNvSpPr/>
          <p:nvPr/>
        </p:nvSpPr>
        <p:spPr>
          <a:xfrm>
            <a:off x="502920" y="3154680"/>
            <a:ext cx="5120640" cy="868680"/>
          </a:xfrm>
          <a:prstGeom prst="roundRect">
            <a:avLst>
              <a:gd name="adj" fmla="val 10526"/>
            </a:avLst>
          </a:prstGeom>
          <a:solidFill>
            <a:srgbClr val="FFFFFF"/>
          </a:solidFill>
          <a:ln w="19050">
            <a:solidFill>
              <a:srgbClr val="1C7293"/>
            </a:solidFill>
            <a:prstDash val="solid"/>
          </a:ln>
        </p:spPr>
      </p:sp>
      <p:sp>
        <p:nvSpPr>
          <p:cNvPr id="9" name="Text 7"/>
          <p:cNvSpPr/>
          <p:nvPr/>
        </p:nvSpPr>
        <p:spPr>
          <a:xfrm>
            <a:off x="731520" y="3246120"/>
            <a:ext cx="4663440" cy="274320"/>
          </a:xfrm>
          <a:prstGeom prst="rect">
            <a:avLst/>
          </a:prstGeom>
          <a:noFill/>
          <a:ln/>
        </p:spPr>
        <p:txBody>
          <a:bodyPr wrap="square" rtlCol="0" anchor="ctr"/>
          <a:lstStyle/>
          <a:p>
            <a:pPr indent="0" marL="0">
              <a:buNone/>
            </a:pPr>
            <a:r>
              <a:rPr lang="en-US" sz="1300" b="1" dirty="0">
                <a:solidFill>
                  <a:srgbClr val="1C7293"/>
                </a:solidFill>
                <a:latin typeface="Times New Roman" pitchFamily="34" charset="0"/>
                <a:ea typeface="Times New Roman" pitchFamily="34" charset="-122"/>
                <a:cs typeface="Times New Roman" pitchFamily="34" charset="-120"/>
              </a:rPr>
              <a:t>① LỌC KHẢ THI</a:t>
            </a:r>
            <a:endParaRPr lang="en-US" sz="1300" dirty="0"/>
          </a:p>
        </p:txBody>
      </p:sp>
      <p:sp>
        <p:nvSpPr>
          <p:cNvPr id="10" name="Text 8"/>
          <p:cNvSpPr/>
          <p:nvPr/>
        </p:nvSpPr>
        <p:spPr>
          <a:xfrm>
            <a:off x="731520" y="3538728"/>
            <a:ext cx="4663440" cy="438912"/>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Giữ lại cặp (lô, điểm đến) thoả cả hai điều kiện (a) và (b) — Mô hình 8 (Pal &amp; Kant, 2020)</a:t>
            </a:r>
            <a:endParaRPr lang="en-US" sz="1000" dirty="0"/>
          </a:p>
        </p:txBody>
      </p:sp>
      <p:sp>
        <p:nvSpPr>
          <p:cNvPr id="11" name="Shape 9"/>
          <p:cNvSpPr/>
          <p:nvPr/>
        </p:nvSpPr>
        <p:spPr>
          <a:xfrm>
            <a:off x="5669280" y="3589020"/>
            <a:ext cx="457200" cy="9144"/>
          </a:xfrm>
          <a:prstGeom prst="line">
            <a:avLst/>
          </a:prstGeom>
          <a:noFill/>
          <a:ln w="25400">
            <a:solidFill>
              <a:srgbClr val="13294B"/>
            </a:solidFill>
            <a:prstDash val="solid"/>
            <a:headEnd type="none"/>
            <a:tailEnd type="arrow"/>
          </a:ln>
        </p:spPr>
      </p:sp>
      <p:sp>
        <p:nvSpPr>
          <p:cNvPr id="12" name="Shape 10"/>
          <p:cNvSpPr/>
          <p:nvPr/>
        </p:nvSpPr>
        <p:spPr>
          <a:xfrm>
            <a:off x="6172200" y="3154680"/>
            <a:ext cx="5120640" cy="868680"/>
          </a:xfrm>
          <a:prstGeom prst="roundRect">
            <a:avLst>
              <a:gd name="adj" fmla="val 10526"/>
            </a:avLst>
          </a:prstGeom>
          <a:solidFill>
            <a:srgbClr val="FFFFFF"/>
          </a:solidFill>
          <a:ln w="19050">
            <a:solidFill>
              <a:srgbClr val="1E7145"/>
            </a:solidFill>
            <a:prstDash val="solid"/>
          </a:ln>
        </p:spPr>
      </p:sp>
      <p:sp>
        <p:nvSpPr>
          <p:cNvPr id="13" name="Text 11"/>
          <p:cNvSpPr/>
          <p:nvPr/>
        </p:nvSpPr>
        <p:spPr>
          <a:xfrm>
            <a:off x="6400800" y="3246120"/>
            <a:ext cx="4663440" cy="274320"/>
          </a:xfrm>
          <a:prstGeom prst="rect">
            <a:avLst/>
          </a:prstGeom>
          <a:noFill/>
          <a:ln/>
        </p:spPr>
        <p:txBody>
          <a:bodyPr wrap="square" rtlCol="0" anchor="ctr"/>
          <a:lstStyle/>
          <a:p>
            <a:pPr indent="0" marL="0">
              <a:buNone/>
            </a:pPr>
            <a:r>
              <a:rPr lang="en-US" sz="1300" b="1" dirty="0">
                <a:solidFill>
                  <a:srgbClr val="1E7145"/>
                </a:solidFill>
                <a:latin typeface="Times New Roman" pitchFamily="34" charset="0"/>
                <a:ea typeface="Times New Roman" pitchFamily="34" charset="-122"/>
                <a:cs typeface="Times New Roman" pitchFamily="34" charset="-120"/>
              </a:rPr>
              <a:t>② FEFO TRONG TẬP HỢP LỆ</a:t>
            </a:r>
            <a:endParaRPr lang="en-US" sz="1300" dirty="0"/>
          </a:p>
        </p:txBody>
      </p:sp>
      <p:sp>
        <p:nvSpPr>
          <p:cNvPr id="14" name="Text 12"/>
          <p:cNvSpPr/>
          <p:nvPr/>
        </p:nvSpPr>
        <p:spPr>
          <a:xfrm>
            <a:off x="6400800" y="3538728"/>
            <a:ext cx="4663440" cy="438912"/>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Trong các lô đã qua bước ①, ưu tiên giao lô hết hạn sớm nhất trước — Mô hình 9</a:t>
            </a:r>
            <a:endParaRPr lang="en-US" sz="1000" dirty="0"/>
          </a:p>
        </p:txBody>
      </p:sp>
      <p:sp>
        <p:nvSpPr>
          <p:cNvPr id="15" name="Shape 13"/>
          <p:cNvSpPr/>
          <p:nvPr/>
        </p:nvSpPr>
        <p:spPr>
          <a:xfrm>
            <a:off x="502920" y="4343400"/>
            <a:ext cx="11183112" cy="1965960"/>
          </a:xfrm>
          <a:prstGeom prst="roundRect">
            <a:avLst>
              <a:gd name="adj" fmla="val 4651"/>
            </a:avLst>
          </a:prstGeom>
          <a:solidFill>
            <a:srgbClr val="FCF0DC"/>
          </a:solidFill>
          <a:ln w="12700">
            <a:solidFill>
              <a:srgbClr val="E8A33D"/>
            </a:solidFill>
            <a:prstDash val="solid"/>
          </a:ln>
        </p:spPr>
      </p:sp>
      <p:sp>
        <p:nvSpPr>
          <p:cNvPr id="16" name="Text 14"/>
          <p:cNvSpPr/>
          <p:nvPr/>
        </p:nvSpPr>
        <p:spPr>
          <a:xfrm>
            <a:off x="777240" y="4480560"/>
            <a:ext cx="10607040" cy="320040"/>
          </a:xfrm>
          <a:prstGeom prst="rect">
            <a:avLst/>
          </a:prstGeom>
          <a:noFill/>
          <a:ln/>
        </p:spPr>
        <p:txBody>
          <a:bodyPr wrap="square" rtlCol="0" anchor="ctr"/>
          <a:lstStyle/>
          <a:p>
            <a:pPr indent="0" marL="0">
              <a:buNone/>
            </a:pPr>
            <a:r>
              <a:rPr lang="en-US" sz="1300" b="1" dirty="0">
                <a:solidFill>
                  <a:srgbClr val="8A5A15"/>
                </a:solidFill>
                <a:latin typeface="Times New Roman" pitchFamily="34" charset="0"/>
                <a:ea typeface="Times New Roman" pitchFamily="34" charset="-122"/>
                <a:cs typeface="Times New Roman" pitchFamily="34" charset="-120"/>
              </a:rPr>
              <a:t>Đóng góp của đồ án — không lấy nguyên từ một bài báo</a:t>
            </a:r>
            <a:endParaRPr lang="en-US" sz="1300" dirty="0"/>
          </a:p>
        </p:txBody>
      </p:sp>
      <p:sp>
        <p:nvSpPr>
          <p:cNvPr id="17" name="Text 15"/>
          <p:cNvSpPr/>
          <p:nvPr/>
        </p:nvSpPr>
        <p:spPr>
          <a:xfrm>
            <a:off x="777240" y="4846320"/>
            <a:ext cx="10607040" cy="1051560"/>
          </a:xfrm>
          <a:prstGeom prst="rect">
            <a:avLst/>
          </a:prstGeom>
          <a:noFill/>
          <a:ln/>
        </p:spPr>
        <p:txBody>
          <a:bodyPr wrap="square" rtlCol="0" anchor="ctr"/>
          <a:lstStyle/>
          <a:p>
            <a:pPr indent="0" marL="0">
              <a:lnSpc>
                <a:spcPts val="1600"/>
              </a:lnSpc>
              <a:buNone/>
            </a:pPr>
            <a:r>
              <a:rPr lang="en-US" sz="1100" b="1" dirty="0">
                <a:solidFill>
                  <a:srgbClr val="5C3D0E"/>
                </a:solidFill>
                <a:latin typeface="Calibri" pitchFamily="34" charset="0"/>
                <a:ea typeface="Calibri" pitchFamily="34" charset="-122"/>
                <a:cs typeface="Calibri" pitchFamily="34" charset="-120"/>
              </a:rPr>
              <a:t>Cấu trúc Sᵢ − Tⱼ − Cⱼ: </a:t>
            </a:r>
            <a:pPr indent="0" marL="0">
              <a:lnSpc>
                <a:spcPts val="1600"/>
              </a:lnSpc>
              <a:buNone/>
            </a:pPr>
            <a:r>
              <a:rPr lang="en-US" sz="1100" dirty="0">
                <a:solidFill>
                  <a:srgbClr val="5C3D0E"/>
                </a:solidFill>
                <a:latin typeface="Calibri" pitchFamily="34" charset="0"/>
                <a:ea typeface="Calibri" pitchFamily="34" charset="-122"/>
                <a:cs typeface="Calibri" pitchFamily="34" charset="-120"/>
              </a:rPr>
              <a:t>Pal &amp; Kant (2020) [R7]. </a:t>
            </a:r>
            <a:pPr indent="0" marL="0">
              <a:lnSpc>
                <a:spcPts val="1600"/>
              </a:lnSpc>
              <a:buNone/>
            </a:pPr>
            <a:r>
              <a:rPr lang="en-US" sz="1100" b="1" dirty="0">
                <a:solidFill>
                  <a:srgbClr val="5C3D0E"/>
                </a:solidFill>
                <a:latin typeface="Calibri" pitchFamily="34" charset="0"/>
                <a:ea typeface="Calibri" pitchFamily="34" charset="-122"/>
                <a:cs typeface="Calibri" pitchFamily="34" charset="-120"/>
              </a:rPr>
              <a:t>Nâng cấp ngưỡng MLOR: </a:t>
            </a:r>
            <a:pPr indent="0" marL="0">
              <a:lnSpc>
                <a:spcPts val="1600"/>
              </a:lnSpc>
              <a:buNone/>
            </a:pPr>
            <a:r>
              <a:rPr lang="en-US" sz="1100" dirty="0">
                <a:solidFill>
                  <a:srgbClr val="5C3D0E"/>
                </a:solidFill>
                <a:latin typeface="Calibri" pitchFamily="34" charset="0"/>
                <a:ea typeface="Calibri" pitchFamily="34" charset="-122"/>
                <a:cs typeface="Calibri" pitchFamily="34" charset="-120"/>
              </a:rPr>
              <a:t>Akkas &amp; Honhon (2023) [R20] — mô hình chuỗi Markov tối ưu tuổi xuất kho tối đa (giảm 14,7% lãng phí, tăng 8,7% lợi nhuận so với FIFO cố định); Mohamadi, Transchel &amp; Fransoo (2025) [R21] — phối hợp hợp đồng nhà sản xuất–nhà bán lẻ để đặt mức MLOR. </a:t>
            </a:r>
            <a:pPr indent="0" marL="0">
              <a:lnSpc>
                <a:spcPts val="1600"/>
              </a:lnSpc>
              <a:buNone/>
            </a:pPr>
            <a:r>
              <a:rPr lang="en-US" sz="1100" b="1" dirty="0">
                <a:solidFill>
                  <a:srgbClr val="5C3D0E"/>
                </a:solidFill>
                <a:latin typeface="Calibri" pitchFamily="34" charset="0"/>
                <a:ea typeface="Calibri" pitchFamily="34" charset="-122"/>
                <a:cs typeface="Calibri" pitchFamily="34" charset="-120"/>
              </a:rPr>
              <a:t>Khái niệm Min-RSL: </a:t>
            </a:r>
            <a:pPr indent="0" marL="0">
              <a:lnSpc>
                <a:spcPts val="1600"/>
              </a:lnSpc>
              <a:buNone/>
            </a:pPr>
            <a:r>
              <a:rPr lang="en-US" sz="1100" dirty="0">
                <a:solidFill>
                  <a:srgbClr val="5C3D0E"/>
                </a:solidFill>
                <a:latin typeface="Calibri" pitchFamily="34" charset="0"/>
                <a:ea typeface="Calibri" pitchFamily="34" charset="-122"/>
                <a:cs typeface="Calibri" pitchFamily="34" charset="-120"/>
              </a:rPr>
              <a:t>Singh &amp; Kuthambalayan (2022) [R5].</a:t>
            </a:r>
            <a:endParaRPr lang="en-US" sz="1100" dirty="0"/>
          </a:p>
        </p:txBody>
      </p:sp>
      <p:sp>
        <p:nvSpPr>
          <p:cNvPr id="18" name="Text 16"/>
          <p:cNvSpPr/>
          <p:nvPr/>
        </p:nvSpPr>
        <p:spPr>
          <a:xfrm>
            <a:off x="777240" y="5943600"/>
            <a:ext cx="10607040" cy="320040"/>
          </a:xfrm>
          <a:prstGeom prst="rect">
            <a:avLst/>
          </a:prstGeom>
          <a:noFill/>
          <a:ln/>
        </p:spPr>
        <p:txBody>
          <a:bodyPr wrap="square" rtlCol="0" anchor="ctr"/>
          <a:lstStyle/>
          <a:p>
            <a:pPr indent="0" marL="0">
              <a:buNone/>
            </a:pPr>
            <a:r>
              <a:rPr lang="en-US" sz="950" b="1" i="1" dirty="0">
                <a:solidFill>
                  <a:srgbClr val="8A5A15"/>
                </a:solidFill>
                <a:latin typeface="Calibri" pitchFamily="34" charset="0"/>
                <a:ea typeface="Calibri" pitchFamily="34" charset="-122"/>
                <a:cs typeface="Calibri" pitchFamily="34" charset="-120"/>
              </a:rPr>
              <a:t>Đã tìm kỹ nhưng chưa có một bài báo duy nhất giải quyết trọn vẹn cả hai điều kiện (a)+(b) cùng lúc — sự tích hợp vẫn là đóng góp riêng của đồ án.</a:t>
            </a:r>
            <a:endParaRPr lang="en-US" sz="950" dirty="0"/>
          </a:p>
        </p:txBody>
      </p:sp>
      <p:sp>
        <p:nvSpPr>
          <p:cNvPr id="19" name="Text 17"/>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20" name="Text 18"/>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04 · PHƯƠNG PHÁP LUẬN</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200" b="1" dirty="0">
                <a:solidFill>
                  <a:srgbClr val="13294B"/>
                </a:solidFill>
                <a:latin typeface="Times New Roman" pitchFamily="34" charset="0"/>
                <a:ea typeface="Times New Roman" pitchFamily="34" charset="-122"/>
                <a:cs typeface="Times New Roman" pitchFamily="34" charset="-120"/>
              </a:rPr>
              <a:t>Chọn kho: khoảng cách địa lý → chi phí đường bộ thực tế</a:t>
            </a:r>
            <a:endParaRPr lang="en-US" sz="2200" dirty="0"/>
          </a:p>
        </p:txBody>
      </p:sp>
      <p:sp>
        <p:nvSpPr>
          <p:cNvPr id="4" name="Shape 2"/>
          <p:cNvSpPr/>
          <p:nvPr/>
        </p:nvSpPr>
        <p:spPr>
          <a:xfrm>
            <a:off x="502920" y="1691640"/>
            <a:ext cx="5029200" cy="2148840"/>
          </a:xfrm>
          <a:prstGeom prst="roundRect">
            <a:avLst>
              <a:gd name="adj" fmla="val 4255"/>
            </a:avLst>
          </a:prstGeom>
          <a:solidFill>
            <a:srgbClr val="F5F8FB"/>
          </a:solidFill>
          <a:ln w="12700">
            <a:solidFill>
              <a:srgbClr val="DCE4EC"/>
            </a:solidFill>
            <a:prstDash val="solid"/>
          </a:ln>
        </p:spPr>
      </p:sp>
      <p:sp>
        <p:nvSpPr>
          <p:cNvPr id="5" name="Shape 3"/>
          <p:cNvSpPr/>
          <p:nvPr/>
        </p:nvSpPr>
        <p:spPr>
          <a:xfrm>
            <a:off x="502920" y="1691640"/>
            <a:ext cx="5029200" cy="548640"/>
          </a:xfrm>
          <a:prstGeom prst="roundRect">
            <a:avLst>
              <a:gd name="adj" fmla="val 16667"/>
            </a:avLst>
          </a:prstGeom>
          <a:solidFill>
            <a:srgbClr val="1C7293"/>
          </a:solidFill>
          <a:ln/>
        </p:spPr>
      </p:sp>
      <p:sp>
        <p:nvSpPr>
          <p:cNvPr id="6" name="Shape 4"/>
          <p:cNvSpPr/>
          <p:nvPr/>
        </p:nvSpPr>
        <p:spPr>
          <a:xfrm>
            <a:off x="502920" y="1965960"/>
            <a:ext cx="5029200" cy="274320"/>
          </a:xfrm>
          <a:prstGeom prst="rect">
            <a:avLst/>
          </a:prstGeom>
          <a:solidFill>
            <a:srgbClr val="1C7293"/>
          </a:solidFill>
          <a:ln/>
        </p:spPr>
      </p:sp>
      <p:sp>
        <p:nvSpPr>
          <p:cNvPr id="7" name="Text 5"/>
          <p:cNvSpPr/>
          <p:nvPr/>
        </p:nvSpPr>
        <p:spPr>
          <a:xfrm>
            <a:off x="731520" y="1691640"/>
            <a:ext cx="4572000" cy="548640"/>
          </a:xfrm>
          <a:prstGeom prst="rect">
            <a:avLst/>
          </a:prstGeom>
          <a:noFill/>
          <a:ln/>
        </p:spPr>
        <p:txBody>
          <a:bodyPr wrap="square" rtlCol="0" anchor="ct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BƯỚC F — HAVERSINE</a:t>
            </a:r>
            <a:endParaRPr lang="en-US" sz="1500" dirty="0"/>
          </a:p>
        </p:txBody>
      </p:sp>
      <p:sp>
        <p:nvSpPr>
          <p:cNvPr id="8" name="Text 6"/>
          <p:cNvSpPr/>
          <p:nvPr/>
        </p:nvSpPr>
        <p:spPr>
          <a:xfrm>
            <a:off x="4160520" y="1691640"/>
            <a:ext cx="1188720" cy="548640"/>
          </a:xfrm>
          <a:prstGeom prst="rect">
            <a:avLst/>
          </a:prstGeom>
          <a:noFill/>
          <a:ln/>
        </p:spPr>
        <p:txBody>
          <a:bodyPr wrap="square" rtlCol="0" anchor="ctr"/>
          <a:lstStyle/>
          <a:p>
            <a:pPr algn="r" indent="0" marL="0">
              <a:buNone/>
            </a:pPr>
            <a:r>
              <a:rPr lang="en-US" sz="950" i="1" dirty="0">
                <a:solidFill>
                  <a:srgbClr val="FFFFFF"/>
                </a:solidFill>
                <a:latin typeface="Calibri" pitchFamily="34" charset="0"/>
                <a:ea typeface="Calibri" pitchFamily="34" charset="-122"/>
                <a:cs typeface="Calibri" pitchFamily="34" charset="-120"/>
              </a:rPr>
              <a:t>Mô hình 10</a:t>
            </a:r>
            <a:endParaRPr lang="en-US" sz="950" dirty="0"/>
          </a:p>
        </p:txBody>
      </p:sp>
      <p:sp>
        <p:nvSpPr>
          <p:cNvPr id="9" name="Text 7"/>
          <p:cNvSpPr/>
          <p:nvPr/>
        </p:nvSpPr>
        <p:spPr>
          <a:xfrm>
            <a:off x="731520" y="2404872"/>
            <a:ext cx="4572000" cy="868680"/>
          </a:xfrm>
          <a:prstGeom prst="rect">
            <a:avLst/>
          </a:prstGeom>
          <a:noFill/>
          <a:ln/>
        </p:spPr>
        <p:txBody>
          <a:bodyPr wrap="square" rtlCol="0" anchor="ctr"/>
          <a:lstStyle/>
          <a:p>
            <a:pPr indent="0" marL="0">
              <a:buNone/>
            </a:pPr>
            <a:r>
              <a:rPr lang="en-US" sz="1100" dirty="0">
                <a:solidFill>
                  <a:srgbClr val="13294B"/>
                </a:solidFill>
                <a:latin typeface="Calibri" pitchFamily="34" charset="0"/>
                <a:ea typeface="Calibri" pitchFamily="34" charset="-122"/>
                <a:cs typeface="Calibri" pitchFamily="34" charset="-120"/>
              </a:rPr>
              <a:t>Sàng lọc nhanh top-k kho gần nhất theo khoảng cách đường chim bay, loại bỏ sớm các kho ở quá xa trước khi tính chi phí chi tiết.</a:t>
            </a:r>
            <a:endParaRPr lang="en-US" sz="1100" dirty="0"/>
          </a:p>
        </p:txBody>
      </p:sp>
      <p:sp>
        <p:nvSpPr>
          <p:cNvPr id="10" name="Text 8"/>
          <p:cNvSpPr/>
          <p:nvPr/>
        </p:nvSpPr>
        <p:spPr>
          <a:xfrm>
            <a:off x="731520" y="3264408"/>
            <a:ext cx="4572000" cy="274320"/>
          </a:xfrm>
          <a:prstGeom prst="rect">
            <a:avLst/>
          </a:prstGeom>
          <a:noFill/>
          <a:ln/>
        </p:spPr>
        <p:txBody>
          <a:bodyPr wrap="square" rtlCol="0" anchor="ctr"/>
          <a:lstStyle/>
          <a:p>
            <a:pPr indent="0" marL="0">
              <a:buNone/>
            </a:pPr>
            <a:r>
              <a:rPr lang="en-US" sz="950" b="1" dirty="0">
                <a:solidFill>
                  <a:srgbClr val="1C7293"/>
                </a:solidFill>
                <a:latin typeface="Calibri" pitchFamily="34" charset="0"/>
                <a:ea typeface="Calibri" pitchFamily="34" charset="-122"/>
                <a:cs typeface="Calibri" pitchFamily="34" charset="-120"/>
              </a:rPr>
              <a:t>Nguồn: Baskar &amp; Xavior (2022, JORS) [R10]</a:t>
            </a:r>
            <a:endParaRPr lang="en-US" sz="950" dirty="0"/>
          </a:p>
        </p:txBody>
      </p:sp>
      <p:sp>
        <p:nvSpPr>
          <p:cNvPr id="11" name="Text 9"/>
          <p:cNvSpPr/>
          <p:nvPr/>
        </p:nvSpPr>
        <p:spPr>
          <a:xfrm>
            <a:off x="731520" y="3520440"/>
            <a:ext cx="4572000" cy="320040"/>
          </a:xfrm>
          <a:prstGeom prst="rect">
            <a:avLst/>
          </a:prstGeom>
          <a:noFill/>
          <a:ln/>
        </p:spPr>
        <p:txBody>
          <a:bodyPr wrap="square" rtlCol="0" anchor="ctr"/>
          <a:lstStyle/>
          <a:p>
            <a:pPr indent="0" marL="0">
              <a:buNone/>
            </a:pPr>
            <a:r>
              <a:rPr lang="en-US" sz="900" i="1" dirty="0">
                <a:solidFill>
                  <a:srgbClr val="5B6B7C"/>
                </a:solidFill>
                <a:latin typeface="Calibri" pitchFamily="34" charset="0"/>
                <a:ea typeface="Calibri" pitchFamily="34" charset="-122"/>
                <a:cs typeface="Calibri" pitchFamily="34" charset="-120"/>
              </a:rPr>
              <a:t>Vì sao: chi phí tính toán O(n), phù hợp lọc sơ bộ hàng trăm/nghìn kho trước khi chạy thuật toán đường đi tốn chi phí hơn.</a:t>
            </a:r>
            <a:endParaRPr lang="en-US" sz="900" dirty="0"/>
          </a:p>
        </p:txBody>
      </p:sp>
      <p:sp>
        <p:nvSpPr>
          <p:cNvPr id="12" name="Shape 10"/>
          <p:cNvSpPr/>
          <p:nvPr/>
        </p:nvSpPr>
        <p:spPr>
          <a:xfrm>
            <a:off x="5577840" y="2766060"/>
            <a:ext cx="685800" cy="9144"/>
          </a:xfrm>
          <a:prstGeom prst="line">
            <a:avLst/>
          </a:prstGeom>
          <a:noFill/>
          <a:ln w="28575">
            <a:solidFill>
              <a:srgbClr val="13294B"/>
            </a:solidFill>
            <a:prstDash val="solid"/>
            <a:headEnd type="none"/>
            <a:tailEnd type="arrow"/>
          </a:ln>
        </p:spPr>
      </p:sp>
      <p:sp>
        <p:nvSpPr>
          <p:cNvPr id="13" name="Shape 11"/>
          <p:cNvSpPr/>
          <p:nvPr/>
        </p:nvSpPr>
        <p:spPr>
          <a:xfrm>
            <a:off x="6309360" y="1691640"/>
            <a:ext cx="5029200" cy="2148840"/>
          </a:xfrm>
          <a:prstGeom prst="roundRect">
            <a:avLst>
              <a:gd name="adj" fmla="val 4255"/>
            </a:avLst>
          </a:prstGeom>
          <a:solidFill>
            <a:srgbClr val="F5F8FB"/>
          </a:solidFill>
          <a:ln w="12700">
            <a:solidFill>
              <a:srgbClr val="DCE4EC"/>
            </a:solidFill>
            <a:prstDash val="solid"/>
          </a:ln>
        </p:spPr>
      </p:sp>
      <p:sp>
        <p:nvSpPr>
          <p:cNvPr id="14" name="Shape 12"/>
          <p:cNvSpPr/>
          <p:nvPr/>
        </p:nvSpPr>
        <p:spPr>
          <a:xfrm>
            <a:off x="6309360" y="1691640"/>
            <a:ext cx="5029200" cy="548640"/>
          </a:xfrm>
          <a:prstGeom prst="roundRect">
            <a:avLst>
              <a:gd name="adj" fmla="val 16667"/>
            </a:avLst>
          </a:prstGeom>
          <a:solidFill>
            <a:srgbClr val="13294B"/>
          </a:solidFill>
          <a:ln/>
        </p:spPr>
      </p:sp>
      <p:sp>
        <p:nvSpPr>
          <p:cNvPr id="15" name="Shape 13"/>
          <p:cNvSpPr/>
          <p:nvPr/>
        </p:nvSpPr>
        <p:spPr>
          <a:xfrm>
            <a:off x="6309360" y="1965960"/>
            <a:ext cx="5029200" cy="274320"/>
          </a:xfrm>
          <a:prstGeom prst="rect">
            <a:avLst/>
          </a:prstGeom>
          <a:solidFill>
            <a:srgbClr val="13294B"/>
          </a:solidFill>
          <a:ln/>
        </p:spPr>
      </p:sp>
      <p:sp>
        <p:nvSpPr>
          <p:cNvPr id="16" name="Text 14"/>
          <p:cNvSpPr/>
          <p:nvPr/>
        </p:nvSpPr>
        <p:spPr>
          <a:xfrm>
            <a:off x="6537960" y="1691640"/>
            <a:ext cx="4572000" cy="548640"/>
          </a:xfrm>
          <a:prstGeom prst="rect">
            <a:avLst/>
          </a:prstGeom>
          <a:noFill/>
          <a:ln/>
        </p:spPr>
        <p:txBody>
          <a:bodyPr wrap="square" rtlCol="0" anchor="ct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BƯỚC G — DIJKSTRA</a:t>
            </a:r>
            <a:endParaRPr lang="en-US" sz="1500" dirty="0"/>
          </a:p>
        </p:txBody>
      </p:sp>
      <p:sp>
        <p:nvSpPr>
          <p:cNvPr id="17" name="Text 15"/>
          <p:cNvSpPr/>
          <p:nvPr/>
        </p:nvSpPr>
        <p:spPr>
          <a:xfrm>
            <a:off x="9966960" y="1691640"/>
            <a:ext cx="1188720" cy="548640"/>
          </a:xfrm>
          <a:prstGeom prst="rect">
            <a:avLst/>
          </a:prstGeom>
          <a:noFill/>
          <a:ln/>
        </p:spPr>
        <p:txBody>
          <a:bodyPr wrap="square" rtlCol="0" anchor="ctr"/>
          <a:lstStyle/>
          <a:p>
            <a:pPr algn="r" indent="0" marL="0">
              <a:buNone/>
            </a:pPr>
            <a:r>
              <a:rPr lang="en-US" sz="950" i="1" dirty="0">
                <a:solidFill>
                  <a:srgbClr val="FFFFFF"/>
                </a:solidFill>
                <a:latin typeface="Calibri" pitchFamily="34" charset="0"/>
                <a:ea typeface="Calibri" pitchFamily="34" charset="-122"/>
                <a:cs typeface="Calibri" pitchFamily="34" charset="-120"/>
              </a:rPr>
              <a:t>Mô hình 11</a:t>
            </a:r>
            <a:endParaRPr lang="en-US" sz="950" dirty="0"/>
          </a:p>
        </p:txBody>
      </p:sp>
      <p:sp>
        <p:nvSpPr>
          <p:cNvPr id="18" name="Text 16"/>
          <p:cNvSpPr/>
          <p:nvPr/>
        </p:nvSpPr>
        <p:spPr>
          <a:xfrm>
            <a:off x="6537960" y="2404872"/>
            <a:ext cx="4572000" cy="868680"/>
          </a:xfrm>
          <a:prstGeom prst="rect">
            <a:avLst/>
          </a:prstGeom>
          <a:noFill/>
          <a:ln/>
        </p:spPr>
        <p:txBody>
          <a:bodyPr wrap="square" rtlCol="0" anchor="ctr"/>
          <a:lstStyle/>
          <a:p>
            <a:pPr indent="0" marL="0">
              <a:buNone/>
            </a:pPr>
            <a:r>
              <a:rPr lang="en-US" sz="1100" dirty="0">
                <a:solidFill>
                  <a:srgbClr val="13294B"/>
                </a:solidFill>
                <a:latin typeface="Calibri" pitchFamily="34" charset="0"/>
                <a:ea typeface="Calibri" pitchFamily="34" charset="-122"/>
                <a:cs typeface="Calibri" pitchFamily="34" charset="-120"/>
              </a:rPr>
              <a:t>Tính thời gian/chi phí di chuyển thực tế trên mạng lưới đường bộ giữa các kho ứng viên (đã lọc) và điểm giao hàng.</a:t>
            </a:r>
            <a:endParaRPr lang="en-US" sz="1100" dirty="0"/>
          </a:p>
        </p:txBody>
      </p:sp>
      <p:sp>
        <p:nvSpPr>
          <p:cNvPr id="19" name="Text 17"/>
          <p:cNvSpPr/>
          <p:nvPr/>
        </p:nvSpPr>
        <p:spPr>
          <a:xfrm>
            <a:off x="6537960" y="3264408"/>
            <a:ext cx="4572000" cy="274320"/>
          </a:xfrm>
          <a:prstGeom prst="rect">
            <a:avLst/>
          </a:prstGeom>
          <a:noFill/>
          <a:ln/>
        </p:spPr>
        <p:txBody>
          <a:bodyPr wrap="square" rtlCol="0" anchor="ctr"/>
          <a:lstStyle/>
          <a:p>
            <a:pPr indent="0" marL="0">
              <a:buNone/>
            </a:pPr>
            <a:r>
              <a:rPr lang="en-US" sz="950" b="1" dirty="0">
                <a:solidFill>
                  <a:srgbClr val="13294B"/>
                </a:solidFill>
                <a:latin typeface="Calibri" pitchFamily="34" charset="0"/>
                <a:ea typeface="Calibri" pitchFamily="34" charset="-122"/>
                <a:cs typeface="Calibri" pitchFamily="34" charset="-120"/>
              </a:rPr>
              <a:t>Nguồn: Dijkstra (1959) [R11]</a:t>
            </a:r>
            <a:endParaRPr lang="en-US" sz="950" dirty="0"/>
          </a:p>
        </p:txBody>
      </p:sp>
      <p:sp>
        <p:nvSpPr>
          <p:cNvPr id="20" name="Text 18"/>
          <p:cNvSpPr/>
          <p:nvPr/>
        </p:nvSpPr>
        <p:spPr>
          <a:xfrm>
            <a:off x="6537960" y="3520440"/>
            <a:ext cx="4572000" cy="320040"/>
          </a:xfrm>
          <a:prstGeom prst="rect">
            <a:avLst/>
          </a:prstGeom>
          <a:noFill/>
          <a:ln/>
        </p:spPr>
        <p:txBody>
          <a:bodyPr wrap="square" rtlCol="0" anchor="ctr"/>
          <a:lstStyle/>
          <a:p>
            <a:pPr indent="0" marL="0">
              <a:buNone/>
            </a:pPr>
            <a:r>
              <a:rPr lang="en-US" sz="900" i="1" dirty="0">
                <a:solidFill>
                  <a:srgbClr val="5B6B7C"/>
                </a:solidFill>
                <a:latin typeface="Calibri" pitchFamily="34" charset="0"/>
                <a:ea typeface="Calibri" pitchFamily="34" charset="-122"/>
                <a:cs typeface="Calibri" pitchFamily="34" charset="-120"/>
              </a:rPr>
              <a:t>Vì sao: cho lời giải đúng, tối ưu toàn cục cho đường đi ngắn nhất trên đồ thị có trọng số không âm — chuẩn mực trong định tuyến.</a:t>
            </a:r>
            <a:endParaRPr lang="en-US" sz="900" dirty="0"/>
          </a:p>
        </p:txBody>
      </p:sp>
      <p:sp>
        <p:nvSpPr>
          <p:cNvPr id="21" name="Shape 19"/>
          <p:cNvSpPr/>
          <p:nvPr/>
        </p:nvSpPr>
        <p:spPr>
          <a:xfrm>
            <a:off x="502920" y="4160520"/>
            <a:ext cx="11183112" cy="1691640"/>
          </a:xfrm>
          <a:prstGeom prst="roundRect">
            <a:avLst>
              <a:gd name="adj" fmla="val 5405"/>
            </a:avLst>
          </a:prstGeom>
          <a:solidFill>
            <a:srgbClr val="E6EEF5"/>
          </a:solidFill>
          <a:ln/>
        </p:spPr>
      </p:sp>
      <p:sp>
        <p:nvSpPr>
          <p:cNvPr id="22" name="Text 20"/>
          <p:cNvSpPr/>
          <p:nvPr/>
        </p:nvSpPr>
        <p:spPr>
          <a:xfrm>
            <a:off x="777240" y="4315968"/>
            <a:ext cx="10607040" cy="320040"/>
          </a:xfrm>
          <a:prstGeom prst="rect">
            <a:avLst/>
          </a:prstGeom>
          <a:noFill/>
          <a:ln/>
        </p:spPr>
        <p:txBody>
          <a:bodyPr wrap="square" rtlCol="0" anchor="ctr"/>
          <a:lstStyle/>
          <a:p>
            <a:pPr indent="0" marL="0">
              <a:buNone/>
            </a:pPr>
            <a:r>
              <a:rPr lang="en-US" sz="1300" b="1" dirty="0">
                <a:solidFill>
                  <a:srgbClr val="1C7293"/>
                </a:solidFill>
                <a:latin typeface="Times New Roman" pitchFamily="34" charset="0"/>
                <a:ea typeface="Times New Roman" pitchFamily="34" charset="-122"/>
                <a:cs typeface="Times New Roman" pitchFamily="34" charset="-120"/>
              </a:rPr>
              <a:t>Vì sao 2 bước thay vì chạy Dijkstra cho toàn bộ mạng lưới ngay từ đầu?</a:t>
            </a:r>
            <a:endParaRPr lang="en-US" sz="1300" dirty="0"/>
          </a:p>
        </p:txBody>
      </p:sp>
      <p:sp>
        <p:nvSpPr>
          <p:cNvPr id="23" name="Text 21"/>
          <p:cNvSpPr/>
          <p:nvPr/>
        </p:nvSpPr>
        <p:spPr>
          <a:xfrm>
            <a:off x="777240" y="4663440"/>
            <a:ext cx="10607040" cy="1097280"/>
          </a:xfrm>
          <a:prstGeom prst="rect">
            <a:avLst/>
          </a:prstGeom>
          <a:noFill/>
          <a:ln/>
        </p:spPr>
        <p:txBody>
          <a:bodyPr wrap="square" rtlCol="0" anchor="ctr"/>
          <a:lstStyle/>
          <a:p>
            <a:pPr indent="0" marL="0">
              <a:lnSpc>
                <a:spcPts val="1500"/>
              </a:lnSpc>
              <a:buNone/>
            </a:pPr>
            <a:r>
              <a:rPr lang="en-US" sz="1100" dirty="0">
                <a:solidFill>
                  <a:srgbClr val="13294B"/>
                </a:solidFill>
                <a:latin typeface="Calibri" pitchFamily="34" charset="0"/>
                <a:ea typeface="Calibri" pitchFamily="34" charset="-122"/>
                <a:cs typeface="Calibri" pitchFamily="34" charset="-120"/>
              </a:rPr>
              <a:t>Haversine có chi phí tính toán rất thấp và đủ để loại các kho chắc chắn quá xa. Chỉ chạy Dijkstra (tốn chi phí hơn vì cần dữ liệu mạng đường bộ) trên tập nhỏ đã lọc — tiết kiệm tài nguyên tính toán khi mạng lưới kho lớn, mà vẫn giữ độ chính xác của chi phí thực tế cho quyết định cuối cùng.</a:t>
            </a:r>
            <a:endParaRPr lang="en-US" sz="1100" dirty="0"/>
          </a:p>
        </p:txBody>
      </p:sp>
      <p:sp>
        <p:nvSpPr>
          <p:cNvPr id="24" name="Text 22"/>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25" name="Text 2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04 · PHƯƠNG PHÁP LUẬN</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100" b="1" dirty="0">
                <a:solidFill>
                  <a:srgbClr val="13294B"/>
                </a:solidFill>
                <a:latin typeface="Times New Roman" pitchFamily="34" charset="0"/>
                <a:ea typeface="Times New Roman" pitchFamily="34" charset="-122"/>
                <a:cs typeface="Times New Roman" pitchFamily="34" charset="-120"/>
              </a:rPr>
              <a:t>Phân bổ khi thiếu hàng &amp; luân chuyển cân bằng tồn kho</a:t>
            </a:r>
            <a:endParaRPr lang="en-US" sz="2100" dirty="0"/>
          </a:p>
        </p:txBody>
      </p:sp>
      <p:sp>
        <p:nvSpPr>
          <p:cNvPr id="4" name="Shape 2"/>
          <p:cNvSpPr/>
          <p:nvPr/>
        </p:nvSpPr>
        <p:spPr>
          <a:xfrm>
            <a:off x="502920" y="1554480"/>
            <a:ext cx="5212080" cy="4297680"/>
          </a:xfrm>
          <a:prstGeom prst="roundRect">
            <a:avLst>
              <a:gd name="adj" fmla="val 2128"/>
            </a:avLst>
          </a:prstGeom>
          <a:solidFill>
            <a:srgbClr val="FFFFFF"/>
          </a:solidFill>
          <a:ln w="12700">
            <a:solidFill>
              <a:srgbClr val="DCE4EC"/>
            </a:solidFill>
            <a:prstDash val="solid"/>
          </a:ln>
        </p:spPr>
      </p:sp>
      <p:sp>
        <p:nvSpPr>
          <p:cNvPr id="5" name="Text 3"/>
          <p:cNvSpPr/>
          <p:nvPr/>
        </p:nvSpPr>
        <p:spPr>
          <a:xfrm>
            <a:off x="777240" y="1783080"/>
            <a:ext cx="4663440" cy="365760"/>
          </a:xfrm>
          <a:prstGeom prst="rect">
            <a:avLst/>
          </a:prstGeom>
          <a:noFill/>
          <a:ln/>
        </p:spPr>
        <p:txBody>
          <a:bodyPr wrap="square" rtlCol="0" anchor="ctr"/>
          <a:lstStyle/>
          <a:p>
            <a:pPr indent="0" marL="0">
              <a:buNone/>
            </a:pPr>
            <a:r>
              <a:rPr lang="en-US" sz="1450" b="1" dirty="0">
                <a:solidFill>
                  <a:srgbClr val="13294B"/>
                </a:solidFill>
                <a:latin typeface="Times New Roman" pitchFamily="34" charset="0"/>
                <a:ea typeface="Times New Roman" pitchFamily="34" charset="-122"/>
                <a:cs typeface="Times New Roman" pitchFamily="34" charset="-120"/>
              </a:rPr>
              <a:t>BƯỚC H — PHÂN BỔ GIAO HÀNG</a:t>
            </a:r>
            <a:endParaRPr lang="en-US" sz="1450" dirty="0"/>
          </a:p>
        </p:txBody>
      </p:sp>
      <p:sp>
        <p:nvSpPr>
          <p:cNvPr id="6" name="Text 4"/>
          <p:cNvSpPr/>
          <p:nvPr/>
        </p:nvSpPr>
        <p:spPr>
          <a:xfrm>
            <a:off x="777240" y="2194560"/>
            <a:ext cx="4663440" cy="640080"/>
          </a:xfrm>
          <a:prstGeom prst="rect">
            <a:avLst/>
          </a:prstGeom>
          <a:noFill/>
          <a:ln/>
        </p:spPr>
        <p:txBody>
          <a:bodyPr wrap="square" rtlCol="0" anchor="ctr"/>
          <a:lstStyle/>
          <a:p>
            <a:pPr indent="0" marL="0">
              <a:buNone/>
            </a:pPr>
            <a:r>
              <a:rPr lang="en-US" sz="1100" dirty="0">
                <a:solidFill>
                  <a:srgbClr val="13294B"/>
                </a:solidFill>
                <a:latin typeface="Calibri" pitchFamily="34" charset="0"/>
                <a:ea typeface="Calibri" pitchFamily="34" charset="-122"/>
                <a:cs typeface="Calibri" pitchFamily="34" charset="-120"/>
              </a:rPr>
              <a:t>Khi một kho không đủ tồn để đáp ứng trọn đơn hàng, chia nhỏ việc giao hàng từ nhiều kho khác nhau.</a:t>
            </a:r>
            <a:endParaRPr lang="en-US" sz="1100" dirty="0"/>
          </a:p>
        </p:txBody>
      </p:sp>
      <p:sp>
        <p:nvSpPr>
          <p:cNvPr id="7" name="Shape 5"/>
          <p:cNvSpPr/>
          <p:nvPr/>
        </p:nvSpPr>
        <p:spPr>
          <a:xfrm>
            <a:off x="777240" y="2926080"/>
            <a:ext cx="4663440" cy="502920"/>
          </a:xfrm>
          <a:prstGeom prst="roundRect">
            <a:avLst>
              <a:gd name="adj" fmla="val 10909"/>
            </a:avLst>
          </a:prstGeom>
          <a:solidFill>
            <a:srgbClr val="E6EEF5"/>
          </a:solidFill>
          <a:ln/>
        </p:spPr>
      </p:sp>
      <p:sp>
        <p:nvSpPr>
          <p:cNvPr id="8" name="Text 6"/>
          <p:cNvSpPr/>
          <p:nvPr/>
        </p:nvSpPr>
        <p:spPr>
          <a:xfrm>
            <a:off x="822960" y="2926080"/>
            <a:ext cx="4572000" cy="502920"/>
          </a:xfrm>
          <a:prstGeom prst="rect">
            <a:avLst/>
          </a:prstGeom>
          <a:noFill/>
          <a:ln/>
        </p:spPr>
        <p:txBody>
          <a:bodyPr wrap="square"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Mô hình 12 — MDSDVRP (đầy đủ)</a:t>
            </a:r>
            <a:endParaRPr lang="en-US" sz="1050" dirty="0"/>
          </a:p>
        </p:txBody>
      </p:sp>
      <p:sp>
        <p:nvSpPr>
          <p:cNvPr id="9" name="Text 7"/>
          <p:cNvSpPr/>
          <p:nvPr/>
        </p:nvSpPr>
        <p:spPr>
          <a:xfrm>
            <a:off x="777240" y="3474720"/>
            <a:ext cx="4663440" cy="960120"/>
          </a:xfrm>
          <a:prstGeom prst="rect">
            <a:avLst/>
          </a:prstGeom>
          <a:noFill/>
          <a:ln/>
        </p:spPr>
        <p:txBody>
          <a:bodyPr wrap="square" rtlCol="0" anchor="ctr"/>
          <a:lstStyle/>
          <a:p>
            <a:pPr indent="0" marL="0">
              <a:lnSpc>
                <a:spcPts val="1300"/>
              </a:lnSpc>
              <a:buNone/>
            </a:pPr>
            <a:r>
              <a:rPr lang="en-US" sz="950" dirty="0">
                <a:solidFill>
                  <a:srgbClr val="5B6B7C"/>
                </a:solidFill>
                <a:latin typeface="Calibri" pitchFamily="34" charset="0"/>
                <a:ea typeface="Calibri" pitchFamily="34" charset="-122"/>
                <a:cs typeface="Calibri" pitchFamily="34" charset="-120"/>
              </a:rPr>
              <a:t>Multi-Depot Split-Delivery VRP — ILP cho phép nhiều xe từ nhiều kho phục vụ 1 đơn, tối thiểu tổng chi phí.</a:t>
            </a:r>
            <a:endParaRPr lang="en-US" sz="950" dirty="0"/>
          </a:p>
          <a:p>
            <a:pPr indent="0" marL="0">
              <a:lnSpc>
                <a:spcPts val="1300"/>
              </a:lnSpc>
              <a:buNone/>
            </a:pPr>
            <a:r>
              <a:rPr lang="en-US" sz="950" dirty="0">
                <a:solidFill>
                  <a:srgbClr val="5B6B7C"/>
                </a:solidFill>
                <a:latin typeface="Calibri" pitchFamily="34" charset="0"/>
                <a:ea typeface="Calibri" pitchFamily="34" charset="-122"/>
                <a:cs typeface="Calibri" pitchFamily="34" charset="-120"/>
              </a:rPr>
              <a:t>Nguồn: Ray et al. (2014) [R12]; Gouveia, Leitner &amp; Ruthmair (2023) [R13] — benchmark chính xác.</a:t>
            </a:r>
            <a:endParaRPr lang="en-US" sz="950" dirty="0"/>
          </a:p>
        </p:txBody>
      </p:sp>
      <p:sp>
        <p:nvSpPr>
          <p:cNvPr id="10" name="Shape 8"/>
          <p:cNvSpPr/>
          <p:nvPr/>
        </p:nvSpPr>
        <p:spPr>
          <a:xfrm>
            <a:off x="777240" y="4480560"/>
            <a:ext cx="4663440" cy="502920"/>
          </a:xfrm>
          <a:prstGeom prst="roundRect">
            <a:avLst>
              <a:gd name="adj" fmla="val 10909"/>
            </a:avLst>
          </a:prstGeom>
          <a:solidFill>
            <a:srgbClr val="E4F1E8"/>
          </a:solidFill>
          <a:ln/>
        </p:spPr>
      </p:sp>
      <p:sp>
        <p:nvSpPr>
          <p:cNvPr id="11" name="Text 9"/>
          <p:cNvSpPr/>
          <p:nvPr/>
        </p:nvSpPr>
        <p:spPr>
          <a:xfrm>
            <a:off x="822960" y="4480560"/>
            <a:ext cx="4572000" cy="502920"/>
          </a:xfrm>
          <a:prstGeom prst="rect">
            <a:avLst/>
          </a:prstGeom>
          <a:noFill/>
          <a:ln/>
        </p:spPr>
        <p:txBody>
          <a:bodyPr wrap="square" rtlCol="0" anchor="ctr"/>
          <a:lstStyle/>
          <a:p>
            <a:pPr algn="ctr" indent="0" marL="0">
              <a:buNone/>
            </a:pPr>
            <a:r>
              <a:rPr lang="en-US" sz="1050" b="1" dirty="0">
                <a:solidFill>
                  <a:srgbClr val="1E7145"/>
                </a:solidFill>
                <a:latin typeface="Calibri" pitchFamily="34" charset="0"/>
                <a:ea typeface="Calibri" pitchFamily="34" charset="-122"/>
                <a:cs typeface="Calibri" pitchFamily="34" charset="-120"/>
              </a:rPr>
              <a:t>Phương án đơn giản — Bài toán vận tải cổ điển</a:t>
            </a:r>
            <a:endParaRPr lang="en-US" sz="1050" dirty="0"/>
          </a:p>
        </p:txBody>
      </p:sp>
      <p:sp>
        <p:nvSpPr>
          <p:cNvPr id="12" name="Text 10"/>
          <p:cNvSpPr/>
          <p:nvPr/>
        </p:nvSpPr>
        <p:spPr>
          <a:xfrm>
            <a:off x="777240" y="5029200"/>
            <a:ext cx="4663440" cy="548640"/>
          </a:xfrm>
          <a:prstGeom prst="rect">
            <a:avLst/>
          </a:prstGeom>
          <a:noFill/>
          <a:ln/>
        </p:spPr>
        <p:txBody>
          <a:bodyPr wrap="square" rtlCol="0" anchor="ctr"/>
          <a:lstStyle/>
          <a:p>
            <a:pPr indent="0" marL="0">
              <a:lnSpc>
                <a:spcPts val="1300"/>
              </a:lnSpc>
              <a:buNone/>
            </a:pPr>
            <a:r>
              <a:rPr lang="en-US" sz="950" dirty="0">
                <a:solidFill>
                  <a:srgbClr val="5B6B7C"/>
                </a:solidFill>
                <a:latin typeface="Calibri" pitchFamily="34" charset="0"/>
                <a:ea typeface="Calibri" pitchFamily="34" charset="-122"/>
                <a:cs typeface="Calibri" pitchFamily="34" charset="-120"/>
              </a:rPr>
              <a:t>Hitchcock (1941) [R17] — dùng làm bước đệm nếu MDSDVRP quá phức tạp để cài đặt trong thời gian đồ án.</a:t>
            </a:r>
            <a:endParaRPr lang="en-US" sz="950" dirty="0"/>
          </a:p>
        </p:txBody>
      </p:sp>
      <p:sp>
        <p:nvSpPr>
          <p:cNvPr id="13" name="Shape 11"/>
          <p:cNvSpPr/>
          <p:nvPr/>
        </p:nvSpPr>
        <p:spPr>
          <a:xfrm>
            <a:off x="6492240" y="1554480"/>
            <a:ext cx="5212080" cy="4297680"/>
          </a:xfrm>
          <a:prstGeom prst="roundRect">
            <a:avLst>
              <a:gd name="adj" fmla="val 2128"/>
            </a:avLst>
          </a:prstGeom>
          <a:solidFill>
            <a:srgbClr val="FFFFFF"/>
          </a:solidFill>
          <a:ln w="12700">
            <a:solidFill>
              <a:srgbClr val="DCE4EC"/>
            </a:solidFill>
            <a:prstDash val="solid"/>
          </a:ln>
        </p:spPr>
      </p:sp>
      <p:sp>
        <p:nvSpPr>
          <p:cNvPr id="14" name="Text 12"/>
          <p:cNvSpPr/>
          <p:nvPr/>
        </p:nvSpPr>
        <p:spPr>
          <a:xfrm>
            <a:off x="6766560" y="1783080"/>
            <a:ext cx="4663440" cy="365760"/>
          </a:xfrm>
          <a:prstGeom prst="rect">
            <a:avLst/>
          </a:prstGeom>
          <a:noFill/>
          <a:ln/>
        </p:spPr>
        <p:txBody>
          <a:bodyPr wrap="square" rtlCol="0" anchor="ctr"/>
          <a:lstStyle/>
          <a:p>
            <a:pPr indent="0" marL="0">
              <a:buNone/>
            </a:pPr>
            <a:r>
              <a:rPr lang="en-US" sz="1450" b="1" dirty="0">
                <a:solidFill>
                  <a:srgbClr val="13294B"/>
                </a:solidFill>
                <a:latin typeface="Times New Roman" pitchFamily="34" charset="0"/>
                <a:ea typeface="Times New Roman" pitchFamily="34" charset="-122"/>
                <a:cs typeface="Times New Roman" pitchFamily="34" charset="-120"/>
              </a:rPr>
              <a:t>BƯỚC I — LUÂN CHUYỂN GIỮA CÁC KHO</a:t>
            </a:r>
            <a:endParaRPr lang="en-US" sz="1450" dirty="0"/>
          </a:p>
        </p:txBody>
      </p:sp>
      <p:sp>
        <p:nvSpPr>
          <p:cNvPr id="15" name="Text 13"/>
          <p:cNvSpPr/>
          <p:nvPr/>
        </p:nvSpPr>
        <p:spPr>
          <a:xfrm>
            <a:off x="6766560" y="2194560"/>
            <a:ext cx="4663440" cy="822960"/>
          </a:xfrm>
          <a:prstGeom prst="rect">
            <a:avLst/>
          </a:prstGeom>
          <a:noFill/>
          <a:ln/>
        </p:spPr>
        <p:txBody>
          <a:bodyPr wrap="square" rtlCol="0" anchor="ctr"/>
          <a:lstStyle/>
          <a:p>
            <a:pPr indent="0" marL="0">
              <a:buNone/>
            </a:pPr>
            <a:r>
              <a:rPr lang="en-US" sz="1100" dirty="0">
                <a:solidFill>
                  <a:srgbClr val="13294B"/>
                </a:solidFill>
                <a:latin typeface="Calibri" pitchFamily="34" charset="0"/>
                <a:ea typeface="Calibri" pitchFamily="34" charset="-122"/>
                <a:cs typeface="Calibri" pitchFamily="34" charset="-120"/>
              </a:rPr>
              <a:t>Khi tồn kho giữa các kho mất cân bằng, hệ thống quyết định chuyển lượng hàng nào, từ đâu, đến đâu, vào lúc nào (rebalancing) — Mô hình 13.</a:t>
            </a:r>
            <a:endParaRPr lang="en-US" sz="1100" dirty="0"/>
          </a:p>
        </p:txBody>
      </p:sp>
      <p:sp>
        <p:nvSpPr>
          <p:cNvPr id="16" name="Text 14"/>
          <p:cNvSpPr/>
          <p:nvPr/>
        </p:nvSpPr>
        <p:spPr>
          <a:xfrm>
            <a:off x="6766560" y="3063240"/>
            <a:ext cx="4663440" cy="320040"/>
          </a:xfrm>
          <a:prstGeom prst="rect">
            <a:avLst/>
          </a:prstGeom>
          <a:noFill/>
          <a:ln/>
        </p:spPr>
        <p:txBody>
          <a:bodyPr wrap="square" rtlCol="0" anchor="ctr"/>
          <a:lstStyle/>
          <a:p>
            <a:pPr indent="0" marL="0">
              <a:buNone/>
            </a:pPr>
            <a:r>
              <a:rPr lang="en-US" sz="1000" b="1" dirty="0">
                <a:solidFill>
                  <a:srgbClr val="13294B"/>
                </a:solidFill>
                <a:latin typeface="Calibri" pitchFamily="34" charset="0"/>
                <a:ea typeface="Calibri" pitchFamily="34" charset="-122"/>
                <a:cs typeface="Calibri" pitchFamily="34" charset="-120"/>
              </a:rPr>
              <a:t>Nguồn: Turan, Minner &amp; Hartl (2017, C&amp;OR) [R14]</a:t>
            </a:r>
            <a:endParaRPr lang="en-US" sz="1000" dirty="0"/>
          </a:p>
        </p:txBody>
      </p:sp>
      <p:sp>
        <p:nvSpPr>
          <p:cNvPr id="17" name="Shape 15"/>
          <p:cNvSpPr/>
          <p:nvPr/>
        </p:nvSpPr>
        <p:spPr>
          <a:xfrm>
            <a:off x="6766560" y="3520440"/>
            <a:ext cx="4663440" cy="1965960"/>
          </a:xfrm>
          <a:prstGeom prst="roundRect">
            <a:avLst>
              <a:gd name="adj" fmla="val 3721"/>
            </a:avLst>
          </a:prstGeom>
          <a:solidFill>
            <a:srgbClr val="FCF0DC"/>
          </a:solidFill>
          <a:ln/>
        </p:spPr>
      </p:sp>
      <p:sp>
        <p:nvSpPr>
          <p:cNvPr id="18" name="Text 16"/>
          <p:cNvSpPr/>
          <p:nvPr/>
        </p:nvSpPr>
        <p:spPr>
          <a:xfrm>
            <a:off x="6995160" y="3657600"/>
            <a:ext cx="4206240" cy="292608"/>
          </a:xfrm>
          <a:prstGeom prst="rect">
            <a:avLst/>
          </a:prstGeom>
          <a:noFill/>
          <a:ln/>
        </p:spPr>
        <p:txBody>
          <a:bodyPr wrap="square" rtlCol="0" anchor="ctr"/>
          <a:lstStyle/>
          <a:p>
            <a:pPr indent="0" marL="0">
              <a:buNone/>
            </a:pPr>
            <a:r>
              <a:rPr lang="en-US" sz="1050" b="1" dirty="0">
                <a:solidFill>
                  <a:srgbClr val="8A5A15"/>
                </a:solidFill>
                <a:latin typeface="Calibri" pitchFamily="34" charset="0"/>
                <a:ea typeface="Calibri" pitchFamily="34" charset="-122"/>
                <a:cs typeface="Calibri" pitchFamily="34" charset="-120"/>
              </a:rPr>
              <a:t>Lưu ý thích ứng mô hình</a:t>
            </a:r>
            <a:endParaRPr lang="en-US" sz="1050" dirty="0"/>
          </a:p>
        </p:txBody>
      </p:sp>
      <p:sp>
        <p:nvSpPr>
          <p:cNvPr id="19" name="Text 17"/>
          <p:cNvSpPr/>
          <p:nvPr/>
        </p:nvSpPr>
        <p:spPr>
          <a:xfrm>
            <a:off x="6995160" y="4005072"/>
            <a:ext cx="4206240" cy="1371600"/>
          </a:xfrm>
          <a:prstGeom prst="rect">
            <a:avLst/>
          </a:prstGeom>
          <a:noFill/>
          <a:ln/>
        </p:spPr>
        <p:txBody>
          <a:bodyPr wrap="square" rtlCol="0" anchor="ctr"/>
          <a:lstStyle/>
          <a:p>
            <a:pPr indent="0" marL="0">
              <a:lnSpc>
                <a:spcPts val="1400"/>
              </a:lnSpc>
              <a:buNone/>
            </a:pPr>
            <a:r>
              <a:rPr lang="en-US" sz="1000" dirty="0">
                <a:solidFill>
                  <a:srgbClr val="5C3D0E"/>
                </a:solidFill>
                <a:latin typeface="Calibri" pitchFamily="34" charset="0"/>
                <a:ea typeface="Calibri" pitchFamily="34" charset="-122"/>
                <a:cs typeface="Calibri" pitchFamily="34" charset="-120"/>
              </a:rPr>
              <a:t>Mô hình gốc có cấu trúc “kho trung tâm → nhiều cửa hàng bán lẻ”, không phải “nhiều kho ngang hàng” như mạng lưới Distra. Đây là một sự thích ứng (adaptation) cần được ghi rõ và kiểm chứng lại bằng dữ liệu mô phỏng/thật, không coi là mô hình giống hệt.</a:t>
            </a:r>
            <a:endParaRPr lang="en-US" sz="1000" dirty="0"/>
          </a:p>
        </p:txBody>
      </p:sp>
      <p:sp>
        <p:nvSpPr>
          <p:cNvPr id="20" name="Text 18"/>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21" name="Text 19"/>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05 · VÍ DỤ MINH HOẠ</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1900" b="1" dirty="0">
                <a:solidFill>
                  <a:srgbClr val="13294B"/>
                </a:solidFill>
                <a:latin typeface="Times New Roman" pitchFamily="34" charset="0"/>
                <a:ea typeface="Times New Roman" pitchFamily="34" charset="-122"/>
                <a:cs typeface="Times New Roman" pitchFamily="34" charset="-120"/>
              </a:rPr>
              <a:t>Đơn hàng Quận 12, TP.HCM — 100 thùng sữa SKU X, 3 kho ứng viên</a:t>
            </a:r>
            <a:endParaRPr lang="en-US" sz="1900" dirty="0"/>
          </a:p>
        </p:txBody>
      </p:sp>
      <p:sp>
        <p:nvSpPr>
          <p:cNvPr id="4" name="Text 2"/>
          <p:cNvSpPr/>
          <p:nvPr/>
        </p:nvSpPr>
        <p:spPr>
          <a:xfrm>
            <a:off x="502920" y="1170432"/>
            <a:ext cx="11155680" cy="274320"/>
          </a:xfrm>
          <a:prstGeom prst="rect">
            <a:avLst/>
          </a:prstGeom>
          <a:noFill/>
          <a:ln/>
        </p:spPr>
        <p:txBody>
          <a:bodyPr wrap="square" rtlCol="0" anchor="ctr"/>
          <a:lstStyle/>
          <a:p>
            <a:pPr indent="0" marL="0">
              <a:buNone/>
            </a:pPr>
            <a:r>
              <a:rPr lang="en-US" sz="950" i="1" dirty="0">
                <a:solidFill>
                  <a:srgbClr val="8A5A15"/>
                </a:solidFill>
                <a:latin typeface="Calibri" pitchFamily="34" charset="0"/>
                <a:ea typeface="Calibri" pitchFamily="34" charset="-122"/>
                <a:cs typeface="Calibri" pitchFamily="34" charset="-120"/>
              </a:rPr>
              <a:t>Toạ độ, tên kho, hạn sử dụng dưới đây là dữ liệu giả định (synthetic) minh hoạ cách các mô hình phối hợp — không phải dữ liệu thật của Distra.</a:t>
            </a:r>
            <a:endParaRPr lang="en-US" sz="950" dirty="0"/>
          </a:p>
        </p:txBody>
      </p:sp>
      <p:sp>
        <p:nvSpPr>
          <p:cNvPr id="5" name="Shape 3"/>
          <p:cNvSpPr/>
          <p:nvPr/>
        </p:nvSpPr>
        <p:spPr>
          <a:xfrm>
            <a:off x="502920" y="1600200"/>
            <a:ext cx="3520440" cy="914400"/>
          </a:xfrm>
          <a:prstGeom prst="roundRect">
            <a:avLst>
              <a:gd name="adj" fmla="val 8000"/>
            </a:avLst>
          </a:prstGeom>
          <a:solidFill>
            <a:srgbClr val="F5F8FB"/>
          </a:solidFill>
          <a:ln w="12700">
            <a:solidFill>
              <a:srgbClr val="DCE4EC"/>
            </a:solidFill>
            <a:prstDash val="solid"/>
          </a:ln>
        </p:spPr>
      </p:sp>
      <p:sp>
        <p:nvSpPr>
          <p:cNvPr id="6" name="Text 4"/>
          <p:cNvSpPr/>
          <p:nvPr/>
        </p:nvSpPr>
        <p:spPr>
          <a:xfrm>
            <a:off x="731520" y="1691640"/>
            <a:ext cx="3063240" cy="320040"/>
          </a:xfrm>
          <a:prstGeom prst="rect">
            <a:avLst/>
          </a:prstGeom>
          <a:noFill/>
          <a:ln/>
        </p:spPr>
        <p:txBody>
          <a:bodyPr wrap="square" rtlCol="0" anchor="ctr"/>
          <a:lstStyle/>
          <a:p>
            <a:pPr indent="0" marL="0">
              <a:buNone/>
            </a:pPr>
            <a:r>
              <a:rPr lang="en-US" sz="1400" b="1" dirty="0">
                <a:solidFill>
                  <a:srgbClr val="13294B"/>
                </a:solidFill>
                <a:latin typeface="Times New Roman" pitchFamily="34" charset="0"/>
                <a:ea typeface="Times New Roman" pitchFamily="34" charset="-122"/>
                <a:cs typeface="Times New Roman" pitchFamily="34" charset="-120"/>
              </a:rPr>
              <a:t>Kho A</a:t>
            </a:r>
            <a:endParaRPr lang="en-US" sz="1400" dirty="0"/>
          </a:p>
        </p:txBody>
      </p:sp>
      <p:sp>
        <p:nvSpPr>
          <p:cNvPr id="7" name="Text 5"/>
          <p:cNvSpPr/>
          <p:nvPr/>
        </p:nvSpPr>
        <p:spPr>
          <a:xfrm>
            <a:off x="731520" y="2057400"/>
            <a:ext cx="3063240" cy="320040"/>
          </a:xfrm>
          <a:prstGeom prst="rect">
            <a:avLst/>
          </a:prstGeom>
          <a:noFill/>
          <a:ln/>
        </p:spPr>
        <p:txBody>
          <a:bodyPr wrap="square" rtlCol="0" anchor="ctr"/>
          <a:lstStyle/>
          <a:p>
            <a:pPr indent="0" marL="0">
              <a:buNone/>
            </a:pPr>
            <a:r>
              <a:rPr lang="en-US" sz="1050" dirty="0">
                <a:solidFill>
                  <a:srgbClr val="5B6B7C"/>
                </a:solidFill>
                <a:latin typeface="Calibri" pitchFamily="34" charset="0"/>
                <a:ea typeface="Calibri" pitchFamily="34" charset="-122"/>
                <a:cs typeface="Calibri" pitchFamily="34" charset="-120"/>
              </a:rPr>
              <a:t>≈ 10,75 km  ·  ≈ 0,5 ngày</a:t>
            </a:r>
            <a:endParaRPr lang="en-US" sz="1050" dirty="0"/>
          </a:p>
        </p:txBody>
      </p:sp>
      <p:sp>
        <p:nvSpPr>
          <p:cNvPr id="8" name="Shape 6"/>
          <p:cNvSpPr/>
          <p:nvPr/>
        </p:nvSpPr>
        <p:spPr>
          <a:xfrm>
            <a:off x="4315968" y="1600200"/>
            <a:ext cx="3520440" cy="914400"/>
          </a:xfrm>
          <a:prstGeom prst="roundRect">
            <a:avLst>
              <a:gd name="adj" fmla="val 8000"/>
            </a:avLst>
          </a:prstGeom>
          <a:solidFill>
            <a:srgbClr val="F5F8FB"/>
          </a:solidFill>
          <a:ln w="12700">
            <a:solidFill>
              <a:srgbClr val="DCE4EC"/>
            </a:solidFill>
            <a:prstDash val="solid"/>
          </a:ln>
        </p:spPr>
      </p:sp>
      <p:sp>
        <p:nvSpPr>
          <p:cNvPr id="9" name="Text 7"/>
          <p:cNvSpPr/>
          <p:nvPr/>
        </p:nvSpPr>
        <p:spPr>
          <a:xfrm>
            <a:off x="4544568" y="1691640"/>
            <a:ext cx="3063240" cy="320040"/>
          </a:xfrm>
          <a:prstGeom prst="rect">
            <a:avLst/>
          </a:prstGeom>
          <a:noFill/>
          <a:ln/>
        </p:spPr>
        <p:txBody>
          <a:bodyPr wrap="square" rtlCol="0" anchor="ctr"/>
          <a:lstStyle/>
          <a:p>
            <a:pPr indent="0" marL="0">
              <a:buNone/>
            </a:pPr>
            <a:r>
              <a:rPr lang="en-US" sz="1400" b="1" dirty="0">
                <a:solidFill>
                  <a:srgbClr val="13294B"/>
                </a:solidFill>
                <a:latin typeface="Times New Roman" pitchFamily="34" charset="0"/>
                <a:ea typeface="Times New Roman" pitchFamily="34" charset="-122"/>
                <a:cs typeface="Times New Roman" pitchFamily="34" charset="-120"/>
              </a:rPr>
              <a:t>Kho B</a:t>
            </a:r>
            <a:endParaRPr lang="en-US" sz="1400" dirty="0"/>
          </a:p>
        </p:txBody>
      </p:sp>
      <p:sp>
        <p:nvSpPr>
          <p:cNvPr id="10" name="Text 8"/>
          <p:cNvSpPr/>
          <p:nvPr/>
        </p:nvSpPr>
        <p:spPr>
          <a:xfrm>
            <a:off x="4544568" y="2057400"/>
            <a:ext cx="3063240" cy="320040"/>
          </a:xfrm>
          <a:prstGeom prst="rect">
            <a:avLst/>
          </a:prstGeom>
          <a:noFill/>
          <a:ln/>
        </p:spPr>
        <p:txBody>
          <a:bodyPr wrap="square" rtlCol="0" anchor="ctr"/>
          <a:lstStyle/>
          <a:p>
            <a:pPr indent="0" marL="0">
              <a:buNone/>
            </a:pPr>
            <a:r>
              <a:rPr lang="en-US" sz="1050" dirty="0">
                <a:solidFill>
                  <a:srgbClr val="5B6B7C"/>
                </a:solidFill>
                <a:latin typeface="Calibri" pitchFamily="34" charset="0"/>
                <a:ea typeface="Calibri" pitchFamily="34" charset="-122"/>
                <a:cs typeface="Calibri" pitchFamily="34" charset="-120"/>
              </a:rPr>
              <a:t>≈ 13,89 km  ·  ≈ 0,7 ngày</a:t>
            </a:r>
            <a:endParaRPr lang="en-US" sz="1050" dirty="0"/>
          </a:p>
        </p:txBody>
      </p:sp>
      <p:sp>
        <p:nvSpPr>
          <p:cNvPr id="11" name="Shape 9"/>
          <p:cNvSpPr/>
          <p:nvPr/>
        </p:nvSpPr>
        <p:spPr>
          <a:xfrm>
            <a:off x="8129016" y="1600200"/>
            <a:ext cx="3520440" cy="914400"/>
          </a:xfrm>
          <a:prstGeom prst="roundRect">
            <a:avLst>
              <a:gd name="adj" fmla="val 8000"/>
            </a:avLst>
          </a:prstGeom>
          <a:solidFill>
            <a:srgbClr val="F5F8FB"/>
          </a:solidFill>
          <a:ln w="12700">
            <a:solidFill>
              <a:srgbClr val="DCE4EC"/>
            </a:solidFill>
            <a:prstDash val="solid"/>
          </a:ln>
        </p:spPr>
      </p:sp>
      <p:sp>
        <p:nvSpPr>
          <p:cNvPr id="12" name="Text 10"/>
          <p:cNvSpPr/>
          <p:nvPr/>
        </p:nvSpPr>
        <p:spPr>
          <a:xfrm>
            <a:off x="8357616" y="1691640"/>
            <a:ext cx="3063240" cy="320040"/>
          </a:xfrm>
          <a:prstGeom prst="rect">
            <a:avLst/>
          </a:prstGeom>
          <a:noFill/>
          <a:ln/>
        </p:spPr>
        <p:txBody>
          <a:bodyPr wrap="square" rtlCol="0" anchor="ctr"/>
          <a:lstStyle/>
          <a:p>
            <a:pPr indent="0" marL="0">
              <a:buNone/>
            </a:pPr>
            <a:r>
              <a:rPr lang="en-US" sz="1400" b="1" dirty="0">
                <a:solidFill>
                  <a:srgbClr val="13294B"/>
                </a:solidFill>
                <a:latin typeface="Times New Roman" pitchFamily="34" charset="0"/>
                <a:ea typeface="Times New Roman" pitchFamily="34" charset="-122"/>
                <a:cs typeface="Times New Roman" pitchFamily="34" charset="-120"/>
              </a:rPr>
              <a:t>Kho C</a:t>
            </a:r>
            <a:endParaRPr lang="en-US" sz="1400" dirty="0"/>
          </a:p>
        </p:txBody>
      </p:sp>
      <p:sp>
        <p:nvSpPr>
          <p:cNvPr id="13" name="Text 11"/>
          <p:cNvSpPr/>
          <p:nvPr/>
        </p:nvSpPr>
        <p:spPr>
          <a:xfrm>
            <a:off x="8357616" y="2057400"/>
            <a:ext cx="3063240" cy="320040"/>
          </a:xfrm>
          <a:prstGeom prst="rect">
            <a:avLst/>
          </a:prstGeom>
          <a:noFill/>
          <a:ln/>
        </p:spPr>
        <p:txBody>
          <a:bodyPr wrap="square" rtlCol="0" anchor="ctr"/>
          <a:lstStyle/>
          <a:p>
            <a:pPr indent="0" marL="0">
              <a:buNone/>
            </a:pPr>
            <a:r>
              <a:rPr lang="en-US" sz="1050" dirty="0">
                <a:solidFill>
                  <a:srgbClr val="5B6B7C"/>
                </a:solidFill>
                <a:latin typeface="Calibri" pitchFamily="34" charset="0"/>
                <a:ea typeface="Calibri" pitchFamily="34" charset="-122"/>
                <a:cs typeface="Calibri" pitchFamily="34" charset="-120"/>
              </a:rPr>
              <a:t>≈ 21,74 km  ·  ≈ 1,0 ngày</a:t>
            </a:r>
            <a:endParaRPr lang="en-US" sz="1050" dirty="0"/>
          </a:p>
        </p:txBody>
      </p:sp>
      <p:sp>
        <p:nvSpPr>
          <p:cNvPr id="14" name="Text 12"/>
          <p:cNvSpPr/>
          <p:nvPr/>
        </p:nvSpPr>
        <p:spPr>
          <a:xfrm>
            <a:off x="502920" y="2788920"/>
            <a:ext cx="11155680" cy="274320"/>
          </a:xfrm>
          <a:prstGeom prst="rect">
            <a:avLst/>
          </a:prstGeom>
          <a:noFill/>
          <a:ln/>
        </p:spPr>
        <p:txBody>
          <a:bodyPr wrap="square" rtlCol="0" anchor="ctr"/>
          <a:lstStyle/>
          <a:p>
            <a:pPr indent="0" marL="0">
              <a:buNone/>
            </a:pPr>
            <a:r>
              <a:rPr lang="en-US" sz="1300" b="1" dirty="0">
                <a:solidFill>
                  <a:srgbClr val="13294B"/>
                </a:solidFill>
                <a:latin typeface="Times New Roman" pitchFamily="34" charset="0"/>
                <a:ea typeface="Times New Roman" pitchFamily="34" charset="-122"/>
                <a:cs typeface="Times New Roman" pitchFamily="34" charset="-120"/>
              </a:rPr>
              <a:t>Bước D+E — Kiểm tra khả thi (Mô hình 7+8) rồi FEFO (Mô hình 9)</a:t>
            </a:r>
            <a:endParaRPr lang="en-US" sz="1300" dirty="0"/>
          </a:p>
        </p:txBody>
      </p:sp>
      <p:sp>
        <p:nvSpPr>
          <p:cNvPr id="15" name="Text 13"/>
          <p:cNvSpPr/>
          <p:nvPr/>
        </p:nvSpPr>
        <p:spPr>
          <a:xfrm>
            <a:off x="502920" y="3081528"/>
            <a:ext cx="11155680" cy="256032"/>
          </a:xfrm>
          <a:prstGeom prst="rect">
            <a:avLst/>
          </a:prstGeom>
          <a:noFill/>
          <a:ln/>
        </p:spPr>
        <p:txBody>
          <a:bodyPr wrap="square" rtlCol="0" anchor="ctr"/>
          <a:lstStyle/>
          <a:p>
            <a:pPr indent="0" marL="0">
              <a:buNone/>
            </a:pPr>
            <a:r>
              <a:rPr lang="en-US" sz="1000" i="1" dirty="0">
                <a:solidFill>
                  <a:srgbClr val="5B6B7C"/>
                </a:solidFill>
                <a:latin typeface="Calibri" pitchFamily="34" charset="0"/>
                <a:ea typeface="Calibri" pitchFamily="34" charset="-122"/>
                <a:cs typeface="Calibri" pitchFamily="34" charset="-120"/>
              </a:rPr>
              <a:t>Đặt hàng theo tuần → Cⱼ ≈ 7 ngày (bằng đúng chu kỳ đặt hàng, không phải số tách biệt). Hợp đồng yêu cầu MLOR ≥ 3 ngày, Min-RSL mục tiêu ≥ 0 ngày dư.</a:t>
            </a:r>
            <a:endParaRPr lang="en-US" sz="1000" dirty="0"/>
          </a:p>
        </p:txBody>
      </p:sp>
      <p:sp>
        <p:nvSpPr>
          <p:cNvPr id="16" name="Shape 14"/>
          <p:cNvSpPr/>
          <p:nvPr/>
        </p:nvSpPr>
        <p:spPr>
          <a:xfrm>
            <a:off x="502920" y="3410712"/>
            <a:ext cx="731520" cy="457200"/>
          </a:xfrm>
          <a:prstGeom prst="roundRect">
            <a:avLst/>
          </a:prstGeom>
          <a:solidFill>
            <a:srgbClr val="13294B"/>
          </a:solidFill>
          <a:ln/>
        </p:spPr>
      </p:sp>
      <p:sp>
        <p:nvSpPr>
          <p:cNvPr id="17" name="Text 15"/>
          <p:cNvSpPr/>
          <p:nvPr/>
        </p:nvSpPr>
        <p:spPr>
          <a:xfrm>
            <a:off x="557784" y="3410712"/>
            <a:ext cx="621792"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Lô</a:t>
            </a:r>
            <a:endParaRPr lang="en-US" sz="1000" dirty="0"/>
          </a:p>
        </p:txBody>
      </p:sp>
      <p:sp>
        <p:nvSpPr>
          <p:cNvPr id="18" name="Shape 16"/>
          <p:cNvSpPr/>
          <p:nvPr/>
        </p:nvSpPr>
        <p:spPr>
          <a:xfrm>
            <a:off x="1234440" y="3410712"/>
            <a:ext cx="1005840" cy="457200"/>
          </a:xfrm>
          <a:prstGeom prst="roundRect">
            <a:avLst/>
          </a:prstGeom>
          <a:solidFill>
            <a:srgbClr val="13294B"/>
          </a:solidFill>
          <a:ln/>
        </p:spPr>
      </p:sp>
      <p:sp>
        <p:nvSpPr>
          <p:cNvPr id="19" name="Text 17"/>
          <p:cNvSpPr/>
          <p:nvPr/>
        </p:nvSpPr>
        <p:spPr>
          <a:xfrm>
            <a:off x="1289304" y="3410712"/>
            <a:ext cx="896112"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Kho</a:t>
            </a:r>
            <a:endParaRPr lang="en-US" sz="1000" dirty="0"/>
          </a:p>
        </p:txBody>
      </p:sp>
      <p:sp>
        <p:nvSpPr>
          <p:cNvPr id="20" name="Shape 18"/>
          <p:cNvSpPr/>
          <p:nvPr/>
        </p:nvSpPr>
        <p:spPr>
          <a:xfrm>
            <a:off x="2240280" y="3410712"/>
            <a:ext cx="2148840" cy="457200"/>
          </a:xfrm>
          <a:prstGeom prst="roundRect">
            <a:avLst/>
          </a:prstGeom>
          <a:solidFill>
            <a:srgbClr val="13294B"/>
          </a:solidFill>
          <a:ln/>
        </p:spPr>
      </p:sp>
      <p:sp>
        <p:nvSpPr>
          <p:cNvPr id="21" name="Text 19"/>
          <p:cNvSpPr/>
          <p:nvPr/>
        </p:nvSpPr>
        <p:spPr>
          <a:xfrm>
            <a:off x="2295144" y="3410712"/>
            <a:ext cx="2039112"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Hạn còn lại Sᵢ</a:t>
            </a:r>
            <a:endParaRPr lang="en-US" sz="1000" dirty="0"/>
          </a:p>
        </p:txBody>
      </p:sp>
      <p:sp>
        <p:nvSpPr>
          <p:cNvPr id="22" name="Shape 20"/>
          <p:cNvSpPr/>
          <p:nvPr/>
        </p:nvSpPr>
        <p:spPr>
          <a:xfrm>
            <a:off x="4389120" y="3410712"/>
            <a:ext cx="2331720" cy="457200"/>
          </a:xfrm>
          <a:prstGeom prst="roundRect">
            <a:avLst/>
          </a:prstGeom>
          <a:solidFill>
            <a:srgbClr val="13294B"/>
          </a:solidFill>
          <a:ln/>
        </p:spPr>
      </p:sp>
      <p:sp>
        <p:nvSpPr>
          <p:cNvPr id="23" name="Text 21"/>
          <p:cNvSpPr/>
          <p:nvPr/>
        </p:nvSpPr>
        <p:spPr>
          <a:xfrm>
            <a:off x="4443984" y="3410712"/>
            <a:ext cx="2221992"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Kiểm tra MLOR</a:t>
            </a:r>
            <a:endParaRPr lang="en-US" sz="1000" dirty="0"/>
          </a:p>
        </p:txBody>
      </p:sp>
      <p:sp>
        <p:nvSpPr>
          <p:cNvPr id="24" name="Shape 22"/>
          <p:cNvSpPr/>
          <p:nvPr/>
        </p:nvSpPr>
        <p:spPr>
          <a:xfrm>
            <a:off x="6720840" y="3410712"/>
            <a:ext cx="2651760" cy="457200"/>
          </a:xfrm>
          <a:prstGeom prst="roundRect">
            <a:avLst/>
          </a:prstGeom>
          <a:solidFill>
            <a:srgbClr val="13294B"/>
          </a:solidFill>
          <a:ln/>
        </p:spPr>
      </p:sp>
      <p:sp>
        <p:nvSpPr>
          <p:cNvPr id="25" name="Text 23"/>
          <p:cNvSpPr/>
          <p:nvPr/>
        </p:nvSpPr>
        <p:spPr>
          <a:xfrm>
            <a:off x="6775704" y="3410712"/>
            <a:ext cx="2542032"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Kiểm tra Min-RSL</a:t>
            </a:r>
            <a:endParaRPr lang="en-US" sz="1000" dirty="0"/>
          </a:p>
        </p:txBody>
      </p:sp>
      <p:sp>
        <p:nvSpPr>
          <p:cNvPr id="26" name="Shape 24"/>
          <p:cNvSpPr/>
          <p:nvPr/>
        </p:nvSpPr>
        <p:spPr>
          <a:xfrm>
            <a:off x="9372600" y="3410712"/>
            <a:ext cx="2286000" cy="457200"/>
          </a:xfrm>
          <a:prstGeom prst="roundRect">
            <a:avLst/>
          </a:prstGeom>
          <a:solidFill>
            <a:srgbClr val="13294B"/>
          </a:solidFill>
          <a:ln/>
        </p:spPr>
      </p:sp>
      <p:sp>
        <p:nvSpPr>
          <p:cNvPr id="27" name="Text 25"/>
          <p:cNvSpPr/>
          <p:nvPr/>
        </p:nvSpPr>
        <p:spPr>
          <a:xfrm>
            <a:off x="9427464" y="3410712"/>
            <a:ext cx="2176272"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Kết luận</a:t>
            </a:r>
            <a:endParaRPr lang="en-US" sz="1000" dirty="0"/>
          </a:p>
        </p:txBody>
      </p:sp>
      <p:sp>
        <p:nvSpPr>
          <p:cNvPr id="28" name="Shape 26"/>
          <p:cNvSpPr/>
          <p:nvPr/>
        </p:nvSpPr>
        <p:spPr>
          <a:xfrm>
            <a:off x="502920" y="3867912"/>
            <a:ext cx="731520" cy="457200"/>
          </a:xfrm>
          <a:prstGeom prst="roundRect">
            <a:avLst/>
          </a:prstGeom>
          <a:solidFill>
            <a:srgbClr val="FFFFFF"/>
          </a:solidFill>
          <a:ln w="12700">
            <a:solidFill>
              <a:srgbClr val="DCE4EC"/>
            </a:solidFill>
            <a:prstDash val="solid"/>
          </a:ln>
        </p:spPr>
      </p:sp>
      <p:sp>
        <p:nvSpPr>
          <p:cNvPr id="29" name="Text 27"/>
          <p:cNvSpPr/>
          <p:nvPr/>
        </p:nvSpPr>
        <p:spPr>
          <a:xfrm>
            <a:off x="576072" y="3867912"/>
            <a:ext cx="585216" cy="457200"/>
          </a:xfrm>
          <a:prstGeom prst="rect">
            <a:avLst/>
          </a:prstGeom>
          <a:noFill/>
          <a:ln/>
        </p:spPr>
        <p:txBody>
          <a:bodyPr wrap="square" rtlCol="0" anchor="ctr"/>
          <a:lstStyle/>
          <a:p>
            <a:pPr algn="ctr" indent="0" marL="0">
              <a:buNone/>
            </a:pPr>
            <a:r>
              <a:rPr lang="en-US" sz="970" dirty="0">
                <a:solidFill>
                  <a:srgbClr val="13294B"/>
                </a:solidFill>
                <a:latin typeface="Calibri" pitchFamily="34" charset="0"/>
                <a:ea typeface="Calibri" pitchFamily="34" charset="-122"/>
                <a:cs typeface="Calibri" pitchFamily="34" charset="-120"/>
              </a:rPr>
              <a:t>Lô 1</a:t>
            </a:r>
            <a:endParaRPr lang="en-US" sz="970" dirty="0"/>
          </a:p>
        </p:txBody>
      </p:sp>
      <p:sp>
        <p:nvSpPr>
          <p:cNvPr id="30" name="Shape 28"/>
          <p:cNvSpPr/>
          <p:nvPr/>
        </p:nvSpPr>
        <p:spPr>
          <a:xfrm>
            <a:off x="1234440" y="3867912"/>
            <a:ext cx="1005840" cy="457200"/>
          </a:xfrm>
          <a:prstGeom prst="roundRect">
            <a:avLst/>
          </a:prstGeom>
          <a:solidFill>
            <a:srgbClr val="FFFFFF"/>
          </a:solidFill>
          <a:ln w="12700">
            <a:solidFill>
              <a:srgbClr val="DCE4EC"/>
            </a:solidFill>
            <a:prstDash val="solid"/>
          </a:ln>
        </p:spPr>
      </p:sp>
      <p:sp>
        <p:nvSpPr>
          <p:cNvPr id="31" name="Text 29"/>
          <p:cNvSpPr/>
          <p:nvPr/>
        </p:nvSpPr>
        <p:spPr>
          <a:xfrm>
            <a:off x="1307592" y="3867912"/>
            <a:ext cx="859536" cy="457200"/>
          </a:xfrm>
          <a:prstGeom prst="rect">
            <a:avLst/>
          </a:prstGeom>
          <a:noFill/>
          <a:ln/>
        </p:spPr>
        <p:txBody>
          <a:bodyPr wrap="square" rtlCol="0" anchor="ctr"/>
          <a:lstStyle/>
          <a:p>
            <a:pPr algn="ctr" indent="0" marL="0">
              <a:buNone/>
            </a:pPr>
            <a:r>
              <a:rPr lang="en-US" sz="970" dirty="0">
                <a:solidFill>
                  <a:srgbClr val="13294B"/>
                </a:solidFill>
                <a:latin typeface="Calibri" pitchFamily="34" charset="0"/>
                <a:ea typeface="Calibri" pitchFamily="34" charset="-122"/>
                <a:cs typeface="Calibri" pitchFamily="34" charset="-120"/>
              </a:rPr>
              <a:t>Kho A</a:t>
            </a:r>
            <a:endParaRPr lang="en-US" sz="970" dirty="0"/>
          </a:p>
        </p:txBody>
      </p:sp>
      <p:sp>
        <p:nvSpPr>
          <p:cNvPr id="32" name="Shape 30"/>
          <p:cNvSpPr/>
          <p:nvPr/>
        </p:nvSpPr>
        <p:spPr>
          <a:xfrm>
            <a:off x="2240280" y="3867912"/>
            <a:ext cx="2148840" cy="457200"/>
          </a:xfrm>
          <a:prstGeom prst="roundRect">
            <a:avLst/>
          </a:prstGeom>
          <a:solidFill>
            <a:srgbClr val="FFFFFF"/>
          </a:solidFill>
          <a:ln w="12700">
            <a:solidFill>
              <a:srgbClr val="DCE4EC"/>
            </a:solidFill>
            <a:prstDash val="solid"/>
          </a:ln>
        </p:spPr>
      </p:sp>
      <p:sp>
        <p:nvSpPr>
          <p:cNvPr id="33" name="Text 31"/>
          <p:cNvSpPr/>
          <p:nvPr/>
        </p:nvSpPr>
        <p:spPr>
          <a:xfrm>
            <a:off x="2313432" y="3867912"/>
            <a:ext cx="200253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10 ngày</a:t>
            </a:r>
            <a:endParaRPr lang="en-US" sz="970" dirty="0"/>
          </a:p>
        </p:txBody>
      </p:sp>
      <p:sp>
        <p:nvSpPr>
          <p:cNvPr id="34" name="Shape 32"/>
          <p:cNvSpPr/>
          <p:nvPr/>
        </p:nvSpPr>
        <p:spPr>
          <a:xfrm>
            <a:off x="4389120" y="3867912"/>
            <a:ext cx="2331720" cy="457200"/>
          </a:xfrm>
          <a:prstGeom prst="roundRect">
            <a:avLst/>
          </a:prstGeom>
          <a:solidFill>
            <a:srgbClr val="FFFFFF"/>
          </a:solidFill>
          <a:ln w="12700">
            <a:solidFill>
              <a:srgbClr val="DCE4EC"/>
            </a:solidFill>
            <a:prstDash val="solid"/>
          </a:ln>
        </p:spPr>
      </p:sp>
      <p:sp>
        <p:nvSpPr>
          <p:cNvPr id="35" name="Text 33"/>
          <p:cNvSpPr/>
          <p:nvPr/>
        </p:nvSpPr>
        <p:spPr>
          <a:xfrm>
            <a:off x="4462272" y="3867912"/>
            <a:ext cx="218541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9,5 ≥ 3 → đạt</a:t>
            </a:r>
            <a:endParaRPr lang="en-US" sz="970" dirty="0"/>
          </a:p>
        </p:txBody>
      </p:sp>
      <p:sp>
        <p:nvSpPr>
          <p:cNvPr id="36" name="Shape 34"/>
          <p:cNvSpPr/>
          <p:nvPr/>
        </p:nvSpPr>
        <p:spPr>
          <a:xfrm>
            <a:off x="6720840" y="3867912"/>
            <a:ext cx="2651760" cy="457200"/>
          </a:xfrm>
          <a:prstGeom prst="roundRect">
            <a:avLst/>
          </a:prstGeom>
          <a:solidFill>
            <a:srgbClr val="FFFFFF"/>
          </a:solidFill>
          <a:ln w="12700">
            <a:solidFill>
              <a:srgbClr val="DCE4EC"/>
            </a:solidFill>
            <a:prstDash val="solid"/>
          </a:ln>
        </p:spPr>
      </p:sp>
      <p:sp>
        <p:nvSpPr>
          <p:cNvPr id="37" name="Text 35"/>
          <p:cNvSpPr/>
          <p:nvPr/>
        </p:nvSpPr>
        <p:spPr>
          <a:xfrm>
            <a:off x="6793992" y="3867912"/>
            <a:ext cx="250545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2,5 ≥ 0 → đạt</a:t>
            </a:r>
            <a:endParaRPr lang="en-US" sz="970" dirty="0"/>
          </a:p>
        </p:txBody>
      </p:sp>
      <p:sp>
        <p:nvSpPr>
          <p:cNvPr id="38" name="Shape 36"/>
          <p:cNvSpPr/>
          <p:nvPr/>
        </p:nvSpPr>
        <p:spPr>
          <a:xfrm>
            <a:off x="9372600" y="3867912"/>
            <a:ext cx="2286000" cy="457200"/>
          </a:xfrm>
          <a:prstGeom prst="roundRect">
            <a:avLst/>
          </a:prstGeom>
          <a:solidFill>
            <a:srgbClr val="E4F1E8"/>
          </a:solidFill>
          <a:ln w="12700">
            <a:solidFill>
              <a:srgbClr val="DCE4EC"/>
            </a:solidFill>
            <a:prstDash val="solid"/>
          </a:ln>
        </p:spPr>
      </p:sp>
      <p:sp>
        <p:nvSpPr>
          <p:cNvPr id="39" name="Text 37"/>
          <p:cNvSpPr/>
          <p:nvPr/>
        </p:nvSpPr>
        <p:spPr>
          <a:xfrm>
            <a:off x="9445752" y="3867912"/>
            <a:ext cx="2139696" cy="457200"/>
          </a:xfrm>
          <a:prstGeom prst="rect">
            <a:avLst/>
          </a:prstGeom>
          <a:noFill/>
          <a:ln/>
        </p:spPr>
        <p:txBody>
          <a:bodyPr wrap="square" rtlCol="0" anchor="ctr"/>
          <a:lstStyle/>
          <a:p>
            <a:pPr algn="ctr" indent="0" marL="0">
              <a:buNone/>
            </a:pPr>
            <a:r>
              <a:rPr lang="en-US" sz="970" b="1" dirty="0">
                <a:solidFill>
                  <a:srgbClr val="1E7145"/>
                </a:solidFill>
                <a:latin typeface="Calibri" pitchFamily="34" charset="0"/>
                <a:ea typeface="Calibri" pitchFamily="34" charset="-122"/>
                <a:cs typeface="Calibri" pitchFamily="34" charset="-120"/>
              </a:rPr>
              <a:t>HỢP LỆ</a:t>
            </a:r>
            <a:endParaRPr lang="en-US" sz="970" dirty="0"/>
          </a:p>
        </p:txBody>
      </p:sp>
      <p:sp>
        <p:nvSpPr>
          <p:cNvPr id="40" name="Shape 38"/>
          <p:cNvSpPr/>
          <p:nvPr/>
        </p:nvSpPr>
        <p:spPr>
          <a:xfrm>
            <a:off x="502920" y="4325112"/>
            <a:ext cx="731520" cy="457200"/>
          </a:xfrm>
          <a:prstGeom prst="roundRect">
            <a:avLst/>
          </a:prstGeom>
          <a:solidFill>
            <a:srgbClr val="F5F8FB"/>
          </a:solidFill>
          <a:ln w="12700">
            <a:solidFill>
              <a:srgbClr val="DCE4EC"/>
            </a:solidFill>
            <a:prstDash val="solid"/>
          </a:ln>
        </p:spPr>
      </p:sp>
      <p:sp>
        <p:nvSpPr>
          <p:cNvPr id="41" name="Text 39"/>
          <p:cNvSpPr/>
          <p:nvPr/>
        </p:nvSpPr>
        <p:spPr>
          <a:xfrm>
            <a:off x="576072" y="4325112"/>
            <a:ext cx="585216" cy="457200"/>
          </a:xfrm>
          <a:prstGeom prst="rect">
            <a:avLst/>
          </a:prstGeom>
          <a:noFill/>
          <a:ln/>
        </p:spPr>
        <p:txBody>
          <a:bodyPr wrap="square" rtlCol="0" anchor="ctr"/>
          <a:lstStyle/>
          <a:p>
            <a:pPr algn="ctr" indent="0" marL="0">
              <a:buNone/>
            </a:pPr>
            <a:r>
              <a:rPr lang="en-US" sz="970" dirty="0">
                <a:solidFill>
                  <a:srgbClr val="13294B"/>
                </a:solidFill>
                <a:latin typeface="Calibri" pitchFamily="34" charset="0"/>
                <a:ea typeface="Calibri" pitchFamily="34" charset="-122"/>
                <a:cs typeface="Calibri" pitchFamily="34" charset="-120"/>
              </a:rPr>
              <a:t>Lô 2</a:t>
            </a:r>
            <a:endParaRPr lang="en-US" sz="970" dirty="0"/>
          </a:p>
        </p:txBody>
      </p:sp>
      <p:sp>
        <p:nvSpPr>
          <p:cNvPr id="42" name="Shape 40"/>
          <p:cNvSpPr/>
          <p:nvPr/>
        </p:nvSpPr>
        <p:spPr>
          <a:xfrm>
            <a:off x="1234440" y="4325112"/>
            <a:ext cx="1005840" cy="457200"/>
          </a:xfrm>
          <a:prstGeom prst="roundRect">
            <a:avLst/>
          </a:prstGeom>
          <a:solidFill>
            <a:srgbClr val="F5F8FB"/>
          </a:solidFill>
          <a:ln w="12700">
            <a:solidFill>
              <a:srgbClr val="DCE4EC"/>
            </a:solidFill>
            <a:prstDash val="solid"/>
          </a:ln>
        </p:spPr>
      </p:sp>
      <p:sp>
        <p:nvSpPr>
          <p:cNvPr id="43" name="Text 41"/>
          <p:cNvSpPr/>
          <p:nvPr/>
        </p:nvSpPr>
        <p:spPr>
          <a:xfrm>
            <a:off x="1307592" y="4325112"/>
            <a:ext cx="859536" cy="457200"/>
          </a:xfrm>
          <a:prstGeom prst="rect">
            <a:avLst/>
          </a:prstGeom>
          <a:noFill/>
          <a:ln/>
        </p:spPr>
        <p:txBody>
          <a:bodyPr wrap="square" rtlCol="0" anchor="ctr"/>
          <a:lstStyle/>
          <a:p>
            <a:pPr algn="ctr" indent="0" marL="0">
              <a:buNone/>
            </a:pPr>
            <a:r>
              <a:rPr lang="en-US" sz="970" dirty="0">
                <a:solidFill>
                  <a:srgbClr val="13294B"/>
                </a:solidFill>
                <a:latin typeface="Calibri" pitchFamily="34" charset="0"/>
                <a:ea typeface="Calibri" pitchFamily="34" charset="-122"/>
                <a:cs typeface="Calibri" pitchFamily="34" charset="-120"/>
              </a:rPr>
              <a:t>Kho B</a:t>
            </a:r>
            <a:endParaRPr lang="en-US" sz="970" dirty="0"/>
          </a:p>
        </p:txBody>
      </p:sp>
      <p:sp>
        <p:nvSpPr>
          <p:cNvPr id="44" name="Shape 42"/>
          <p:cNvSpPr/>
          <p:nvPr/>
        </p:nvSpPr>
        <p:spPr>
          <a:xfrm>
            <a:off x="2240280" y="4325112"/>
            <a:ext cx="2148840" cy="457200"/>
          </a:xfrm>
          <a:prstGeom prst="roundRect">
            <a:avLst/>
          </a:prstGeom>
          <a:solidFill>
            <a:srgbClr val="F5F8FB"/>
          </a:solidFill>
          <a:ln w="12700">
            <a:solidFill>
              <a:srgbClr val="DCE4EC"/>
            </a:solidFill>
            <a:prstDash val="solid"/>
          </a:ln>
        </p:spPr>
      </p:sp>
      <p:sp>
        <p:nvSpPr>
          <p:cNvPr id="45" name="Text 43"/>
          <p:cNvSpPr/>
          <p:nvPr/>
        </p:nvSpPr>
        <p:spPr>
          <a:xfrm>
            <a:off x="2313432" y="4325112"/>
            <a:ext cx="200253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4 ngày (hạn ngắn nhất!)</a:t>
            </a:r>
            <a:endParaRPr lang="en-US" sz="970" dirty="0"/>
          </a:p>
        </p:txBody>
      </p:sp>
      <p:sp>
        <p:nvSpPr>
          <p:cNvPr id="46" name="Shape 44"/>
          <p:cNvSpPr/>
          <p:nvPr/>
        </p:nvSpPr>
        <p:spPr>
          <a:xfrm>
            <a:off x="4389120" y="4325112"/>
            <a:ext cx="2331720" cy="457200"/>
          </a:xfrm>
          <a:prstGeom prst="roundRect">
            <a:avLst/>
          </a:prstGeom>
          <a:solidFill>
            <a:srgbClr val="F5F8FB"/>
          </a:solidFill>
          <a:ln w="12700">
            <a:solidFill>
              <a:srgbClr val="DCE4EC"/>
            </a:solidFill>
            <a:prstDash val="solid"/>
          </a:ln>
        </p:spPr>
      </p:sp>
      <p:sp>
        <p:nvSpPr>
          <p:cNvPr id="47" name="Text 45"/>
          <p:cNvSpPr/>
          <p:nvPr/>
        </p:nvSpPr>
        <p:spPr>
          <a:xfrm>
            <a:off x="4462272" y="4325112"/>
            <a:ext cx="218541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3,3 ≥ 3 → đạt</a:t>
            </a:r>
            <a:endParaRPr lang="en-US" sz="970" dirty="0"/>
          </a:p>
        </p:txBody>
      </p:sp>
      <p:sp>
        <p:nvSpPr>
          <p:cNvPr id="48" name="Shape 46"/>
          <p:cNvSpPr/>
          <p:nvPr/>
        </p:nvSpPr>
        <p:spPr>
          <a:xfrm>
            <a:off x="6720840" y="4325112"/>
            <a:ext cx="2651760" cy="457200"/>
          </a:xfrm>
          <a:prstGeom prst="roundRect">
            <a:avLst/>
          </a:prstGeom>
          <a:solidFill>
            <a:srgbClr val="F5F8FB"/>
          </a:solidFill>
          <a:ln w="12700">
            <a:solidFill>
              <a:srgbClr val="DCE4EC"/>
            </a:solidFill>
            <a:prstDash val="solid"/>
          </a:ln>
        </p:spPr>
      </p:sp>
      <p:sp>
        <p:nvSpPr>
          <p:cNvPr id="49" name="Text 47"/>
          <p:cNvSpPr/>
          <p:nvPr/>
        </p:nvSpPr>
        <p:spPr>
          <a:xfrm>
            <a:off x="6793992" y="4325112"/>
            <a:ext cx="250545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−3,7 &lt; 0 → KHÔNG đạt</a:t>
            </a:r>
            <a:endParaRPr lang="en-US" sz="970" dirty="0"/>
          </a:p>
        </p:txBody>
      </p:sp>
      <p:sp>
        <p:nvSpPr>
          <p:cNvPr id="50" name="Shape 48"/>
          <p:cNvSpPr/>
          <p:nvPr/>
        </p:nvSpPr>
        <p:spPr>
          <a:xfrm>
            <a:off x="9372600" y="4325112"/>
            <a:ext cx="2286000" cy="457200"/>
          </a:xfrm>
          <a:prstGeom prst="roundRect">
            <a:avLst/>
          </a:prstGeom>
          <a:solidFill>
            <a:srgbClr val="FBE7DC"/>
          </a:solidFill>
          <a:ln w="12700">
            <a:solidFill>
              <a:srgbClr val="DCE4EC"/>
            </a:solidFill>
            <a:prstDash val="solid"/>
          </a:ln>
        </p:spPr>
      </p:sp>
      <p:sp>
        <p:nvSpPr>
          <p:cNvPr id="51" name="Text 49"/>
          <p:cNvSpPr/>
          <p:nvPr/>
        </p:nvSpPr>
        <p:spPr>
          <a:xfrm>
            <a:off x="9445752" y="4325112"/>
            <a:ext cx="2139696" cy="457200"/>
          </a:xfrm>
          <a:prstGeom prst="rect">
            <a:avLst/>
          </a:prstGeom>
          <a:noFill/>
          <a:ln/>
        </p:spPr>
        <p:txBody>
          <a:bodyPr wrap="square" rtlCol="0" anchor="ctr"/>
          <a:lstStyle/>
          <a:p>
            <a:pPr algn="ctr" indent="0" marL="0">
              <a:buNone/>
            </a:pPr>
            <a:r>
              <a:rPr lang="en-US" sz="970" b="1" dirty="0">
                <a:solidFill>
                  <a:srgbClr val="B3541E"/>
                </a:solidFill>
                <a:latin typeface="Calibri" pitchFamily="34" charset="0"/>
                <a:ea typeface="Calibri" pitchFamily="34" charset="-122"/>
                <a:cs typeface="Calibri" pitchFamily="34" charset="-120"/>
              </a:rPr>
              <a:t>BỊ LOẠI</a:t>
            </a:r>
            <a:endParaRPr lang="en-US" sz="970" dirty="0"/>
          </a:p>
        </p:txBody>
      </p:sp>
      <p:sp>
        <p:nvSpPr>
          <p:cNvPr id="52" name="Shape 50"/>
          <p:cNvSpPr/>
          <p:nvPr/>
        </p:nvSpPr>
        <p:spPr>
          <a:xfrm>
            <a:off x="502920" y="4782312"/>
            <a:ext cx="731520" cy="457200"/>
          </a:xfrm>
          <a:prstGeom prst="roundRect">
            <a:avLst/>
          </a:prstGeom>
          <a:solidFill>
            <a:srgbClr val="FFFFFF"/>
          </a:solidFill>
          <a:ln w="12700">
            <a:solidFill>
              <a:srgbClr val="DCE4EC"/>
            </a:solidFill>
            <a:prstDash val="solid"/>
          </a:ln>
        </p:spPr>
      </p:sp>
      <p:sp>
        <p:nvSpPr>
          <p:cNvPr id="53" name="Text 51"/>
          <p:cNvSpPr/>
          <p:nvPr/>
        </p:nvSpPr>
        <p:spPr>
          <a:xfrm>
            <a:off x="576072" y="4782312"/>
            <a:ext cx="585216" cy="457200"/>
          </a:xfrm>
          <a:prstGeom prst="rect">
            <a:avLst/>
          </a:prstGeom>
          <a:noFill/>
          <a:ln/>
        </p:spPr>
        <p:txBody>
          <a:bodyPr wrap="square" rtlCol="0" anchor="ctr"/>
          <a:lstStyle/>
          <a:p>
            <a:pPr algn="ctr" indent="0" marL="0">
              <a:buNone/>
            </a:pPr>
            <a:r>
              <a:rPr lang="en-US" sz="970" dirty="0">
                <a:solidFill>
                  <a:srgbClr val="13294B"/>
                </a:solidFill>
                <a:latin typeface="Calibri" pitchFamily="34" charset="0"/>
                <a:ea typeface="Calibri" pitchFamily="34" charset="-122"/>
                <a:cs typeface="Calibri" pitchFamily="34" charset="-120"/>
              </a:rPr>
              <a:t>Lô 3</a:t>
            </a:r>
            <a:endParaRPr lang="en-US" sz="970" dirty="0"/>
          </a:p>
        </p:txBody>
      </p:sp>
      <p:sp>
        <p:nvSpPr>
          <p:cNvPr id="54" name="Shape 52"/>
          <p:cNvSpPr/>
          <p:nvPr/>
        </p:nvSpPr>
        <p:spPr>
          <a:xfrm>
            <a:off x="1234440" y="4782312"/>
            <a:ext cx="1005840" cy="457200"/>
          </a:xfrm>
          <a:prstGeom prst="roundRect">
            <a:avLst/>
          </a:prstGeom>
          <a:solidFill>
            <a:srgbClr val="FFFFFF"/>
          </a:solidFill>
          <a:ln w="12700">
            <a:solidFill>
              <a:srgbClr val="DCE4EC"/>
            </a:solidFill>
            <a:prstDash val="solid"/>
          </a:ln>
        </p:spPr>
      </p:sp>
      <p:sp>
        <p:nvSpPr>
          <p:cNvPr id="55" name="Text 53"/>
          <p:cNvSpPr/>
          <p:nvPr/>
        </p:nvSpPr>
        <p:spPr>
          <a:xfrm>
            <a:off x="1307592" y="4782312"/>
            <a:ext cx="859536" cy="457200"/>
          </a:xfrm>
          <a:prstGeom prst="rect">
            <a:avLst/>
          </a:prstGeom>
          <a:noFill/>
          <a:ln/>
        </p:spPr>
        <p:txBody>
          <a:bodyPr wrap="square" rtlCol="0" anchor="ctr"/>
          <a:lstStyle/>
          <a:p>
            <a:pPr algn="ctr" indent="0" marL="0">
              <a:buNone/>
            </a:pPr>
            <a:r>
              <a:rPr lang="en-US" sz="970" dirty="0">
                <a:solidFill>
                  <a:srgbClr val="13294B"/>
                </a:solidFill>
                <a:latin typeface="Calibri" pitchFamily="34" charset="0"/>
                <a:ea typeface="Calibri" pitchFamily="34" charset="-122"/>
                <a:cs typeface="Calibri" pitchFamily="34" charset="-120"/>
              </a:rPr>
              <a:t>Kho C</a:t>
            </a:r>
            <a:endParaRPr lang="en-US" sz="970" dirty="0"/>
          </a:p>
        </p:txBody>
      </p:sp>
      <p:sp>
        <p:nvSpPr>
          <p:cNvPr id="56" name="Shape 54"/>
          <p:cNvSpPr/>
          <p:nvPr/>
        </p:nvSpPr>
        <p:spPr>
          <a:xfrm>
            <a:off x="2240280" y="4782312"/>
            <a:ext cx="2148840" cy="457200"/>
          </a:xfrm>
          <a:prstGeom prst="roundRect">
            <a:avLst/>
          </a:prstGeom>
          <a:solidFill>
            <a:srgbClr val="FFFFFF"/>
          </a:solidFill>
          <a:ln w="12700">
            <a:solidFill>
              <a:srgbClr val="DCE4EC"/>
            </a:solidFill>
            <a:prstDash val="solid"/>
          </a:ln>
        </p:spPr>
      </p:sp>
      <p:sp>
        <p:nvSpPr>
          <p:cNvPr id="57" name="Text 55"/>
          <p:cNvSpPr/>
          <p:nvPr/>
        </p:nvSpPr>
        <p:spPr>
          <a:xfrm>
            <a:off x="2313432" y="4782312"/>
            <a:ext cx="200253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15 ngày</a:t>
            </a:r>
            <a:endParaRPr lang="en-US" sz="970" dirty="0"/>
          </a:p>
        </p:txBody>
      </p:sp>
      <p:sp>
        <p:nvSpPr>
          <p:cNvPr id="58" name="Shape 56"/>
          <p:cNvSpPr/>
          <p:nvPr/>
        </p:nvSpPr>
        <p:spPr>
          <a:xfrm>
            <a:off x="4389120" y="4782312"/>
            <a:ext cx="2331720" cy="457200"/>
          </a:xfrm>
          <a:prstGeom prst="roundRect">
            <a:avLst/>
          </a:prstGeom>
          <a:solidFill>
            <a:srgbClr val="FFFFFF"/>
          </a:solidFill>
          <a:ln w="12700">
            <a:solidFill>
              <a:srgbClr val="DCE4EC"/>
            </a:solidFill>
            <a:prstDash val="solid"/>
          </a:ln>
        </p:spPr>
      </p:sp>
      <p:sp>
        <p:nvSpPr>
          <p:cNvPr id="59" name="Text 57"/>
          <p:cNvSpPr/>
          <p:nvPr/>
        </p:nvSpPr>
        <p:spPr>
          <a:xfrm>
            <a:off x="4462272" y="4782312"/>
            <a:ext cx="218541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14 ≥ 3 → đạt</a:t>
            </a:r>
            <a:endParaRPr lang="en-US" sz="970" dirty="0"/>
          </a:p>
        </p:txBody>
      </p:sp>
      <p:sp>
        <p:nvSpPr>
          <p:cNvPr id="60" name="Shape 58"/>
          <p:cNvSpPr/>
          <p:nvPr/>
        </p:nvSpPr>
        <p:spPr>
          <a:xfrm>
            <a:off x="6720840" y="4782312"/>
            <a:ext cx="2651760" cy="457200"/>
          </a:xfrm>
          <a:prstGeom prst="roundRect">
            <a:avLst/>
          </a:prstGeom>
          <a:solidFill>
            <a:srgbClr val="FFFFFF"/>
          </a:solidFill>
          <a:ln w="12700">
            <a:solidFill>
              <a:srgbClr val="DCE4EC"/>
            </a:solidFill>
            <a:prstDash val="solid"/>
          </a:ln>
        </p:spPr>
      </p:sp>
      <p:sp>
        <p:nvSpPr>
          <p:cNvPr id="61" name="Text 59"/>
          <p:cNvSpPr/>
          <p:nvPr/>
        </p:nvSpPr>
        <p:spPr>
          <a:xfrm>
            <a:off x="6793992" y="4782312"/>
            <a:ext cx="2505456" cy="457200"/>
          </a:xfrm>
          <a:prstGeom prst="rect">
            <a:avLst/>
          </a:prstGeom>
          <a:noFill/>
          <a:ln/>
        </p:spPr>
        <p:txBody>
          <a:bodyPr wrap="square" rtlCol="0" anchor="ctr"/>
          <a:lstStyle/>
          <a:p>
            <a:pPr algn="l" indent="0" marL="0">
              <a:buNone/>
            </a:pPr>
            <a:r>
              <a:rPr lang="en-US" sz="970" dirty="0">
                <a:solidFill>
                  <a:srgbClr val="13294B"/>
                </a:solidFill>
                <a:latin typeface="Calibri" pitchFamily="34" charset="0"/>
                <a:ea typeface="Calibri" pitchFamily="34" charset="-122"/>
                <a:cs typeface="Calibri" pitchFamily="34" charset="-120"/>
              </a:rPr>
              <a:t>7,0 ≥ 0 → đạt</a:t>
            </a:r>
            <a:endParaRPr lang="en-US" sz="970" dirty="0"/>
          </a:p>
        </p:txBody>
      </p:sp>
      <p:sp>
        <p:nvSpPr>
          <p:cNvPr id="62" name="Shape 60"/>
          <p:cNvSpPr/>
          <p:nvPr/>
        </p:nvSpPr>
        <p:spPr>
          <a:xfrm>
            <a:off x="9372600" y="4782312"/>
            <a:ext cx="2286000" cy="457200"/>
          </a:xfrm>
          <a:prstGeom prst="roundRect">
            <a:avLst/>
          </a:prstGeom>
          <a:solidFill>
            <a:srgbClr val="E4F1E8"/>
          </a:solidFill>
          <a:ln w="12700">
            <a:solidFill>
              <a:srgbClr val="DCE4EC"/>
            </a:solidFill>
            <a:prstDash val="solid"/>
          </a:ln>
        </p:spPr>
      </p:sp>
      <p:sp>
        <p:nvSpPr>
          <p:cNvPr id="63" name="Text 61"/>
          <p:cNvSpPr/>
          <p:nvPr/>
        </p:nvSpPr>
        <p:spPr>
          <a:xfrm>
            <a:off x="9445752" y="4782312"/>
            <a:ext cx="2139696" cy="457200"/>
          </a:xfrm>
          <a:prstGeom prst="rect">
            <a:avLst/>
          </a:prstGeom>
          <a:noFill/>
          <a:ln/>
        </p:spPr>
        <p:txBody>
          <a:bodyPr wrap="square" rtlCol="0" anchor="ctr"/>
          <a:lstStyle/>
          <a:p>
            <a:pPr algn="ctr" indent="0" marL="0">
              <a:buNone/>
            </a:pPr>
            <a:r>
              <a:rPr lang="en-US" sz="970" b="1" dirty="0">
                <a:solidFill>
                  <a:srgbClr val="1E7145"/>
                </a:solidFill>
                <a:latin typeface="Calibri" pitchFamily="34" charset="0"/>
                <a:ea typeface="Calibri" pitchFamily="34" charset="-122"/>
                <a:cs typeface="Calibri" pitchFamily="34" charset="-120"/>
              </a:rPr>
              <a:t>HỢP LỆ</a:t>
            </a:r>
            <a:endParaRPr lang="en-US" sz="970" dirty="0"/>
          </a:p>
        </p:txBody>
      </p:sp>
      <p:sp>
        <p:nvSpPr>
          <p:cNvPr id="64" name="Shape 62"/>
          <p:cNvSpPr/>
          <p:nvPr/>
        </p:nvSpPr>
        <p:spPr>
          <a:xfrm>
            <a:off x="502920" y="5468112"/>
            <a:ext cx="11183112" cy="777240"/>
          </a:xfrm>
          <a:prstGeom prst="roundRect">
            <a:avLst>
              <a:gd name="adj" fmla="val 10588"/>
            </a:avLst>
          </a:prstGeom>
          <a:solidFill>
            <a:srgbClr val="13294B"/>
          </a:solidFill>
          <a:ln/>
        </p:spPr>
      </p:sp>
      <p:sp>
        <p:nvSpPr>
          <p:cNvPr id="65" name="Text 63"/>
          <p:cNvSpPr/>
          <p:nvPr/>
        </p:nvSpPr>
        <p:spPr>
          <a:xfrm>
            <a:off x="777240" y="5468112"/>
            <a:ext cx="10607040" cy="777240"/>
          </a:xfrm>
          <a:prstGeom prst="rect">
            <a:avLst/>
          </a:prstGeom>
          <a:noFill/>
          <a:ln/>
        </p:spPr>
        <p:txBody>
          <a:bodyPr wrap="square" rtlCol="0" anchor="ctr"/>
          <a:lstStyle/>
          <a:p>
            <a:pPr indent="0" marL="0">
              <a:buNone/>
            </a:pPr>
            <a:r>
              <a:rPr lang="en-US" sz="1080" i="1" dirty="0">
                <a:solidFill>
                  <a:srgbClr val="FFFFFF"/>
                </a:solidFill>
                <a:latin typeface="Calibri" pitchFamily="34" charset="0"/>
                <a:ea typeface="Calibri" pitchFamily="34" charset="-122"/>
                <a:cs typeface="Calibri" pitchFamily="34" charset="-120"/>
              </a:rPr>
              <a:t>→ Kho A / Lô 1 được chọn: FEFO “mù” sẽ chọn Lô 2 (hạn ngắn nhất) nhưng vi phạm Min-RSL. Ràng buộc tích hợp loại Lô 2 trước; trong {Lô 1, Lô 3} còn lại, FEFO chọn Lô 1 — đồng thời cũng là kho có chi phí vận chuyển thấp nhất.</a:t>
            </a:r>
            <a:endParaRPr lang="en-US" sz="1080" dirty="0"/>
          </a:p>
        </p:txBody>
      </p:sp>
      <p:sp>
        <p:nvSpPr>
          <p:cNvPr id="66" name="Text 64"/>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67" name="Text 65"/>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05 · VÍ DỤ MINH HOẠ</a:t>
            </a:r>
            <a:endParaRPr lang="en-US" sz="1200" dirty="0"/>
          </a:p>
        </p:txBody>
      </p:sp>
      <p:sp>
        <p:nvSpPr>
          <p:cNvPr id="3" name="Text 1"/>
          <p:cNvSpPr/>
          <p:nvPr/>
        </p:nvSpPr>
        <p:spPr>
          <a:xfrm>
            <a:off x="502920" y="640080"/>
            <a:ext cx="11247120" cy="502920"/>
          </a:xfrm>
          <a:prstGeom prst="rect">
            <a:avLst/>
          </a:prstGeom>
          <a:noFill/>
          <a:ln/>
        </p:spPr>
        <p:txBody>
          <a:bodyPr wrap="square" rtlCol="0" anchor="ctr"/>
          <a:lstStyle/>
          <a:p>
            <a:pPr algn="l" indent="0" marL="0">
              <a:buNone/>
            </a:pPr>
            <a:r>
              <a:rPr lang="en-US" sz="2100" b="1" dirty="0">
                <a:solidFill>
                  <a:srgbClr val="13294B"/>
                </a:solidFill>
                <a:latin typeface="Times New Roman" pitchFamily="34" charset="0"/>
                <a:ea typeface="Times New Roman" pitchFamily="34" charset="-122"/>
                <a:cs typeface="Times New Roman" pitchFamily="34" charset="-120"/>
              </a:rPr>
              <a:t>Không bên nào phải hy sinh — ba lợi ích đạt được đồng thời</a:t>
            </a:r>
            <a:endParaRPr lang="en-US" sz="2100" dirty="0"/>
          </a:p>
        </p:txBody>
      </p:sp>
      <p:sp>
        <p:nvSpPr>
          <p:cNvPr id="4" name="Shape 2"/>
          <p:cNvSpPr/>
          <p:nvPr/>
        </p:nvSpPr>
        <p:spPr>
          <a:xfrm>
            <a:off x="4722876" y="1417320"/>
            <a:ext cx="2743200" cy="960120"/>
          </a:xfrm>
          <a:prstGeom prst="roundRect">
            <a:avLst>
              <a:gd name="adj" fmla="val 7619"/>
            </a:avLst>
          </a:prstGeom>
          <a:solidFill>
            <a:srgbClr val="FFFFFF"/>
          </a:solidFill>
          <a:ln w="12700">
            <a:solidFill>
              <a:srgbClr val="DCE4EC"/>
            </a:solidFill>
            <a:prstDash val="solid"/>
          </a:ln>
        </p:spPr>
      </p:sp>
      <p:sp>
        <p:nvSpPr>
          <p:cNvPr id="5" name="Text 3"/>
          <p:cNvSpPr/>
          <p:nvPr/>
        </p:nvSpPr>
        <p:spPr>
          <a:xfrm>
            <a:off x="4924044" y="1527048"/>
            <a:ext cx="2340864" cy="292608"/>
          </a:xfrm>
          <a:prstGeom prst="rect">
            <a:avLst/>
          </a:prstGeom>
          <a:noFill/>
          <a:ln/>
        </p:spPr>
        <p:txBody>
          <a:bodyPr wrap="square" rtlCol="0" anchor="ctr"/>
          <a:lstStyle/>
          <a:p>
            <a:pPr indent="0" marL="0">
              <a:buNone/>
            </a:pPr>
            <a:r>
              <a:rPr lang="en-US" sz="1300" b="1" dirty="0">
                <a:solidFill>
                  <a:srgbClr val="1C7293"/>
                </a:solidFill>
                <a:latin typeface="Times New Roman" pitchFamily="34" charset="0"/>
                <a:ea typeface="Times New Roman" pitchFamily="34" charset="-122"/>
                <a:cs typeface="Times New Roman" pitchFamily="34" charset="-120"/>
              </a:rPr>
              <a:t>DOANH NGHIỆP</a:t>
            </a:r>
            <a:endParaRPr lang="en-US" sz="1300" dirty="0"/>
          </a:p>
        </p:txBody>
      </p:sp>
      <p:sp>
        <p:nvSpPr>
          <p:cNvPr id="6" name="Text 4"/>
          <p:cNvSpPr/>
          <p:nvPr/>
        </p:nvSpPr>
        <p:spPr>
          <a:xfrm>
            <a:off x="4924044" y="1837944"/>
            <a:ext cx="2340864" cy="502920"/>
          </a:xfrm>
          <a:prstGeom prst="rect">
            <a:avLst/>
          </a:prstGeom>
          <a:noFill/>
          <a:ln/>
        </p:spPr>
        <p:txBody>
          <a:bodyPr wrap="square" rtlCol="0" anchor="ctr"/>
          <a:lstStyle/>
          <a:p>
            <a:pPr indent="0" marL="0">
              <a:buNone/>
            </a:pPr>
            <a:r>
              <a:rPr lang="en-US" sz="950" dirty="0">
                <a:solidFill>
                  <a:srgbClr val="5B6B7C"/>
                </a:solidFill>
                <a:latin typeface="Calibri" pitchFamily="34" charset="0"/>
                <a:ea typeface="Calibri" pitchFamily="34" charset="-122"/>
                <a:cs typeface="Calibri" pitchFamily="34" charset="-120"/>
              </a:rPr>
              <a:t>Chi phí thấp nhất trong lựa chọn hợp lệ + giảm lãng phí (FEFO)</a:t>
            </a:r>
            <a:endParaRPr lang="en-US" sz="950" dirty="0"/>
          </a:p>
        </p:txBody>
      </p:sp>
      <p:sp>
        <p:nvSpPr>
          <p:cNvPr id="7" name="Shape 5"/>
          <p:cNvSpPr/>
          <p:nvPr/>
        </p:nvSpPr>
        <p:spPr>
          <a:xfrm>
            <a:off x="5843016" y="2542032"/>
            <a:ext cx="502920" cy="502920"/>
          </a:xfrm>
          <a:prstGeom prst="ellipse">
            <a:avLst/>
          </a:prstGeom>
          <a:solidFill>
            <a:srgbClr val="1C7293"/>
          </a:solidFill>
          <a:ln/>
        </p:spPr>
      </p:sp>
      <p:sp>
        <p:nvSpPr>
          <p:cNvPr id="8" name="Text 6"/>
          <p:cNvSpPr/>
          <p:nvPr/>
        </p:nvSpPr>
        <p:spPr>
          <a:xfrm>
            <a:off x="5843016" y="2542032"/>
            <a:ext cx="5029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a:t>
            </a:r>
            <a:endParaRPr lang="en-US" sz="1800" dirty="0"/>
          </a:p>
        </p:txBody>
      </p:sp>
      <p:sp>
        <p:nvSpPr>
          <p:cNvPr id="9" name="Shape 7"/>
          <p:cNvSpPr/>
          <p:nvPr/>
        </p:nvSpPr>
        <p:spPr>
          <a:xfrm>
            <a:off x="6094476" y="3044952"/>
            <a:ext cx="9144" cy="256032"/>
          </a:xfrm>
          <a:prstGeom prst="line">
            <a:avLst/>
          </a:prstGeom>
          <a:noFill/>
          <a:ln w="19050">
            <a:solidFill>
              <a:srgbClr val="B9C6D6"/>
            </a:solidFill>
            <a:prstDash val="solid"/>
            <a:headEnd type="none"/>
            <a:tailEnd type="none"/>
          </a:ln>
        </p:spPr>
      </p:sp>
      <p:sp>
        <p:nvSpPr>
          <p:cNvPr id="10" name="Shape 8"/>
          <p:cNvSpPr/>
          <p:nvPr/>
        </p:nvSpPr>
        <p:spPr>
          <a:xfrm>
            <a:off x="4860036" y="3300984"/>
            <a:ext cx="2468880" cy="914400"/>
          </a:xfrm>
          <a:prstGeom prst="roundRect">
            <a:avLst>
              <a:gd name="adj" fmla="val 50000"/>
            </a:avLst>
          </a:prstGeom>
          <a:solidFill>
            <a:srgbClr val="13294B"/>
          </a:solidFill>
          <a:ln/>
        </p:spPr>
      </p:sp>
      <p:sp>
        <p:nvSpPr>
          <p:cNvPr id="11" name="Text 9"/>
          <p:cNvSpPr/>
          <p:nvPr/>
        </p:nvSpPr>
        <p:spPr>
          <a:xfrm>
            <a:off x="4860036" y="3300984"/>
            <a:ext cx="2468880" cy="91440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Times New Roman" pitchFamily="34" charset="0"/>
                <a:ea typeface="Times New Roman" pitchFamily="34" charset="-122"/>
                <a:cs typeface="Times New Roman" pitchFamily="34" charset="-120"/>
              </a:rPr>
              <a:t>RÀNG BUỘC CỨNG</a:t>
            </a:r>
            <a:endParaRPr lang="en-US" sz="1250" dirty="0"/>
          </a:p>
          <a:p>
            <a:pPr algn="ctr" indent="0" marL="0">
              <a:lnSpc>
                <a:spcPts val="1500"/>
              </a:lnSpc>
              <a:buNone/>
            </a:pPr>
            <a:r>
              <a:rPr lang="en-US" sz="1250" b="1" dirty="0">
                <a:solidFill>
                  <a:srgbClr val="FFFFFF"/>
                </a:solidFill>
                <a:latin typeface="Times New Roman" pitchFamily="34" charset="0"/>
                <a:ea typeface="Times New Roman" pitchFamily="34" charset="-122"/>
                <a:cs typeface="Times New Roman" pitchFamily="34" charset="-120"/>
              </a:rPr>
              <a:t>Mô hình 7 + 8 + 9</a:t>
            </a:r>
            <a:endParaRPr lang="en-US" sz="1250" dirty="0"/>
          </a:p>
        </p:txBody>
      </p:sp>
      <p:sp>
        <p:nvSpPr>
          <p:cNvPr id="12" name="Shape 10"/>
          <p:cNvSpPr/>
          <p:nvPr/>
        </p:nvSpPr>
        <p:spPr>
          <a:xfrm flipH="1">
            <a:off x="3076956" y="4215384"/>
            <a:ext cx="3017520" cy="507492"/>
          </a:xfrm>
          <a:prstGeom prst="line">
            <a:avLst/>
          </a:prstGeom>
          <a:noFill/>
          <a:ln w="19050">
            <a:solidFill>
              <a:srgbClr val="B9C6D6"/>
            </a:solidFill>
            <a:prstDash val="solid"/>
            <a:headEnd type="none"/>
            <a:tailEnd type="none"/>
          </a:ln>
        </p:spPr>
      </p:sp>
      <p:sp>
        <p:nvSpPr>
          <p:cNvPr id="13" name="Shape 11"/>
          <p:cNvSpPr/>
          <p:nvPr/>
        </p:nvSpPr>
        <p:spPr>
          <a:xfrm>
            <a:off x="6094476" y="4215384"/>
            <a:ext cx="3017520" cy="507492"/>
          </a:xfrm>
          <a:prstGeom prst="line">
            <a:avLst/>
          </a:prstGeom>
          <a:noFill/>
          <a:ln w="19050">
            <a:solidFill>
              <a:srgbClr val="B9C6D6"/>
            </a:solidFill>
            <a:prstDash val="solid"/>
            <a:headEnd type="none"/>
            <a:tailEnd type="none"/>
          </a:ln>
        </p:spPr>
      </p:sp>
      <p:sp>
        <p:nvSpPr>
          <p:cNvPr id="14" name="Shape 12"/>
          <p:cNvSpPr/>
          <p:nvPr/>
        </p:nvSpPr>
        <p:spPr>
          <a:xfrm>
            <a:off x="2825496" y="4471416"/>
            <a:ext cx="502920" cy="502920"/>
          </a:xfrm>
          <a:prstGeom prst="ellipse">
            <a:avLst/>
          </a:prstGeom>
          <a:solidFill>
            <a:srgbClr val="E8A33D"/>
          </a:solidFill>
          <a:ln/>
        </p:spPr>
      </p:sp>
      <p:sp>
        <p:nvSpPr>
          <p:cNvPr id="15" name="Text 13"/>
          <p:cNvSpPr/>
          <p:nvPr/>
        </p:nvSpPr>
        <p:spPr>
          <a:xfrm>
            <a:off x="2825496" y="4471416"/>
            <a:ext cx="5029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a:t>
            </a:r>
            <a:endParaRPr lang="en-US" sz="1800" dirty="0"/>
          </a:p>
        </p:txBody>
      </p:sp>
      <p:sp>
        <p:nvSpPr>
          <p:cNvPr id="16" name="Shape 14"/>
          <p:cNvSpPr/>
          <p:nvPr/>
        </p:nvSpPr>
        <p:spPr>
          <a:xfrm>
            <a:off x="8860536" y="4471416"/>
            <a:ext cx="502920" cy="502920"/>
          </a:xfrm>
          <a:prstGeom prst="ellipse">
            <a:avLst/>
          </a:prstGeom>
          <a:solidFill>
            <a:srgbClr val="1E7145"/>
          </a:solidFill>
          <a:ln/>
        </p:spPr>
      </p:sp>
      <p:sp>
        <p:nvSpPr>
          <p:cNvPr id="17" name="Text 15"/>
          <p:cNvSpPr/>
          <p:nvPr/>
        </p:nvSpPr>
        <p:spPr>
          <a:xfrm>
            <a:off x="8860536" y="4471416"/>
            <a:ext cx="5029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a:t>
            </a:r>
            <a:endParaRPr lang="en-US" sz="1800" dirty="0"/>
          </a:p>
        </p:txBody>
      </p:sp>
      <p:sp>
        <p:nvSpPr>
          <p:cNvPr id="18" name="Shape 16"/>
          <p:cNvSpPr/>
          <p:nvPr/>
        </p:nvSpPr>
        <p:spPr>
          <a:xfrm>
            <a:off x="1705356" y="5120640"/>
            <a:ext cx="2743200" cy="914400"/>
          </a:xfrm>
          <a:prstGeom prst="roundRect">
            <a:avLst>
              <a:gd name="adj" fmla="val 8000"/>
            </a:avLst>
          </a:prstGeom>
          <a:solidFill>
            <a:srgbClr val="FFFFFF"/>
          </a:solidFill>
          <a:ln w="12700">
            <a:solidFill>
              <a:srgbClr val="DCE4EC"/>
            </a:solidFill>
            <a:prstDash val="solid"/>
          </a:ln>
        </p:spPr>
      </p:sp>
      <p:sp>
        <p:nvSpPr>
          <p:cNvPr id="19" name="Text 17"/>
          <p:cNvSpPr/>
          <p:nvPr/>
        </p:nvSpPr>
        <p:spPr>
          <a:xfrm>
            <a:off x="1906524" y="5230368"/>
            <a:ext cx="2340864" cy="292608"/>
          </a:xfrm>
          <a:prstGeom prst="rect">
            <a:avLst/>
          </a:prstGeom>
          <a:noFill/>
          <a:ln/>
        </p:spPr>
        <p:txBody>
          <a:bodyPr wrap="square" rtlCol="0" anchor="ctr"/>
          <a:lstStyle/>
          <a:p>
            <a:pPr indent="0" marL="0">
              <a:buNone/>
            </a:pPr>
            <a:r>
              <a:rPr lang="en-US" sz="1300" b="1" dirty="0">
                <a:solidFill>
                  <a:srgbClr val="9C6B12"/>
                </a:solidFill>
                <a:latin typeface="Times New Roman" pitchFamily="34" charset="0"/>
                <a:ea typeface="Times New Roman" pitchFamily="34" charset="-122"/>
                <a:cs typeface="Times New Roman" pitchFamily="34" charset="-120"/>
              </a:rPr>
              <a:t>NHÀ BÁN LẺ</a:t>
            </a:r>
            <a:endParaRPr lang="en-US" sz="1300" dirty="0"/>
          </a:p>
        </p:txBody>
      </p:sp>
      <p:sp>
        <p:nvSpPr>
          <p:cNvPr id="20" name="Text 18"/>
          <p:cNvSpPr/>
          <p:nvPr/>
        </p:nvSpPr>
        <p:spPr>
          <a:xfrm>
            <a:off x="1906524" y="5541264"/>
            <a:ext cx="2340864" cy="457200"/>
          </a:xfrm>
          <a:prstGeom prst="rect">
            <a:avLst/>
          </a:prstGeom>
          <a:noFill/>
          <a:ln/>
        </p:spPr>
        <p:txBody>
          <a:bodyPr wrap="square" rtlCol="0" anchor="ctr"/>
          <a:lstStyle/>
          <a:p>
            <a:pPr indent="0" marL="0">
              <a:buNone/>
            </a:pPr>
            <a:r>
              <a:rPr lang="en-US" sz="950" dirty="0">
                <a:solidFill>
                  <a:srgbClr val="5B6B7C"/>
                </a:solidFill>
                <a:latin typeface="Calibri" pitchFamily="34" charset="0"/>
                <a:ea typeface="Calibri" pitchFamily="34" charset="-122"/>
                <a:cs typeface="Calibri" pitchFamily="34" charset="-120"/>
              </a:rPr>
              <a:t>Hàng đến đúng cam kết MLOR trong hợp đồng</a:t>
            </a:r>
            <a:endParaRPr lang="en-US" sz="950" dirty="0"/>
          </a:p>
        </p:txBody>
      </p:sp>
      <p:sp>
        <p:nvSpPr>
          <p:cNvPr id="21" name="Shape 19"/>
          <p:cNvSpPr/>
          <p:nvPr/>
        </p:nvSpPr>
        <p:spPr>
          <a:xfrm>
            <a:off x="7740396" y="5120640"/>
            <a:ext cx="2743200" cy="914400"/>
          </a:xfrm>
          <a:prstGeom prst="roundRect">
            <a:avLst>
              <a:gd name="adj" fmla="val 8000"/>
            </a:avLst>
          </a:prstGeom>
          <a:solidFill>
            <a:srgbClr val="FFFFFF"/>
          </a:solidFill>
          <a:ln w="12700">
            <a:solidFill>
              <a:srgbClr val="DCE4EC"/>
            </a:solidFill>
            <a:prstDash val="solid"/>
          </a:ln>
        </p:spPr>
      </p:sp>
      <p:sp>
        <p:nvSpPr>
          <p:cNvPr id="22" name="Text 20"/>
          <p:cNvSpPr/>
          <p:nvPr/>
        </p:nvSpPr>
        <p:spPr>
          <a:xfrm>
            <a:off x="7941564" y="5230368"/>
            <a:ext cx="2340864" cy="292608"/>
          </a:xfrm>
          <a:prstGeom prst="rect">
            <a:avLst/>
          </a:prstGeom>
          <a:noFill/>
          <a:ln/>
        </p:spPr>
        <p:txBody>
          <a:bodyPr wrap="square" rtlCol="0" anchor="ctr"/>
          <a:lstStyle/>
          <a:p>
            <a:pPr indent="0" marL="0">
              <a:buNone/>
            </a:pPr>
            <a:r>
              <a:rPr lang="en-US" sz="1300" b="1" dirty="0">
                <a:solidFill>
                  <a:srgbClr val="1E7145"/>
                </a:solidFill>
                <a:latin typeface="Times New Roman" pitchFamily="34" charset="0"/>
                <a:ea typeface="Times New Roman" pitchFamily="34" charset="-122"/>
                <a:cs typeface="Times New Roman" pitchFamily="34" charset="-120"/>
              </a:rPr>
              <a:t>NGƯỜI TIÊU DÙNG</a:t>
            </a:r>
            <a:endParaRPr lang="en-US" sz="1300" dirty="0"/>
          </a:p>
        </p:txBody>
      </p:sp>
      <p:sp>
        <p:nvSpPr>
          <p:cNvPr id="23" name="Text 21"/>
          <p:cNvSpPr/>
          <p:nvPr/>
        </p:nvSpPr>
        <p:spPr>
          <a:xfrm>
            <a:off x="7941564" y="5541264"/>
            <a:ext cx="2340864" cy="457200"/>
          </a:xfrm>
          <a:prstGeom prst="rect">
            <a:avLst/>
          </a:prstGeom>
          <a:noFill/>
          <a:ln/>
        </p:spPr>
        <p:txBody>
          <a:bodyPr wrap="square" rtlCol="0" anchor="ctr"/>
          <a:lstStyle/>
          <a:p>
            <a:pPr indent="0" marL="0">
              <a:buNone/>
            </a:pPr>
            <a:r>
              <a:rPr lang="en-US" sz="950" dirty="0">
                <a:solidFill>
                  <a:srgbClr val="5B6B7C"/>
                </a:solidFill>
                <a:latin typeface="Calibri" pitchFamily="34" charset="0"/>
                <a:ea typeface="Calibri" pitchFamily="34" charset="-122"/>
                <a:cs typeface="Calibri" pitchFamily="34" charset="-120"/>
              </a:rPr>
              <a:t>Nhận sản phẩm với hạn sử dụng đủ dài (Min-RSL)</a:t>
            </a:r>
            <a:endParaRPr lang="en-US" sz="950" dirty="0"/>
          </a:p>
        </p:txBody>
      </p:sp>
      <p:sp>
        <p:nvSpPr>
          <p:cNvPr id="24" name="Shape 22"/>
          <p:cNvSpPr/>
          <p:nvPr/>
        </p:nvSpPr>
        <p:spPr>
          <a:xfrm>
            <a:off x="502920" y="6172200"/>
            <a:ext cx="11183112" cy="457200"/>
          </a:xfrm>
          <a:prstGeom prst="roundRect">
            <a:avLst>
              <a:gd name="adj" fmla="val 16000"/>
            </a:avLst>
          </a:prstGeom>
          <a:solidFill>
            <a:srgbClr val="E4F1E8"/>
          </a:solidFill>
          <a:ln/>
        </p:spPr>
      </p:sp>
      <p:sp>
        <p:nvSpPr>
          <p:cNvPr id="25" name="Text 23"/>
          <p:cNvSpPr/>
          <p:nvPr/>
        </p:nvSpPr>
        <p:spPr>
          <a:xfrm>
            <a:off x="731520" y="6172200"/>
            <a:ext cx="10698480" cy="457200"/>
          </a:xfrm>
          <a:prstGeom prst="rect">
            <a:avLst/>
          </a:prstGeom>
          <a:noFill/>
          <a:ln/>
        </p:spPr>
        <p:txBody>
          <a:bodyPr wrap="square" rtlCol="0" anchor="ctr"/>
          <a:lstStyle/>
          <a:p>
            <a:pPr algn="ctr" indent="0" marL="0">
              <a:buNone/>
            </a:pPr>
            <a:r>
              <a:rPr lang="en-US" sz="1000" i="1" dirty="0">
                <a:solidFill>
                  <a:srgbClr val="1E7145"/>
                </a:solidFill>
                <a:latin typeface="Calibri" pitchFamily="34" charset="0"/>
                <a:ea typeface="Calibri" pitchFamily="34" charset="-122"/>
                <a:cs typeface="Calibri" pitchFamily="34" charset="-120"/>
              </a:rPr>
              <a:t>Hệ quả trực tiếp của việc dùng ràng buộc cứng (lọc trước) thay vì một công thức điểm số trọng số (Mục 3.6 báo cáo đầy đủ).</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06 · GIỚI HẠN</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200" b="1" dirty="0">
                <a:solidFill>
                  <a:srgbClr val="13294B"/>
                </a:solidFill>
                <a:latin typeface="Times New Roman" pitchFamily="34" charset="0"/>
                <a:ea typeface="Times New Roman" pitchFamily="34" charset="-122"/>
                <a:cs typeface="Times New Roman" pitchFamily="34" charset="-120"/>
              </a:rPr>
              <a:t>Giới hạn, giả định — điều KHÔNG được khẳng định</a:t>
            </a:r>
            <a:endParaRPr lang="en-US" sz="2200" dirty="0"/>
          </a:p>
        </p:txBody>
      </p:sp>
      <p:sp>
        <p:nvSpPr>
          <p:cNvPr id="4" name="Shape 2"/>
          <p:cNvSpPr/>
          <p:nvPr/>
        </p:nvSpPr>
        <p:spPr>
          <a:xfrm>
            <a:off x="502920" y="1463040"/>
            <a:ext cx="5440680" cy="1417320"/>
          </a:xfrm>
          <a:prstGeom prst="roundRect">
            <a:avLst>
              <a:gd name="adj" fmla="val 5806"/>
            </a:avLst>
          </a:prstGeom>
          <a:solidFill>
            <a:srgbClr val="F5F8FB"/>
          </a:solidFill>
          <a:ln w="12700">
            <a:solidFill>
              <a:srgbClr val="DCE4EC"/>
            </a:solidFill>
            <a:prstDash val="solid"/>
          </a:ln>
        </p:spPr>
      </p:sp>
      <p:sp>
        <p:nvSpPr>
          <p:cNvPr id="5" name="Shape 3"/>
          <p:cNvSpPr/>
          <p:nvPr/>
        </p:nvSpPr>
        <p:spPr>
          <a:xfrm>
            <a:off x="704088" y="1682496"/>
            <a:ext cx="384048" cy="384048"/>
          </a:xfrm>
          <a:prstGeom prst="ellipse">
            <a:avLst/>
          </a:prstGeom>
          <a:solidFill>
            <a:srgbClr val="13294B"/>
          </a:solidFill>
          <a:ln/>
        </p:spPr>
      </p:sp>
      <p:sp>
        <p:nvSpPr>
          <p:cNvPr id="6" name="Text 4"/>
          <p:cNvSpPr/>
          <p:nvPr/>
        </p:nvSpPr>
        <p:spPr>
          <a:xfrm>
            <a:off x="704088" y="1682496"/>
            <a:ext cx="384048" cy="384048"/>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1</a:t>
            </a:r>
            <a:endParaRPr lang="en-US" sz="1300" dirty="0"/>
          </a:p>
        </p:txBody>
      </p:sp>
      <p:sp>
        <p:nvSpPr>
          <p:cNvPr id="7" name="Text 5"/>
          <p:cNvSpPr/>
          <p:nvPr/>
        </p:nvSpPr>
        <p:spPr>
          <a:xfrm>
            <a:off x="1234440" y="1627632"/>
            <a:ext cx="4526280" cy="365760"/>
          </a:xfrm>
          <a:prstGeom prst="rect">
            <a:avLst/>
          </a:prstGeom>
          <a:noFill/>
          <a:ln/>
        </p:spPr>
        <p:txBody>
          <a:bodyPr wrap="square" rtlCol="0" anchor="ctr"/>
          <a:lstStyle/>
          <a:p>
            <a:pPr indent="0" marL="0">
              <a:buNone/>
            </a:pPr>
            <a:r>
              <a:rPr lang="en-US" sz="1250" b="1" dirty="0">
                <a:solidFill>
                  <a:srgbClr val="13294B"/>
                </a:solidFill>
                <a:latin typeface="Times New Roman" pitchFamily="34" charset="0"/>
                <a:ea typeface="Times New Roman" pitchFamily="34" charset="-122"/>
                <a:cs typeface="Times New Roman" pitchFamily="34" charset="-120"/>
              </a:rPr>
              <a:t>Vận chuyển tĩnh</a:t>
            </a:r>
            <a:endParaRPr lang="en-US" sz="1250" dirty="0"/>
          </a:p>
        </p:txBody>
      </p:sp>
      <p:sp>
        <p:nvSpPr>
          <p:cNvPr id="8" name="Text 6"/>
          <p:cNvSpPr/>
          <p:nvPr/>
        </p:nvSpPr>
        <p:spPr>
          <a:xfrm>
            <a:off x="1234440" y="1993392"/>
            <a:ext cx="4526280" cy="777240"/>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Dijkstra dùng chi phí/thời gian kỳ vọng, tĩnh — không phải tối ưu thời gian thực.</a:t>
            </a:r>
            <a:endParaRPr lang="en-US" sz="1000" dirty="0"/>
          </a:p>
        </p:txBody>
      </p:sp>
      <p:sp>
        <p:nvSpPr>
          <p:cNvPr id="9" name="Shape 7"/>
          <p:cNvSpPr/>
          <p:nvPr/>
        </p:nvSpPr>
        <p:spPr>
          <a:xfrm>
            <a:off x="6263640" y="1463040"/>
            <a:ext cx="5440680" cy="1417320"/>
          </a:xfrm>
          <a:prstGeom prst="roundRect">
            <a:avLst>
              <a:gd name="adj" fmla="val 5806"/>
            </a:avLst>
          </a:prstGeom>
          <a:solidFill>
            <a:srgbClr val="F5F8FB"/>
          </a:solidFill>
          <a:ln w="12700">
            <a:solidFill>
              <a:srgbClr val="DCE4EC"/>
            </a:solidFill>
            <a:prstDash val="solid"/>
          </a:ln>
        </p:spPr>
      </p:sp>
      <p:sp>
        <p:nvSpPr>
          <p:cNvPr id="10" name="Shape 8"/>
          <p:cNvSpPr/>
          <p:nvPr/>
        </p:nvSpPr>
        <p:spPr>
          <a:xfrm>
            <a:off x="6464808" y="1682496"/>
            <a:ext cx="384048" cy="384048"/>
          </a:xfrm>
          <a:prstGeom prst="ellipse">
            <a:avLst/>
          </a:prstGeom>
          <a:solidFill>
            <a:srgbClr val="13294B"/>
          </a:solidFill>
          <a:ln/>
        </p:spPr>
      </p:sp>
      <p:sp>
        <p:nvSpPr>
          <p:cNvPr id="11" name="Text 9"/>
          <p:cNvSpPr/>
          <p:nvPr/>
        </p:nvSpPr>
        <p:spPr>
          <a:xfrm>
            <a:off x="6464808" y="1682496"/>
            <a:ext cx="384048" cy="384048"/>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2</a:t>
            </a:r>
            <a:endParaRPr lang="en-US" sz="1300" dirty="0"/>
          </a:p>
        </p:txBody>
      </p:sp>
      <p:sp>
        <p:nvSpPr>
          <p:cNvPr id="12" name="Text 10"/>
          <p:cNvSpPr/>
          <p:nvPr/>
        </p:nvSpPr>
        <p:spPr>
          <a:xfrm>
            <a:off x="6995160" y="1627632"/>
            <a:ext cx="4526280" cy="365760"/>
          </a:xfrm>
          <a:prstGeom prst="rect">
            <a:avLst/>
          </a:prstGeom>
          <a:noFill/>
          <a:ln/>
        </p:spPr>
        <p:txBody>
          <a:bodyPr wrap="square" rtlCol="0" anchor="ctr"/>
          <a:lstStyle/>
          <a:p>
            <a:pPr indent="0" marL="0">
              <a:buNone/>
            </a:pPr>
            <a:r>
              <a:rPr lang="en-US" sz="1250" b="1" dirty="0">
                <a:solidFill>
                  <a:srgbClr val="13294B"/>
                </a:solidFill>
                <a:latin typeface="Times New Roman" pitchFamily="34" charset="0"/>
                <a:ea typeface="Times New Roman" pitchFamily="34" charset="-122"/>
                <a:cs typeface="Times New Roman" pitchFamily="34" charset="-120"/>
              </a:rPr>
              <a:t>Không theo dõi điểm bán (POS)</a:t>
            </a:r>
            <a:endParaRPr lang="en-US" sz="1250" dirty="0"/>
          </a:p>
        </p:txBody>
      </p:sp>
      <p:sp>
        <p:nvSpPr>
          <p:cNvPr id="13" name="Text 11"/>
          <p:cNvSpPr/>
          <p:nvPr/>
        </p:nvSpPr>
        <p:spPr>
          <a:xfrm>
            <a:off x="6995160" y="1993392"/>
            <a:ext cx="4526280" cy="777240"/>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Không đo được hạn sử dụng thực tế người tiêu dùng nhận — chỉ bảo vệ ở giai đoạn lập kế hoạch.</a:t>
            </a:r>
            <a:endParaRPr lang="en-US" sz="1000" dirty="0"/>
          </a:p>
        </p:txBody>
      </p:sp>
      <p:sp>
        <p:nvSpPr>
          <p:cNvPr id="14" name="Shape 12"/>
          <p:cNvSpPr/>
          <p:nvPr/>
        </p:nvSpPr>
        <p:spPr>
          <a:xfrm>
            <a:off x="502920" y="3017520"/>
            <a:ext cx="5440680" cy="1417320"/>
          </a:xfrm>
          <a:prstGeom prst="roundRect">
            <a:avLst>
              <a:gd name="adj" fmla="val 5806"/>
            </a:avLst>
          </a:prstGeom>
          <a:solidFill>
            <a:srgbClr val="F5F8FB"/>
          </a:solidFill>
          <a:ln w="12700">
            <a:solidFill>
              <a:srgbClr val="DCE4EC"/>
            </a:solidFill>
            <a:prstDash val="solid"/>
          </a:ln>
        </p:spPr>
      </p:sp>
      <p:sp>
        <p:nvSpPr>
          <p:cNvPr id="15" name="Shape 13"/>
          <p:cNvSpPr/>
          <p:nvPr/>
        </p:nvSpPr>
        <p:spPr>
          <a:xfrm>
            <a:off x="704088" y="3236976"/>
            <a:ext cx="384048" cy="384048"/>
          </a:xfrm>
          <a:prstGeom prst="ellipse">
            <a:avLst/>
          </a:prstGeom>
          <a:solidFill>
            <a:srgbClr val="13294B"/>
          </a:solidFill>
          <a:ln/>
        </p:spPr>
      </p:sp>
      <p:sp>
        <p:nvSpPr>
          <p:cNvPr id="16" name="Text 14"/>
          <p:cNvSpPr/>
          <p:nvPr/>
        </p:nvSpPr>
        <p:spPr>
          <a:xfrm>
            <a:off x="704088" y="3236976"/>
            <a:ext cx="384048" cy="384048"/>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3</a:t>
            </a:r>
            <a:endParaRPr lang="en-US" sz="1300" dirty="0"/>
          </a:p>
        </p:txBody>
      </p:sp>
      <p:sp>
        <p:nvSpPr>
          <p:cNvPr id="17" name="Text 15"/>
          <p:cNvSpPr/>
          <p:nvPr/>
        </p:nvSpPr>
        <p:spPr>
          <a:xfrm>
            <a:off x="1234440" y="3182112"/>
            <a:ext cx="4526280" cy="365760"/>
          </a:xfrm>
          <a:prstGeom prst="rect">
            <a:avLst/>
          </a:prstGeom>
          <a:noFill/>
          <a:ln/>
        </p:spPr>
        <p:txBody>
          <a:bodyPr wrap="square" rtlCol="0" anchor="ctr"/>
          <a:lstStyle/>
          <a:p>
            <a:pPr indent="0" marL="0">
              <a:buNone/>
            </a:pPr>
            <a:r>
              <a:rPr lang="en-US" sz="1250" b="1" dirty="0">
                <a:solidFill>
                  <a:srgbClr val="13294B"/>
                </a:solidFill>
                <a:latin typeface="Times New Roman" pitchFamily="34" charset="0"/>
                <a:ea typeface="Times New Roman" pitchFamily="34" charset="-122"/>
                <a:cs typeface="Times New Roman" pitchFamily="34" charset="-120"/>
              </a:rPr>
              <a:t>Đơn hàng đầu không phải nhu cầu thật</a:t>
            </a:r>
            <a:endParaRPr lang="en-US" sz="1250" dirty="0"/>
          </a:p>
        </p:txBody>
      </p:sp>
      <p:sp>
        <p:nvSpPr>
          <p:cNvPr id="18" name="Text 16"/>
          <p:cNvSpPr/>
          <p:nvPr/>
        </p:nvSpPr>
        <p:spPr>
          <a:xfrm>
            <a:off x="1234440" y="3547872"/>
            <a:ext cx="4526280" cy="777240"/>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Là quyết định có xác nhận của con người, cần vài chu kỳ mới thành dữ liệu học đáng tin cậy.</a:t>
            </a:r>
            <a:endParaRPr lang="en-US" sz="1000" dirty="0"/>
          </a:p>
        </p:txBody>
      </p:sp>
      <p:sp>
        <p:nvSpPr>
          <p:cNvPr id="19" name="Shape 17"/>
          <p:cNvSpPr/>
          <p:nvPr/>
        </p:nvSpPr>
        <p:spPr>
          <a:xfrm>
            <a:off x="6263640" y="3017520"/>
            <a:ext cx="5440680" cy="1417320"/>
          </a:xfrm>
          <a:prstGeom prst="roundRect">
            <a:avLst>
              <a:gd name="adj" fmla="val 5806"/>
            </a:avLst>
          </a:prstGeom>
          <a:solidFill>
            <a:srgbClr val="F5F8FB"/>
          </a:solidFill>
          <a:ln w="12700">
            <a:solidFill>
              <a:srgbClr val="DCE4EC"/>
            </a:solidFill>
            <a:prstDash val="solid"/>
          </a:ln>
        </p:spPr>
      </p:sp>
      <p:sp>
        <p:nvSpPr>
          <p:cNvPr id="20" name="Shape 18"/>
          <p:cNvSpPr/>
          <p:nvPr/>
        </p:nvSpPr>
        <p:spPr>
          <a:xfrm>
            <a:off x="6464808" y="3236976"/>
            <a:ext cx="384048" cy="384048"/>
          </a:xfrm>
          <a:prstGeom prst="ellipse">
            <a:avLst/>
          </a:prstGeom>
          <a:solidFill>
            <a:srgbClr val="13294B"/>
          </a:solidFill>
          <a:ln/>
        </p:spPr>
      </p:sp>
      <p:sp>
        <p:nvSpPr>
          <p:cNvPr id="21" name="Text 19"/>
          <p:cNvSpPr/>
          <p:nvPr/>
        </p:nvSpPr>
        <p:spPr>
          <a:xfrm>
            <a:off x="6464808" y="3236976"/>
            <a:ext cx="384048" cy="384048"/>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4</a:t>
            </a:r>
            <a:endParaRPr lang="en-US" sz="1300" dirty="0"/>
          </a:p>
        </p:txBody>
      </p:sp>
      <p:sp>
        <p:nvSpPr>
          <p:cNvPr id="22" name="Text 20"/>
          <p:cNvSpPr/>
          <p:nvPr/>
        </p:nvSpPr>
        <p:spPr>
          <a:xfrm>
            <a:off x="6995160" y="3182112"/>
            <a:ext cx="4526280" cy="365760"/>
          </a:xfrm>
          <a:prstGeom prst="rect">
            <a:avLst/>
          </a:prstGeom>
          <a:noFill/>
          <a:ln/>
        </p:spPr>
        <p:txBody>
          <a:bodyPr wrap="square" rtlCol="0" anchor="ctr"/>
          <a:lstStyle/>
          <a:p>
            <a:pPr indent="0" marL="0">
              <a:buNone/>
            </a:pPr>
            <a:r>
              <a:rPr lang="en-US" sz="1250" b="1" dirty="0">
                <a:solidFill>
                  <a:srgbClr val="13294B"/>
                </a:solidFill>
                <a:latin typeface="Times New Roman" pitchFamily="34" charset="0"/>
                <a:ea typeface="Times New Roman" pitchFamily="34" charset="-122"/>
                <a:cs typeface="Times New Roman" pitchFamily="34" charset="-120"/>
              </a:rPr>
              <a:t>MLOR khác Min-RSL</a:t>
            </a:r>
            <a:endParaRPr lang="en-US" sz="1250" dirty="0"/>
          </a:p>
        </p:txBody>
      </p:sp>
      <p:sp>
        <p:nvSpPr>
          <p:cNvPr id="23" name="Text 21"/>
          <p:cNvSpPr/>
          <p:nvPr/>
        </p:nvSpPr>
        <p:spPr>
          <a:xfrm>
            <a:off x="6995160" y="3547872"/>
            <a:ext cx="4526280" cy="777240"/>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Hai ràng buộc bảo vệ hai đối tượng khác nhau, không được gộp làm một khái niệm.</a:t>
            </a:r>
            <a:endParaRPr lang="en-US" sz="1000" dirty="0"/>
          </a:p>
        </p:txBody>
      </p:sp>
      <p:sp>
        <p:nvSpPr>
          <p:cNvPr id="24" name="Shape 22"/>
          <p:cNvSpPr/>
          <p:nvPr/>
        </p:nvSpPr>
        <p:spPr>
          <a:xfrm>
            <a:off x="502920" y="4572000"/>
            <a:ext cx="5440680" cy="1417320"/>
          </a:xfrm>
          <a:prstGeom prst="roundRect">
            <a:avLst>
              <a:gd name="adj" fmla="val 5806"/>
            </a:avLst>
          </a:prstGeom>
          <a:solidFill>
            <a:srgbClr val="F5F8FB"/>
          </a:solidFill>
          <a:ln w="12700">
            <a:solidFill>
              <a:srgbClr val="DCE4EC"/>
            </a:solidFill>
            <a:prstDash val="solid"/>
          </a:ln>
        </p:spPr>
      </p:sp>
      <p:sp>
        <p:nvSpPr>
          <p:cNvPr id="25" name="Shape 23"/>
          <p:cNvSpPr/>
          <p:nvPr/>
        </p:nvSpPr>
        <p:spPr>
          <a:xfrm>
            <a:off x="704088" y="4791456"/>
            <a:ext cx="384048" cy="384048"/>
          </a:xfrm>
          <a:prstGeom prst="ellipse">
            <a:avLst/>
          </a:prstGeom>
          <a:solidFill>
            <a:srgbClr val="13294B"/>
          </a:solidFill>
          <a:ln/>
        </p:spPr>
      </p:sp>
      <p:sp>
        <p:nvSpPr>
          <p:cNvPr id="26" name="Text 24"/>
          <p:cNvSpPr/>
          <p:nvPr/>
        </p:nvSpPr>
        <p:spPr>
          <a:xfrm>
            <a:off x="704088" y="4791456"/>
            <a:ext cx="384048" cy="384048"/>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5</a:t>
            </a:r>
            <a:endParaRPr lang="en-US" sz="1300" dirty="0"/>
          </a:p>
        </p:txBody>
      </p:sp>
      <p:sp>
        <p:nvSpPr>
          <p:cNvPr id="27" name="Text 25"/>
          <p:cNvSpPr/>
          <p:nvPr/>
        </p:nvSpPr>
        <p:spPr>
          <a:xfrm>
            <a:off x="1234440" y="4736592"/>
            <a:ext cx="4526280" cy="365760"/>
          </a:xfrm>
          <a:prstGeom prst="rect">
            <a:avLst/>
          </a:prstGeom>
          <a:noFill/>
          <a:ln/>
        </p:spPr>
        <p:txBody>
          <a:bodyPr wrap="square" rtlCol="0" anchor="ctr"/>
          <a:lstStyle/>
          <a:p>
            <a:pPr indent="0" marL="0">
              <a:buNone/>
            </a:pPr>
            <a:r>
              <a:rPr lang="en-US" sz="1250" b="1" dirty="0">
                <a:solidFill>
                  <a:srgbClr val="13294B"/>
                </a:solidFill>
                <a:latin typeface="Times New Roman" pitchFamily="34" charset="0"/>
                <a:ea typeface="Times New Roman" pitchFamily="34" charset="-122"/>
                <a:cs typeface="Times New Roman" pitchFamily="34" charset="-120"/>
              </a:rPr>
              <a:t>Mô hình luân chuyển kho là thích ứng</a:t>
            </a:r>
            <a:endParaRPr lang="en-US" sz="1250" dirty="0"/>
          </a:p>
        </p:txBody>
      </p:sp>
      <p:sp>
        <p:nvSpPr>
          <p:cNvPr id="28" name="Text 26"/>
          <p:cNvSpPr/>
          <p:nvPr/>
        </p:nvSpPr>
        <p:spPr>
          <a:xfrm>
            <a:off x="1234440" y="5102352"/>
            <a:ext cx="4526280" cy="777240"/>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Gốc là “kho trung tâm–cửa hàng”, dùng cho mạng nhiều kho ngang hàng cần kiểm chứng lại.</a:t>
            </a:r>
            <a:endParaRPr lang="en-US" sz="1000" dirty="0"/>
          </a:p>
        </p:txBody>
      </p:sp>
      <p:sp>
        <p:nvSpPr>
          <p:cNvPr id="29" name="Shape 27"/>
          <p:cNvSpPr/>
          <p:nvPr/>
        </p:nvSpPr>
        <p:spPr>
          <a:xfrm>
            <a:off x="6263640" y="4572000"/>
            <a:ext cx="5440680" cy="1417320"/>
          </a:xfrm>
          <a:prstGeom prst="roundRect">
            <a:avLst>
              <a:gd name="adj" fmla="val 5806"/>
            </a:avLst>
          </a:prstGeom>
          <a:solidFill>
            <a:srgbClr val="F5F8FB"/>
          </a:solidFill>
          <a:ln w="12700">
            <a:solidFill>
              <a:srgbClr val="DCE4EC"/>
            </a:solidFill>
            <a:prstDash val="solid"/>
          </a:ln>
        </p:spPr>
      </p:sp>
      <p:sp>
        <p:nvSpPr>
          <p:cNvPr id="30" name="Shape 28"/>
          <p:cNvSpPr/>
          <p:nvPr/>
        </p:nvSpPr>
        <p:spPr>
          <a:xfrm>
            <a:off x="6464808" y="4791456"/>
            <a:ext cx="384048" cy="384048"/>
          </a:xfrm>
          <a:prstGeom prst="ellipse">
            <a:avLst/>
          </a:prstGeom>
          <a:solidFill>
            <a:srgbClr val="13294B"/>
          </a:solidFill>
          <a:ln/>
        </p:spPr>
      </p:sp>
      <p:sp>
        <p:nvSpPr>
          <p:cNvPr id="31" name="Text 29"/>
          <p:cNvSpPr/>
          <p:nvPr/>
        </p:nvSpPr>
        <p:spPr>
          <a:xfrm>
            <a:off x="6464808" y="4791456"/>
            <a:ext cx="384048" cy="384048"/>
          </a:xfrm>
          <a:prstGeom prst="rect">
            <a:avLst/>
          </a:prstGeom>
          <a:noFill/>
          <a:ln/>
        </p:spPr>
        <p:txBody>
          <a:bodyPr wrap="square"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6</a:t>
            </a:r>
            <a:endParaRPr lang="en-US" sz="1300" dirty="0"/>
          </a:p>
        </p:txBody>
      </p:sp>
      <p:sp>
        <p:nvSpPr>
          <p:cNvPr id="32" name="Text 30"/>
          <p:cNvSpPr/>
          <p:nvPr/>
        </p:nvSpPr>
        <p:spPr>
          <a:xfrm>
            <a:off x="6995160" y="4736592"/>
            <a:ext cx="4526280" cy="365760"/>
          </a:xfrm>
          <a:prstGeom prst="rect">
            <a:avLst/>
          </a:prstGeom>
          <a:noFill/>
          <a:ln/>
        </p:spPr>
        <p:txBody>
          <a:bodyPr wrap="square" rtlCol="0" anchor="ctr"/>
          <a:lstStyle/>
          <a:p>
            <a:pPr indent="0" marL="0">
              <a:buNone/>
            </a:pPr>
            <a:r>
              <a:rPr lang="en-US" sz="1250" b="1" dirty="0">
                <a:solidFill>
                  <a:srgbClr val="13294B"/>
                </a:solidFill>
                <a:latin typeface="Times New Roman" pitchFamily="34" charset="0"/>
                <a:ea typeface="Times New Roman" pitchFamily="34" charset="-122"/>
                <a:cs typeface="Times New Roman" pitchFamily="34" charset="-120"/>
              </a:rPr>
              <a:t>Top-k Haversine là tham số thực nghiệm</a:t>
            </a:r>
            <a:endParaRPr lang="en-US" sz="1250" dirty="0"/>
          </a:p>
        </p:txBody>
      </p:sp>
      <p:sp>
        <p:nvSpPr>
          <p:cNvPr id="33" name="Text 31"/>
          <p:cNvSpPr/>
          <p:nvPr/>
        </p:nvSpPr>
        <p:spPr>
          <a:xfrm>
            <a:off x="6995160" y="5102352"/>
            <a:ext cx="4526280" cy="777240"/>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Không có giá trị k lý thuyết tối ưu — cần benchmark bằng dữ liệu thật.</a:t>
            </a:r>
            <a:endParaRPr lang="en-US" sz="1000" dirty="0"/>
          </a:p>
        </p:txBody>
      </p:sp>
      <p:sp>
        <p:nvSpPr>
          <p:cNvPr id="34" name="Text 32"/>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35" name="Text 33"/>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B"/>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algn="l" indent="0" marL="0">
              <a:buNone/>
            </a:pPr>
            <a:r>
              <a:rPr lang="en-US" sz="1200" b="1" spc="200" kern="0" dirty="0">
                <a:solidFill>
                  <a:srgbClr val="1C7293"/>
                </a:solidFill>
                <a:latin typeface="Arial" pitchFamily="34" charset="0"/>
                <a:ea typeface="Arial" pitchFamily="34" charset="-122"/>
                <a:cs typeface="Arial" pitchFamily="34" charset="-120"/>
              </a:rPr>
              <a:t>07 · LỘ TRÌNH</a:t>
            </a:r>
            <a:endParaRPr lang="en-US" sz="1200" dirty="0"/>
          </a:p>
        </p:txBody>
      </p:sp>
      <p:sp>
        <p:nvSpPr>
          <p:cNvPr id="3" name="Text 1"/>
          <p:cNvSpPr/>
          <p:nvPr/>
        </p:nvSpPr>
        <p:spPr>
          <a:xfrm>
            <a:off x="502920" y="640080"/>
            <a:ext cx="11247120" cy="594360"/>
          </a:xfrm>
          <a:prstGeom prst="rect">
            <a:avLst/>
          </a:prstGeom>
          <a:noFill/>
          <a:ln/>
        </p:spPr>
        <p:txBody>
          <a:bodyPr wrap="square" rtlCol="0" anchor="ctr"/>
          <a:lstStyle/>
          <a:p>
            <a:pPr algn="l" indent="0" marL="0">
              <a:buNone/>
            </a:pPr>
            <a:r>
              <a:rPr lang="en-US" sz="2300" b="1" dirty="0">
                <a:solidFill>
                  <a:srgbClr val="13294B"/>
                </a:solidFill>
                <a:latin typeface="Times New Roman" pitchFamily="34" charset="0"/>
                <a:ea typeface="Times New Roman" pitchFamily="34" charset="-122"/>
                <a:cs typeface="Times New Roman" pitchFamily="34" charset="-120"/>
              </a:rPr>
              <a:t>Lộ trình triển khai đề xuất — 3 giai đoạn</a:t>
            </a:r>
            <a:endParaRPr lang="en-US" sz="2300" dirty="0"/>
          </a:p>
        </p:txBody>
      </p:sp>
      <p:sp>
        <p:nvSpPr>
          <p:cNvPr id="4" name="Text 2"/>
          <p:cNvSpPr/>
          <p:nvPr/>
        </p:nvSpPr>
        <p:spPr>
          <a:xfrm>
            <a:off x="502920" y="1234440"/>
            <a:ext cx="11155680" cy="365760"/>
          </a:xfrm>
          <a:prstGeom prst="rect">
            <a:avLst/>
          </a:prstGeom>
          <a:noFill/>
          <a:ln/>
        </p:spPr>
        <p:txBody>
          <a:bodyPr wrap="square" rtlCol="0" anchor="ctr"/>
          <a:lstStyle/>
          <a:p>
            <a:pPr indent="0" marL="0">
              <a:buNone/>
            </a:pPr>
            <a:r>
              <a:rPr lang="en-US" sz="1150" dirty="0">
                <a:solidFill>
                  <a:srgbClr val="5B6B7C"/>
                </a:solidFill>
                <a:latin typeface="Calibri" pitchFamily="34" charset="0"/>
                <a:ea typeface="Calibri" pitchFamily="34" charset="-122"/>
                <a:cs typeface="Calibri" pitchFamily="34" charset="-120"/>
              </a:rPr>
              <a:t>Toàn bộ 14 mô hình là khối lượng học thuật tương đương một bài báo/luận văn thạc sĩ — đề xuất triển khai theo mức độ ưu tiên giảm dần.</a:t>
            </a:r>
            <a:endParaRPr lang="en-US" sz="1150" dirty="0"/>
          </a:p>
        </p:txBody>
      </p:sp>
      <p:sp>
        <p:nvSpPr>
          <p:cNvPr id="5" name="Shape 3"/>
          <p:cNvSpPr/>
          <p:nvPr/>
        </p:nvSpPr>
        <p:spPr>
          <a:xfrm>
            <a:off x="502920" y="2926080"/>
            <a:ext cx="3520440" cy="3246120"/>
          </a:xfrm>
          <a:prstGeom prst="roundRect">
            <a:avLst>
              <a:gd name="adj" fmla="val 2817"/>
            </a:avLst>
          </a:prstGeom>
          <a:solidFill>
            <a:srgbClr val="13294B"/>
          </a:solidFill>
          <a:ln/>
        </p:spPr>
      </p:sp>
      <p:sp>
        <p:nvSpPr>
          <p:cNvPr id="6" name="Shape 4"/>
          <p:cNvSpPr/>
          <p:nvPr/>
        </p:nvSpPr>
        <p:spPr>
          <a:xfrm>
            <a:off x="731520" y="3154680"/>
            <a:ext cx="502920" cy="502920"/>
          </a:xfrm>
          <a:prstGeom prst="ellipse">
            <a:avLst/>
          </a:prstGeom>
          <a:solidFill>
            <a:srgbClr val="FFFFFF"/>
          </a:solidFill>
          <a:ln/>
        </p:spPr>
      </p:sp>
      <p:sp>
        <p:nvSpPr>
          <p:cNvPr id="7" name="Text 5"/>
          <p:cNvSpPr/>
          <p:nvPr/>
        </p:nvSpPr>
        <p:spPr>
          <a:xfrm>
            <a:off x="731520" y="3154680"/>
            <a:ext cx="502920" cy="502920"/>
          </a:xfrm>
          <a:prstGeom prst="rect">
            <a:avLst/>
          </a:prstGeom>
          <a:noFill/>
          <a:ln/>
        </p:spPr>
        <p:txBody>
          <a:bodyPr wrap="square" rtlCol="0" anchor="ctr"/>
          <a:lstStyle/>
          <a:p>
            <a:pPr algn="ctr" indent="0" marL="0">
              <a:buNone/>
            </a:pPr>
            <a:r>
              <a:rPr lang="en-US" sz="2000" b="1" dirty="0">
                <a:solidFill>
                  <a:srgbClr val="13294B"/>
                </a:solidFill>
                <a:latin typeface="Times New Roman" pitchFamily="34" charset="0"/>
                <a:ea typeface="Times New Roman" pitchFamily="34" charset="-122"/>
                <a:cs typeface="Times New Roman" pitchFamily="34" charset="-120"/>
              </a:rPr>
              <a:t>1</a:t>
            </a:r>
            <a:endParaRPr lang="en-US" sz="2000" dirty="0"/>
          </a:p>
        </p:txBody>
      </p:sp>
      <p:sp>
        <p:nvSpPr>
          <p:cNvPr id="8" name="Text 6"/>
          <p:cNvSpPr/>
          <p:nvPr/>
        </p:nvSpPr>
        <p:spPr>
          <a:xfrm>
            <a:off x="731520" y="3794760"/>
            <a:ext cx="3063240" cy="502920"/>
          </a:xfrm>
          <a:prstGeom prst="rect">
            <a:avLst/>
          </a:prstGeom>
          <a:noFill/>
          <a:ln/>
        </p:spPr>
        <p:txBody>
          <a:bodyPr wrap="square" rtlCol="0" anchor="t"/>
          <a:lstStyle/>
          <a:p>
            <a:pPr indent="0" marL="0">
              <a:buNone/>
            </a:pPr>
            <a:r>
              <a:rPr lang="en-US" sz="1350" b="1" dirty="0">
                <a:solidFill>
                  <a:srgbClr val="FFFFFF"/>
                </a:solidFill>
                <a:latin typeface="Times New Roman" pitchFamily="34" charset="0"/>
                <a:ea typeface="Times New Roman" pitchFamily="34" charset="-122"/>
                <a:cs typeface="Times New Roman" pitchFamily="34" charset="-120"/>
              </a:rPr>
              <a:t>LÕI BẮT BUỘC</a:t>
            </a:r>
            <a:endParaRPr lang="en-US" sz="1350" dirty="0"/>
          </a:p>
        </p:txBody>
      </p:sp>
      <p:sp>
        <p:nvSpPr>
          <p:cNvPr id="9" name="Text 7"/>
          <p:cNvSpPr/>
          <p:nvPr/>
        </p:nvSpPr>
        <p:spPr>
          <a:xfrm>
            <a:off x="731520" y="4343400"/>
            <a:ext cx="3063240" cy="86868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Mô hình 7, 8, 9 (khả thi + FEFO), 10, 11 (chọn kho + chi phí đường)</a:t>
            </a:r>
            <a:endParaRPr lang="en-US" sz="1000" dirty="0"/>
          </a:p>
        </p:txBody>
      </p:sp>
      <p:sp>
        <p:nvSpPr>
          <p:cNvPr id="10" name="Text 8"/>
          <p:cNvSpPr/>
          <p:nvPr/>
        </p:nvSpPr>
        <p:spPr>
          <a:xfrm>
            <a:off x="731520" y="5513832"/>
            <a:ext cx="3063240" cy="566928"/>
          </a:xfrm>
          <a:prstGeom prst="rect">
            <a:avLst/>
          </a:prstGeom>
          <a:noFill/>
          <a:ln/>
        </p:spPr>
        <p:txBody>
          <a:bodyPr wrap="square" rtlCol="0" anchor="t"/>
          <a:lstStyle/>
          <a:p>
            <a:pPr indent="0" marL="0">
              <a:buNone/>
            </a:pPr>
            <a:r>
              <a:rPr lang="en-US" sz="880" i="1" dirty="0">
                <a:solidFill>
                  <a:srgbClr val="D9E4F0"/>
                </a:solidFill>
                <a:latin typeface="Calibri" pitchFamily="34" charset="0"/>
                <a:ea typeface="Calibri" pitchFamily="34" charset="-122"/>
                <a:cs typeface="Calibri" pitchFamily="34" charset="-120"/>
              </a:rPr>
              <a:t>Trả lời trực tiếp cả 4 câu hỏi nghiên cứu ban đầu — ưu tiên làm trước và làm chắc</a:t>
            </a:r>
            <a:endParaRPr lang="en-US" sz="880" dirty="0"/>
          </a:p>
        </p:txBody>
      </p:sp>
      <p:sp>
        <p:nvSpPr>
          <p:cNvPr id="11" name="Shape 9"/>
          <p:cNvSpPr/>
          <p:nvPr/>
        </p:nvSpPr>
        <p:spPr>
          <a:xfrm>
            <a:off x="4343400" y="3200400"/>
            <a:ext cx="3520440" cy="2971800"/>
          </a:xfrm>
          <a:prstGeom prst="roundRect">
            <a:avLst>
              <a:gd name="adj" fmla="val 3077"/>
            </a:avLst>
          </a:prstGeom>
          <a:solidFill>
            <a:srgbClr val="1C7293"/>
          </a:solidFill>
          <a:ln/>
        </p:spPr>
      </p:sp>
      <p:sp>
        <p:nvSpPr>
          <p:cNvPr id="12" name="Shape 10"/>
          <p:cNvSpPr/>
          <p:nvPr/>
        </p:nvSpPr>
        <p:spPr>
          <a:xfrm>
            <a:off x="4572000" y="3429000"/>
            <a:ext cx="502920" cy="502920"/>
          </a:xfrm>
          <a:prstGeom prst="ellipse">
            <a:avLst/>
          </a:prstGeom>
          <a:solidFill>
            <a:srgbClr val="FFFFFF"/>
          </a:solidFill>
          <a:ln/>
        </p:spPr>
      </p:sp>
      <p:sp>
        <p:nvSpPr>
          <p:cNvPr id="13" name="Text 11"/>
          <p:cNvSpPr/>
          <p:nvPr/>
        </p:nvSpPr>
        <p:spPr>
          <a:xfrm>
            <a:off x="4572000" y="3429000"/>
            <a:ext cx="502920" cy="502920"/>
          </a:xfrm>
          <a:prstGeom prst="rect">
            <a:avLst/>
          </a:prstGeom>
          <a:noFill/>
          <a:ln/>
        </p:spPr>
        <p:txBody>
          <a:bodyPr wrap="square" rtlCol="0" anchor="ctr"/>
          <a:lstStyle/>
          <a:p>
            <a:pPr algn="ctr" indent="0" marL="0">
              <a:buNone/>
            </a:pPr>
            <a:r>
              <a:rPr lang="en-US" sz="2000" b="1" dirty="0">
                <a:solidFill>
                  <a:srgbClr val="1C7293"/>
                </a:solidFill>
                <a:latin typeface="Times New Roman" pitchFamily="34" charset="0"/>
                <a:ea typeface="Times New Roman" pitchFamily="34" charset="-122"/>
                <a:cs typeface="Times New Roman" pitchFamily="34" charset="-120"/>
              </a:rPr>
              <a:t>2</a:t>
            </a:r>
            <a:endParaRPr lang="en-US" sz="2000" dirty="0"/>
          </a:p>
        </p:txBody>
      </p:sp>
      <p:sp>
        <p:nvSpPr>
          <p:cNvPr id="14" name="Text 12"/>
          <p:cNvSpPr/>
          <p:nvPr/>
        </p:nvSpPr>
        <p:spPr>
          <a:xfrm>
            <a:off x="4572000" y="4069080"/>
            <a:ext cx="3063240" cy="502920"/>
          </a:xfrm>
          <a:prstGeom prst="rect">
            <a:avLst/>
          </a:prstGeom>
          <a:noFill/>
          <a:ln/>
        </p:spPr>
        <p:txBody>
          <a:bodyPr wrap="square" rtlCol="0" anchor="t"/>
          <a:lstStyle/>
          <a:p>
            <a:pPr indent="0" marL="0">
              <a:buNone/>
            </a:pPr>
            <a:r>
              <a:rPr lang="en-US" sz="1350" b="1" dirty="0">
                <a:solidFill>
                  <a:srgbClr val="FFFFFF"/>
                </a:solidFill>
                <a:latin typeface="Times New Roman" pitchFamily="34" charset="0"/>
                <a:ea typeface="Times New Roman" pitchFamily="34" charset="-122"/>
                <a:cs typeface="Times New Roman" pitchFamily="34" charset="-120"/>
              </a:rPr>
              <a:t>MỞ RỘNG NẾU CÒN THỜI GIAN</a:t>
            </a:r>
            <a:endParaRPr lang="en-US" sz="1350" dirty="0"/>
          </a:p>
        </p:txBody>
      </p:sp>
      <p:sp>
        <p:nvSpPr>
          <p:cNvPr id="15" name="Text 13"/>
          <p:cNvSpPr/>
          <p:nvPr/>
        </p:nvSpPr>
        <p:spPr>
          <a:xfrm>
            <a:off x="4572000" y="4617720"/>
            <a:ext cx="3063240" cy="86868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Mô hình 12 (Hitchcock trước, MDSDVRP sau nếu kịp), Mô hình 13 (luân chuyển kho)</a:t>
            </a:r>
            <a:endParaRPr lang="en-US" sz="1000" dirty="0"/>
          </a:p>
        </p:txBody>
      </p:sp>
      <p:sp>
        <p:nvSpPr>
          <p:cNvPr id="16" name="Text 14"/>
          <p:cNvSpPr/>
          <p:nvPr/>
        </p:nvSpPr>
        <p:spPr>
          <a:xfrm>
            <a:off x="4572000" y="5513832"/>
            <a:ext cx="3063240" cy="566928"/>
          </a:xfrm>
          <a:prstGeom prst="rect">
            <a:avLst/>
          </a:prstGeom>
          <a:noFill/>
          <a:ln/>
        </p:spPr>
        <p:txBody>
          <a:bodyPr wrap="square" rtlCol="0" anchor="t"/>
          <a:lstStyle/>
          <a:p>
            <a:pPr indent="0" marL="0">
              <a:buNone/>
            </a:pPr>
            <a:r>
              <a:rPr lang="en-US" sz="880" i="1" dirty="0">
                <a:solidFill>
                  <a:srgbClr val="D9E4F0"/>
                </a:solidFill>
                <a:latin typeface="Calibri" pitchFamily="34" charset="0"/>
                <a:ea typeface="Calibri" pitchFamily="34" charset="-122"/>
                <a:cs typeface="Calibri" pitchFamily="34" charset="-120"/>
              </a:rPr>
              <a:t>Dùng phương án đơn giản làm bước đệm rồi nâng cấp nếu còn thời gian</a:t>
            </a:r>
            <a:endParaRPr lang="en-US" sz="880" dirty="0"/>
          </a:p>
        </p:txBody>
      </p:sp>
      <p:sp>
        <p:nvSpPr>
          <p:cNvPr id="17" name="Shape 15"/>
          <p:cNvSpPr/>
          <p:nvPr/>
        </p:nvSpPr>
        <p:spPr>
          <a:xfrm>
            <a:off x="8183880" y="3429000"/>
            <a:ext cx="3520440" cy="2743200"/>
          </a:xfrm>
          <a:prstGeom prst="roundRect">
            <a:avLst>
              <a:gd name="adj" fmla="val 3333"/>
            </a:avLst>
          </a:prstGeom>
          <a:solidFill>
            <a:srgbClr val="0FA3B1"/>
          </a:solidFill>
          <a:ln/>
        </p:spPr>
      </p:sp>
      <p:sp>
        <p:nvSpPr>
          <p:cNvPr id="18" name="Shape 16"/>
          <p:cNvSpPr/>
          <p:nvPr/>
        </p:nvSpPr>
        <p:spPr>
          <a:xfrm>
            <a:off x="8412480" y="3657600"/>
            <a:ext cx="502920" cy="502920"/>
          </a:xfrm>
          <a:prstGeom prst="ellipse">
            <a:avLst/>
          </a:prstGeom>
          <a:solidFill>
            <a:srgbClr val="FFFFFF"/>
          </a:solidFill>
          <a:ln/>
        </p:spPr>
      </p:sp>
      <p:sp>
        <p:nvSpPr>
          <p:cNvPr id="19" name="Text 17"/>
          <p:cNvSpPr/>
          <p:nvPr/>
        </p:nvSpPr>
        <p:spPr>
          <a:xfrm>
            <a:off x="8412480" y="3657600"/>
            <a:ext cx="502920" cy="502920"/>
          </a:xfrm>
          <a:prstGeom prst="rect">
            <a:avLst/>
          </a:prstGeom>
          <a:noFill/>
          <a:ln/>
        </p:spPr>
        <p:txBody>
          <a:bodyPr wrap="square" rtlCol="0" anchor="ctr"/>
          <a:lstStyle/>
          <a:p>
            <a:pPr algn="ctr" indent="0" marL="0">
              <a:buNone/>
            </a:pPr>
            <a:r>
              <a:rPr lang="en-US" sz="2000" b="1" dirty="0">
                <a:solidFill>
                  <a:srgbClr val="0FA3B1"/>
                </a:solidFill>
                <a:latin typeface="Times New Roman" pitchFamily="34" charset="0"/>
                <a:ea typeface="Times New Roman" pitchFamily="34" charset="-122"/>
                <a:cs typeface="Times New Roman" pitchFamily="34" charset="-120"/>
              </a:rPr>
              <a:t>3</a:t>
            </a:r>
            <a:endParaRPr lang="en-US" sz="2000" dirty="0"/>
          </a:p>
        </p:txBody>
      </p:sp>
      <p:sp>
        <p:nvSpPr>
          <p:cNvPr id="20" name="Text 18"/>
          <p:cNvSpPr/>
          <p:nvPr/>
        </p:nvSpPr>
        <p:spPr>
          <a:xfrm>
            <a:off x="8412480" y="4297680"/>
            <a:ext cx="3063240" cy="502920"/>
          </a:xfrm>
          <a:prstGeom prst="rect">
            <a:avLst/>
          </a:prstGeom>
          <a:noFill/>
          <a:ln/>
        </p:spPr>
        <p:txBody>
          <a:bodyPr wrap="square" rtlCol="0" anchor="t"/>
          <a:lstStyle/>
          <a:p>
            <a:pPr indent="0" marL="0">
              <a:buNone/>
            </a:pPr>
            <a:r>
              <a:rPr lang="en-US" sz="1350" b="1" dirty="0">
                <a:solidFill>
                  <a:srgbClr val="FFFFFF"/>
                </a:solidFill>
                <a:latin typeface="Times New Roman" pitchFamily="34" charset="0"/>
                <a:ea typeface="Times New Roman" pitchFamily="34" charset="-122"/>
                <a:cs typeface="Times New Roman" pitchFamily="34" charset="-120"/>
              </a:rPr>
              <a:t>NẾU DƯ THỜI GIAN</a:t>
            </a:r>
            <a:endParaRPr lang="en-US" sz="1350" dirty="0"/>
          </a:p>
        </p:txBody>
      </p:sp>
      <p:sp>
        <p:nvSpPr>
          <p:cNvPr id="21" name="Text 19"/>
          <p:cNvSpPr/>
          <p:nvPr/>
        </p:nvSpPr>
        <p:spPr>
          <a:xfrm>
            <a:off x="8412480" y="4846320"/>
            <a:ext cx="3063240" cy="86868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Mô hình 1–4 (cold-start + học nhu cầu tuần tự)</a:t>
            </a:r>
            <a:endParaRPr lang="en-US" sz="1000" dirty="0"/>
          </a:p>
        </p:txBody>
      </p:sp>
      <p:sp>
        <p:nvSpPr>
          <p:cNvPr id="22" name="Text 20"/>
          <p:cNvSpPr/>
          <p:nvPr/>
        </p:nvSpPr>
        <p:spPr>
          <a:xfrm>
            <a:off x="8412480" y="5513832"/>
            <a:ext cx="3063240" cy="566928"/>
          </a:xfrm>
          <a:prstGeom prst="rect">
            <a:avLst/>
          </a:prstGeom>
          <a:noFill/>
          <a:ln/>
        </p:spPr>
        <p:txBody>
          <a:bodyPr wrap="square" rtlCol="0" anchor="t"/>
          <a:lstStyle/>
          <a:p>
            <a:pPr indent="0" marL="0">
              <a:buNone/>
            </a:pPr>
            <a:r>
              <a:rPr lang="en-US" sz="880" i="1" dirty="0">
                <a:solidFill>
                  <a:srgbClr val="D9E4F0"/>
                </a:solidFill>
                <a:latin typeface="Calibri" pitchFamily="34" charset="0"/>
                <a:ea typeface="Calibri" pitchFamily="34" charset="-122"/>
                <a:cs typeface="Calibri" pitchFamily="34" charset="-120"/>
              </a:rPr>
              <a:t>Phần khó nhất về thống kê — làm sau khi Giai đoạn 1–2 đã ổn định</a:t>
            </a:r>
            <a:endParaRPr lang="en-US" sz="880" dirty="0"/>
          </a:p>
        </p:txBody>
      </p:sp>
      <p:sp>
        <p:nvSpPr>
          <p:cNvPr id="23" name="Text 21"/>
          <p:cNvSpPr/>
          <p:nvPr/>
        </p:nvSpPr>
        <p:spPr>
          <a:xfrm>
            <a:off x="502920" y="6547104"/>
            <a:ext cx="9601200" cy="256032"/>
          </a:xfrm>
          <a:prstGeom prst="rect">
            <a:avLst/>
          </a:prstGeom>
          <a:noFill/>
          <a:ln/>
        </p:spPr>
        <p:txBody>
          <a:bodyPr wrap="square" rtlCol="0" anchor="ctr"/>
          <a:lstStyle/>
          <a:p>
            <a:pPr algn="l" indent="0" marL="0">
              <a:buNone/>
            </a:pPr>
            <a:r>
              <a:rPr lang="en-US" sz="900" dirty="0">
                <a:solidFill>
                  <a:srgbClr val="5B6B7C"/>
                </a:solidFill>
                <a:latin typeface="Calibri" pitchFamily="34" charset="0"/>
                <a:ea typeface="Calibri" pitchFamily="34" charset="-122"/>
                <a:cs typeface="Calibri" pitchFamily="34" charset="-120"/>
              </a:rPr>
              <a:t>TỐI ƯU LƯU KHO – PHÂN PHỐI – LUÂN CHUYỂN HÀNG DỄ HỎNG ĐA KHO</a:t>
            </a:r>
            <a:endParaRPr lang="en-US" sz="900" dirty="0"/>
          </a:p>
        </p:txBody>
      </p:sp>
      <p:sp>
        <p:nvSpPr>
          <p:cNvPr id="24" name="Text 22"/>
          <p:cNvSpPr/>
          <p:nvPr/>
        </p:nvSpPr>
        <p:spPr>
          <a:xfrm>
            <a:off x="11140135" y="6547104"/>
            <a:ext cx="548640" cy="256032"/>
          </a:xfrm>
          <a:prstGeom prst="rect">
            <a:avLst/>
          </a:prstGeom>
          <a:noFill/>
          <a:ln/>
        </p:spPr>
        <p:txBody>
          <a:bodyPr wrap="square"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930"/>
        </a:solidFill>
      </p:bgPr>
    </p:bg>
    <p:spTree>
      <p:nvGrpSpPr>
        <p:cNvPr id="1" name=""/>
        <p:cNvGrpSpPr/>
        <p:nvPr/>
      </p:nvGrpSpPr>
      <p:grpSpPr>
        <a:xfrm>
          <a:off x="0" y="0"/>
          <a:ext cx="0" cy="0"/>
          <a:chOff x="0" y="0"/>
          <a:chExt cx="0" cy="0"/>
        </a:xfrm>
      </p:grpSpPr>
      <p:sp>
        <p:nvSpPr>
          <p:cNvPr id="2" name="Text 0"/>
          <p:cNvSpPr/>
          <p:nvPr/>
        </p:nvSpPr>
        <p:spPr>
          <a:xfrm>
            <a:off x="502920" y="548640"/>
            <a:ext cx="7315200" cy="365760"/>
          </a:xfrm>
          <a:prstGeom prst="rect">
            <a:avLst/>
          </a:prstGeom>
          <a:noFill/>
          <a:ln/>
        </p:spPr>
        <p:txBody>
          <a:bodyPr wrap="square" rtlCol="0" anchor="ctr"/>
          <a:lstStyle/>
          <a:p>
            <a:pPr indent="0" marL="0">
              <a:buNone/>
            </a:pPr>
            <a:r>
              <a:rPr lang="en-US" sz="1300" b="1" spc="200" kern="0" dirty="0">
                <a:solidFill>
                  <a:srgbClr val="0FA3B1"/>
                </a:solidFill>
                <a:latin typeface="Arial" pitchFamily="34" charset="0"/>
                <a:ea typeface="Arial" pitchFamily="34" charset="-122"/>
                <a:cs typeface="Arial" pitchFamily="34" charset="-120"/>
              </a:rPr>
              <a:t>KẾT LUẬN</a:t>
            </a:r>
            <a:endParaRPr lang="en-US" sz="1300" dirty="0"/>
          </a:p>
        </p:txBody>
      </p:sp>
      <p:sp>
        <p:nvSpPr>
          <p:cNvPr id="3" name="Text 1"/>
          <p:cNvSpPr/>
          <p:nvPr/>
        </p:nvSpPr>
        <p:spPr>
          <a:xfrm>
            <a:off x="502920" y="914400"/>
            <a:ext cx="10789920" cy="685800"/>
          </a:xfrm>
          <a:prstGeom prst="rect">
            <a:avLst/>
          </a:prstGeom>
          <a:noFill/>
          <a:ln/>
        </p:spPr>
        <p:txBody>
          <a:bodyPr wrap="square" rtlCol="0" anchor="ctr"/>
          <a:lstStyle/>
          <a:p>
            <a:pPr indent="0" marL="0">
              <a:buNone/>
            </a:pPr>
            <a:r>
              <a:rPr lang="en-US" sz="2700" b="1" dirty="0">
                <a:solidFill>
                  <a:srgbClr val="FFFFFF"/>
                </a:solidFill>
                <a:latin typeface="Times New Roman" pitchFamily="34" charset="0"/>
                <a:ea typeface="Times New Roman" pitchFamily="34" charset="-122"/>
                <a:cs typeface="Times New Roman" pitchFamily="34" charset="-120"/>
              </a:rPr>
              <a:t>Bốn câu hỏi — một khung ra quyết định thống nhất</a:t>
            </a:r>
            <a:endParaRPr lang="en-US" sz="2700" dirty="0"/>
          </a:p>
        </p:txBody>
      </p:sp>
      <p:sp>
        <p:nvSpPr>
          <p:cNvPr id="4" name="Shape 2"/>
          <p:cNvSpPr/>
          <p:nvPr/>
        </p:nvSpPr>
        <p:spPr>
          <a:xfrm>
            <a:off x="502920" y="1828800"/>
            <a:ext cx="5349240" cy="914400"/>
          </a:xfrm>
          <a:prstGeom prst="roundRect">
            <a:avLst>
              <a:gd name="adj" fmla="val 9000"/>
            </a:avLst>
          </a:prstGeom>
          <a:solidFill>
            <a:srgbClr val="13253F"/>
          </a:solidFill>
          <a:ln/>
        </p:spPr>
      </p:sp>
      <p:sp>
        <p:nvSpPr>
          <p:cNvPr id="5" name="Shape 3"/>
          <p:cNvSpPr/>
          <p:nvPr/>
        </p:nvSpPr>
        <p:spPr>
          <a:xfrm>
            <a:off x="685800" y="2029968"/>
            <a:ext cx="502920" cy="502920"/>
          </a:xfrm>
          <a:prstGeom prst="ellipse">
            <a:avLst/>
          </a:prstGeom>
          <a:solidFill>
            <a:srgbClr val="0FA3B1"/>
          </a:solidFill>
          <a:ln/>
        </p:spPr>
      </p:sp>
      <p:sp>
        <p:nvSpPr>
          <p:cNvPr id="6" name="Text 4"/>
          <p:cNvSpPr/>
          <p:nvPr/>
        </p:nvSpPr>
        <p:spPr>
          <a:xfrm>
            <a:off x="685800" y="2029968"/>
            <a:ext cx="502920" cy="502920"/>
          </a:xfrm>
          <a:prstGeom prst="rect">
            <a:avLst/>
          </a:prstGeom>
          <a:noFill/>
          <a:ln/>
        </p:spPr>
        <p:txBody>
          <a:bodyPr wrap="square" rtlCol="0" anchor="ctr"/>
          <a:lstStyle/>
          <a:p>
            <a:pPr algn="ctr" indent="0" marL="0">
              <a:buNone/>
            </a:pPr>
            <a:r>
              <a:rPr lang="en-US" sz="1800" b="1" dirty="0">
                <a:solidFill>
                  <a:srgbClr val="0A1930"/>
                </a:solidFill>
                <a:latin typeface="Times New Roman" pitchFamily="34" charset="0"/>
                <a:ea typeface="Times New Roman" pitchFamily="34" charset="-122"/>
                <a:cs typeface="Times New Roman" pitchFamily="34" charset="-120"/>
              </a:rPr>
              <a:t>1</a:t>
            </a:r>
            <a:endParaRPr lang="en-US" sz="1800" dirty="0"/>
          </a:p>
        </p:txBody>
      </p:sp>
      <p:sp>
        <p:nvSpPr>
          <p:cNvPr id="7" name="Text 5"/>
          <p:cNvSpPr/>
          <p:nvPr/>
        </p:nvSpPr>
        <p:spPr>
          <a:xfrm>
            <a:off x="1325880" y="1938528"/>
            <a:ext cx="4343400" cy="320040"/>
          </a:xfrm>
          <a:prstGeom prst="rect">
            <a:avLst/>
          </a:prstGeom>
          <a:noFill/>
          <a:ln/>
        </p:spPr>
        <p:txBody>
          <a:bodyPr wrap="square" rtlCol="0" anchor="ctr"/>
          <a:lstStyle/>
          <a:p>
            <a:pPr indent="0" marL="0">
              <a:buNone/>
            </a:pPr>
            <a:r>
              <a:rPr lang="en-US" sz="1250" b="1" dirty="0">
                <a:solidFill>
                  <a:srgbClr val="FFFFFF"/>
                </a:solidFill>
                <a:latin typeface="Times New Roman" pitchFamily="34" charset="0"/>
                <a:ea typeface="Times New Roman" pitchFamily="34" charset="-122"/>
                <a:cs typeface="Times New Roman" pitchFamily="34" charset="-120"/>
              </a:rPr>
              <a:t>Lưu kho – phân phối – luân chuyển</a:t>
            </a:r>
            <a:endParaRPr lang="en-US" sz="1250" dirty="0"/>
          </a:p>
        </p:txBody>
      </p:sp>
      <p:sp>
        <p:nvSpPr>
          <p:cNvPr id="8" name="Text 6"/>
          <p:cNvSpPr/>
          <p:nvPr/>
        </p:nvSpPr>
        <p:spPr>
          <a:xfrm>
            <a:off x="1325880" y="2267712"/>
            <a:ext cx="4343400" cy="438912"/>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Haversine → Dijkstra → phân bổ giao hàng → luân chuyển kho</a:t>
            </a:r>
            <a:endParaRPr lang="en-US" sz="950" dirty="0"/>
          </a:p>
        </p:txBody>
      </p:sp>
      <p:sp>
        <p:nvSpPr>
          <p:cNvPr id="9" name="Shape 7"/>
          <p:cNvSpPr/>
          <p:nvPr/>
        </p:nvSpPr>
        <p:spPr>
          <a:xfrm>
            <a:off x="6309360" y="1828800"/>
            <a:ext cx="5349240" cy="914400"/>
          </a:xfrm>
          <a:prstGeom prst="roundRect">
            <a:avLst>
              <a:gd name="adj" fmla="val 9000"/>
            </a:avLst>
          </a:prstGeom>
          <a:solidFill>
            <a:srgbClr val="13253F"/>
          </a:solidFill>
          <a:ln/>
        </p:spPr>
      </p:sp>
      <p:sp>
        <p:nvSpPr>
          <p:cNvPr id="10" name="Shape 8"/>
          <p:cNvSpPr/>
          <p:nvPr/>
        </p:nvSpPr>
        <p:spPr>
          <a:xfrm>
            <a:off x="6492240" y="2029968"/>
            <a:ext cx="502920" cy="502920"/>
          </a:xfrm>
          <a:prstGeom prst="ellipse">
            <a:avLst/>
          </a:prstGeom>
          <a:solidFill>
            <a:srgbClr val="0FA3B1"/>
          </a:solidFill>
          <a:ln/>
        </p:spPr>
      </p:sp>
      <p:sp>
        <p:nvSpPr>
          <p:cNvPr id="11" name="Text 9"/>
          <p:cNvSpPr/>
          <p:nvPr/>
        </p:nvSpPr>
        <p:spPr>
          <a:xfrm>
            <a:off x="6492240" y="2029968"/>
            <a:ext cx="502920" cy="502920"/>
          </a:xfrm>
          <a:prstGeom prst="rect">
            <a:avLst/>
          </a:prstGeom>
          <a:noFill/>
          <a:ln/>
        </p:spPr>
        <p:txBody>
          <a:bodyPr wrap="square" rtlCol="0" anchor="ctr"/>
          <a:lstStyle/>
          <a:p>
            <a:pPr algn="ctr" indent="0" marL="0">
              <a:buNone/>
            </a:pPr>
            <a:r>
              <a:rPr lang="en-US" sz="1800" b="1" dirty="0">
                <a:solidFill>
                  <a:srgbClr val="0A1930"/>
                </a:solidFill>
                <a:latin typeface="Times New Roman" pitchFamily="34" charset="0"/>
                <a:ea typeface="Times New Roman" pitchFamily="34" charset="-122"/>
                <a:cs typeface="Times New Roman" pitchFamily="34" charset="-120"/>
              </a:rPr>
              <a:t>2</a:t>
            </a:r>
            <a:endParaRPr lang="en-US" sz="1800" dirty="0"/>
          </a:p>
        </p:txBody>
      </p:sp>
      <p:sp>
        <p:nvSpPr>
          <p:cNvPr id="12" name="Text 10"/>
          <p:cNvSpPr/>
          <p:nvPr/>
        </p:nvSpPr>
        <p:spPr>
          <a:xfrm>
            <a:off x="7132320" y="1938528"/>
            <a:ext cx="4343400" cy="320040"/>
          </a:xfrm>
          <a:prstGeom prst="rect">
            <a:avLst/>
          </a:prstGeom>
          <a:noFill/>
          <a:ln/>
        </p:spPr>
        <p:txBody>
          <a:bodyPr wrap="square" rtlCol="0" anchor="ctr"/>
          <a:lstStyle/>
          <a:p>
            <a:pPr indent="0" marL="0">
              <a:buNone/>
            </a:pPr>
            <a:r>
              <a:rPr lang="en-US" sz="1250" b="1" dirty="0">
                <a:solidFill>
                  <a:srgbClr val="FFFFFF"/>
                </a:solidFill>
                <a:latin typeface="Times New Roman" pitchFamily="34" charset="0"/>
                <a:ea typeface="Times New Roman" pitchFamily="34" charset="-122"/>
                <a:cs typeface="Times New Roman" pitchFamily="34" charset="-120"/>
              </a:rPr>
              <a:t>Mâu thuẫn hạn ngắn / hạn dài</a:t>
            </a:r>
            <a:endParaRPr lang="en-US" sz="1250" dirty="0"/>
          </a:p>
        </p:txBody>
      </p:sp>
      <p:sp>
        <p:nvSpPr>
          <p:cNvPr id="13" name="Text 11"/>
          <p:cNvSpPr/>
          <p:nvPr/>
        </p:nvSpPr>
        <p:spPr>
          <a:xfrm>
            <a:off x="7132320" y="2267712"/>
            <a:ext cx="4343400" cy="438912"/>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Khả thi trước – FEFO sau, không phải một công thức lai</a:t>
            </a:r>
            <a:endParaRPr lang="en-US" sz="950" dirty="0"/>
          </a:p>
        </p:txBody>
      </p:sp>
      <p:sp>
        <p:nvSpPr>
          <p:cNvPr id="14" name="Shape 12"/>
          <p:cNvSpPr/>
          <p:nvPr/>
        </p:nvSpPr>
        <p:spPr>
          <a:xfrm>
            <a:off x="502920" y="2971800"/>
            <a:ext cx="5349240" cy="914400"/>
          </a:xfrm>
          <a:prstGeom prst="roundRect">
            <a:avLst>
              <a:gd name="adj" fmla="val 9000"/>
            </a:avLst>
          </a:prstGeom>
          <a:solidFill>
            <a:srgbClr val="13253F"/>
          </a:solidFill>
          <a:ln/>
        </p:spPr>
      </p:sp>
      <p:sp>
        <p:nvSpPr>
          <p:cNvPr id="15" name="Shape 13"/>
          <p:cNvSpPr/>
          <p:nvPr/>
        </p:nvSpPr>
        <p:spPr>
          <a:xfrm>
            <a:off x="685800" y="3172968"/>
            <a:ext cx="502920" cy="502920"/>
          </a:xfrm>
          <a:prstGeom prst="ellipse">
            <a:avLst/>
          </a:prstGeom>
          <a:solidFill>
            <a:srgbClr val="0FA3B1"/>
          </a:solidFill>
          <a:ln/>
        </p:spPr>
      </p:sp>
      <p:sp>
        <p:nvSpPr>
          <p:cNvPr id="16" name="Text 14"/>
          <p:cNvSpPr/>
          <p:nvPr/>
        </p:nvSpPr>
        <p:spPr>
          <a:xfrm>
            <a:off x="685800" y="3172968"/>
            <a:ext cx="502920" cy="502920"/>
          </a:xfrm>
          <a:prstGeom prst="rect">
            <a:avLst/>
          </a:prstGeom>
          <a:noFill/>
          <a:ln/>
        </p:spPr>
        <p:txBody>
          <a:bodyPr wrap="square" rtlCol="0" anchor="ctr"/>
          <a:lstStyle/>
          <a:p>
            <a:pPr algn="ctr" indent="0" marL="0">
              <a:buNone/>
            </a:pPr>
            <a:r>
              <a:rPr lang="en-US" sz="1800" b="1" dirty="0">
                <a:solidFill>
                  <a:srgbClr val="0A1930"/>
                </a:solidFill>
                <a:latin typeface="Times New Roman" pitchFamily="34" charset="0"/>
                <a:ea typeface="Times New Roman" pitchFamily="34" charset="-122"/>
                <a:cs typeface="Times New Roman" pitchFamily="34" charset="-120"/>
              </a:rPr>
              <a:t>3</a:t>
            </a:r>
            <a:endParaRPr lang="en-US" sz="1800" dirty="0"/>
          </a:p>
        </p:txBody>
      </p:sp>
      <p:sp>
        <p:nvSpPr>
          <p:cNvPr id="17" name="Text 15"/>
          <p:cNvSpPr/>
          <p:nvPr/>
        </p:nvSpPr>
        <p:spPr>
          <a:xfrm>
            <a:off x="1325880" y="3081528"/>
            <a:ext cx="4343400" cy="320040"/>
          </a:xfrm>
          <a:prstGeom prst="rect">
            <a:avLst/>
          </a:prstGeom>
          <a:noFill/>
          <a:ln/>
        </p:spPr>
        <p:txBody>
          <a:bodyPr wrap="square" rtlCol="0" anchor="ctr"/>
          <a:lstStyle/>
          <a:p>
            <a:pPr indent="0" marL="0">
              <a:buNone/>
            </a:pPr>
            <a:r>
              <a:rPr lang="en-US" sz="1250" b="1" dirty="0">
                <a:solidFill>
                  <a:srgbClr val="FFFFFF"/>
                </a:solidFill>
                <a:latin typeface="Times New Roman" pitchFamily="34" charset="0"/>
                <a:ea typeface="Times New Roman" pitchFamily="34" charset="-122"/>
                <a:cs typeface="Times New Roman" pitchFamily="34" charset="-120"/>
              </a:rPr>
              <a:t>Lô hàng theo chu kỳ tuần</a:t>
            </a:r>
            <a:endParaRPr lang="en-US" sz="1250" dirty="0"/>
          </a:p>
        </p:txBody>
      </p:sp>
      <p:sp>
        <p:nvSpPr>
          <p:cNvPr id="18" name="Text 16"/>
          <p:cNvSpPr/>
          <p:nvPr/>
        </p:nvSpPr>
        <p:spPr>
          <a:xfrm>
            <a:off x="1325880" y="3410712"/>
            <a:ext cx="4343400" cy="438912"/>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Mô hình học nhu cầu tuần tự + chu kỳ ghé thăm</a:t>
            </a:r>
            <a:endParaRPr lang="en-US" sz="950" dirty="0"/>
          </a:p>
        </p:txBody>
      </p:sp>
      <p:sp>
        <p:nvSpPr>
          <p:cNvPr id="19" name="Shape 17"/>
          <p:cNvSpPr/>
          <p:nvPr/>
        </p:nvSpPr>
        <p:spPr>
          <a:xfrm>
            <a:off x="6309360" y="2971800"/>
            <a:ext cx="5349240" cy="914400"/>
          </a:xfrm>
          <a:prstGeom prst="roundRect">
            <a:avLst>
              <a:gd name="adj" fmla="val 9000"/>
            </a:avLst>
          </a:prstGeom>
          <a:solidFill>
            <a:srgbClr val="13253F"/>
          </a:solidFill>
          <a:ln/>
        </p:spPr>
      </p:sp>
      <p:sp>
        <p:nvSpPr>
          <p:cNvPr id="20" name="Shape 18"/>
          <p:cNvSpPr/>
          <p:nvPr/>
        </p:nvSpPr>
        <p:spPr>
          <a:xfrm>
            <a:off x="6492240" y="3172968"/>
            <a:ext cx="502920" cy="502920"/>
          </a:xfrm>
          <a:prstGeom prst="ellipse">
            <a:avLst/>
          </a:prstGeom>
          <a:solidFill>
            <a:srgbClr val="0FA3B1"/>
          </a:solidFill>
          <a:ln/>
        </p:spPr>
      </p:sp>
      <p:sp>
        <p:nvSpPr>
          <p:cNvPr id="21" name="Text 19"/>
          <p:cNvSpPr/>
          <p:nvPr/>
        </p:nvSpPr>
        <p:spPr>
          <a:xfrm>
            <a:off x="6492240" y="3172968"/>
            <a:ext cx="502920" cy="502920"/>
          </a:xfrm>
          <a:prstGeom prst="rect">
            <a:avLst/>
          </a:prstGeom>
          <a:noFill/>
          <a:ln/>
        </p:spPr>
        <p:txBody>
          <a:bodyPr wrap="square" rtlCol="0" anchor="ctr"/>
          <a:lstStyle/>
          <a:p>
            <a:pPr algn="ctr" indent="0" marL="0">
              <a:buNone/>
            </a:pPr>
            <a:r>
              <a:rPr lang="en-US" sz="1800" b="1" dirty="0">
                <a:solidFill>
                  <a:srgbClr val="0A1930"/>
                </a:solidFill>
                <a:latin typeface="Times New Roman" pitchFamily="34" charset="0"/>
                <a:ea typeface="Times New Roman" pitchFamily="34" charset="-122"/>
                <a:cs typeface="Times New Roman" pitchFamily="34" charset="-120"/>
              </a:rPr>
              <a:t>4</a:t>
            </a:r>
            <a:endParaRPr lang="en-US" sz="1800" dirty="0"/>
          </a:p>
        </p:txBody>
      </p:sp>
      <p:sp>
        <p:nvSpPr>
          <p:cNvPr id="22" name="Text 20"/>
          <p:cNvSpPr/>
          <p:nvPr/>
        </p:nvSpPr>
        <p:spPr>
          <a:xfrm>
            <a:off x="7132320" y="3081528"/>
            <a:ext cx="4343400" cy="320040"/>
          </a:xfrm>
          <a:prstGeom prst="rect">
            <a:avLst/>
          </a:prstGeom>
          <a:noFill/>
          <a:ln/>
        </p:spPr>
        <p:txBody>
          <a:bodyPr wrap="square" rtlCol="0" anchor="ctr"/>
          <a:lstStyle/>
          <a:p>
            <a:pPr indent="0" marL="0">
              <a:buNone/>
            </a:pPr>
            <a:r>
              <a:rPr lang="en-US" sz="1250" b="1" dirty="0">
                <a:solidFill>
                  <a:srgbClr val="FFFFFF"/>
                </a:solidFill>
                <a:latin typeface="Times New Roman" pitchFamily="34" charset="0"/>
                <a:ea typeface="Times New Roman" pitchFamily="34" charset="-122"/>
                <a:cs typeface="Times New Roman" pitchFamily="34" charset="-120"/>
              </a:rPr>
              <a:t>Cân bằng lợi ích ba bên</a:t>
            </a:r>
            <a:endParaRPr lang="en-US" sz="1250" dirty="0"/>
          </a:p>
        </p:txBody>
      </p:sp>
      <p:sp>
        <p:nvSpPr>
          <p:cNvPr id="23" name="Text 21"/>
          <p:cNvSpPr/>
          <p:nvPr/>
        </p:nvSpPr>
        <p:spPr>
          <a:xfrm>
            <a:off x="7132320" y="3410712"/>
            <a:ext cx="4343400" cy="438912"/>
          </a:xfrm>
          <a:prstGeom prst="rect">
            <a:avLst/>
          </a:prstGeom>
          <a:noFill/>
          <a:ln/>
        </p:spPr>
        <p:txBody>
          <a:bodyPr wrap="square" rtlCol="0" anchor="ctr"/>
          <a:lstStyle/>
          <a:p>
            <a:pPr indent="0" marL="0">
              <a:buNone/>
            </a:pPr>
            <a:r>
              <a:rPr lang="en-US" sz="950" dirty="0">
                <a:solidFill>
                  <a:srgbClr val="CADCFC"/>
                </a:solidFill>
                <a:latin typeface="Calibri" pitchFamily="34" charset="0"/>
                <a:ea typeface="Calibri" pitchFamily="34" charset="-122"/>
                <a:cs typeface="Calibri" pitchFamily="34" charset="-120"/>
              </a:rPr>
              <a:t>Ràng buộc kép MLOR + Min-RSL, tối thiểu hoá chi phí trong vùng đã được bảo vệ</a:t>
            </a:r>
            <a:endParaRPr lang="en-US" sz="950" dirty="0"/>
          </a:p>
        </p:txBody>
      </p:sp>
      <p:sp>
        <p:nvSpPr>
          <p:cNvPr id="24" name="Shape 22"/>
          <p:cNvSpPr/>
          <p:nvPr/>
        </p:nvSpPr>
        <p:spPr>
          <a:xfrm>
            <a:off x="502920" y="4434840"/>
            <a:ext cx="11183112" cy="914400"/>
          </a:xfrm>
          <a:prstGeom prst="roundRect">
            <a:avLst>
              <a:gd name="adj" fmla="val 10000"/>
            </a:avLst>
          </a:prstGeom>
          <a:solidFill>
            <a:srgbClr val="1C7293"/>
          </a:solidFill>
          <a:ln/>
        </p:spPr>
      </p:sp>
      <p:sp>
        <p:nvSpPr>
          <p:cNvPr id="25" name="Text 23"/>
          <p:cNvSpPr/>
          <p:nvPr/>
        </p:nvSpPr>
        <p:spPr>
          <a:xfrm>
            <a:off x="502920" y="4553712"/>
            <a:ext cx="3727704" cy="457200"/>
          </a:xfrm>
          <a:prstGeom prst="rect">
            <a:avLst/>
          </a:prstGeom>
          <a:noFill/>
          <a:ln/>
        </p:spPr>
        <p:txBody>
          <a:bodyPr wrap="square" rtlCol="0" anchor="ctr"/>
          <a:lstStyle/>
          <a:p>
            <a:pPr algn="ctr" indent="0" marL="0">
              <a:buNone/>
            </a:pPr>
            <a:r>
              <a:rPr lang="en-US" sz="2600" b="1" dirty="0">
                <a:solidFill>
                  <a:srgbClr val="FFFFFF"/>
                </a:solidFill>
                <a:latin typeface="Times New Roman" pitchFamily="34" charset="0"/>
                <a:ea typeface="Times New Roman" pitchFamily="34" charset="-122"/>
                <a:cs typeface="Times New Roman" pitchFamily="34" charset="-120"/>
              </a:rPr>
              <a:t>21</a:t>
            </a:r>
            <a:endParaRPr lang="en-US" sz="2600" dirty="0"/>
          </a:p>
        </p:txBody>
      </p:sp>
      <p:sp>
        <p:nvSpPr>
          <p:cNvPr id="26" name="Text 24"/>
          <p:cNvSpPr/>
          <p:nvPr/>
        </p:nvSpPr>
        <p:spPr>
          <a:xfrm>
            <a:off x="502920" y="5029200"/>
            <a:ext cx="3727704" cy="27432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nguồn tham khảo, DOI kiểm chứng</a:t>
            </a:r>
            <a:endParaRPr lang="en-US" sz="1000" dirty="0"/>
          </a:p>
        </p:txBody>
      </p:sp>
      <p:sp>
        <p:nvSpPr>
          <p:cNvPr id="27" name="Text 25"/>
          <p:cNvSpPr/>
          <p:nvPr/>
        </p:nvSpPr>
        <p:spPr>
          <a:xfrm>
            <a:off x="4230624" y="4553712"/>
            <a:ext cx="3727704" cy="457200"/>
          </a:xfrm>
          <a:prstGeom prst="rect">
            <a:avLst/>
          </a:prstGeom>
          <a:noFill/>
          <a:ln/>
        </p:spPr>
        <p:txBody>
          <a:bodyPr wrap="square" rtlCol="0" anchor="ctr"/>
          <a:lstStyle/>
          <a:p>
            <a:pPr algn="ctr" indent="0" marL="0">
              <a:buNone/>
            </a:pPr>
            <a:r>
              <a:rPr lang="en-US" sz="2600" b="1" dirty="0">
                <a:solidFill>
                  <a:srgbClr val="FFFFFF"/>
                </a:solidFill>
                <a:latin typeface="Times New Roman" pitchFamily="34" charset="0"/>
                <a:ea typeface="Times New Roman" pitchFamily="34" charset="-122"/>
                <a:cs typeface="Times New Roman" pitchFamily="34" charset="-120"/>
              </a:rPr>
              <a:t>14</a:t>
            </a:r>
            <a:endParaRPr lang="en-US" sz="2600" dirty="0"/>
          </a:p>
        </p:txBody>
      </p:sp>
      <p:sp>
        <p:nvSpPr>
          <p:cNvPr id="28" name="Text 26"/>
          <p:cNvSpPr/>
          <p:nvPr/>
        </p:nvSpPr>
        <p:spPr>
          <a:xfrm>
            <a:off x="4230624" y="5029200"/>
            <a:ext cx="3727704" cy="27432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mô hình / công thức có nguồn</a:t>
            </a:r>
            <a:endParaRPr lang="en-US" sz="1000" dirty="0"/>
          </a:p>
        </p:txBody>
      </p:sp>
      <p:sp>
        <p:nvSpPr>
          <p:cNvPr id="29" name="Text 27"/>
          <p:cNvSpPr/>
          <p:nvPr/>
        </p:nvSpPr>
        <p:spPr>
          <a:xfrm>
            <a:off x="7958328" y="4553712"/>
            <a:ext cx="3727704" cy="457200"/>
          </a:xfrm>
          <a:prstGeom prst="rect">
            <a:avLst/>
          </a:prstGeom>
          <a:noFill/>
          <a:ln/>
        </p:spPr>
        <p:txBody>
          <a:bodyPr wrap="square" rtlCol="0" anchor="ctr"/>
          <a:lstStyle/>
          <a:p>
            <a:pPr algn="ctr" indent="0" marL="0">
              <a:buNone/>
            </a:pPr>
            <a:r>
              <a:rPr lang="en-US" sz="2600" b="1" dirty="0">
                <a:solidFill>
                  <a:srgbClr val="FFFFFF"/>
                </a:solidFill>
                <a:latin typeface="Times New Roman" pitchFamily="34" charset="0"/>
                <a:ea typeface="Times New Roman" pitchFamily="34" charset="-122"/>
                <a:cs typeface="Times New Roman" pitchFamily="34" charset="-120"/>
              </a:rPr>
              <a:t>4/4</a:t>
            </a:r>
            <a:endParaRPr lang="en-US" sz="2600" dirty="0"/>
          </a:p>
        </p:txBody>
      </p:sp>
      <p:sp>
        <p:nvSpPr>
          <p:cNvPr id="30" name="Text 28"/>
          <p:cNvSpPr/>
          <p:nvPr/>
        </p:nvSpPr>
        <p:spPr>
          <a:xfrm>
            <a:off x="7958328" y="5029200"/>
            <a:ext cx="3727704" cy="274320"/>
          </a:xfrm>
          <a:prstGeom prst="rect">
            <a:avLst/>
          </a:prstGeom>
          <a:noFill/>
          <a:ln/>
        </p:spPr>
        <p:txBody>
          <a:bodyPr wrap="square"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câu hỏi nghiên cứu được trả lời</a:t>
            </a:r>
            <a:endParaRPr lang="en-US" sz="1000" dirty="0"/>
          </a:p>
        </p:txBody>
      </p:sp>
      <p:sp>
        <p:nvSpPr>
          <p:cNvPr id="31" name="Text 29"/>
          <p:cNvSpPr/>
          <p:nvPr/>
        </p:nvSpPr>
        <p:spPr>
          <a:xfrm>
            <a:off x="502920" y="5623560"/>
            <a:ext cx="11155680" cy="54864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Mỗi công thức trong framework đều truy vết được tới nguồn học thuật cụ thể, có lý do rõ ràng cho việc được chọn thay vì các phương án khác, và có ghi nhận rõ giới hạn áp dụng.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2026-08-25T14:19:42Z</dcterms:created>
  <dcterms:modified xsi:type="dcterms:W3CDTF">2026-08-25T14:19:42Z</dcterms:modified>
</cp:coreProperties>
</file>