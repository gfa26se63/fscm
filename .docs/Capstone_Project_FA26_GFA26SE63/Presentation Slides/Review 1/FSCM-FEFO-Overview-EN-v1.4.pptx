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p:scale>
          <a:sx n="125" d="100"/>
          <a:sy n="125" d="100"/>
        </p:scale>
        <p:origin x="-102" y="-15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347448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2E33"/>
        </a:solidFill>
        <a:effectLst/>
      </p:bgPr>
    </p:bg>
    <p:spTree>
      <p:nvGrpSpPr>
        <p:cNvPr id="1" name=""/>
        <p:cNvGrpSpPr/>
        <p:nvPr/>
      </p:nvGrpSpPr>
      <p:grpSpPr>
        <a:xfrm>
          <a:off x="0" y="0"/>
          <a:ext cx="0" cy="0"/>
          <a:chOff x="0" y="0"/>
          <a:chExt cx="0" cy="0"/>
        </a:xfrm>
      </p:grpSpPr>
      <p:sp>
        <p:nvSpPr>
          <p:cNvPr id="3" name="Text 1"/>
          <p:cNvSpPr txBox="1"/>
          <p:nvPr/>
        </p:nvSpPr>
        <p:spPr>
          <a:xfrm>
            <a:off x="777240" y="777240"/>
            <a:ext cx="10058400" cy="292608"/>
          </a:xfrm>
          <a:prstGeom prst="rect">
            <a:avLst/>
          </a:prstGeom>
          <a:noFill/>
          <a:ln/>
        </p:spPr>
        <p:txBody>
          <a:bodyPr wrap="square" lIns="0" tIns="0" rIns="0" bIns="0" rtlCol="0" anchor="ctr"/>
          <a:lstStyle/>
          <a:p>
            <a:pPr marL="0" indent="0">
              <a:buNone/>
            </a:pPr>
            <a:r>
              <a:rPr lang="en-US" sz="1200" b="1" kern="0" spc="250" dirty="0">
                <a:solidFill>
                  <a:srgbClr val="02C39A"/>
                </a:solidFill>
                <a:latin typeface="Calibri" pitchFamily="34" charset="0"/>
                <a:ea typeface="Calibri" pitchFamily="34" charset="-122"/>
                <a:cs typeface="Calibri" pitchFamily="34" charset="-120"/>
              </a:rPr>
              <a:t>CAPSTONE PROJECT  ·  SOFTWARE ENGINEERING  ·  FA26SE083</a:t>
            </a:r>
            <a:endParaRPr lang="en-US" sz="1200" dirty="0"/>
          </a:p>
        </p:txBody>
      </p:sp>
      <p:sp>
        <p:nvSpPr>
          <p:cNvPr id="4" name="Text 2"/>
          <p:cNvSpPr txBox="1"/>
          <p:nvPr/>
        </p:nvSpPr>
        <p:spPr>
          <a:xfrm>
            <a:off x="731520" y="1143000"/>
            <a:ext cx="10058400" cy="1005840"/>
          </a:xfrm>
          <a:prstGeom prst="rect">
            <a:avLst/>
          </a:prstGeom>
          <a:noFill/>
          <a:ln/>
        </p:spPr>
        <p:txBody>
          <a:bodyPr wrap="square" lIns="0" tIns="0" rIns="0" bIns="0" rtlCol="0" anchor="ctr"/>
          <a:lstStyle/>
          <a:p>
            <a:pPr marL="0" indent="0">
              <a:buNone/>
            </a:pPr>
            <a:r>
              <a:rPr lang="en-US" sz="7200" b="1" dirty="0">
                <a:solidFill>
                  <a:srgbClr val="FFFFFF"/>
                </a:solidFill>
                <a:latin typeface="Cambria" pitchFamily="34" charset="0"/>
                <a:ea typeface="Cambria" pitchFamily="34" charset="-122"/>
                <a:cs typeface="Cambria" pitchFamily="34" charset="-120"/>
              </a:rPr>
              <a:t>FSCM</a:t>
            </a:r>
            <a:endParaRPr lang="en-US" sz="7200" dirty="0"/>
          </a:p>
        </p:txBody>
      </p:sp>
      <p:sp>
        <p:nvSpPr>
          <p:cNvPr id="5" name="Text 3"/>
          <p:cNvSpPr txBox="1"/>
          <p:nvPr/>
        </p:nvSpPr>
        <p:spPr>
          <a:xfrm>
            <a:off x="777240" y="2240280"/>
            <a:ext cx="10515600" cy="822960"/>
          </a:xfrm>
          <a:prstGeom prst="rect">
            <a:avLst/>
          </a:prstGeom>
          <a:noFill/>
          <a:ln/>
        </p:spPr>
        <p:txBody>
          <a:bodyPr wrap="square" lIns="0" tIns="0" rIns="0" bIns="0" rtlCol="0" anchor="t"/>
          <a:lstStyle/>
          <a:p>
            <a:pPr marL="0" indent="0">
              <a:lnSpc>
                <a:spcPct val="130000"/>
              </a:lnSpc>
              <a:buNone/>
            </a:pPr>
            <a:r>
              <a:rPr lang="en-US" sz="1900" dirty="0">
                <a:solidFill>
                  <a:srgbClr val="C8E8E2"/>
                </a:solidFill>
                <a:latin typeface="Calibri" pitchFamily="34" charset="0"/>
                <a:ea typeface="Calibri" pitchFamily="34" charset="-122"/>
                <a:cs typeface="Calibri" pitchFamily="34" charset="-120"/>
              </a:rPr>
              <a:t>Short Shelf-Life FMCG Supply Chain Management</a:t>
            </a:r>
            <a:endParaRPr lang="en-US" sz="1900" dirty="0"/>
          </a:p>
          <a:p>
            <a:pPr marL="0" indent="0">
              <a:lnSpc>
                <a:spcPct val="130000"/>
              </a:lnSpc>
              <a:buNone/>
            </a:pPr>
            <a:r>
              <a:rPr lang="en-US" sz="1900" dirty="0">
                <a:solidFill>
                  <a:srgbClr val="C8E8E2"/>
                </a:solidFill>
                <a:latin typeface="Calibri" pitchFamily="34" charset="0"/>
                <a:ea typeface="Calibri" pitchFamily="34" charset="-122"/>
                <a:cs typeface="Calibri" pitchFamily="34" charset="-120"/>
              </a:rPr>
              <a:t>and Distribution Coordination System with FEFO Optimization</a:t>
            </a:r>
            <a:endParaRPr lang="en-US" sz="1900" dirty="0"/>
          </a:p>
        </p:txBody>
      </p:sp>
      <p:sp>
        <p:nvSpPr>
          <p:cNvPr id="6" name="Text 4"/>
          <p:cNvSpPr txBox="1"/>
          <p:nvPr/>
        </p:nvSpPr>
        <p:spPr>
          <a:xfrm>
            <a:off x="777240" y="3154680"/>
            <a:ext cx="10515600" cy="329184"/>
          </a:xfrm>
          <a:prstGeom prst="rect">
            <a:avLst/>
          </a:prstGeom>
          <a:noFill/>
          <a:ln/>
        </p:spPr>
        <p:txBody>
          <a:bodyPr wrap="square" lIns="0" tIns="0" rIns="0" bIns="0" rtlCol="0" anchor="ctr"/>
          <a:lstStyle/>
          <a:p>
            <a:pPr marL="0" indent="0">
              <a:buNone/>
            </a:pPr>
            <a:r>
              <a:rPr lang="en-US" sz="1300" i="1" dirty="0">
                <a:solidFill>
                  <a:srgbClr val="6FAFA6"/>
                </a:solidFill>
                <a:latin typeface="Calibri" pitchFamily="34" charset="0"/>
                <a:ea typeface="Calibri" pitchFamily="34" charset="-122"/>
                <a:cs typeface="Calibri" pitchFamily="34" charset="-120"/>
              </a:rPr>
              <a:t>Hệ thống Quản trị và Điều phối Chuỗi Cung ứng FMCG Ngắn Hạn với Tối ưu hoá FEFO</a:t>
            </a:r>
            <a:endParaRPr lang="en-US" sz="1300" dirty="0"/>
          </a:p>
        </p:txBody>
      </p:sp>
      <p:sp>
        <p:nvSpPr>
          <p:cNvPr id="7" name="Shape 5"/>
          <p:cNvSpPr/>
          <p:nvPr/>
        </p:nvSpPr>
        <p:spPr>
          <a:xfrm>
            <a:off x="777240" y="3749040"/>
            <a:ext cx="10607040" cy="9144"/>
          </a:xfrm>
          <a:prstGeom prst="rect">
            <a:avLst/>
          </a:prstGeom>
          <a:solidFill>
            <a:srgbClr val="1C5A60"/>
          </a:solidFill>
          <a:ln w="12700">
            <a:solidFill>
              <a:srgbClr val="1C5A60"/>
            </a:solidFill>
            <a:prstDash val="solid"/>
          </a:ln>
        </p:spPr>
      </p:sp>
      <p:sp>
        <p:nvSpPr>
          <p:cNvPr id="8" name="Text 6"/>
          <p:cNvSpPr txBox="1"/>
          <p:nvPr/>
        </p:nvSpPr>
        <p:spPr>
          <a:xfrm>
            <a:off x="777240" y="3931920"/>
            <a:ext cx="4572000" cy="237744"/>
          </a:xfrm>
          <a:prstGeom prst="rect">
            <a:avLst/>
          </a:prstGeom>
          <a:noFill/>
          <a:ln/>
        </p:spPr>
        <p:txBody>
          <a:bodyPr wrap="square" lIns="0" tIns="0" rIns="0" bIns="0" rtlCol="0" anchor="ctr"/>
          <a:lstStyle/>
          <a:p>
            <a:pPr marL="0" indent="0">
              <a:buNone/>
            </a:pPr>
            <a:r>
              <a:rPr lang="en-US" sz="900" b="1" kern="0" spc="300" dirty="0">
                <a:solidFill>
                  <a:srgbClr val="02C39A"/>
                </a:solidFill>
                <a:latin typeface="Calibri" pitchFamily="34" charset="0"/>
                <a:ea typeface="Calibri" pitchFamily="34" charset="-122"/>
                <a:cs typeface="Calibri" pitchFamily="34" charset="-120"/>
              </a:rPr>
              <a:t>SUPERVISOR</a:t>
            </a:r>
            <a:endParaRPr lang="en-US" sz="900" dirty="0"/>
          </a:p>
        </p:txBody>
      </p:sp>
      <p:sp>
        <p:nvSpPr>
          <p:cNvPr id="9" name="Shape 7"/>
          <p:cNvSpPr/>
          <p:nvPr/>
        </p:nvSpPr>
        <p:spPr>
          <a:xfrm>
            <a:off x="777240" y="4224528"/>
            <a:ext cx="2834640" cy="438912"/>
          </a:xfrm>
          <a:prstGeom prst="roundRect">
            <a:avLst>
              <a:gd name="adj" fmla="val 50000"/>
            </a:avLst>
          </a:prstGeom>
          <a:solidFill>
            <a:srgbClr val="02C39A"/>
          </a:solidFill>
          <a:ln w="12700">
            <a:solidFill>
              <a:srgbClr val="02C39A"/>
            </a:solidFill>
            <a:prstDash val="solid"/>
          </a:ln>
        </p:spPr>
      </p:sp>
      <p:sp>
        <p:nvSpPr>
          <p:cNvPr id="10" name="Text 8"/>
          <p:cNvSpPr txBox="1"/>
          <p:nvPr/>
        </p:nvSpPr>
        <p:spPr>
          <a:xfrm>
            <a:off x="777240" y="4224528"/>
            <a:ext cx="2834640" cy="438912"/>
          </a:xfrm>
          <a:prstGeom prst="rect">
            <a:avLst/>
          </a:prstGeom>
          <a:noFill/>
          <a:ln/>
        </p:spPr>
        <p:txBody>
          <a:bodyPr wrap="square" lIns="0" tIns="0" rIns="0" bIns="0" rtlCol="0" anchor="ctr"/>
          <a:lstStyle/>
          <a:p>
            <a:pPr marL="0" indent="0" algn="ctr">
              <a:buNone/>
            </a:pPr>
            <a:r>
              <a:rPr lang="en-US" sz="1300" b="1" dirty="0">
                <a:solidFill>
                  <a:srgbClr val="0B2E33"/>
                </a:solidFill>
                <a:latin typeface="Calibri" pitchFamily="34" charset="0"/>
                <a:ea typeface="Calibri" pitchFamily="34" charset="-122"/>
                <a:cs typeface="Calibri" pitchFamily="34" charset="-120"/>
              </a:rPr>
              <a:t>Le Thi Quynh Chi</a:t>
            </a:r>
            <a:endParaRPr lang="en-US" sz="1300" dirty="0"/>
          </a:p>
        </p:txBody>
      </p:sp>
      <p:sp>
        <p:nvSpPr>
          <p:cNvPr id="11" name="Text 9"/>
          <p:cNvSpPr txBox="1"/>
          <p:nvPr/>
        </p:nvSpPr>
        <p:spPr>
          <a:xfrm>
            <a:off x="777240" y="4864608"/>
            <a:ext cx="5486400" cy="237744"/>
          </a:xfrm>
          <a:prstGeom prst="rect">
            <a:avLst/>
          </a:prstGeom>
          <a:noFill/>
          <a:ln/>
        </p:spPr>
        <p:txBody>
          <a:bodyPr wrap="square" lIns="0" tIns="0" rIns="0" bIns="0" rtlCol="0" anchor="ctr"/>
          <a:lstStyle/>
          <a:p>
            <a:pPr marL="0" indent="0">
              <a:buNone/>
            </a:pPr>
            <a:r>
              <a:rPr lang="en-US" sz="900" b="1" kern="0" spc="300" dirty="0">
                <a:solidFill>
                  <a:srgbClr val="02C39A"/>
                </a:solidFill>
                <a:latin typeface="Calibri" pitchFamily="34" charset="0"/>
                <a:ea typeface="Calibri" pitchFamily="34" charset="-122"/>
                <a:cs typeface="Calibri" pitchFamily="34" charset="-120"/>
              </a:rPr>
              <a:t>TEAM MEMBERS</a:t>
            </a:r>
            <a:endParaRPr lang="en-US" sz="900" dirty="0"/>
          </a:p>
        </p:txBody>
      </p:sp>
      <p:sp>
        <p:nvSpPr>
          <p:cNvPr id="12" name="Shape 10"/>
          <p:cNvSpPr/>
          <p:nvPr/>
        </p:nvSpPr>
        <p:spPr>
          <a:xfrm>
            <a:off x="777240" y="5157216"/>
            <a:ext cx="1938528" cy="438912"/>
          </a:xfrm>
          <a:prstGeom prst="roundRect">
            <a:avLst>
              <a:gd name="adj" fmla="val 50000"/>
            </a:avLst>
          </a:prstGeom>
          <a:solidFill>
            <a:srgbClr val="0F3D42"/>
          </a:solidFill>
          <a:ln w="12700">
            <a:solidFill>
              <a:srgbClr val="00A896"/>
            </a:solidFill>
            <a:prstDash val="solid"/>
          </a:ln>
        </p:spPr>
      </p:sp>
      <p:sp>
        <p:nvSpPr>
          <p:cNvPr id="13" name="Text 11"/>
          <p:cNvSpPr txBox="1"/>
          <p:nvPr/>
        </p:nvSpPr>
        <p:spPr>
          <a:xfrm>
            <a:off x="777240" y="5157216"/>
            <a:ext cx="1938528" cy="43891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Nguyen Thien Nhan (Leader)</a:t>
            </a:r>
            <a:endParaRPr lang="en-US" sz="1100" dirty="0"/>
          </a:p>
        </p:txBody>
      </p:sp>
      <p:sp>
        <p:nvSpPr>
          <p:cNvPr id="14" name="Shape 12"/>
          <p:cNvSpPr/>
          <p:nvPr/>
        </p:nvSpPr>
        <p:spPr>
          <a:xfrm>
            <a:off x="2788920" y="5157216"/>
            <a:ext cx="1938528" cy="438912"/>
          </a:xfrm>
          <a:prstGeom prst="roundRect">
            <a:avLst>
              <a:gd name="adj" fmla="val 50000"/>
            </a:avLst>
          </a:prstGeom>
          <a:solidFill>
            <a:srgbClr val="0F3D42"/>
          </a:solidFill>
          <a:ln w="12700">
            <a:solidFill>
              <a:srgbClr val="00A896"/>
            </a:solidFill>
            <a:prstDash val="solid"/>
          </a:ln>
        </p:spPr>
      </p:sp>
      <p:sp>
        <p:nvSpPr>
          <p:cNvPr id="15" name="Text 13"/>
          <p:cNvSpPr txBox="1"/>
          <p:nvPr/>
        </p:nvSpPr>
        <p:spPr>
          <a:xfrm>
            <a:off x="2788920" y="5157216"/>
            <a:ext cx="1938528" cy="43891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Tran Ngoc Khiet</a:t>
            </a:r>
            <a:endParaRPr lang="en-US" sz="1100" dirty="0"/>
          </a:p>
        </p:txBody>
      </p:sp>
      <p:sp>
        <p:nvSpPr>
          <p:cNvPr id="16" name="Shape 14"/>
          <p:cNvSpPr/>
          <p:nvPr/>
        </p:nvSpPr>
        <p:spPr>
          <a:xfrm>
            <a:off x="4800600" y="5157216"/>
            <a:ext cx="1938528" cy="438912"/>
          </a:xfrm>
          <a:prstGeom prst="roundRect">
            <a:avLst>
              <a:gd name="adj" fmla="val 50000"/>
            </a:avLst>
          </a:prstGeom>
          <a:solidFill>
            <a:srgbClr val="0F3D42"/>
          </a:solidFill>
          <a:ln w="12700">
            <a:solidFill>
              <a:srgbClr val="00A896"/>
            </a:solidFill>
            <a:prstDash val="solid"/>
          </a:ln>
        </p:spPr>
      </p:sp>
      <p:sp>
        <p:nvSpPr>
          <p:cNvPr id="17" name="Text 15"/>
          <p:cNvSpPr txBox="1"/>
          <p:nvPr/>
        </p:nvSpPr>
        <p:spPr>
          <a:xfrm>
            <a:off x="4800600" y="5157216"/>
            <a:ext cx="1938528" cy="43891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Doan Duc Hai</a:t>
            </a:r>
            <a:endParaRPr lang="en-US" sz="1100" dirty="0"/>
          </a:p>
        </p:txBody>
      </p:sp>
      <p:sp>
        <p:nvSpPr>
          <p:cNvPr id="18" name="Shape 16"/>
          <p:cNvSpPr/>
          <p:nvPr/>
        </p:nvSpPr>
        <p:spPr>
          <a:xfrm>
            <a:off x="6812280" y="5157216"/>
            <a:ext cx="1938528" cy="438912"/>
          </a:xfrm>
          <a:prstGeom prst="roundRect">
            <a:avLst>
              <a:gd name="adj" fmla="val 50000"/>
            </a:avLst>
          </a:prstGeom>
          <a:solidFill>
            <a:srgbClr val="0F3D42"/>
          </a:solidFill>
          <a:ln w="12700">
            <a:solidFill>
              <a:srgbClr val="00A896"/>
            </a:solidFill>
            <a:prstDash val="solid"/>
          </a:ln>
        </p:spPr>
      </p:sp>
      <p:sp>
        <p:nvSpPr>
          <p:cNvPr id="19" name="Text 17"/>
          <p:cNvSpPr txBox="1"/>
          <p:nvPr/>
        </p:nvSpPr>
        <p:spPr>
          <a:xfrm>
            <a:off x="6812280" y="5157216"/>
            <a:ext cx="1938528" cy="43891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Vo Minh Son</a:t>
            </a:r>
            <a:endParaRPr lang="en-US" sz="1100" dirty="0"/>
          </a:p>
        </p:txBody>
      </p:sp>
      <p:sp>
        <p:nvSpPr>
          <p:cNvPr id="20" name="Shape 18"/>
          <p:cNvSpPr/>
          <p:nvPr/>
        </p:nvSpPr>
        <p:spPr>
          <a:xfrm>
            <a:off x="8823960" y="5157216"/>
            <a:ext cx="1938528" cy="438912"/>
          </a:xfrm>
          <a:prstGeom prst="roundRect">
            <a:avLst>
              <a:gd name="adj" fmla="val 50000"/>
            </a:avLst>
          </a:prstGeom>
          <a:solidFill>
            <a:srgbClr val="0F3D42"/>
          </a:solidFill>
          <a:ln w="12700">
            <a:solidFill>
              <a:srgbClr val="00A896"/>
            </a:solidFill>
            <a:prstDash val="solid"/>
          </a:ln>
        </p:spPr>
      </p:sp>
      <p:sp>
        <p:nvSpPr>
          <p:cNvPr id="21" name="Text 19"/>
          <p:cNvSpPr txBox="1"/>
          <p:nvPr/>
        </p:nvSpPr>
        <p:spPr>
          <a:xfrm>
            <a:off x="8823960" y="5157216"/>
            <a:ext cx="1938528" cy="43891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Truong Le Huy Hoang</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AF9"/>
        </a:solidFill>
        <a:effectLst/>
      </p:bgPr>
    </p:bg>
    <p:spTree>
      <p:nvGrpSpPr>
        <p:cNvPr id="1" name=""/>
        <p:cNvGrpSpPr/>
        <p:nvPr/>
      </p:nvGrpSpPr>
      <p:grpSpPr>
        <a:xfrm>
          <a:off x="0" y="0"/>
          <a:ext cx="0" cy="0"/>
          <a:chOff x="0" y="0"/>
          <a:chExt cx="0" cy="0"/>
        </a:xfrm>
      </p:grpSpPr>
      <p:sp>
        <p:nvSpPr>
          <p:cNvPr id="2" name="Text 0"/>
          <p:cNvSpPr txBox="1"/>
          <p:nvPr/>
        </p:nvSpPr>
        <p:spPr>
          <a:xfrm>
            <a:off x="502920" y="402336"/>
            <a:ext cx="10058400" cy="292608"/>
          </a:xfrm>
          <a:prstGeom prst="rect">
            <a:avLst/>
          </a:prstGeom>
          <a:noFill/>
          <a:ln/>
        </p:spPr>
        <p:txBody>
          <a:bodyPr wrap="square" lIns="0" tIns="0" rIns="0" bIns="0" rtlCol="0" anchor="ctr"/>
          <a:lstStyle/>
          <a:p>
            <a:pPr marL="0" indent="0">
              <a:buNone/>
            </a:pPr>
            <a:r>
              <a:rPr lang="en-US" sz="1100" b="1" kern="0" spc="300" dirty="0">
                <a:solidFill>
                  <a:srgbClr val="028090"/>
                </a:solidFill>
                <a:latin typeface="Calibri" pitchFamily="34" charset="0"/>
                <a:ea typeface="Calibri" pitchFamily="34" charset="-122"/>
                <a:cs typeface="Calibri" pitchFamily="34" charset="-120"/>
              </a:rPr>
              <a:t>01 · PROJECT BACKGROUND</a:t>
            </a:r>
            <a:endParaRPr lang="en-US" sz="1100" dirty="0"/>
          </a:p>
        </p:txBody>
      </p:sp>
      <p:sp>
        <p:nvSpPr>
          <p:cNvPr id="3" name="Shape 1"/>
          <p:cNvSpPr/>
          <p:nvPr/>
        </p:nvSpPr>
        <p:spPr>
          <a:xfrm>
            <a:off x="502920" y="731520"/>
            <a:ext cx="11201400" cy="13716"/>
          </a:xfrm>
          <a:prstGeom prst="rect">
            <a:avLst/>
          </a:prstGeom>
          <a:solidFill>
            <a:srgbClr val="BFE8DC"/>
          </a:solidFill>
          <a:ln w="12700">
            <a:solidFill>
              <a:srgbClr val="BFE8DC"/>
            </a:solidFill>
            <a:prstDash val="solid"/>
          </a:ln>
        </p:spPr>
      </p:sp>
      <p:sp>
        <p:nvSpPr>
          <p:cNvPr id="4" name="Text 2"/>
          <p:cNvSpPr txBox="1"/>
          <p:nvPr/>
        </p:nvSpPr>
        <p:spPr>
          <a:xfrm>
            <a:off x="502920" y="777240"/>
            <a:ext cx="11201400" cy="594360"/>
          </a:xfrm>
          <a:prstGeom prst="rect">
            <a:avLst/>
          </a:prstGeom>
          <a:noFill/>
          <a:ln/>
        </p:spPr>
        <p:txBody>
          <a:bodyPr wrap="square" lIns="0" tIns="0" rIns="0" bIns="0" rtlCol="0" anchor="ctr"/>
          <a:lstStyle/>
          <a:p>
            <a:pPr marL="0" indent="0">
              <a:buNone/>
            </a:pPr>
            <a:r>
              <a:rPr lang="en-US" sz="3000" b="1" dirty="0">
                <a:solidFill>
                  <a:srgbClr val="13292C"/>
                </a:solidFill>
                <a:latin typeface="Cambria" pitchFamily="34" charset="0"/>
                <a:ea typeface="Cambria" pitchFamily="34" charset="-122"/>
                <a:cs typeface="Cambria" pitchFamily="34" charset="-120"/>
              </a:rPr>
              <a:t>Product Background</a:t>
            </a:r>
            <a:endParaRPr lang="en-US" sz="3000" dirty="0"/>
          </a:p>
        </p:txBody>
      </p:sp>
      <p:sp>
        <p:nvSpPr>
          <p:cNvPr id="5" name="Text 3"/>
          <p:cNvSpPr txBox="1"/>
          <p:nvPr/>
        </p:nvSpPr>
        <p:spPr>
          <a:xfrm>
            <a:off x="502920" y="1508760"/>
            <a:ext cx="5669280" cy="329184"/>
          </a:xfrm>
          <a:prstGeom prst="rect">
            <a:avLst/>
          </a:prstGeom>
          <a:noFill/>
          <a:ln/>
        </p:spPr>
        <p:txBody>
          <a:bodyPr wrap="square" lIns="0" tIns="0" rIns="0" bIns="0" rtlCol="0" anchor="ctr"/>
          <a:lstStyle/>
          <a:p>
            <a:pPr marL="0" indent="0">
              <a:buNone/>
            </a:pPr>
            <a:r>
              <a:rPr lang="en-US" sz="1400" b="1" dirty="0">
                <a:solidFill>
                  <a:srgbClr val="028090"/>
                </a:solidFill>
                <a:latin typeface="Calibri" pitchFamily="34" charset="0"/>
                <a:ea typeface="Calibri" pitchFamily="34" charset="-122"/>
                <a:cs typeface="Calibri" pitchFamily="34" charset="-120"/>
              </a:rPr>
              <a:t>The Problem</a:t>
            </a:r>
            <a:endParaRPr lang="en-US" sz="1400" dirty="0"/>
          </a:p>
        </p:txBody>
      </p:sp>
      <p:sp>
        <p:nvSpPr>
          <p:cNvPr id="6" name="Text 4"/>
          <p:cNvSpPr txBox="1"/>
          <p:nvPr/>
        </p:nvSpPr>
        <p:spPr>
          <a:xfrm>
            <a:off x="502920" y="1874520"/>
            <a:ext cx="5577840" cy="1188720"/>
          </a:xfrm>
          <a:prstGeom prst="rect">
            <a:avLst/>
          </a:prstGeom>
          <a:noFill/>
          <a:ln/>
        </p:spPr>
        <p:txBody>
          <a:bodyPr wrap="square" lIns="0" tIns="0" rIns="0" bIns="0" rtlCol="0" anchor="t"/>
          <a:lstStyle/>
          <a:p>
            <a:pPr marL="0" indent="0">
              <a:lnSpc>
                <a:spcPct val="135000"/>
              </a:lnSpc>
              <a:buNone/>
            </a:pPr>
            <a:r>
              <a:rPr lang="en-US" sz="1250" dirty="0">
                <a:solidFill>
                  <a:srgbClr val="13292C"/>
                </a:solidFill>
                <a:latin typeface="Calibri" pitchFamily="34" charset="0"/>
                <a:ea typeface="Calibri" pitchFamily="34" charset="-122"/>
                <a:cs typeface="Calibri" pitchFamily="34" charset="-120"/>
              </a:rPr>
              <a:t>Short shelf-life FMCG products — dairy, fresh bakery, chilled goods — must be tracked by Batch/Lot and expiration date. FIFO alone is insufficient because a later receipt may expire sooner.</a:t>
            </a:r>
            <a:endParaRPr lang="en-US" sz="1250" dirty="0"/>
          </a:p>
        </p:txBody>
      </p:sp>
      <p:sp>
        <p:nvSpPr>
          <p:cNvPr id="7" name="Text 5"/>
          <p:cNvSpPr txBox="1"/>
          <p:nvPr/>
        </p:nvSpPr>
        <p:spPr>
          <a:xfrm>
            <a:off x="502920" y="3172968"/>
            <a:ext cx="5577840" cy="1188720"/>
          </a:xfrm>
          <a:prstGeom prst="rect">
            <a:avLst/>
          </a:prstGeom>
          <a:noFill/>
          <a:ln/>
        </p:spPr>
        <p:txBody>
          <a:bodyPr wrap="square" lIns="0" tIns="0" rIns="0" bIns="0" rtlCol="0" anchor="t"/>
          <a:lstStyle/>
          <a:p>
            <a:pPr marL="0" indent="0">
              <a:lnSpc>
                <a:spcPct val="135000"/>
              </a:lnSpc>
              <a:buNone/>
            </a:pPr>
            <a:r>
              <a:rPr lang="en-US" sz="1250" dirty="0">
                <a:solidFill>
                  <a:srgbClr val="13292C"/>
                </a:solidFill>
                <a:latin typeface="Calibri" pitchFamily="34" charset="0"/>
                <a:ea typeface="Calibri" pitchFamily="34" charset="-122"/>
                <a:cs typeface="Calibri" pitchFamily="34" charset="-120"/>
              </a:rPr>
              <a:t>One FMCG distributor operates a network of peer warehouses. Field Sales Representatives visit retailers and place orders on behalf of them; the Retailer later confirms delivery by scanning batch QR labels.</a:t>
            </a:r>
            <a:endParaRPr lang="en-US" sz="1250" dirty="0"/>
          </a:p>
        </p:txBody>
      </p:sp>
      <p:sp>
        <p:nvSpPr>
          <p:cNvPr id="8" name="Text 6"/>
          <p:cNvSpPr txBox="1"/>
          <p:nvPr/>
        </p:nvSpPr>
        <p:spPr>
          <a:xfrm>
            <a:off x="502920" y="4471416"/>
            <a:ext cx="5577840" cy="1188720"/>
          </a:xfrm>
          <a:prstGeom prst="rect">
            <a:avLst/>
          </a:prstGeom>
          <a:noFill/>
          <a:ln/>
        </p:spPr>
        <p:txBody>
          <a:bodyPr wrap="square" lIns="0" tIns="0" rIns="0" bIns="0" rtlCol="0" anchor="t"/>
          <a:lstStyle/>
          <a:p>
            <a:pPr marL="0" indent="0">
              <a:lnSpc>
                <a:spcPct val="135000"/>
              </a:lnSpc>
              <a:buNone/>
            </a:pPr>
            <a:r>
              <a:rPr lang="en-US" sz="1250" dirty="0">
                <a:solidFill>
                  <a:srgbClr val="13292C"/>
                </a:solidFill>
                <a:latin typeface="Calibri" pitchFamily="34" charset="0"/>
                <a:ea typeface="Calibri" pitchFamily="34" charset="-122"/>
                <a:cs typeface="Calibri" pitchFamily="34" charset="-120"/>
              </a:rPr>
              <a:t>Most SME distributors rely on spreadsheets or basic inventory tools that lack batch visibility, FEFO picking, and offline mobile ordering — yet large ERP suites like SAP EWM or MS Dynamics 365 SCM are too expensive and complex for this scale.</a:t>
            </a:r>
            <a:endParaRPr lang="en-US" sz="1250" dirty="0"/>
          </a:p>
        </p:txBody>
      </p:sp>
      <p:sp>
        <p:nvSpPr>
          <p:cNvPr id="9" name="Shape 7"/>
          <p:cNvSpPr/>
          <p:nvPr/>
        </p:nvSpPr>
        <p:spPr>
          <a:xfrm>
            <a:off x="6492240" y="1481328"/>
            <a:ext cx="5212080" cy="5138928"/>
          </a:xfrm>
          <a:prstGeom prst="roundRect">
            <a:avLst>
              <a:gd name="adj" fmla="val 1779"/>
            </a:avLst>
          </a:prstGeom>
          <a:solidFill>
            <a:srgbClr val="0B2E33"/>
          </a:solidFill>
          <a:ln w="12700">
            <a:solidFill>
              <a:srgbClr val="0B2E33"/>
            </a:solidFill>
            <a:prstDash val="solid"/>
          </a:ln>
          <a:effectLst>
            <a:outerShdw blurRad="63500" dist="25400" dir="5400000" algn="bl" rotWithShape="0">
              <a:srgbClr val="1B3B3B">
                <a:alpha val="15000"/>
              </a:srgbClr>
            </a:outerShdw>
          </a:effectLst>
        </p:spPr>
      </p:sp>
      <p:sp>
        <p:nvSpPr>
          <p:cNvPr id="10" name="Text 8"/>
          <p:cNvSpPr txBox="1"/>
          <p:nvPr/>
        </p:nvSpPr>
        <p:spPr>
          <a:xfrm>
            <a:off x="6858000" y="1773936"/>
            <a:ext cx="4480560" cy="256032"/>
          </a:xfrm>
          <a:prstGeom prst="rect">
            <a:avLst/>
          </a:prstGeom>
          <a:noFill/>
          <a:ln/>
        </p:spPr>
        <p:txBody>
          <a:bodyPr wrap="square" lIns="0" tIns="0" rIns="0" bIns="0" rtlCol="0" anchor="ctr"/>
          <a:lstStyle/>
          <a:p>
            <a:pPr marL="0" indent="0">
              <a:buNone/>
            </a:pPr>
            <a:r>
              <a:rPr lang="en-US" sz="1000" b="1" kern="0" spc="250" dirty="0">
                <a:solidFill>
                  <a:srgbClr val="02C39A"/>
                </a:solidFill>
                <a:latin typeface="Calibri" pitchFamily="34" charset="0"/>
                <a:ea typeface="Calibri" pitchFamily="34" charset="-122"/>
                <a:cs typeface="Calibri" pitchFamily="34" charset="-120"/>
              </a:rPr>
              <a:t>SOLUTION — FSCM</a:t>
            </a:r>
            <a:endParaRPr lang="en-US" sz="1000" dirty="0"/>
          </a:p>
        </p:txBody>
      </p:sp>
      <p:sp>
        <p:nvSpPr>
          <p:cNvPr id="11" name="Text 9"/>
          <p:cNvSpPr txBox="1"/>
          <p:nvPr/>
        </p:nvSpPr>
        <p:spPr>
          <a:xfrm>
            <a:off x="6858000" y="2103120"/>
            <a:ext cx="4480560" cy="822960"/>
          </a:xfrm>
          <a:prstGeom prst="rect">
            <a:avLst/>
          </a:prstGeom>
          <a:noFill/>
          <a:ln/>
        </p:spPr>
        <p:txBody>
          <a:bodyPr wrap="square" lIns="0" tIns="0" rIns="0" bIns="0" rtlCol="0" anchor="t"/>
          <a:lstStyle/>
          <a:p>
            <a:pPr marL="0" indent="0">
              <a:lnSpc>
                <a:spcPct val="130000"/>
              </a:lnSpc>
              <a:buNone/>
            </a:pPr>
            <a:r>
              <a:rPr lang="en-US" sz="1800" b="1" dirty="0">
                <a:solidFill>
                  <a:srgbClr val="FFFFFF"/>
                </a:solidFill>
                <a:latin typeface="Cambria" pitchFamily="34" charset="0"/>
                <a:ea typeface="Cambria" pitchFamily="34" charset="-122"/>
                <a:cs typeface="Cambria" pitchFamily="34" charset="-120"/>
              </a:rPr>
              <a:t>Batch/Lot · FEFO · Offline Mobile · Multi-warehouse</a:t>
            </a:r>
            <a:endParaRPr lang="en-US" sz="1800" dirty="0"/>
          </a:p>
        </p:txBody>
      </p:sp>
      <p:sp>
        <p:nvSpPr>
          <p:cNvPr id="12" name="Shape 10"/>
          <p:cNvSpPr/>
          <p:nvPr/>
        </p:nvSpPr>
        <p:spPr>
          <a:xfrm>
            <a:off x="6858000" y="3017520"/>
            <a:ext cx="4480560" cy="9144"/>
          </a:xfrm>
          <a:prstGeom prst="rect">
            <a:avLst/>
          </a:prstGeom>
          <a:solidFill>
            <a:srgbClr val="1C5A60"/>
          </a:solidFill>
          <a:ln w="12700">
            <a:solidFill>
              <a:srgbClr val="1C5A60"/>
            </a:solidFill>
            <a:prstDash val="solid"/>
          </a:ln>
        </p:spPr>
      </p:sp>
      <p:sp>
        <p:nvSpPr>
          <p:cNvPr id="13" name="Text 11"/>
          <p:cNvSpPr txBox="1"/>
          <p:nvPr/>
        </p:nvSpPr>
        <p:spPr>
          <a:xfrm>
            <a:off x="6858000" y="3145536"/>
            <a:ext cx="4480560" cy="3017520"/>
          </a:xfrm>
          <a:prstGeom prst="rect">
            <a:avLst/>
          </a:prstGeom>
          <a:noFill/>
          <a:ln/>
        </p:spPr>
        <p:txBody>
          <a:bodyPr wrap="square" lIns="0" tIns="0" rIns="0" bIns="0" rtlCol="0" anchor="t"/>
          <a:lstStyle/>
          <a:p>
            <a:pPr marL="127000" indent="-127000">
              <a:lnSpc>
                <a:spcPct val="115000"/>
              </a:lnSpc>
              <a:spcAft>
                <a:spcPts val="800"/>
              </a:spcAft>
              <a:buSzPct val="100000"/>
              <a:buChar char="•"/>
            </a:pPr>
            <a:r>
              <a:rPr lang="en-US" sz="1200" dirty="0">
                <a:solidFill>
                  <a:srgbClr val="C8E8E2"/>
                </a:solidFill>
                <a:latin typeface="Calibri" pitchFamily="34" charset="0"/>
                <a:ea typeface="Calibri" pitchFamily="34" charset="-122"/>
                <a:cs typeface="Calibri" pitchFamily="34" charset="-120"/>
              </a:rPr>
              <a:t>Links Batch/Lot goods receipt with QR labels and FEFO-based picking</a:t>
            </a:r>
            <a:endParaRPr lang="en-US" sz="1200" dirty="0"/>
          </a:p>
          <a:p>
            <a:pPr marL="127000" indent="-127000">
              <a:lnSpc>
                <a:spcPct val="115000"/>
              </a:lnSpc>
              <a:spcAft>
                <a:spcPts val="800"/>
              </a:spcAft>
              <a:buSzPct val="100000"/>
              <a:buChar char="•"/>
            </a:pPr>
            <a:r>
              <a:rPr lang="en-US" sz="1200" dirty="0">
                <a:solidFill>
                  <a:srgbClr val="C8E8E2"/>
                </a:solidFill>
                <a:latin typeface="Calibri" pitchFamily="34" charset="0"/>
                <a:ea typeface="Calibri" pitchFamily="34" charset="-122"/>
                <a:cs typeface="Calibri" pitchFamily="34" charset="-120"/>
              </a:rPr>
              <a:t>Mobile sales ordering with offline capture and auto-sync</a:t>
            </a:r>
            <a:endParaRPr lang="en-US" sz="1200" dirty="0"/>
          </a:p>
          <a:p>
            <a:pPr marL="127000" indent="-127000">
              <a:lnSpc>
                <a:spcPct val="115000"/>
              </a:lnSpc>
              <a:spcAft>
                <a:spcPts val="800"/>
              </a:spcAft>
              <a:buSzPct val="100000"/>
              <a:buChar char="•"/>
            </a:pPr>
            <a:r>
              <a:rPr lang="en-US" sz="1200" dirty="0">
                <a:solidFill>
                  <a:srgbClr val="C8E8E2"/>
                </a:solidFill>
                <a:latin typeface="Calibri" pitchFamily="34" charset="0"/>
                <a:ea typeface="Calibri" pitchFamily="34" charset="-122"/>
                <a:cs typeface="Calibri" pitchFamily="34" charset="-120"/>
              </a:rPr>
              <a:t>Multi-warehouse FEFO allocation: excludes expired batches and batches that fail retailer-SKU MLOR at ETA</a:t>
            </a:r>
            <a:endParaRPr lang="en-US" sz="1200" dirty="0"/>
          </a:p>
          <a:p>
            <a:pPr marL="127000" indent="-127000">
              <a:lnSpc>
                <a:spcPct val="115000"/>
              </a:lnSpc>
              <a:spcAft>
                <a:spcPts val="800"/>
              </a:spcAft>
              <a:buSzPct val="100000"/>
              <a:buChar char="•"/>
            </a:pPr>
            <a:r>
              <a:rPr lang="en-US" sz="1200" dirty="0">
                <a:solidFill>
                  <a:srgbClr val="C8E8E2"/>
                </a:solidFill>
                <a:latin typeface="Calibri" pitchFamily="34" charset="0"/>
                <a:ea typeface="Calibri" pitchFamily="34" charset="-122"/>
                <a:cs typeface="Calibri" pitchFamily="34" charset="-120"/>
              </a:rPr>
              <a:t>Web portal (React + Chart.js) and mobile app (Flutter) backed by ASP.NET Core REST API on Azure PostgreSQL</a:t>
            </a:r>
            <a:endParaRPr lang="en-US" sz="1200" dirty="0"/>
          </a:p>
        </p:txBody>
      </p:sp>
      <p:sp>
        <p:nvSpPr>
          <p:cNvPr id="14" name="Shape 12"/>
          <p:cNvSpPr/>
          <p:nvPr/>
        </p:nvSpPr>
        <p:spPr>
          <a:xfrm>
            <a:off x="6858000" y="6163056"/>
            <a:ext cx="4480560" cy="9144"/>
          </a:xfrm>
          <a:prstGeom prst="rect">
            <a:avLst/>
          </a:prstGeom>
          <a:solidFill>
            <a:srgbClr val="1C5A60"/>
          </a:solidFill>
          <a:ln w="12700">
            <a:solidFill>
              <a:srgbClr val="1C5A60"/>
            </a:solidFill>
            <a:prstDash val="solid"/>
          </a:ln>
        </p:spPr>
      </p:sp>
      <p:sp>
        <p:nvSpPr>
          <p:cNvPr id="15" name="Text 13"/>
          <p:cNvSpPr txBox="1"/>
          <p:nvPr/>
        </p:nvSpPr>
        <p:spPr>
          <a:xfrm>
            <a:off x="6858000" y="6236208"/>
            <a:ext cx="4480560" cy="274320"/>
          </a:xfrm>
          <a:prstGeom prst="rect">
            <a:avLst/>
          </a:prstGeom>
          <a:noFill/>
          <a:ln/>
        </p:spPr>
        <p:txBody>
          <a:bodyPr wrap="square" lIns="0" tIns="0" rIns="0" bIns="0" rtlCol="0" anchor="ctr"/>
          <a:lstStyle/>
          <a:p>
            <a:pPr marL="0" indent="0">
              <a:buNone/>
            </a:pPr>
            <a:r>
              <a:rPr lang="en-US" sz="1100" b="1" i="1" dirty="0">
                <a:solidFill>
                  <a:srgbClr val="02C39A"/>
                </a:solidFill>
                <a:latin typeface="Calibri" pitchFamily="34" charset="0"/>
                <a:ea typeface="Calibri" pitchFamily="34" charset="-122"/>
                <a:cs typeface="Calibri" pitchFamily="34" charset="-120"/>
              </a:rPr>
              <a:t>EXP − ETA ≥ MLOR   →   FEFO rank   →   pick nearest warehouse</a:t>
            </a:r>
            <a:endParaRPr lang="en-US" sz="1100" dirty="0"/>
          </a:p>
        </p:txBody>
      </p:sp>
      <p:sp>
        <p:nvSpPr>
          <p:cNvPr id="16" name="Text 14"/>
          <p:cNvSpPr txBox="1"/>
          <p:nvPr/>
        </p:nvSpPr>
        <p:spPr>
          <a:xfrm>
            <a:off x="502920" y="6510528"/>
            <a:ext cx="7315200" cy="201168"/>
          </a:xfrm>
          <a:prstGeom prst="rect">
            <a:avLst/>
          </a:prstGeom>
          <a:noFill/>
          <a:ln/>
        </p:spPr>
        <p:txBody>
          <a:bodyPr wrap="square" lIns="0" tIns="0" rIns="0" bIns="0" rtlCol="0" anchor="ctr"/>
          <a:lstStyle/>
          <a:p>
            <a:pPr marL="0" indent="0">
              <a:buNone/>
            </a:pPr>
            <a:r>
              <a:rPr lang="en-US" sz="850" dirty="0">
                <a:solidFill>
                  <a:srgbClr val="A8C5C0"/>
                </a:solidFill>
                <a:latin typeface="Calibri" pitchFamily="34" charset="0"/>
                <a:ea typeface="Calibri" pitchFamily="34" charset="-122"/>
                <a:cs typeface="Calibri" pitchFamily="34" charset="-120"/>
              </a:rPr>
              <a:t>FSCM  ·  Capstone Project Overview  ·  FA26SE083</a:t>
            </a:r>
            <a:endParaRPr lang="en-US" sz="850" dirty="0"/>
          </a:p>
        </p:txBody>
      </p:sp>
      <p:sp>
        <p:nvSpPr>
          <p:cNvPr id="17" name="Text 15"/>
          <p:cNvSpPr txBox="1"/>
          <p:nvPr/>
        </p:nvSpPr>
        <p:spPr>
          <a:xfrm>
            <a:off x="11338560" y="6510528"/>
            <a:ext cx="365760" cy="201168"/>
          </a:xfrm>
          <a:prstGeom prst="rect">
            <a:avLst/>
          </a:prstGeom>
          <a:noFill/>
          <a:ln/>
        </p:spPr>
        <p:txBody>
          <a:bodyPr wrap="square" lIns="0" tIns="0" rIns="0" bIns="0" rtlCol="0" anchor="ctr"/>
          <a:lstStyle/>
          <a:p>
            <a:pPr marL="0" indent="0" algn="r">
              <a:buNone/>
            </a:pPr>
            <a:r>
              <a:rPr lang="en-US" sz="850" dirty="0">
                <a:solidFill>
                  <a:srgbClr val="A8C5C0"/>
                </a:solidFill>
                <a:latin typeface="Calibri" pitchFamily="34" charset="0"/>
                <a:ea typeface="Calibri" pitchFamily="34" charset="-122"/>
                <a:cs typeface="Calibri" pitchFamily="34" charset="-120"/>
              </a:rPr>
              <a:t>2</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AF9"/>
        </a:solidFill>
        <a:effectLst/>
      </p:bgPr>
    </p:bg>
    <p:spTree>
      <p:nvGrpSpPr>
        <p:cNvPr id="1" name=""/>
        <p:cNvGrpSpPr/>
        <p:nvPr/>
      </p:nvGrpSpPr>
      <p:grpSpPr>
        <a:xfrm>
          <a:off x="0" y="0"/>
          <a:ext cx="0" cy="0"/>
          <a:chOff x="0" y="0"/>
          <a:chExt cx="0" cy="0"/>
        </a:xfrm>
      </p:grpSpPr>
      <p:sp>
        <p:nvSpPr>
          <p:cNvPr id="2" name="Text 0"/>
          <p:cNvSpPr txBox="1"/>
          <p:nvPr/>
        </p:nvSpPr>
        <p:spPr>
          <a:xfrm>
            <a:off x="502920" y="402336"/>
            <a:ext cx="10058400" cy="292608"/>
          </a:xfrm>
          <a:prstGeom prst="rect">
            <a:avLst/>
          </a:prstGeom>
          <a:noFill/>
          <a:ln/>
        </p:spPr>
        <p:txBody>
          <a:bodyPr wrap="square" lIns="0" tIns="0" rIns="0" bIns="0" rtlCol="0" anchor="ctr"/>
          <a:lstStyle/>
          <a:p>
            <a:pPr marL="0" indent="0">
              <a:buNone/>
            </a:pPr>
            <a:r>
              <a:rPr lang="en-US" sz="1100" b="1" kern="0" spc="300" dirty="0">
                <a:solidFill>
                  <a:srgbClr val="028090"/>
                </a:solidFill>
                <a:latin typeface="Calibri" pitchFamily="34" charset="0"/>
                <a:ea typeface="Calibri" pitchFamily="34" charset="-122"/>
                <a:cs typeface="Calibri" pitchFamily="34" charset="-120"/>
              </a:rPr>
              <a:t>01 · PROJECT BACKGROUND</a:t>
            </a:r>
            <a:endParaRPr lang="en-US" sz="1100" dirty="0"/>
          </a:p>
        </p:txBody>
      </p:sp>
      <p:sp>
        <p:nvSpPr>
          <p:cNvPr id="3" name="Shape 1"/>
          <p:cNvSpPr/>
          <p:nvPr/>
        </p:nvSpPr>
        <p:spPr>
          <a:xfrm>
            <a:off x="502920" y="731520"/>
            <a:ext cx="11201400" cy="13716"/>
          </a:xfrm>
          <a:prstGeom prst="rect">
            <a:avLst/>
          </a:prstGeom>
          <a:solidFill>
            <a:srgbClr val="BFE8DC"/>
          </a:solidFill>
          <a:ln w="12700">
            <a:solidFill>
              <a:srgbClr val="BFE8DC"/>
            </a:solidFill>
            <a:prstDash val="solid"/>
          </a:ln>
        </p:spPr>
      </p:sp>
      <p:sp>
        <p:nvSpPr>
          <p:cNvPr id="4" name="Text 2"/>
          <p:cNvSpPr txBox="1"/>
          <p:nvPr/>
        </p:nvSpPr>
        <p:spPr>
          <a:xfrm>
            <a:off x="502920" y="777240"/>
            <a:ext cx="11201400" cy="594360"/>
          </a:xfrm>
          <a:prstGeom prst="rect">
            <a:avLst/>
          </a:prstGeom>
          <a:noFill/>
          <a:ln/>
        </p:spPr>
        <p:txBody>
          <a:bodyPr wrap="square" lIns="0" tIns="0" rIns="0" bIns="0" rtlCol="0" anchor="ctr"/>
          <a:lstStyle/>
          <a:p>
            <a:pPr marL="0" indent="0">
              <a:buNone/>
            </a:pPr>
            <a:r>
              <a:rPr lang="en-US" sz="3000" b="1" dirty="0">
                <a:solidFill>
                  <a:srgbClr val="13292C"/>
                </a:solidFill>
                <a:latin typeface="Cambria" pitchFamily="34" charset="0"/>
                <a:ea typeface="Cambria" pitchFamily="34" charset="-122"/>
                <a:cs typeface="Cambria" pitchFamily="34" charset="-120"/>
              </a:rPr>
              <a:t>Project Scope &amp; Boundaries</a:t>
            </a:r>
            <a:endParaRPr lang="en-US" sz="3000" dirty="0"/>
          </a:p>
        </p:txBody>
      </p:sp>
      <p:sp>
        <p:nvSpPr>
          <p:cNvPr id="5" name="Shape 3"/>
          <p:cNvSpPr/>
          <p:nvPr/>
        </p:nvSpPr>
        <p:spPr>
          <a:xfrm>
            <a:off x="502920" y="1481328"/>
            <a:ext cx="5349240" cy="5120640"/>
          </a:xfrm>
          <a:prstGeom prst="roundRect">
            <a:avLst>
              <a:gd name="adj" fmla="val 1786"/>
            </a:avLst>
          </a:prstGeom>
          <a:solidFill>
            <a:srgbClr val="FFFFFF"/>
          </a:solidFill>
          <a:ln w="9525">
            <a:solidFill>
              <a:srgbClr val="BFE8DC"/>
            </a:solidFill>
            <a:prstDash val="solid"/>
          </a:ln>
          <a:effectLst>
            <a:outerShdw blurRad="63500" dist="25400" dir="5400000" algn="bl" rotWithShape="0">
              <a:srgbClr val="1B3B3B">
                <a:alpha val="15000"/>
              </a:srgbClr>
            </a:outerShdw>
          </a:effectLst>
        </p:spPr>
      </p:sp>
      <p:sp>
        <p:nvSpPr>
          <p:cNvPr id="6" name="Shape 4"/>
          <p:cNvSpPr/>
          <p:nvPr/>
        </p:nvSpPr>
        <p:spPr>
          <a:xfrm>
            <a:off x="502920" y="1481328"/>
            <a:ext cx="5349240" cy="384048"/>
          </a:xfrm>
          <a:prstGeom prst="roundRect">
            <a:avLst>
              <a:gd name="adj" fmla="val 19048"/>
            </a:avLst>
          </a:prstGeom>
          <a:solidFill>
            <a:srgbClr val="028090"/>
          </a:solidFill>
          <a:ln w="12700">
            <a:solidFill>
              <a:srgbClr val="028090"/>
            </a:solidFill>
            <a:prstDash val="solid"/>
          </a:ln>
        </p:spPr>
      </p:sp>
      <p:sp>
        <p:nvSpPr>
          <p:cNvPr id="7" name="Text 5"/>
          <p:cNvSpPr txBox="1"/>
          <p:nvPr/>
        </p:nvSpPr>
        <p:spPr>
          <a:xfrm>
            <a:off x="640080" y="1481328"/>
            <a:ext cx="5120640" cy="384048"/>
          </a:xfrm>
          <a:prstGeom prst="rect">
            <a:avLst/>
          </a:prstGeom>
          <a:noFill/>
          <a:ln/>
        </p:spPr>
        <p:txBody>
          <a:bodyPr wrap="square" lIns="0" tIns="0" rIns="0" bIns="0" rtlCol="0" anchor="ctr"/>
          <a:lstStyle/>
          <a:p>
            <a:pPr marL="0" indent="0">
              <a:buNone/>
            </a:pPr>
            <a:r>
              <a:rPr lang="en-US" sz="1200" b="1" kern="0" spc="100" dirty="0">
                <a:solidFill>
                  <a:srgbClr val="FFFFFF"/>
                </a:solidFill>
                <a:latin typeface="Calibri" pitchFamily="34" charset="0"/>
                <a:ea typeface="Calibri" pitchFamily="34" charset="-122"/>
                <a:cs typeface="Calibri" pitchFamily="34" charset="-120"/>
              </a:rPr>
              <a:t>✓  IN SCOPE</a:t>
            </a:r>
            <a:endParaRPr lang="en-US" sz="1200" dirty="0"/>
          </a:p>
        </p:txBody>
      </p:sp>
      <p:sp>
        <p:nvSpPr>
          <p:cNvPr id="8" name="Text 6"/>
          <p:cNvSpPr txBox="1"/>
          <p:nvPr/>
        </p:nvSpPr>
        <p:spPr>
          <a:xfrm>
            <a:off x="640080" y="1956816"/>
            <a:ext cx="5074920" cy="4572000"/>
          </a:xfrm>
          <a:prstGeom prst="rect">
            <a:avLst/>
          </a:prstGeom>
          <a:noFill/>
          <a:ln/>
        </p:spPr>
        <p:txBody>
          <a:bodyPr wrap="square" lIns="0" tIns="0" rIns="0" bIns="0" rtlCol="0" anchor="t"/>
          <a:lstStyle/>
          <a:p>
            <a:pPr marL="127000" indent="-127000">
              <a:lnSpc>
                <a:spcPct val="110000"/>
              </a:lnSpc>
              <a:spcAft>
                <a:spcPts val="600"/>
              </a:spcAft>
              <a:buSzPct val="100000"/>
              <a:buChar char="•"/>
            </a:pPr>
            <a:r>
              <a:rPr lang="en-US" sz="1150" dirty="0">
                <a:solidFill>
                  <a:srgbClr val="13292C"/>
                </a:solidFill>
                <a:latin typeface="Calibri" pitchFamily="34" charset="0"/>
                <a:ea typeface="Calibri" pitchFamily="34" charset="-122"/>
                <a:cs typeface="Calibri" pitchFamily="34" charset="-120"/>
              </a:rPr>
              <a:t>One FMCG distributor, multiple peer warehouses</a:t>
            </a:r>
            <a:endParaRPr lang="en-US" sz="1150" dirty="0"/>
          </a:p>
          <a:p>
            <a:pPr marL="127000" indent="-127000">
              <a:lnSpc>
                <a:spcPct val="110000"/>
              </a:lnSpc>
              <a:spcAft>
                <a:spcPts val="600"/>
              </a:spcAft>
              <a:buSzPct val="100000"/>
              <a:buChar char="•"/>
            </a:pPr>
            <a:r>
              <a:rPr lang="en-US" sz="1150" dirty="0">
                <a:solidFill>
                  <a:srgbClr val="13292C"/>
                </a:solidFill>
                <a:latin typeface="Calibri" pitchFamily="34" charset="0"/>
                <a:ea typeface="Calibri" pitchFamily="34" charset="-122"/>
                <a:cs typeface="Calibri" pitchFamily="34" charset="-120"/>
              </a:rPr>
              <a:t>Batch/Lot goods receipt with QR label generation</a:t>
            </a:r>
            <a:endParaRPr lang="en-US" sz="1150" dirty="0"/>
          </a:p>
          <a:p>
            <a:pPr marL="127000" indent="-127000">
              <a:lnSpc>
                <a:spcPct val="110000"/>
              </a:lnSpc>
              <a:spcAft>
                <a:spcPts val="600"/>
              </a:spcAft>
              <a:buSzPct val="100000"/>
              <a:buChar char="•"/>
            </a:pPr>
            <a:r>
              <a:rPr lang="en-US" sz="1150" dirty="0">
                <a:solidFill>
                  <a:srgbClr val="13292C"/>
                </a:solidFill>
                <a:latin typeface="Calibri" pitchFamily="34" charset="0"/>
                <a:ea typeface="Calibri" pitchFamily="34" charset="-122"/>
                <a:cs typeface="Calibri" pitchFamily="34" charset="-120"/>
              </a:rPr>
              <a:t>Retailer &amp; sales-territory management</a:t>
            </a:r>
            <a:endParaRPr lang="en-US" sz="1150" dirty="0"/>
          </a:p>
          <a:p>
            <a:pPr marL="127000" indent="-127000">
              <a:lnSpc>
                <a:spcPct val="110000"/>
              </a:lnSpc>
              <a:spcAft>
                <a:spcPts val="600"/>
              </a:spcAft>
              <a:buSzPct val="100000"/>
              <a:buChar char="•"/>
            </a:pPr>
            <a:r>
              <a:rPr lang="en-US" sz="1150" dirty="0">
                <a:solidFill>
                  <a:srgbClr val="13292C"/>
                </a:solidFill>
                <a:latin typeface="Calibri" pitchFamily="34" charset="0"/>
                <a:ea typeface="Calibri" pitchFamily="34" charset="-122"/>
                <a:cs typeface="Calibri" pitchFamily="34" charset="-120"/>
              </a:rPr>
              <a:t>Promotion management (per-SKU and product-group)</a:t>
            </a:r>
            <a:endParaRPr lang="en-US" sz="1150" dirty="0"/>
          </a:p>
          <a:p>
            <a:pPr marL="127000" indent="-127000">
              <a:lnSpc>
                <a:spcPct val="110000"/>
              </a:lnSpc>
              <a:spcAft>
                <a:spcPts val="600"/>
              </a:spcAft>
              <a:buSzPct val="100000"/>
              <a:buChar char="•"/>
            </a:pPr>
            <a:r>
              <a:rPr lang="en-US" sz="1150" dirty="0">
                <a:solidFill>
                  <a:srgbClr val="13292C"/>
                </a:solidFill>
                <a:latin typeface="Calibri" pitchFamily="34" charset="0"/>
                <a:ea typeface="Calibri" pitchFamily="34" charset="-122"/>
                <a:cs typeface="Calibri" pitchFamily="34" charset="-120"/>
              </a:rPr>
              <a:t>Mobile sales ordering — online &amp; offline (SQLite + sync)</a:t>
            </a:r>
            <a:endParaRPr lang="en-US" sz="1150" dirty="0"/>
          </a:p>
          <a:p>
            <a:pPr marL="127000" indent="-127000">
              <a:lnSpc>
                <a:spcPct val="110000"/>
              </a:lnSpc>
              <a:spcAft>
                <a:spcPts val="600"/>
              </a:spcAft>
              <a:buSzPct val="100000"/>
              <a:buChar char="•"/>
            </a:pPr>
            <a:r>
              <a:rPr lang="en-US" sz="1150" dirty="0">
                <a:solidFill>
                  <a:srgbClr val="13292C"/>
                </a:solidFill>
                <a:latin typeface="Calibri" pitchFamily="34" charset="0"/>
                <a:ea typeface="Calibri" pitchFamily="34" charset="-122"/>
                <a:cs typeface="Calibri" pitchFamily="34" charset="-120"/>
              </a:rPr>
              <a:t>FEFO + MLOR multi-warehouse allocation</a:t>
            </a:r>
            <a:endParaRPr lang="en-US" sz="1150" dirty="0"/>
          </a:p>
          <a:p>
            <a:pPr marL="127000" indent="-127000">
              <a:lnSpc>
                <a:spcPct val="110000"/>
              </a:lnSpc>
              <a:spcAft>
                <a:spcPts val="600"/>
              </a:spcAft>
              <a:buSzPct val="100000"/>
              <a:buChar char="•"/>
            </a:pPr>
            <a:r>
              <a:rPr lang="en-US" sz="1150" dirty="0">
                <a:solidFill>
                  <a:srgbClr val="13292C"/>
                </a:solidFill>
                <a:latin typeface="Calibri" pitchFamily="34" charset="0"/>
                <a:ea typeface="Calibri" pitchFamily="34" charset="-122"/>
                <a:cs typeface="Calibri" pitchFamily="34" charset="-120"/>
              </a:rPr>
              <a:t>Order approval, picking, goods issue with QR scan</a:t>
            </a:r>
            <a:endParaRPr lang="en-US" sz="1150" dirty="0"/>
          </a:p>
          <a:p>
            <a:pPr marL="127000" indent="-127000">
              <a:lnSpc>
                <a:spcPct val="110000"/>
              </a:lnSpc>
              <a:spcAft>
                <a:spcPts val="600"/>
              </a:spcAft>
              <a:buSzPct val="100000"/>
              <a:buChar char="•"/>
            </a:pPr>
            <a:r>
              <a:rPr lang="en-US" sz="1150" dirty="0">
                <a:solidFill>
                  <a:srgbClr val="13292C"/>
                </a:solidFill>
                <a:latin typeface="Calibri" pitchFamily="34" charset="0"/>
                <a:ea typeface="Calibri" pitchFamily="34" charset="-122"/>
                <a:cs typeface="Calibri" pitchFamily="34" charset="-120"/>
              </a:rPr>
              <a:t>Delivery confirmation by Retailer QR scan</a:t>
            </a:r>
            <a:endParaRPr lang="en-US" sz="1150" dirty="0"/>
          </a:p>
          <a:p>
            <a:pPr marL="127000" indent="-127000">
              <a:lnSpc>
                <a:spcPct val="110000"/>
              </a:lnSpc>
              <a:spcAft>
                <a:spcPts val="600"/>
              </a:spcAft>
              <a:buSzPct val="100000"/>
              <a:buChar char="•"/>
            </a:pPr>
            <a:r>
              <a:rPr lang="en-US" sz="1150" dirty="0">
                <a:solidFill>
                  <a:srgbClr val="13292C"/>
                </a:solidFill>
                <a:latin typeface="Calibri" pitchFamily="34" charset="0"/>
                <a:ea typeface="Calibri" pitchFamily="34" charset="-122"/>
                <a:cs typeface="Calibri" pitchFamily="34" charset="-120"/>
              </a:rPr>
              <a:t>Payment tracking (COD / prepaid QR); manual confirmation</a:t>
            </a:r>
            <a:endParaRPr lang="en-US" sz="1150" dirty="0"/>
          </a:p>
          <a:p>
            <a:pPr marL="127000" indent="-127000">
              <a:lnSpc>
                <a:spcPct val="110000"/>
              </a:lnSpc>
              <a:spcAft>
                <a:spcPts val="600"/>
              </a:spcAft>
              <a:buSzPct val="100000"/>
              <a:buChar char="•"/>
            </a:pPr>
            <a:r>
              <a:rPr lang="en-US" sz="1150" dirty="0">
                <a:solidFill>
                  <a:srgbClr val="13292C"/>
                </a:solidFill>
                <a:latin typeface="Calibri" pitchFamily="34" charset="0"/>
                <a:ea typeface="Calibri" pitchFamily="34" charset="-122"/>
                <a:cs typeface="Calibri" pitchFamily="34" charset="-120"/>
              </a:rPr>
              <a:t>Dashboards, sales leaderboard, push notifications</a:t>
            </a:r>
            <a:endParaRPr lang="en-US" sz="1150" dirty="0"/>
          </a:p>
        </p:txBody>
      </p:sp>
      <p:sp>
        <p:nvSpPr>
          <p:cNvPr id="9" name="Shape 7"/>
          <p:cNvSpPr/>
          <p:nvPr/>
        </p:nvSpPr>
        <p:spPr>
          <a:xfrm>
            <a:off x="6309360" y="1481328"/>
            <a:ext cx="5394960" cy="5120640"/>
          </a:xfrm>
          <a:prstGeom prst="roundRect">
            <a:avLst>
              <a:gd name="adj" fmla="val 1786"/>
            </a:avLst>
          </a:prstGeom>
          <a:solidFill>
            <a:srgbClr val="FFFFFF"/>
          </a:solidFill>
          <a:ln w="9525">
            <a:solidFill>
              <a:srgbClr val="BFE8DC"/>
            </a:solidFill>
            <a:prstDash val="solid"/>
          </a:ln>
          <a:effectLst>
            <a:outerShdw blurRad="63500" dist="25400" dir="5400000" algn="bl" rotWithShape="0">
              <a:srgbClr val="1B3B3B">
                <a:alpha val="15000"/>
              </a:srgbClr>
            </a:outerShdw>
          </a:effectLst>
        </p:spPr>
      </p:sp>
      <p:sp>
        <p:nvSpPr>
          <p:cNvPr id="10" name="Shape 8"/>
          <p:cNvSpPr/>
          <p:nvPr/>
        </p:nvSpPr>
        <p:spPr>
          <a:xfrm>
            <a:off x="6309360" y="1481328"/>
            <a:ext cx="5394960" cy="384048"/>
          </a:xfrm>
          <a:prstGeom prst="roundRect">
            <a:avLst>
              <a:gd name="adj" fmla="val 19048"/>
            </a:avLst>
          </a:prstGeom>
          <a:solidFill>
            <a:srgbClr val="6FAFA6"/>
          </a:solidFill>
          <a:ln w="12700">
            <a:solidFill>
              <a:srgbClr val="6FAFA6"/>
            </a:solidFill>
            <a:prstDash val="solid"/>
          </a:ln>
        </p:spPr>
      </p:sp>
      <p:sp>
        <p:nvSpPr>
          <p:cNvPr id="11" name="Text 9"/>
          <p:cNvSpPr txBox="1"/>
          <p:nvPr/>
        </p:nvSpPr>
        <p:spPr>
          <a:xfrm>
            <a:off x="6446520" y="1481328"/>
            <a:ext cx="5166360" cy="384048"/>
          </a:xfrm>
          <a:prstGeom prst="rect">
            <a:avLst/>
          </a:prstGeom>
          <a:noFill/>
          <a:ln/>
        </p:spPr>
        <p:txBody>
          <a:bodyPr wrap="square" lIns="0" tIns="0" rIns="0" bIns="0" rtlCol="0" anchor="ctr"/>
          <a:lstStyle/>
          <a:p>
            <a:pPr marL="0" indent="0">
              <a:buNone/>
            </a:pPr>
            <a:r>
              <a:rPr lang="en-US" sz="1200" b="1" kern="0" spc="100" dirty="0">
                <a:solidFill>
                  <a:srgbClr val="FFFFFF"/>
                </a:solidFill>
                <a:latin typeface="Calibri" pitchFamily="34" charset="0"/>
                <a:ea typeface="Calibri" pitchFamily="34" charset="-122"/>
                <a:cs typeface="Calibri" pitchFamily="34" charset="-120"/>
              </a:rPr>
              <a:t>✕  OUT OF SCOPE / DEFERRED</a:t>
            </a:r>
            <a:endParaRPr lang="en-US" sz="1200" dirty="0"/>
          </a:p>
        </p:txBody>
      </p:sp>
      <p:sp>
        <p:nvSpPr>
          <p:cNvPr id="12" name="Text 10"/>
          <p:cNvSpPr txBox="1"/>
          <p:nvPr/>
        </p:nvSpPr>
        <p:spPr>
          <a:xfrm>
            <a:off x="6446520" y="1956816"/>
            <a:ext cx="5166360" cy="4572000"/>
          </a:xfrm>
          <a:prstGeom prst="rect">
            <a:avLst/>
          </a:prstGeom>
          <a:noFill/>
          <a:ln/>
        </p:spPr>
        <p:txBody>
          <a:bodyPr wrap="square" lIns="0" tIns="0" rIns="0" bIns="0" rtlCol="0" anchor="t"/>
          <a:lstStyle/>
          <a:p>
            <a:pPr marL="127000" indent="-127000">
              <a:lnSpc>
                <a:spcPct val="110000"/>
              </a:lnSpc>
              <a:spcAft>
                <a:spcPts val="600"/>
              </a:spcAft>
              <a:buSzPct val="100000"/>
              <a:buChar char="•"/>
            </a:pPr>
            <a:r>
              <a:rPr lang="en-US" sz="1150" dirty="0">
                <a:solidFill>
                  <a:srgbClr val="13292C"/>
                </a:solidFill>
                <a:latin typeface="Calibri" pitchFamily="34" charset="0"/>
                <a:ea typeface="Calibri" pitchFamily="34" charset="-122"/>
                <a:cs typeface="Calibri" pitchFamily="34" charset="-120"/>
              </a:rPr>
              <a:t>Retail-store inventory management</a:t>
            </a:r>
            <a:endParaRPr lang="en-US" sz="1150" dirty="0"/>
          </a:p>
          <a:p>
            <a:pPr marL="127000" indent="-127000">
              <a:lnSpc>
                <a:spcPct val="110000"/>
              </a:lnSpc>
              <a:spcAft>
                <a:spcPts val="600"/>
              </a:spcAft>
              <a:buSzPct val="100000"/>
              <a:buChar char="•"/>
            </a:pPr>
            <a:r>
              <a:rPr lang="en-US" sz="1150" dirty="0">
                <a:solidFill>
                  <a:srgbClr val="13292C"/>
                </a:solidFill>
                <a:latin typeface="Calibri" pitchFamily="34" charset="0"/>
                <a:ea typeface="Calibri" pitchFamily="34" charset="-122"/>
                <a:cs typeface="Calibri" pitchFamily="34" charset="-120"/>
              </a:rPr>
              <a:t>Self-registration by retailers; retailers cannot place orders</a:t>
            </a:r>
            <a:endParaRPr lang="en-US" sz="1150" dirty="0"/>
          </a:p>
          <a:p>
            <a:pPr marL="127000" indent="-127000">
              <a:lnSpc>
                <a:spcPct val="110000"/>
              </a:lnSpc>
              <a:spcAft>
                <a:spcPts val="600"/>
              </a:spcAft>
              <a:buSzPct val="100000"/>
              <a:buChar char="•"/>
            </a:pPr>
            <a:r>
              <a:rPr lang="en-US" sz="1150" dirty="0">
                <a:solidFill>
                  <a:srgbClr val="13292C"/>
                </a:solidFill>
                <a:latin typeface="Calibri" pitchFamily="34" charset="0"/>
                <a:ea typeface="Calibri" pitchFamily="34" charset="-122"/>
                <a:cs typeface="Calibri" pitchFamily="34" charset="-120"/>
              </a:rPr>
              <a:t>Partial order fulfillment or backorders</a:t>
            </a:r>
            <a:endParaRPr lang="en-US" sz="1150" dirty="0"/>
          </a:p>
          <a:p>
            <a:pPr marL="127000" indent="-127000">
              <a:lnSpc>
                <a:spcPct val="110000"/>
              </a:lnSpc>
              <a:spcAft>
                <a:spcPts val="600"/>
              </a:spcAft>
              <a:buSzPct val="100000"/>
              <a:buChar char="•"/>
            </a:pPr>
            <a:r>
              <a:rPr lang="en-US" sz="1150" dirty="0">
                <a:solidFill>
                  <a:srgbClr val="13292C"/>
                </a:solidFill>
                <a:latin typeface="Calibri" pitchFamily="34" charset="0"/>
                <a:ea typeface="Calibri" pitchFamily="34" charset="-122"/>
                <a:cs typeface="Calibri" pitchFamily="34" charset="-120"/>
              </a:rPr>
              <a:t>Vehicle/driver assignment and real route optimization</a:t>
            </a:r>
            <a:endParaRPr lang="en-US" sz="1150" dirty="0"/>
          </a:p>
          <a:p>
            <a:pPr marL="127000" indent="-127000">
              <a:lnSpc>
                <a:spcPct val="110000"/>
              </a:lnSpc>
              <a:spcAft>
                <a:spcPts val="600"/>
              </a:spcAft>
              <a:buSzPct val="100000"/>
              <a:buChar char="•"/>
            </a:pPr>
            <a:r>
              <a:rPr lang="en-US" sz="1150" dirty="0">
                <a:solidFill>
                  <a:srgbClr val="13292C"/>
                </a:solidFill>
                <a:latin typeface="Calibri" pitchFamily="34" charset="0"/>
                <a:ea typeface="Calibri" pitchFamily="34" charset="-122"/>
                <a:cs typeface="Calibri" pitchFamily="34" charset="-120"/>
              </a:rPr>
              <a:t>Payment gateway integration (only method &amp; status recorded)</a:t>
            </a:r>
            <a:endParaRPr lang="en-US" sz="1150" dirty="0"/>
          </a:p>
          <a:p>
            <a:pPr marL="127000" indent="-127000">
              <a:lnSpc>
                <a:spcPct val="110000"/>
              </a:lnSpc>
              <a:spcAft>
                <a:spcPts val="600"/>
              </a:spcAft>
              <a:buSzPct val="100000"/>
              <a:buChar char="•"/>
            </a:pPr>
            <a:r>
              <a:rPr lang="en-US" sz="1150" dirty="0">
                <a:solidFill>
                  <a:srgbClr val="13292C"/>
                </a:solidFill>
                <a:latin typeface="Calibri" pitchFamily="34" charset="0"/>
                <a:ea typeface="Calibri" pitchFamily="34" charset="-122"/>
                <a:cs typeface="Calibri" pitchFamily="34" charset="-120"/>
              </a:rPr>
              <a:t>Demand forecasting and safety-stock suggestions (OP-02)</a:t>
            </a:r>
            <a:endParaRPr lang="en-US" sz="1150" dirty="0"/>
          </a:p>
          <a:p>
            <a:pPr marL="127000" indent="-127000">
              <a:lnSpc>
                <a:spcPct val="110000"/>
              </a:lnSpc>
              <a:spcAft>
                <a:spcPts val="600"/>
              </a:spcAft>
              <a:buSzPct val="100000"/>
              <a:buChar char="•"/>
            </a:pPr>
            <a:r>
              <a:rPr lang="en-US" sz="1150" dirty="0">
                <a:solidFill>
                  <a:srgbClr val="13292C"/>
                </a:solidFill>
                <a:latin typeface="Calibri" pitchFamily="34" charset="0"/>
                <a:ea typeface="Calibri" pitchFamily="34" charset="-122"/>
                <a:cs typeface="Calibri" pitchFamily="34" charset="-120"/>
              </a:rPr>
              <a:t>Transportation coordination module (OP-01)</a:t>
            </a:r>
            <a:endParaRPr lang="en-US" sz="1150" dirty="0"/>
          </a:p>
          <a:p>
            <a:pPr marL="127000" indent="-127000">
              <a:lnSpc>
                <a:spcPct val="110000"/>
              </a:lnSpc>
              <a:spcAft>
                <a:spcPts val="600"/>
              </a:spcAft>
              <a:buSzPct val="100000"/>
              <a:buChar char="•"/>
            </a:pPr>
            <a:r>
              <a:rPr lang="en-US" sz="1150" dirty="0">
                <a:solidFill>
                  <a:srgbClr val="13292C"/>
                </a:solidFill>
                <a:latin typeface="Calibri" pitchFamily="34" charset="0"/>
                <a:ea typeface="Calibri" pitchFamily="34" charset="-122"/>
                <a:cs typeface="Calibri" pitchFamily="34" charset="-120"/>
              </a:rPr>
              <a:t>Damage / write-off workflows (OP-03)</a:t>
            </a:r>
            <a:endParaRPr lang="en-US" sz="1150" dirty="0"/>
          </a:p>
          <a:p>
            <a:pPr marL="127000" indent="-127000">
              <a:lnSpc>
                <a:spcPct val="110000"/>
              </a:lnSpc>
              <a:spcAft>
                <a:spcPts val="600"/>
              </a:spcAft>
              <a:buSzPct val="100000"/>
              <a:buChar char="•"/>
            </a:pPr>
            <a:r>
              <a:rPr lang="en-US" sz="1150" dirty="0">
                <a:solidFill>
                  <a:srgbClr val="13292C"/>
                </a:solidFill>
                <a:latin typeface="Calibri" pitchFamily="34" charset="0"/>
                <a:ea typeface="Calibri" pitchFamily="34" charset="-122"/>
                <a:cs typeface="Calibri" pitchFamily="34" charset="-120"/>
              </a:rPr>
              <a:t>OCR/LLM label assist and shelf-image analysis (OP-04)</a:t>
            </a:r>
            <a:endParaRPr lang="en-US" sz="1150" dirty="0"/>
          </a:p>
          <a:p>
            <a:pPr marL="127000" indent="-127000">
              <a:lnSpc>
                <a:spcPct val="110000"/>
              </a:lnSpc>
              <a:spcAft>
                <a:spcPts val="600"/>
              </a:spcAft>
              <a:buSzPct val="100000"/>
              <a:buChar char="•"/>
            </a:pPr>
            <a:r>
              <a:rPr lang="en-US" sz="1150" dirty="0">
                <a:solidFill>
                  <a:srgbClr val="13292C"/>
                </a:solidFill>
                <a:latin typeface="Calibri" pitchFamily="34" charset="0"/>
                <a:ea typeface="Calibri" pitchFamily="34" charset="-122"/>
                <a:cs typeface="Calibri" pitchFamily="34" charset="-120"/>
              </a:rPr>
              <a:t>Multi-tenant / multi-distributor support</a:t>
            </a:r>
            <a:endParaRPr lang="en-US" sz="1150" dirty="0"/>
          </a:p>
        </p:txBody>
      </p:sp>
      <p:sp>
        <p:nvSpPr>
          <p:cNvPr id="13" name="Text 11"/>
          <p:cNvSpPr txBox="1"/>
          <p:nvPr/>
        </p:nvSpPr>
        <p:spPr>
          <a:xfrm>
            <a:off x="502920" y="6510528"/>
            <a:ext cx="7315200" cy="201168"/>
          </a:xfrm>
          <a:prstGeom prst="rect">
            <a:avLst/>
          </a:prstGeom>
          <a:noFill/>
          <a:ln/>
        </p:spPr>
        <p:txBody>
          <a:bodyPr wrap="square" lIns="0" tIns="0" rIns="0" bIns="0" rtlCol="0" anchor="ctr"/>
          <a:lstStyle/>
          <a:p>
            <a:pPr marL="0" indent="0">
              <a:buNone/>
            </a:pPr>
            <a:r>
              <a:rPr lang="en-US" sz="850" dirty="0">
                <a:solidFill>
                  <a:srgbClr val="A8C5C0"/>
                </a:solidFill>
                <a:latin typeface="Calibri" pitchFamily="34" charset="0"/>
                <a:ea typeface="Calibri" pitchFamily="34" charset="-122"/>
                <a:cs typeface="Calibri" pitchFamily="34" charset="-120"/>
              </a:rPr>
              <a:t>FSCM  ·  Capstone Project Overview  ·  FA26SE083</a:t>
            </a:r>
            <a:endParaRPr lang="en-US" sz="850" dirty="0"/>
          </a:p>
        </p:txBody>
      </p:sp>
      <p:sp>
        <p:nvSpPr>
          <p:cNvPr id="14" name="Text 12"/>
          <p:cNvSpPr txBox="1"/>
          <p:nvPr/>
        </p:nvSpPr>
        <p:spPr>
          <a:xfrm>
            <a:off x="11338560" y="6510528"/>
            <a:ext cx="365760" cy="201168"/>
          </a:xfrm>
          <a:prstGeom prst="rect">
            <a:avLst/>
          </a:prstGeom>
          <a:noFill/>
          <a:ln/>
        </p:spPr>
        <p:txBody>
          <a:bodyPr wrap="square" lIns="0" tIns="0" rIns="0" bIns="0" rtlCol="0" anchor="ctr"/>
          <a:lstStyle/>
          <a:p>
            <a:pPr marL="0" indent="0" algn="r">
              <a:buNone/>
            </a:pPr>
            <a:r>
              <a:rPr lang="en-US" sz="850" dirty="0">
                <a:solidFill>
                  <a:srgbClr val="A8C5C0"/>
                </a:solidFill>
                <a:latin typeface="Calibri" pitchFamily="34" charset="0"/>
                <a:ea typeface="Calibri" pitchFamily="34" charset="-122"/>
                <a:cs typeface="Calibri" pitchFamily="34" charset="-120"/>
              </a:rPr>
              <a:t>3</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AF9"/>
        </a:solidFill>
        <a:effectLst/>
      </p:bgPr>
    </p:bg>
    <p:spTree>
      <p:nvGrpSpPr>
        <p:cNvPr id="1" name=""/>
        <p:cNvGrpSpPr/>
        <p:nvPr/>
      </p:nvGrpSpPr>
      <p:grpSpPr>
        <a:xfrm>
          <a:off x="0" y="0"/>
          <a:ext cx="0" cy="0"/>
          <a:chOff x="0" y="0"/>
          <a:chExt cx="0" cy="0"/>
        </a:xfrm>
      </p:grpSpPr>
      <p:sp>
        <p:nvSpPr>
          <p:cNvPr id="2" name="Text 0"/>
          <p:cNvSpPr txBox="1"/>
          <p:nvPr/>
        </p:nvSpPr>
        <p:spPr>
          <a:xfrm>
            <a:off x="502920" y="402336"/>
            <a:ext cx="10058400" cy="292608"/>
          </a:xfrm>
          <a:prstGeom prst="rect">
            <a:avLst/>
          </a:prstGeom>
          <a:noFill/>
          <a:ln/>
        </p:spPr>
        <p:txBody>
          <a:bodyPr wrap="square" lIns="0" tIns="0" rIns="0" bIns="0" rtlCol="0" anchor="ctr"/>
          <a:lstStyle/>
          <a:p>
            <a:pPr marL="0" indent="0">
              <a:buNone/>
            </a:pPr>
            <a:r>
              <a:rPr lang="en-US" sz="1100" b="1" kern="0" spc="300" dirty="0">
                <a:solidFill>
                  <a:srgbClr val="028090"/>
                </a:solidFill>
                <a:latin typeface="Calibri" pitchFamily="34" charset="0"/>
                <a:ea typeface="Calibri" pitchFamily="34" charset="-122"/>
                <a:cs typeface="Calibri" pitchFamily="34" charset="-120"/>
              </a:rPr>
              <a:t>02 · ACTORS &amp; ROLES</a:t>
            </a:r>
            <a:endParaRPr lang="en-US" sz="1100" dirty="0"/>
          </a:p>
        </p:txBody>
      </p:sp>
      <p:sp>
        <p:nvSpPr>
          <p:cNvPr id="3" name="Shape 1"/>
          <p:cNvSpPr/>
          <p:nvPr/>
        </p:nvSpPr>
        <p:spPr>
          <a:xfrm>
            <a:off x="502920" y="731520"/>
            <a:ext cx="11201400" cy="13716"/>
          </a:xfrm>
          <a:prstGeom prst="rect">
            <a:avLst/>
          </a:prstGeom>
          <a:solidFill>
            <a:srgbClr val="BFE8DC"/>
          </a:solidFill>
          <a:ln w="12700">
            <a:solidFill>
              <a:srgbClr val="BFE8DC"/>
            </a:solidFill>
            <a:prstDash val="solid"/>
          </a:ln>
        </p:spPr>
      </p:sp>
      <p:sp>
        <p:nvSpPr>
          <p:cNvPr id="4" name="Text 2"/>
          <p:cNvSpPr txBox="1"/>
          <p:nvPr/>
        </p:nvSpPr>
        <p:spPr>
          <a:xfrm>
            <a:off x="502920" y="777240"/>
            <a:ext cx="11201400" cy="594360"/>
          </a:xfrm>
          <a:prstGeom prst="rect">
            <a:avLst/>
          </a:prstGeom>
          <a:noFill/>
          <a:ln/>
        </p:spPr>
        <p:txBody>
          <a:bodyPr wrap="square" lIns="0" tIns="0" rIns="0" bIns="0" rtlCol="0" anchor="ctr"/>
          <a:lstStyle/>
          <a:p>
            <a:pPr marL="0" indent="0">
              <a:buNone/>
            </a:pPr>
            <a:r>
              <a:rPr lang="en-US" sz="3000" b="1" dirty="0">
                <a:solidFill>
                  <a:srgbClr val="13292C"/>
                </a:solidFill>
                <a:latin typeface="Cambria" pitchFamily="34" charset="0"/>
                <a:ea typeface="Cambria" pitchFamily="34" charset="-122"/>
                <a:cs typeface="Cambria" pitchFamily="34" charset="-120"/>
              </a:rPr>
              <a:t>System Actors  ①  Portal</a:t>
            </a:r>
            <a:endParaRPr lang="en-US" sz="3000" dirty="0"/>
          </a:p>
        </p:txBody>
      </p:sp>
      <p:sp>
        <p:nvSpPr>
          <p:cNvPr id="5" name="Shape 3"/>
          <p:cNvSpPr/>
          <p:nvPr/>
        </p:nvSpPr>
        <p:spPr>
          <a:xfrm>
            <a:off x="554584" y="1481328"/>
            <a:ext cx="2606040" cy="4754880"/>
          </a:xfrm>
          <a:prstGeom prst="roundRect">
            <a:avLst>
              <a:gd name="adj" fmla="val 2807"/>
            </a:avLst>
          </a:prstGeom>
          <a:solidFill>
            <a:srgbClr val="FFFFFF"/>
          </a:solidFill>
          <a:ln w="9525">
            <a:solidFill>
              <a:srgbClr val="BFE8DC"/>
            </a:solidFill>
            <a:prstDash val="solid"/>
          </a:ln>
          <a:effectLst>
            <a:outerShdw blurRad="63500" dist="25400" dir="5400000" algn="bl" rotWithShape="0">
              <a:srgbClr val="1B3B3B">
                <a:alpha val="15000"/>
              </a:srgbClr>
            </a:outerShdw>
          </a:effectLst>
        </p:spPr>
      </p:sp>
      <p:sp>
        <p:nvSpPr>
          <p:cNvPr id="6" name="Shape 4"/>
          <p:cNvSpPr/>
          <p:nvPr/>
        </p:nvSpPr>
        <p:spPr>
          <a:xfrm>
            <a:off x="554584" y="1481328"/>
            <a:ext cx="2606040" cy="54864"/>
          </a:xfrm>
          <a:prstGeom prst="roundRect">
            <a:avLst>
              <a:gd name="adj" fmla="val 66667"/>
            </a:avLst>
          </a:prstGeom>
          <a:solidFill>
            <a:srgbClr val="028090"/>
          </a:solidFill>
          <a:ln w="12700">
            <a:solidFill>
              <a:srgbClr val="028090"/>
            </a:solidFill>
            <a:prstDash val="solid"/>
          </a:ln>
        </p:spPr>
      </p:sp>
      <p:sp>
        <p:nvSpPr>
          <p:cNvPr id="7" name="Shape 5"/>
          <p:cNvSpPr/>
          <p:nvPr/>
        </p:nvSpPr>
        <p:spPr>
          <a:xfrm>
            <a:off x="719176" y="1627632"/>
            <a:ext cx="347472" cy="347472"/>
          </a:xfrm>
          <a:prstGeom prst="ellipse">
            <a:avLst/>
          </a:prstGeom>
          <a:solidFill>
            <a:srgbClr val="028090"/>
          </a:solidFill>
          <a:ln w="12700">
            <a:solidFill>
              <a:srgbClr val="028090"/>
            </a:solidFill>
            <a:prstDash val="solid"/>
          </a:ln>
        </p:spPr>
      </p:sp>
      <p:sp>
        <p:nvSpPr>
          <p:cNvPr id="8" name="Text 6"/>
          <p:cNvSpPr txBox="1"/>
          <p:nvPr/>
        </p:nvSpPr>
        <p:spPr>
          <a:xfrm>
            <a:off x="719176" y="1627632"/>
            <a:ext cx="347472" cy="347472"/>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9" name="Text 7"/>
          <p:cNvSpPr txBox="1"/>
          <p:nvPr/>
        </p:nvSpPr>
        <p:spPr>
          <a:xfrm>
            <a:off x="1176376" y="1664208"/>
            <a:ext cx="1856232" cy="219456"/>
          </a:xfrm>
          <a:prstGeom prst="rect">
            <a:avLst/>
          </a:prstGeom>
          <a:noFill/>
          <a:ln/>
        </p:spPr>
        <p:txBody>
          <a:bodyPr wrap="square" lIns="0" tIns="0" rIns="0" bIns="0" rtlCol="0" anchor="ctr"/>
          <a:lstStyle/>
          <a:p>
            <a:pPr marL="0" indent="0">
              <a:buNone/>
            </a:pPr>
            <a:r>
              <a:rPr lang="en-US" sz="700" b="1" kern="0" spc="150" dirty="0">
                <a:solidFill>
                  <a:srgbClr val="028090"/>
                </a:solidFill>
                <a:latin typeface="Calibri" pitchFamily="34" charset="0"/>
                <a:ea typeface="Calibri" pitchFamily="34" charset="-122"/>
                <a:cs typeface="Calibri" pitchFamily="34" charset="-120"/>
              </a:rPr>
              <a:t>PORTAL (WEB)</a:t>
            </a:r>
            <a:endParaRPr lang="en-US" sz="700" dirty="0"/>
          </a:p>
        </p:txBody>
      </p:sp>
      <p:sp>
        <p:nvSpPr>
          <p:cNvPr id="10" name="Text 8"/>
          <p:cNvSpPr txBox="1"/>
          <p:nvPr/>
        </p:nvSpPr>
        <p:spPr>
          <a:xfrm>
            <a:off x="719176" y="2011680"/>
            <a:ext cx="2350008" cy="347472"/>
          </a:xfrm>
          <a:prstGeom prst="rect">
            <a:avLst/>
          </a:prstGeom>
          <a:noFill/>
          <a:ln/>
        </p:spPr>
        <p:txBody>
          <a:bodyPr wrap="square" lIns="0" tIns="0" rIns="0" bIns="0" rtlCol="0" anchor="t"/>
          <a:lstStyle/>
          <a:p>
            <a:pPr marL="0" indent="0">
              <a:buNone/>
            </a:pPr>
            <a:r>
              <a:rPr lang="en-US" sz="1250" b="1" dirty="0">
                <a:solidFill>
                  <a:srgbClr val="13292C"/>
                </a:solidFill>
                <a:latin typeface="Calibri" pitchFamily="34" charset="0"/>
                <a:ea typeface="Calibri" pitchFamily="34" charset="-122"/>
                <a:cs typeface="Calibri" pitchFamily="34" charset="-120"/>
              </a:rPr>
              <a:t>Administrator</a:t>
            </a:r>
            <a:endParaRPr lang="en-US" sz="1250" dirty="0"/>
          </a:p>
        </p:txBody>
      </p:sp>
      <p:sp>
        <p:nvSpPr>
          <p:cNvPr id="11" name="Text 9"/>
          <p:cNvSpPr txBox="1"/>
          <p:nvPr/>
        </p:nvSpPr>
        <p:spPr>
          <a:xfrm>
            <a:off x="719176" y="2359152"/>
            <a:ext cx="2350008" cy="256032"/>
          </a:xfrm>
          <a:prstGeom prst="rect">
            <a:avLst/>
          </a:prstGeom>
          <a:noFill/>
          <a:ln/>
        </p:spPr>
        <p:txBody>
          <a:bodyPr wrap="square" lIns="0" tIns="0" rIns="0" bIns="0" rtlCol="0" anchor="t"/>
          <a:lstStyle/>
          <a:p>
            <a:pPr marL="0" indent="0">
              <a:buNone/>
            </a:pPr>
            <a:r>
              <a:rPr lang="en-US" sz="900" i="1" dirty="0">
                <a:solidFill>
                  <a:srgbClr val="4C6764"/>
                </a:solidFill>
                <a:latin typeface="Calibri" pitchFamily="34" charset="0"/>
                <a:ea typeface="Calibri" pitchFamily="34" charset="-122"/>
                <a:cs typeface="Calibri" pitchFamily="34" charset="-120"/>
              </a:rPr>
              <a:t>Highest authority on Portal</a:t>
            </a:r>
            <a:endParaRPr lang="en-US" sz="900" dirty="0"/>
          </a:p>
        </p:txBody>
      </p:sp>
      <p:sp>
        <p:nvSpPr>
          <p:cNvPr id="12" name="Shape 10"/>
          <p:cNvSpPr/>
          <p:nvPr/>
        </p:nvSpPr>
        <p:spPr>
          <a:xfrm>
            <a:off x="719176" y="2633472"/>
            <a:ext cx="2276856" cy="6401"/>
          </a:xfrm>
          <a:prstGeom prst="rect">
            <a:avLst/>
          </a:prstGeom>
          <a:solidFill>
            <a:srgbClr val="BFE8DC"/>
          </a:solidFill>
          <a:ln w="12700">
            <a:solidFill>
              <a:srgbClr val="BFE8DC"/>
            </a:solidFill>
            <a:prstDash val="solid"/>
          </a:ln>
        </p:spPr>
      </p:sp>
      <p:sp>
        <p:nvSpPr>
          <p:cNvPr id="13" name="Text 11"/>
          <p:cNvSpPr txBox="1"/>
          <p:nvPr/>
        </p:nvSpPr>
        <p:spPr>
          <a:xfrm>
            <a:off x="719176" y="2706624"/>
            <a:ext cx="2350008" cy="3429000"/>
          </a:xfrm>
          <a:prstGeom prst="rect">
            <a:avLst/>
          </a:prstGeom>
          <a:noFill/>
          <a:ln/>
        </p:spPr>
        <p:txBody>
          <a:bodyPr wrap="square" lIns="0" tIns="0" rIns="0" bIns="0" rtlCol="0" anchor="t"/>
          <a:lstStyle/>
          <a:p>
            <a:pPr marL="101600" indent="-101600">
              <a:spcAft>
                <a:spcPts val="250"/>
              </a:spcAft>
              <a:buSzPct val="100000"/>
              <a:buChar char="•"/>
            </a:pPr>
            <a:r>
              <a:rPr lang="en-US" sz="900" dirty="0">
                <a:solidFill>
                  <a:srgbClr val="13292C"/>
                </a:solidFill>
                <a:latin typeface="Calibri" pitchFamily="34" charset="0"/>
                <a:ea typeface="Calibri" pitchFamily="34" charset="-122"/>
                <a:cs typeface="Calibri" pitchFamily="34" charset="-120"/>
              </a:rPr>
              <a:t>Manage portal accounts (Admin, Operator, Sales Manager, Warehouse Keeper) and mobile accounts (Sales Rep, Retailer)</a:t>
            </a:r>
            <a:endParaRPr lang="en-US" sz="900" dirty="0"/>
          </a:p>
          <a:p>
            <a:pPr marL="101600" indent="-101600">
              <a:spcAft>
                <a:spcPts val="250"/>
              </a:spcAft>
              <a:buSzPct val="100000"/>
              <a:buChar char="•"/>
            </a:pPr>
            <a:r>
              <a:rPr lang="en-US" sz="900" dirty="0">
                <a:solidFill>
                  <a:srgbClr val="13292C"/>
                </a:solidFill>
                <a:latin typeface="Calibri" pitchFamily="34" charset="0"/>
                <a:ea typeface="Calibri" pitchFamily="34" charset="-122"/>
                <a:cs typeface="Calibri" pitchFamily="34" charset="-120"/>
              </a:rPr>
              <a:t>Manage master data: SKUs, prices, shelf-life, warehouses, MLOR, transit-time rules</a:t>
            </a:r>
            <a:endParaRPr lang="en-US" sz="900" dirty="0"/>
          </a:p>
          <a:p>
            <a:pPr marL="101600" indent="-101600">
              <a:spcAft>
                <a:spcPts val="250"/>
              </a:spcAft>
              <a:buSzPct val="100000"/>
              <a:buChar char="•"/>
            </a:pPr>
            <a:r>
              <a:rPr lang="en-US" sz="900" dirty="0">
                <a:solidFill>
                  <a:srgbClr val="13292C"/>
                </a:solidFill>
                <a:latin typeface="Calibri" pitchFamily="34" charset="0"/>
                <a:ea typeface="Calibri" pitchFamily="34" charset="-122"/>
                <a:cs typeface="Calibri" pitchFamily="34" charset="-120"/>
              </a:rPr>
              <a:t>Record goods receipts at any warehouse; manage promotions</a:t>
            </a:r>
            <a:endParaRPr lang="en-US" sz="900" dirty="0"/>
          </a:p>
          <a:p>
            <a:pPr marL="101600" indent="-101600">
              <a:spcAft>
                <a:spcPts val="250"/>
              </a:spcAft>
              <a:buSzPct val="100000"/>
              <a:buChar char="•"/>
            </a:pPr>
            <a:r>
              <a:rPr lang="en-US" sz="900" dirty="0">
                <a:solidFill>
                  <a:srgbClr val="13292C"/>
                </a:solidFill>
                <a:latin typeface="Calibri" pitchFamily="34" charset="0"/>
                <a:ea typeface="Calibri" pitchFamily="34" charset="-122"/>
                <a:cs typeface="Calibri" pitchFamily="34" charset="-120"/>
              </a:rPr>
              <a:t>Approve / reject orders; view allocation and promotion details</a:t>
            </a:r>
            <a:endParaRPr lang="en-US" sz="900" dirty="0"/>
          </a:p>
          <a:p>
            <a:pPr marL="101600" indent="-101600">
              <a:spcAft>
                <a:spcPts val="250"/>
              </a:spcAft>
              <a:buSzPct val="100000"/>
              <a:buChar char="•"/>
            </a:pPr>
            <a:r>
              <a:rPr lang="en-US" sz="900" dirty="0">
                <a:solidFill>
                  <a:srgbClr val="13292C"/>
                </a:solidFill>
                <a:latin typeface="Calibri" pitchFamily="34" charset="0"/>
                <a:ea typeface="Calibri" pitchFamily="34" charset="-122"/>
                <a:cs typeface="Calibri" pitchFamily="34" charset="-120"/>
              </a:rPr>
              <a:t>Dashboard: order totals, revenue; sales leaderboard and rep rewards</a:t>
            </a:r>
            <a:endParaRPr lang="en-US" sz="900" dirty="0"/>
          </a:p>
        </p:txBody>
      </p:sp>
      <p:sp>
        <p:nvSpPr>
          <p:cNvPr id="14" name="Shape 12"/>
          <p:cNvSpPr/>
          <p:nvPr/>
        </p:nvSpPr>
        <p:spPr>
          <a:xfrm>
            <a:off x="3380080" y="1481328"/>
            <a:ext cx="2606040" cy="4754880"/>
          </a:xfrm>
          <a:prstGeom prst="roundRect">
            <a:avLst>
              <a:gd name="adj" fmla="val 2807"/>
            </a:avLst>
          </a:prstGeom>
          <a:solidFill>
            <a:srgbClr val="FFFFFF"/>
          </a:solidFill>
          <a:ln w="9525">
            <a:solidFill>
              <a:srgbClr val="BFE8DC"/>
            </a:solidFill>
            <a:prstDash val="solid"/>
          </a:ln>
          <a:effectLst>
            <a:outerShdw blurRad="63500" dist="25400" dir="5400000" algn="bl" rotWithShape="0">
              <a:srgbClr val="1B3B3B">
                <a:alpha val="15000"/>
              </a:srgbClr>
            </a:outerShdw>
          </a:effectLst>
        </p:spPr>
      </p:sp>
      <p:sp>
        <p:nvSpPr>
          <p:cNvPr id="15" name="Shape 13"/>
          <p:cNvSpPr/>
          <p:nvPr/>
        </p:nvSpPr>
        <p:spPr>
          <a:xfrm>
            <a:off x="3380080" y="1481328"/>
            <a:ext cx="2606040" cy="54864"/>
          </a:xfrm>
          <a:prstGeom prst="roundRect">
            <a:avLst>
              <a:gd name="adj" fmla="val 66667"/>
            </a:avLst>
          </a:prstGeom>
          <a:solidFill>
            <a:srgbClr val="00A896"/>
          </a:solidFill>
          <a:ln w="12700">
            <a:solidFill>
              <a:srgbClr val="00A896"/>
            </a:solidFill>
            <a:prstDash val="solid"/>
          </a:ln>
        </p:spPr>
      </p:sp>
      <p:sp>
        <p:nvSpPr>
          <p:cNvPr id="16" name="Shape 14"/>
          <p:cNvSpPr/>
          <p:nvPr/>
        </p:nvSpPr>
        <p:spPr>
          <a:xfrm>
            <a:off x="3544672" y="1627632"/>
            <a:ext cx="347472" cy="347472"/>
          </a:xfrm>
          <a:prstGeom prst="ellipse">
            <a:avLst/>
          </a:prstGeom>
          <a:solidFill>
            <a:srgbClr val="00A896"/>
          </a:solidFill>
          <a:ln w="12700">
            <a:solidFill>
              <a:srgbClr val="00A896"/>
            </a:solidFill>
            <a:prstDash val="solid"/>
          </a:ln>
        </p:spPr>
      </p:sp>
      <p:sp>
        <p:nvSpPr>
          <p:cNvPr id="17" name="Text 15"/>
          <p:cNvSpPr txBox="1"/>
          <p:nvPr/>
        </p:nvSpPr>
        <p:spPr>
          <a:xfrm>
            <a:off x="3544672" y="1627632"/>
            <a:ext cx="347472" cy="347472"/>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8" name="Text 16"/>
          <p:cNvSpPr txBox="1"/>
          <p:nvPr/>
        </p:nvSpPr>
        <p:spPr>
          <a:xfrm>
            <a:off x="4001872" y="1664208"/>
            <a:ext cx="1856232" cy="219456"/>
          </a:xfrm>
          <a:prstGeom prst="rect">
            <a:avLst/>
          </a:prstGeom>
          <a:noFill/>
          <a:ln/>
        </p:spPr>
        <p:txBody>
          <a:bodyPr wrap="square" lIns="0" tIns="0" rIns="0" bIns="0" rtlCol="0" anchor="ctr"/>
          <a:lstStyle/>
          <a:p>
            <a:pPr marL="0" indent="0">
              <a:buNone/>
            </a:pPr>
            <a:r>
              <a:rPr lang="en-US" sz="700" b="1" kern="0" spc="150" dirty="0">
                <a:solidFill>
                  <a:srgbClr val="00A896"/>
                </a:solidFill>
                <a:latin typeface="Calibri" pitchFamily="34" charset="0"/>
                <a:ea typeface="Calibri" pitchFamily="34" charset="-122"/>
                <a:cs typeface="Calibri" pitchFamily="34" charset="-120"/>
              </a:rPr>
              <a:t>PORTAL (WEB)</a:t>
            </a:r>
            <a:endParaRPr lang="en-US" sz="700" dirty="0"/>
          </a:p>
        </p:txBody>
      </p:sp>
      <p:sp>
        <p:nvSpPr>
          <p:cNvPr id="19" name="Text 17"/>
          <p:cNvSpPr txBox="1"/>
          <p:nvPr/>
        </p:nvSpPr>
        <p:spPr>
          <a:xfrm>
            <a:off x="3544672" y="2011680"/>
            <a:ext cx="2350008" cy="347472"/>
          </a:xfrm>
          <a:prstGeom prst="rect">
            <a:avLst/>
          </a:prstGeom>
          <a:noFill/>
          <a:ln/>
        </p:spPr>
        <p:txBody>
          <a:bodyPr wrap="square" lIns="0" tIns="0" rIns="0" bIns="0" rtlCol="0" anchor="t"/>
          <a:lstStyle/>
          <a:p>
            <a:pPr marL="0" indent="0">
              <a:buNone/>
            </a:pPr>
            <a:r>
              <a:rPr lang="en-US" sz="1250" b="1" dirty="0">
                <a:solidFill>
                  <a:srgbClr val="13292C"/>
                </a:solidFill>
                <a:latin typeface="Calibri" pitchFamily="34" charset="0"/>
                <a:ea typeface="Calibri" pitchFamily="34" charset="-122"/>
                <a:cs typeface="Calibri" pitchFamily="34" charset="-120"/>
              </a:rPr>
              <a:t>Operator</a:t>
            </a:r>
            <a:endParaRPr lang="en-US" sz="1250" dirty="0"/>
          </a:p>
        </p:txBody>
      </p:sp>
      <p:sp>
        <p:nvSpPr>
          <p:cNvPr id="20" name="Text 18"/>
          <p:cNvSpPr txBox="1"/>
          <p:nvPr/>
        </p:nvSpPr>
        <p:spPr>
          <a:xfrm>
            <a:off x="3544672" y="2359152"/>
            <a:ext cx="2350008" cy="256032"/>
          </a:xfrm>
          <a:prstGeom prst="rect">
            <a:avLst/>
          </a:prstGeom>
          <a:noFill/>
          <a:ln/>
        </p:spPr>
        <p:txBody>
          <a:bodyPr wrap="square" lIns="0" tIns="0" rIns="0" bIns="0" rtlCol="0" anchor="t"/>
          <a:lstStyle/>
          <a:p>
            <a:pPr marL="0" indent="0">
              <a:buNone/>
            </a:pPr>
            <a:r>
              <a:rPr lang="en-US" sz="900" i="1" dirty="0">
                <a:solidFill>
                  <a:srgbClr val="4C6764"/>
                </a:solidFill>
                <a:latin typeface="Calibri" pitchFamily="34" charset="0"/>
                <a:ea typeface="Calibri" pitchFamily="34" charset="-122"/>
                <a:cs typeface="Calibri" pitchFamily="34" charset="-120"/>
              </a:rPr>
              <a:t>Order approval &amp; operational follow-up</a:t>
            </a:r>
            <a:endParaRPr lang="en-US" sz="900" dirty="0"/>
          </a:p>
        </p:txBody>
      </p:sp>
      <p:sp>
        <p:nvSpPr>
          <p:cNvPr id="21" name="Shape 19"/>
          <p:cNvSpPr/>
          <p:nvPr/>
        </p:nvSpPr>
        <p:spPr>
          <a:xfrm>
            <a:off x="3544672" y="2633472"/>
            <a:ext cx="2276856" cy="6401"/>
          </a:xfrm>
          <a:prstGeom prst="rect">
            <a:avLst/>
          </a:prstGeom>
          <a:solidFill>
            <a:srgbClr val="BFE8DC"/>
          </a:solidFill>
          <a:ln w="12700">
            <a:solidFill>
              <a:srgbClr val="BFE8DC"/>
            </a:solidFill>
            <a:prstDash val="solid"/>
          </a:ln>
        </p:spPr>
      </p:sp>
      <p:sp>
        <p:nvSpPr>
          <p:cNvPr id="22" name="Text 20"/>
          <p:cNvSpPr txBox="1"/>
          <p:nvPr/>
        </p:nvSpPr>
        <p:spPr>
          <a:xfrm>
            <a:off x="3544672" y="2706624"/>
            <a:ext cx="2350008" cy="3429000"/>
          </a:xfrm>
          <a:prstGeom prst="rect">
            <a:avLst/>
          </a:prstGeom>
          <a:noFill/>
          <a:ln/>
        </p:spPr>
        <p:txBody>
          <a:bodyPr wrap="square" lIns="0" tIns="0" rIns="0" bIns="0" rtlCol="0" anchor="t"/>
          <a:lstStyle/>
          <a:p>
            <a:pPr marL="101600" indent="-101600">
              <a:spcAft>
                <a:spcPts val="250"/>
              </a:spcAft>
              <a:buSzPct val="100000"/>
              <a:buChar char="•"/>
            </a:pPr>
            <a:r>
              <a:rPr lang="en-US" sz="900" dirty="0">
                <a:solidFill>
                  <a:srgbClr val="13292C"/>
                </a:solidFill>
                <a:latin typeface="Calibri" pitchFamily="34" charset="0"/>
                <a:ea typeface="Calibri" pitchFamily="34" charset="-122"/>
                <a:cs typeface="Calibri" pitchFamily="34" charset="-120"/>
              </a:rPr>
              <a:t>Approve or reject Pending Approval orders (rejection reason required)</a:t>
            </a:r>
            <a:endParaRPr lang="en-US" sz="900" dirty="0"/>
          </a:p>
          <a:p>
            <a:pPr marL="101600" indent="-101600">
              <a:spcAft>
                <a:spcPts val="250"/>
              </a:spcAft>
              <a:buSzPct val="100000"/>
              <a:buChar char="•"/>
            </a:pPr>
            <a:r>
              <a:rPr lang="en-US" sz="900" dirty="0">
                <a:solidFill>
                  <a:srgbClr val="13292C"/>
                </a:solidFill>
                <a:latin typeface="Calibri" pitchFamily="34" charset="0"/>
                <a:ea typeface="Calibri" pitchFamily="34" charset="-122"/>
                <a:cs typeface="Calibri" pitchFamily="34" charset="-120"/>
              </a:rPr>
              <a:t>Create / import retailers; approve retailer declarations from Sales Reps</a:t>
            </a:r>
            <a:endParaRPr lang="en-US" sz="900" dirty="0"/>
          </a:p>
          <a:p>
            <a:pPr marL="101600" indent="-101600">
              <a:spcAft>
                <a:spcPts val="250"/>
              </a:spcAft>
              <a:buSzPct val="100000"/>
              <a:buChar char="•"/>
            </a:pPr>
            <a:r>
              <a:rPr lang="en-US" sz="900" dirty="0">
                <a:solidFill>
                  <a:srgbClr val="13292C"/>
                </a:solidFill>
                <a:latin typeface="Calibri" pitchFamily="34" charset="0"/>
                <a:ea typeface="Calibri" pitchFamily="34" charset="-122"/>
                <a:cs typeface="Calibri" pitchFamily="34" charset="-120"/>
              </a:rPr>
              <a:t>Mark issued orders as Delivering; confirm prepaid payments (QR / transfer)</a:t>
            </a:r>
            <a:endParaRPr lang="en-US" sz="900" dirty="0"/>
          </a:p>
          <a:p>
            <a:pPr marL="101600" indent="-101600">
              <a:spcAft>
                <a:spcPts val="250"/>
              </a:spcAft>
              <a:buSzPct val="100000"/>
              <a:buChar char="•"/>
            </a:pPr>
            <a:r>
              <a:rPr lang="en-US" sz="900" dirty="0">
                <a:solidFill>
                  <a:srgbClr val="13292C"/>
                </a:solidFill>
                <a:latin typeface="Calibri" pitchFamily="34" charset="0"/>
                <a:ea typeface="Calibri" pitchFamily="34" charset="-122"/>
                <a:cs typeface="Calibri" pitchFamily="34" charset="-120"/>
              </a:rPr>
              <a:t>Handle receipt discrepancies reported by Retailers</a:t>
            </a:r>
            <a:endParaRPr lang="en-US" sz="900" dirty="0"/>
          </a:p>
        </p:txBody>
      </p:sp>
      <p:sp>
        <p:nvSpPr>
          <p:cNvPr id="23" name="Shape 21"/>
          <p:cNvSpPr/>
          <p:nvPr/>
        </p:nvSpPr>
        <p:spPr>
          <a:xfrm>
            <a:off x="6205576" y="1481328"/>
            <a:ext cx="2606040" cy="4754880"/>
          </a:xfrm>
          <a:prstGeom prst="roundRect">
            <a:avLst>
              <a:gd name="adj" fmla="val 2807"/>
            </a:avLst>
          </a:prstGeom>
          <a:solidFill>
            <a:srgbClr val="FFFFFF"/>
          </a:solidFill>
          <a:ln w="9525">
            <a:solidFill>
              <a:srgbClr val="BFE8DC"/>
            </a:solidFill>
            <a:prstDash val="solid"/>
          </a:ln>
          <a:effectLst>
            <a:outerShdw blurRad="63500" dist="25400" dir="5400000" algn="bl" rotWithShape="0">
              <a:srgbClr val="1B3B3B">
                <a:alpha val="15000"/>
              </a:srgbClr>
            </a:outerShdw>
          </a:effectLst>
        </p:spPr>
      </p:sp>
      <p:sp>
        <p:nvSpPr>
          <p:cNvPr id="24" name="Shape 22"/>
          <p:cNvSpPr/>
          <p:nvPr/>
        </p:nvSpPr>
        <p:spPr>
          <a:xfrm>
            <a:off x="6205576" y="1481328"/>
            <a:ext cx="2606040" cy="54864"/>
          </a:xfrm>
          <a:prstGeom prst="roundRect">
            <a:avLst>
              <a:gd name="adj" fmla="val 66667"/>
            </a:avLst>
          </a:prstGeom>
          <a:solidFill>
            <a:srgbClr val="028090"/>
          </a:solidFill>
          <a:ln w="12700">
            <a:solidFill>
              <a:srgbClr val="028090"/>
            </a:solidFill>
            <a:prstDash val="solid"/>
          </a:ln>
        </p:spPr>
      </p:sp>
      <p:sp>
        <p:nvSpPr>
          <p:cNvPr id="25" name="Shape 23"/>
          <p:cNvSpPr/>
          <p:nvPr/>
        </p:nvSpPr>
        <p:spPr>
          <a:xfrm>
            <a:off x="6370168" y="1627632"/>
            <a:ext cx="347472" cy="347472"/>
          </a:xfrm>
          <a:prstGeom prst="ellipse">
            <a:avLst/>
          </a:prstGeom>
          <a:solidFill>
            <a:srgbClr val="028090"/>
          </a:solidFill>
          <a:ln w="12700">
            <a:solidFill>
              <a:srgbClr val="028090"/>
            </a:solidFill>
            <a:prstDash val="solid"/>
          </a:ln>
        </p:spPr>
      </p:sp>
      <p:sp>
        <p:nvSpPr>
          <p:cNvPr id="26" name="Text 24"/>
          <p:cNvSpPr txBox="1"/>
          <p:nvPr/>
        </p:nvSpPr>
        <p:spPr>
          <a:xfrm>
            <a:off x="6370168" y="1627632"/>
            <a:ext cx="347472" cy="347472"/>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27" name="Text 25"/>
          <p:cNvSpPr txBox="1"/>
          <p:nvPr/>
        </p:nvSpPr>
        <p:spPr>
          <a:xfrm>
            <a:off x="6827368" y="1664208"/>
            <a:ext cx="1856232" cy="219456"/>
          </a:xfrm>
          <a:prstGeom prst="rect">
            <a:avLst/>
          </a:prstGeom>
          <a:noFill/>
          <a:ln/>
        </p:spPr>
        <p:txBody>
          <a:bodyPr wrap="square" lIns="0" tIns="0" rIns="0" bIns="0" rtlCol="0" anchor="ctr"/>
          <a:lstStyle/>
          <a:p>
            <a:pPr marL="0" indent="0">
              <a:buNone/>
            </a:pPr>
            <a:r>
              <a:rPr lang="en-US" sz="700" b="1" kern="0" spc="150" dirty="0">
                <a:solidFill>
                  <a:srgbClr val="028090"/>
                </a:solidFill>
                <a:latin typeface="Calibri" pitchFamily="34" charset="0"/>
                <a:ea typeface="Calibri" pitchFamily="34" charset="-122"/>
                <a:cs typeface="Calibri" pitchFamily="34" charset="-120"/>
              </a:rPr>
              <a:t>PORTAL (WEB)</a:t>
            </a:r>
            <a:endParaRPr lang="en-US" sz="700" dirty="0"/>
          </a:p>
        </p:txBody>
      </p:sp>
      <p:sp>
        <p:nvSpPr>
          <p:cNvPr id="28" name="Text 26"/>
          <p:cNvSpPr txBox="1"/>
          <p:nvPr/>
        </p:nvSpPr>
        <p:spPr>
          <a:xfrm>
            <a:off x="6370168" y="2011680"/>
            <a:ext cx="2350008" cy="347472"/>
          </a:xfrm>
          <a:prstGeom prst="rect">
            <a:avLst/>
          </a:prstGeom>
          <a:noFill/>
          <a:ln/>
        </p:spPr>
        <p:txBody>
          <a:bodyPr wrap="square" lIns="0" tIns="0" rIns="0" bIns="0" rtlCol="0" anchor="t"/>
          <a:lstStyle/>
          <a:p>
            <a:pPr marL="0" indent="0">
              <a:buNone/>
            </a:pPr>
            <a:r>
              <a:rPr lang="en-US" sz="1250" b="1" dirty="0">
                <a:solidFill>
                  <a:srgbClr val="13292C"/>
                </a:solidFill>
                <a:latin typeface="Calibri" pitchFamily="34" charset="0"/>
                <a:ea typeface="Calibri" pitchFamily="34" charset="-122"/>
                <a:cs typeface="Calibri" pitchFamily="34" charset="-120"/>
              </a:rPr>
              <a:t>Sales Manager</a:t>
            </a:r>
            <a:endParaRPr lang="en-US" sz="1250" dirty="0"/>
          </a:p>
        </p:txBody>
      </p:sp>
      <p:sp>
        <p:nvSpPr>
          <p:cNvPr id="29" name="Text 27"/>
          <p:cNvSpPr txBox="1"/>
          <p:nvPr/>
        </p:nvSpPr>
        <p:spPr>
          <a:xfrm>
            <a:off x="6370168" y="2359152"/>
            <a:ext cx="2350008" cy="256032"/>
          </a:xfrm>
          <a:prstGeom prst="rect">
            <a:avLst/>
          </a:prstGeom>
          <a:noFill/>
          <a:ln/>
        </p:spPr>
        <p:txBody>
          <a:bodyPr wrap="square" lIns="0" tIns="0" rIns="0" bIns="0" rtlCol="0" anchor="t"/>
          <a:lstStyle/>
          <a:p>
            <a:pPr marL="0" indent="0">
              <a:buNone/>
            </a:pPr>
            <a:r>
              <a:rPr lang="en-US" sz="900" i="1" dirty="0">
                <a:solidFill>
                  <a:srgbClr val="4C6764"/>
                </a:solidFill>
                <a:latin typeface="Calibri" pitchFamily="34" charset="0"/>
                <a:ea typeface="Calibri" pitchFamily="34" charset="-122"/>
                <a:cs typeface="Calibri" pitchFamily="34" charset="-120"/>
              </a:rPr>
              <a:t>Regional sales team management</a:t>
            </a:r>
            <a:endParaRPr lang="en-US" sz="900" dirty="0"/>
          </a:p>
        </p:txBody>
      </p:sp>
      <p:sp>
        <p:nvSpPr>
          <p:cNvPr id="30" name="Shape 28"/>
          <p:cNvSpPr/>
          <p:nvPr/>
        </p:nvSpPr>
        <p:spPr>
          <a:xfrm>
            <a:off x="6370168" y="2633472"/>
            <a:ext cx="2276856" cy="6401"/>
          </a:xfrm>
          <a:prstGeom prst="rect">
            <a:avLst/>
          </a:prstGeom>
          <a:solidFill>
            <a:srgbClr val="BFE8DC"/>
          </a:solidFill>
          <a:ln w="12700">
            <a:solidFill>
              <a:srgbClr val="BFE8DC"/>
            </a:solidFill>
            <a:prstDash val="solid"/>
          </a:ln>
        </p:spPr>
      </p:sp>
      <p:sp>
        <p:nvSpPr>
          <p:cNvPr id="31" name="Text 29"/>
          <p:cNvSpPr txBox="1"/>
          <p:nvPr/>
        </p:nvSpPr>
        <p:spPr>
          <a:xfrm>
            <a:off x="6370168" y="2706624"/>
            <a:ext cx="2350008" cy="3429000"/>
          </a:xfrm>
          <a:prstGeom prst="rect">
            <a:avLst/>
          </a:prstGeom>
          <a:noFill/>
          <a:ln/>
        </p:spPr>
        <p:txBody>
          <a:bodyPr wrap="square" lIns="0" tIns="0" rIns="0" bIns="0" rtlCol="0" anchor="t"/>
          <a:lstStyle/>
          <a:p>
            <a:pPr marL="101600" indent="-101600">
              <a:spcAft>
                <a:spcPts val="250"/>
              </a:spcAft>
              <a:buSzPct val="100000"/>
              <a:buChar char="•"/>
            </a:pPr>
            <a:r>
              <a:rPr lang="en-US" sz="900" dirty="0">
                <a:solidFill>
                  <a:srgbClr val="13292C"/>
                </a:solidFill>
                <a:latin typeface="Calibri" pitchFamily="34" charset="0"/>
                <a:ea typeface="Calibri" pitchFamily="34" charset="-122"/>
                <a:cs typeface="Calibri" pitchFamily="34" charset="-120"/>
              </a:rPr>
              <a:t>Create sales regions and sales groups</a:t>
            </a:r>
            <a:endParaRPr lang="en-US" sz="900" dirty="0"/>
          </a:p>
          <a:p>
            <a:pPr marL="101600" indent="-101600">
              <a:spcAft>
                <a:spcPts val="250"/>
              </a:spcAft>
              <a:buSzPct val="100000"/>
              <a:buChar char="•"/>
            </a:pPr>
            <a:r>
              <a:rPr lang="en-US" sz="900" dirty="0">
                <a:solidFill>
                  <a:srgbClr val="13292C"/>
                </a:solidFill>
                <a:latin typeface="Calibri" pitchFamily="34" charset="0"/>
                <a:ea typeface="Calibri" pitchFamily="34" charset="-122"/>
                <a:cs typeface="Calibri" pitchFamily="34" charset="-120"/>
              </a:rPr>
              <a:t>Assign or rotate Sales Reps between groups and regions</a:t>
            </a:r>
            <a:endParaRPr lang="en-US" sz="900" dirty="0"/>
          </a:p>
          <a:p>
            <a:pPr marL="101600" indent="-101600">
              <a:spcAft>
                <a:spcPts val="250"/>
              </a:spcAft>
              <a:buSzPct val="100000"/>
              <a:buChar char="•"/>
            </a:pPr>
            <a:r>
              <a:rPr lang="en-US" sz="900" dirty="0">
                <a:solidFill>
                  <a:srgbClr val="13292C"/>
                </a:solidFill>
                <a:latin typeface="Calibri" pitchFamily="34" charset="0"/>
                <a:ea typeface="Calibri" pitchFamily="34" charset="-122"/>
                <a:cs typeface="Calibri" pitchFamily="34" charset="-120"/>
              </a:rPr>
              <a:t>View orders, retailers and sales performance across managed groups</a:t>
            </a:r>
            <a:endParaRPr lang="en-US" sz="900" dirty="0"/>
          </a:p>
        </p:txBody>
      </p:sp>
      <p:sp>
        <p:nvSpPr>
          <p:cNvPr id="32" name="Shape 30"/>
          <p:cNvSpPr/>
          <p:nvPr/>
        </p:nvSpPr>
        <p:spPr>
          <a:xfrm>
            <a:off x="9031072" y="1481328"/>
            <a:ext cx="2606040" cy="4754880"/>
          </a:xfrm>
          <a:prstGeom prst="roundRect">
            <a:avLst>
              <a:gd name="adj" fmla="val 2807"/>
            </a:avLst>
          </a:prstGeom>
          <a:solidFill>
            <a:srgbClr val="FFFFFF"/>
          </a:solidFill>
          <a:ln w="9525">
            <a:solidFill>
              <a:srgbClr val="BFE8DC"/>
            </a:solidFill>
            <a:prstDash val="solid"/>
          </a:ln>
          <a:effectLst>
            <a:outerShdw blurRad="63500" dist="25400" dir="5400000" algn="bl" rotWithShape="0">
              <a:srgbClr val="1B3B3B">
                <a:alpha val="15000"/>
              </a:srgbClr>
            </a:outerShdw>
          </a:effectLst>
        </p:spPr>
      </p:sp>
      <p:sp>
        <p:nvSpPr>
          <p:cNvPr id="33" name="Shape 31"/>
          <p:cNvSpPr/>
          <p:nvPr/>
        </p:nvSpPr>
        <p:spPr>
          <a:xfrm>
            <a:off x="9031072" y="1481328"/>
            <a:ext cx="2606040" cy="54864"/>
          </a:xfrm>
          <a:prstGeom prst="roundRect">
            <a:avLst>
              <a:gd name="adj" fmla="val 66667"/>
            </a:avLst>
          </a:prstGeom>
          <a:solidFill>
            <a:srgbClr val="00A896"/>
          </a:solidFill>
          <a:ln w="12700">
            <a:solidFill>
              <a:srgbClr val="00A896"/>
            </a:solidFill>
            <a:prstDash val="solid"/>
          </a:ln>
        </p:spPr>
      </p:sp>
      <p:sp>
        <p:nvSpPr>
          <p:cNvPr id="34" name="Shape 32"/>
          <p:cNvSpPr/>
          <p:nvPr/>
        </p:nvSpPr>
        <p:spPr>
          <a:xfrm>
            <a:off x="9195664" y="1627632"/>
            <a:ext cx="347472" cy="347472"/>
          </a:xfrm>
          <a:prstGeom prst="ellipse">
            <a:avLst/>
          </a:prstGeom>
          <a:solidFill>
            <a:srgbClr val="00A896"/>
          </a:solidFill>
          <a:ln w="12700">
            <a:solidFill>
              <a:srgbClr val="00A896"/>
            </a:solidFill>
            <a:prstDash val="solid"/>
          </a:ln>
        </p:spPr>
      </p:sp>
      <p:sp>
        <p:nvSpPr>
          <p:cNvPr id="35" name="Text 33"/>
          <p:cNvSpPr txBox="1"/>
          <p:nvPr/>
        </p:nvSpPr>
        <p:spPr>
          <a:xfrm>
            <a:off x="9195664" y="1627632"/>
            <a:ext cx="347472" cy="347472"/>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36" name="Text 34"/>
          <p:cNvSpPr txBox="1"/>
          <p:nvPr/>
        </p:nvSpPr>
        <p:spPr>
          <a:xfrm>
            <a:off x="9652864" y="1664208"/>
            <a:ext cx="1856232" cy="219456"/>
          </a:xfrm>
          <a:prstGeom prst="rect">
            <a:avLst/>
          </a:prstGeom>
          <a:noFill/>
          <a:ln/>
        </p:spPr>
        <p:txBody>
          <a:bodyPr wrap="square" lIns="0" tIns="0" rIns="0" bIns="0" rtlCol="0" anchor="ctr"/>
          <a:lstStyle/>
          <a:p>
            <a:pPr marL="0" indent="0">
              <a:buNone/>
            </a:pPr>
            <a:r>
              <a:rPr lang="en-US" sz="700" b="1" kern="0" spc="150" dirty="0">
                <a:solidFill>
                  <a:srgbClr val="00A896"/>
                </a:solidFill>
                <a:latin typeface="Calibri" pitchFamily="34" charset="0"/>
                <a:ea typeface="Calibri" pitchFamily="34" charset="-122"/>
                <a:cs typeface="Calibri" pitchFamily="34" charset="-120"/>
              </a:rPr>
              <a:t>PORTAL (WEB)</a:t>
            </a:r>
            <a:endParaRPr lang="en-US" sz="700" dirty="0"/>
          </a:p>
        </p:txBody>
      </p:sp>
      <p:sp>
        <p:nvSpPr>
          <p:cNvPr id="37" name="Text 35"/>
          <p:cNvSpPr txBox="1"/>
          <p:nvPr/>
        </p:nvSpPr>
        <p:spPr>
          <a:xfrm>
            <a:off x="9195664" y="2011680"/>
            <a:ext cx="2350008" cy="347472"/>
          </a:xfrm>
          <a:prstGeom prst="rect">
            <a:avLst/>
          </a:prstGeom>
          <a:noFill/>
          <a:ln/>
        </p:spPr>
        <p:txBody>
          <a:bodyPr wrap="square" lIns="0" tIns="0" rIns="0" bIns="0" rtlCol="0" anchor="t"/>
          <a:lstStyle/>
          <a:p>
            <a:pPr marL="0" indent="0">
              <a:buNone/>
            </a:pPr>
            <a:r>
              <a:rPr lang="en-US" sz="1250" b="1" dirty="0">
                <a:solidFill>
                  <a:srgbClr val="13292C"/>
                </a:solidFill>
                <a:latin typeface="Calibri" pitchFamily="34" charset="0"/>
                <a:ea typeface="Calibri" pitchFamily="34" charset="-122"/>
                <a:cs typeface="Calibri" pitchFamily="34" charset="-120"/>
              </a:rPr>
              <a:t>Warehouse Keeper</a:t>
            </a:r>
            <a:endParaRPr lang="en-US" sz="1250" dirty="0"/>
          </a:p>
        </p:txBody>
      </p:sp>
      <p:sp>
        <p:nvSpPr>
          <p:cNvPr id="38" name="Text 36"/>
          <p:cNvSpPr txBox="1"/>
          <p:nvPr/>
        </p:nvSpPr>
        <p:spPr>
          <a:xfrm>
            <a:off x="9195664" y="2359152"/>
            <a:ext cx="2350008" cy="256032"/>
          </a:xfrm>
          <a:prstGeom prst="rect">
            <a:avLst/>
          </a:prstGeom>
          <a:noFill/>
          <a:ln/>
        </p:spPr>
        <p:txBody>
          <a:bodyPr wrap="square" lIns="0" tIns="0" rIns="0" bIns="0" rtlCol="0" anchor="t"/>
          <a:lstStyle/>
          <a:p>
            <a:pPr marL="0" indent="0">
              <a:buNone/>
            </a:pPr>
            <a:r>
              <a:rPr lang="en-US" sz="900" i="1" dirty="0">
                <a:solidFill>
                  <a:srgbClr val="4C6764"/>
                </a:solidFill>
                <a:latin typeface="Calibri" pitchFamily="34" charset="0"/>
                <a:ea typeface="Calibri" pitchFamily="34" charset="-122"/>
                <a:cs typeface="Calibri" pitchFamily="34" charset="-120"/>
              </a:rPr>
              <a:t>Goods receipt, picking &amp; issue at assigned warehouse</a:t>
            </a:r>
            <a:endParaRPr lang="en-US" sz="900" dirty="0"/>
          </a:p>
        </p:txBody>
      </p:sp>
      <p:sp>
        <p:nvSpPr>
          <p:cNvPr id="39" name="Shape 37"/>
          <p:cNvSpPr/>
          <p:nvPr/>
        </p:nvSpPr>
        <p:spPr>
          <a:xfrm>
            <a:off x="9195664" y="2633472"/>
            <a:ext cx="2276856" cy="6401"/>
          </a:xfrm>
          <a:prstGeom prst="rect">
            <a:avLst/>
          </a:prstGeom>
          <a:solidFill>
            <a:srgbClr val="BFE8DC"/>
          </a:solidFill>
          <a:ln w="12700">
            <a:solidFill>
              <a:srgbClr val="BFE8DC"/>
            </a:solidFill>
            <a:prstDash val="solid"/>
          </a:ln>
        </p:spPr>
      </p:sp>
      <p:sp>
        <p:nvSpPr>
          <p:cNvPr id="40" name="Text 38"/>
          <p:cNvSpPr txBox="1"/>
          <p:nvPr/>
        </p:nvSpPr>
        <p:spPr>
          <a:xfrm>
            <a:off x="9195664" y="2706624"/>
            <a:ext cx="2350008" cy="3429000"/>
          </a:xfrm>
          <a:prstGeom prst="rect">
            <a:avLst/>
          </a:prstGeom>
          <a:noFill/>
          <a:ln/>
        </p:spPr>
        <p:txBody>
          <a:bodyPr wrap="square" lIns="0" tIns="0" rIns="0" bIns="0" rtlCol="0" anchor="t"/>
          <a:lstStyle/>
          <a:p>
            <a:pPr marL="101600" indent="-101600">
              <a:spcAft>
                <a:spcPts val="250"/>
              </a:spcAft>
              <a:buSzPct val="100000"/>
              <a:buChar char="•"/>
            </a:pPr>
            <a:r>
              <a:rPr lang="en-US" sz="900" dirty="0">
                <a:solidFill>
                  <a:srgbClr val="13292C"/>
                </a:solidFill>
                <a:latin typeface="Calibri" pitchFamily="34" charset="0"/>
                <a:ea typeface="Calibri" pitchFamily="34" charset="-122"/>
                <a:cs typeface="Calibri" pitchFamily="34" charset="-120"/>
              </a:rPr>
              <a:t>Record stock-in: SKU, Batch ID, expiry date, quantity → QR label generated</a:t>
            </a:r>
            <a:endParaRPr lang="en-US" sz="900" dirty="0"/>
          </a:p>
          <a:p>
            <a:pPr marL="101600" indent="-101600">
              <a:spcAft>
                <a:spcPts val="250"/>
              </a:spcAft>
              <a:buSzPct val="100000"/>
              <a:buChar char="•"/>
            </a:pPr>
            <a:r>
              <a:rPr lang="en-US" sz="900" dirty="0">
                <a:solidFill>
                  <a:srgbClr val="13292C"/>
                </a:solidFill>
                <a:latin typeface="Calibri" pitchFamily="34" charset="0"/>
                <a:ea typeface="Calibri" pitchFamily="34" charset="-122"/>
                <a:cs typeface="Calibri" pitchFamily="34" charset="-120"/>
              </a:rPr>
              <a:t>View batch inventory and receipt history at assigned warehouse</a:t>
            </a:r>
            <a:endParaRPr lang="en-US" sz="900" dirty="0"/>
          </a:p>
          <a:p>
            <a:pPr marL="101600" indent="-101600">
              <a:spcAft>
                <a:spcPts val="250"/>
              </a:spcAft>
              <a:buSzPct val="100000"/>
              <a:buChar char="•"/>
            </a:pPr>
            <a:r>
              <a:rPr lang="en-US" sz="900" dirty="0">
                <a:solidFill>
                  <a:srgbClr val="13292C"/>
                </a:solidFill>
                <a:latin typeface="Calibri" pitchFamily="34" charset="0"/>
                <a:ea typeface="Calibri" pitchFamily="34" charset="-122"/>
                <a:cs typeface="Calibri" pitchFamily="34" charset="-120"/>
              </a:rPr>
              <a:t>Receive picking list after order approval; pick specified batches</a:t>
            </a:r>
            <a:endParaRPr lang="en-US" sz="900" dirty="0"/>
          </a:p>
          <a:p>
            <a:pPr marL="101600" indent="-101600">
              <a:spcAft>
                <a:spcPts val="250"/>
              </a:spcAft>
              <a:buSzPct val="100000"/>
              <a:buChar char="•"/>
            </a:pPr>
            <a:r>
              <a:rPr lang="en-US" sz="900" dirty="0">
                <a:solidFill>
                  <a:srgbClr val="13292C"/>
                </a:solidFill>
                <a:latin typeface="Calibri" pitchFamily="34" charset="0"/>
                <a:ea typeface="Calibri" pitchFamily="34" charset="-122"/>
                <a:cs typeface="Calibri" pitchFamily="34" charset="-120"/>
              </a:rPr>
              <a:t>Scan batch QR on dispatch; system generates split QR for issued and remaining qty</a:t>
            </a:r>
            <a:endParaRPr lang="en-US" sz="900" dirty="0"/>
          </a:p>
          <a:p>
            <a:pPr marL="101600" indent="-101600">
              <a:spcAft>
                <a:spcPts val="250"/>
              </a:spcAft>
              <a:buSzPct val="100000"/>
              <a:buChar char="•"/>
            </a:pPr>
            <a:r>
              <a:rPr lang="en-US" sz="900" dirty="0">
                <a:solidFill>
                  <a:srgbClr val="13292C"/>
                </a:solidFill>
                <a:latin typeface="Calibri" pitchFamily="34" charset="0"/>
                <a:ea typeface="Calibri" pitchFamily="34" charset="-122"/>
                <a:cs typeface="Calibri" pitchFamily="34" charset="-120"/>
              </a:rPr>
              <a:t>Confirm goods issue → physical stock deducted, order moves to Dispatched</a:t>
            </a:r>
            <a:endParaRPr lang="en-US" sz="900" dirty="0"/>
          </a:p>
        </p:txBody>
      </p:sp>
      <p:sp>
        <p:nvSpPr>
          <p:cNvPr id="41" name="Text 39"/>
          <p:cNvSpPr txBox="1"/>
          <p:nvPr/>
        </p:nvSpPr>
        <p:spPr>
          <a:xfrm>
            <a:off x="502920" y="6510528"/>
            <a:ext cx="7315200" cy="201168"/>
          </a:xfrm>
          <a:prstGeom prst="rect">
            <a:avLst/>
          </a:prstGeom>
          <a:noFill/>
          <a:ln/>
        </p:spPr>
        <p:txBody>
          <a:bodyPr wrap="square" lIns="0" tIns="0" rIns="0" bIns="0" rtlCol="0" anchor="ctr"/>
          <a:lstStyle/>
          <a:p>
            <a:pPr marL="0" indent="0">
              <a:buNone/>
            </a:pPr>
            <a:r>
              <a:rPr lang="en-US" sz="850" dirty="0">
                <a:solidFill>
                  <a:srgbClr val="A8C5C0"/>
                </a:solidFill>
                <a:latin typeface="Calibri" pitchFamily="34" charset="0"/>
                <a:ea typeface="Calibri" pitchFamily="34" charset="-122"/>
                <a:cs typeface="Calibri" pitchFamily="34" charset="-120"/>
              </a:rPr>
              <a:t>FSCM  ·  Capstone Project Overview  ·  FA26SE083</a:t>
            </a:r>
            <a:endParaRPr lang="en-US" sz="850" dirty="0"/>
          </a:p>
        </p:txBody>
      </p:sp>
      <p:sp>
        <p:nvSpPr>
          <p:cNvPr id="42" name="Text 40"/>
          <p:cNvSpPr txBox="1"/>
          <p:nvPr/>
        </p:nvSpPr>
        <p:spPr>
          <a:xfrm>
            <a:off x="11338560" y="6510528"/>
            <a:ext cx="365760" cy="201168"/>
          </a:xfrm>
          <a:prstGeom prst="rect">
            <a:avLst/>
          </a:prstGeom>
          <a:noFill/>
          <a:ln/>
        </p:spPr>
        <p:txBody>
          <a:bodyPr wrap="square" lIns="0" tIns="0" rIns="0" bIns="0" rtlCol="0" anchor="ctr"/>
          <a:lstStyle/>
          <a:p>
            <a:pPr marL="0" indent="0" algn="r">
              <a:buNone/>
            </a:pPr>
            <a:r>
              <a:rPr lang="en-US" sz="850" dirty="0">
                <a:solidFill>
                  <a:srgbClr val="A8C5C0"/>
                </a:solidFill>
                <a:latin typeface="Calibri" pitchFamily="34" charset="0"/>
                <a:ea typeface="Calibri" pitchFamily="34" charset="-122"/>
                <a:cs typeface="Calibri" pitchFamily="34" charset="-120"/>
              </a:rPr>
              <a:t>4</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AF9"/>
        </a:solidFill>
        <a:effectLst/>
      </p:bgPr>
    </p:bg>
    <p:spTree>
      <p:nvGrpSpPr>
        <p:cNvPr id="1" name=""/>
        <p:cNvGrpSpPr/>
        <p:nvPr/>
      </p:nvGrpSpPr>
      <p:grpSpPr>
        <a:xfrm>
          <a:off x="0" y="0"/>
          <a:ext cx="0" cy="0"/>
          <a:chOff x="0" y="0"/>
          <a:chExt cx="0" cy="0"/>
        </a:xfrm>
      </p:grpSpPr>
      <p:sp>
        <p:nvSpPr>
          <p:cNvPr id="2" name="Text 0"/>
          <p:cNvSpPr txBox="1"/>
          <p:nvPr/>
        </p:nvSpPr>
        <p:spPr>
          <a:xfrm>
            <a:off x="502920" y="402336"/>
            <a:ext cx="10058400" cy="292608"/>
          </a:xfrm>
          <a:prstGeom prst="rect">
            <a:avLst/>
          </a:prstGeom>
          <a:noFill/>
          <a:ln/>
        </p:spPr>
        <p:txBody>
          <a:bodyPr wrap="square" lIns="0" tIns="0" rIns="0" bIns="0" rtlCol="0" anchor="ctr"/>
          <a:lstStyle/>
          <a:p>
            <a:pPr marL="0" indent="0">
              <a:buNone/>
            </a:pPr>
            <a:r>
              <a:rPr lang="en-US" sz="1100" b="1" kern="0" spc="300" dirty="0">
                <a:solidFill>
                  <a:srgbClr val="028090"/>
                </a:solidFill>
                <a:latin typeface="Calibri" pitchFamily="34" charset="0"/>
                <a:ea typeface="Calibri" pitchFamily="34" charset="-122"/>
                <a:cs typeface="Calibri" pitchFamily="34" charset="-120"/>
              </a:rPr>
              <a:t>02 · ACTORS &amp; ROLES</a:t>
            </a:r>
            <a:endParaRPr lang="en-US" sz="1100" dirty="0"/>
          </a:p>
        </p:txBody>
      </p:sp>
      <p:sp>
        <p:nvSpPr>
          <p:cNvPr id="3" name="Shape 1"/>
          <p:cNvSpPr/>
          <p:nvPr/>
        </p:nvSpPr>
        <p:spPr>
          <a:xfrm>
            <a:off x="502920" y="731520"/>
            <a:ext cx="11201400" cy="13716"/>
          </a:xfrm>
          <a:prstGeom prst="rect">
            <a:avLst/>
          </a:prstGeom>
          <a:solidFill>
            <a:srgbClr val="BFE8DC"/>
          </a:solidFill>
          <a:ln w="12700">
            <a:solidFill>
              <a:srgbClr val="BFE8DC"/>
            </a:solidFill>
            <a:prstDash val="solid"/>
          </a:ln>
        </p:spPr>
      </p:sp>
      <p:sp>
        <p:nvSpPr>
          <p:cNvPr id="4" name="Text 2"/>
          <p:cNvSpPr txBox="1"/>
          <p:nvPr/>
        </p:nvSpPr>
        <p:spPr>
          <a:xfrm>
            <a:off x="502920" y="777240"/>
            <a:ext cx="11201400" cy="594360"/>
          </a:xfrm>
          <a:prstGeom prst="rect">
            <a:avLst/>
          </a:prstGeom>
          <a:noFill/>
          <a:ln/>
        </p:spPr>
        <p:txBody>
          <a:bodyPr wrap="square" lIns="0" tIns="0" rIns="0" bIns="0" rtlCol="0" anchor="ctr"/>
          <a:lstStyle/>
          <a:p>
            <a:pPr marL="0" indent="0">
              <a:buNone/>
            </a:pPr>
            <a:r>
              <a:rPr lang="en-US" sz="3000" b="1" dirty="0">
                <a:solidFill>
                  <a:srgbClr val="13292C"/>
                </a:solidFill>
                <a:latin typeface="Cambria" pitchFamily="34" charset="0"/>
                <a:ea typeface="Cambria" pitchFamily="34" charset="-122"/>
                <a:cs typeface="Cambria" pitchFamily="34" charset="-120"/>
              </a:rPr>
              <a:t>System Actors  ②  Mobile &amp; Background</a:t>
            </a:r>
            <a:endParaRPr lang="en-US" sz="3000" dirty="0"/>
          </a:p>
        </p:txBody>
      </p:sp>
      <p:sp>
        <p:nvSpPr>
          <p:cNvPr id="5" name="Shape 3"/>
          <p:cNvSpPr/>
          <p:nvPr/>
        </p:nvSpPr>
        <p:spPr>
          <a:xfrm>
            <a:off x="518008" y="1481328"/>
            <a:ext cx="3383280" cy="4754880"/>
          </a:xfrm>
          <a:prstGeom prst="roundRect">
            <a:avLst>
              <a:gd name="adj" fmla="val 2162"/>
            </a:avLst>
          </a:prstGeom>
          <a:solidFill>
            <a:srgbClr val="FFFFFF"/>
          </a:solidFill>
          <a:ln w="9525">
            <a:solidFill>
              <a:srgbClr val="BFE8DC"/>
            </a:solidFill>
            <a:prstDash val="solid"/>
          </a:ln>
          <a:effectLst>
            <a:outerShdw blurRad="63500" dist="25400" dir="5400000" algn="bl" rotWithShape="0">
              <a:srgbClr val="1B3B3B">
                <a:alpha val="15000"/>
              </a:srgbClr>
            </a:outerShdw>
          </a:effectLst>
        </p:spPr>
      </p:sp>
      <p:sp>
        <p:nvSpPr>
          <p:cNvPr id="6" name="Shape 4"/>
          <p:cNvSpPr/>
          <p:nvPr/>
        </p:nvSpPr>
        <p:spPr>
          <a:xfrm>
            <a:off x="518008" y="1481328"/>
            <a:ext cx="3383280" cy="54864"/>
          </a:xfrm>
          <a:prstGeom prst="roundRect">
            <a:avLst>
              <a:gd name="adj" fmla="val 66667"/>
            </a:avLst>
          </a:prstGeom>
          <a:solidFill>
            <a:srgbClr val="028090"/>
          </a:solidFill>
          <a:ln w="12700">
            <a:solidFill>
              <a:srgbClr val="028090"/>
            </a:solidFill>
            <a:prstDash val="solid"/>
          </a:ln>
        </p:spPr>
      </p:sp>
      <p:sp>
        <p:nvSpPr>
          <p:cNvPr id="7" name="Shape 5"/>
          <p:cNvSpPr/>
          <p:nvPr/>
        </p:nvSpPr>
        <p:spPr>
          <a:xfrm>
            <a:off x="682600" y="1627632"/>
            <a:ext cx="347472" cy="347472"/>
          </a:xfrm>
          <a:prstGeom prst="ellipse">
            <a:avLst/>
          </a:prstGeom>
          <a:solidFill>
            <a:srgbClr val="028090"/>
          </a:solidFill>
          <a:ln w="12700">
            <a:solidFill>
              <a:srgbClr val="028090"/>
            </a:solidFill>
            <a:prstDash val="solid"/>
          </a:ln>
        </p:spPr>
      </p:sp>
      <p:sp>
        <p:nvSpPr>
          <p:cNvPr id="8" name="Text 6"/>
          <p:cNvSpPr txBox="1"/>
          <p:nvPr/>
        </p:nvSpPr>
        <p:spPr>
          <a:xfrm>
            <a:off x="682600" y="1627632"/>
            <a:ext cx="347472" cy="347472"/>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9" name="Text 7"/>
          <p:cNvSpPr txBox="1"/>
          <p:nvPr/>
        </p:nvSpPr>
        <p:spPr>
          <a:xfrm>
            <a:off x="1139800" y="1664208"/>
            <a:ext cx="2633472" cy="219456"/>
          </a:xfrm>
          <a:prstGeom prst="rect">
            <a:avLst/>
          </a:prstGeom>
          <a:noFill/>
          <a:ln/>
        </p:spPr>
        <p:txBody>
          <a:bodyPr wrap="square" lIns="0" tIns="0" rIns="0" bIns="0" rtlCol="0" anchor="ctr"/>
          <a:lstStyle/>
          <a:p>
            <a:pPr marL="0" indent="0">
              <a:buNone/>
            </a:pPr>
            <a:r>
              <a:rPr lang="en-US" sz="700" b="1" kern="0" spc="150" dirty="0">
                <a:solidFill>
                  <a:srgbClr val="028090"/>
                </a:solidFill>
                <a:latin typeface="Calibri" pitchFamily="34" charset="0"/>
                <a:ea typeface="Calibri" pitchFamily="34" charset="-122"/>
                <a:cs typeface="Calibri" pitchFamily="34" charset="-120"/>
              </a:rPr>
              <a:t>SALES APP (MOBILE)</a:t>
            </a:r>
            <a:endParaRPr lang="en-US" sz="700" dirty="0"/>
          </a:p>
        </p:txBody>
      </p:sp>
      <p:sp>
        <p:nvSpPr>
          <p:cNvPr id="10" name="Text 8"/>
          <p:cNvSpPr txBox="1"/>
          <p:nvPr/>
        </p:nvSpPr>
        <p:spPr>
          <a:xfrm>
            <a:off x="682600" y="2011680"/>
            <a:ext cx="3127248" cy="347472"/>
          </a:xfrm>
          <a:prstGeom prst="rect">
            <a:avLst/>
          </a:prstGeom>
          <a:noFill/>
          <a:ln/>
        </p:spPr>
        <p:txBody>
          <a:bodyPr wrap="square" lIns="0" tIns="0" rIns="0" bIns="0" rtlCol="0" anchor="t"/>
          <a:lstStyle/>
          <a:p>
            <a:pPr marL="0" indent="0">
              <a:buNone/>
            </a:pPr>
            <a:r>
              <a:rPr lang="en-US" sz="1250" b="1" dirty="0">
                <a:solidFill>
                  <a:srgbClr val="13292C"/>
                </a:solidFill>
                <a:latin typeface="Calibri" pitchFamily="34" charset="0"/>
                <a:ea typeface="Calibri" pitchFamily="34" charset="-122"/>
                <a:cs typeface="Calibri" pitchFamily="34" charset="-120"/>
              </a:rPr>
              <a:t>Sales Representative</a:t>
            </a:r>
            <a:endParaRPr lang="en-US" sz="1250" dirty="0"/>
          </a:p>
        </p:txBody>
      </p:sp>
      <p:sp>
        <p:nvSpPr>
          <p:cNvPr id="11" name="Text 9"/>
          <p:cNvSpPr txBox="1"/>
          <p:nvPr/>
        </p:nvSpPr>
        <p:spPr>
          <a:xfrm>
            <a:off x="682600" y="2359152"/>
            <a:ext cx="3127248" cy="256032"/>
          </a:xfrm>
          <a:prstGeom prst="rect">
            <a:avLst/>
          </a:prstGeom>
          <a:noFill/>
          <a:ln/>
        </p:spPr>
        <p:txBody>
          <a:bodyPr wrap="square" lIns="0" tIns="0" rIns="0" bIns="0" rtlCol="0" anchor="t"/>
          <a:lstStyle/>
          <a:p>
            <a:pPr marL="0" indent="0">
              <a:buNone/>
            </a:pPr>
            <a:r>
              <a:rPr lang="en-US" sz="900" i="1" dirty="0">
                <a:solidFill>
                  <a:srgbClr val="4C6764"/>
                </a:solidFill>
                <a:latin typeface="Calibri" pitchFamily="34" charset="0"/>
                <a:ea typeface="Calibri" pitchFamily="34" charset="-122"/>
                <a:cs typeface="Calibri" pitchFamily="34" charset="-120"/>
              </a:rPr>
              <a:t>Places orders for assigned retailers</a:t>
            </a:r>
            <a:endParaRPr lang="en-US" sz="900" dirty="0"/>
          </a:p>
        </p:txBody>
      </p:sp>
      <p:sp>
        <p:nvSpPr>
          <p:cNvPr id="12" name="Shape 10"/>
          <p:cNvSpPr/>
          <p:nvPr/>
        </p:nvSpPr>
        <p:spPr>
          <a:xfrm>
            <a:off x="682600" y="2633472"/>
            <a:ext cx="3054096" cy="6401"/>
          </a:xfrm>
          <a:prstGeom prst="rect">
            <a:avLst/>
          </a:prstGeom>
          <a:solidFill>
            <a:srgbClr val="BFE8DC"/>
          </a:solidFill>
          <a:ln w="12700">
            <a:solidFill>
              <a:srgbClr val="BFE8DC"/>
            </a:solidFill>
            <a:prstDash val="solid"/>
          </a:ln>
        </p:spPr>
      </p:sp>
      <p:sp>
        <p:nvSpPr>
          <p:cNvPr id="13" name="Text 11"/>
          <p:cNvSpPr txBox="1"/>
          <p:nvPr/>
        </p:nvSpPr>
        <p:spPr>
          <a:xfrm>
            <a:off x="682600" y="2706624"/>
            <a:ext cx="3127248" cy="3429000"/>
          </a:xfrm>
          <a:prstGeom prst="rect">
            <a:avLst/>
          </a:prstGeom>
          <a:noFill/>
          <a:ln/>
        </p:spPr>
        <p:txBody>
          <a:bodyPr wrap="square" lIns="0" tIns="0" rIns="0" bIns="0" rtlCol="0" anchor="t"/>
          <a:lstStyle/>
          <a:p>
            <a:pPr marL="101600" indent="-101600">
              <a:spcAft>
                <a:spcPts val="250"/>
              </a:spcAft>
              <a:buSzPct val="100000"/>
              <a:buChar char="•"/>
            </a:pPr>
            <a:r>
              <a:rPr lang="en-US" sz="900" dirty="0">
                <a:solidFill>
                  <a:srgbClr val="13292C"/>
                </a:solidFill>
                <a:latin typeface="Calibri" pitchFamily="34" charset="0"/>
                <a:ea typeface="Calibri" pitchFamily="34" charset="-122"/>
                <a:cs typeface="Calibri" pitchFamily="34" charset="-120"/>
              </a:rPr>
              <a:t>View assigned active retailers; share orders within same sales group</a:t>
            </a:r>
            <a:endParaRPr lang="en-US" sz="900" dirty="0"/>
          </a:p>
          <a:p>
            <a:pPr marL="101600" indent="-101600">
              <a:spcAft>
                <a:spcPts val="250"/>
              </a:spcAft>
              <a:buSzPct val="100000"/>
              <a:buChar char="•"/>
            </a:pPr>
            <a:r>
              <a:rPr lang="en-US" sz="900" dirty="0">
                <a:solidFill>
                  <a:srgbClr val="13292C"/>
                </a:solidFill>
                <a:latin typeface="Calibri" pitchFamily="34" charset="0"/>
                <a:ea typeface="Calibri" pitchFamily="34" charset="-122"/>
                <a:cs typeface="Calibri" pitchFamily="34" charset="-120"/>
              </a:rPr>
              <a:t>Declare a new retailer — active only after Admin / Operator approval</a:t>
            </a:r>
            <a:endParaRPr lang="en-US" sz="900" dirty="0"/>
          </a:p>
          <a:p>
            <a:pPr marL="101600" indent="-101600">
              <a:spcAft>
                <a:spcPts val="250"/>
              </a:spcAft>
              <a:buSzPct val="100000"/>
              <a:buChar char="•"/>
            </a:pPr>
            <a:r>
              <a:rPr lang="en-US" sz="900" dirty="0">
                <a:solidFill>
                  <a:srgbClr val="13292C"/>
                </a:solidFill>
                <a:latin typeface="Calibri" pitchFamily="34" charset="0"/>
                <a:ea typeface="Calibri" pitchFamily="34" charset="-122"/>
                <a:cs typeface="Calibri" pitchFamily="34" charset="-120"/>
              </a:rPr>
              <a:t>Search catalog, add to cart, review auto-calculated promotions, confirm order</a:t>
            </a:r>
            <a:endParaRPr lang="en-US" sz="900" dirty="0"/>
          </a:p>
          <a:p>
            <a:pPr marL="101600" indent="-101600">
              <a:spcAft>
                <a:spcPts val="250"/>
              </a:spcAft>
              <a:buSzPct val="100000"/>
              <a:buChar char="•"/>
            </a:pPr>
            <a:r>
              <a:rPr lang="en-US" sz="900" dirty="0">
                <a:solidFill>
                  <a:srgbClr val="13292C"/>
                </a:solidFill>
                <a:latin typeface="Calibri" pitchFamily="34" charset="0"/>
                <a:ea typeface="Calibri" pitchFamily="34" charset="-122"/>
                <a:cs typeface="Calibri" pitchFamily="34" charset="-120"/>
              </a:rPr>
              <a:t>Offline mode: save orders to local SQLite; auto-sync on reconnect (FCFS at server)</a:t>
            </a:r>
            <a:endParaRPr lang="en-US" sz="900" dirty="0"/>
          </a:p>
          <a:p>
            <a:pPr marL="101600" indent="-101600">
              <a:spcAft>
                <a:spcPts val="250"/>
              </a:spcAft>
              <a:buSzPct val="100000"/>
              <a:buChar char="•"/>
            </a:pPr>
            <a:r>
              <a:rPr lang="en-US" sz="900" dirty="0">
                <a:solidFill>
                  <a:srgbClr val="13292C"/>
                </a:solidFill>
                <a:latin typeface="Calibri" pitchFamily="34" charset="0"/>
                <a:ea typeface="Calibri" pitchFamily="34" charset="-122"/>
                <a:cs typeface="Calibri" pitchFamily="34" charset="-120"/>
              </a:rPr>
              <a:t>View own order history, revenue metrics and sales leaderboard</a:t>
            </a:r>
            <a:endParaRPr lang="en-US" sz="900" dirty="0"/>
          </a:p>
        </p:txBody>
      </p:sp>
      <p:sp>
        <p:nvSpPr>
          <p:cNvPr id="14" name="Shape 12"/>
          <p:cNvSpPr/>
          <p:nvPr/>
        </p:nvSpPr>
        <p:spPr>
          <a:xfrm>
            <a:off x="4404208" y="1481328"/>
            <a:ext cx="3383280" cy="4754880"/>
          </a:xfrm>
          <a:prstGeom prst="roundRect">
            <a:avLst>
              <a:gd name="adj" fmla="val 2162"/>
            </a:avLst>
          </a:prstGeom>
          <a:solidFill>
            <a:srgbClr val="FFFFFF"/>
          </a:solidFill>
          <a:ln w="9525">
            <a:solidFill>
              <a:srgbClr val="BFE8DC"/>
            </a:solidFill>
            <a:prstDash val="solid"/>
          </a:ln>
          <a:effectLst>
            <a:outerShdw blurRad="63500" dist="25400" dir="5400000" algn="bl" rotWithShape="0">
              <a:srgbClr val="1B3B3B">
                <a:alpha val="15000"/>
              </a:srgbClr>
            </a:outerShdw>
          </a:effectLst>
        </p:spPr>
      </p:sp>
      <p:sp>
        <p:nvSpPr>
          <p:cNvPr id="15" name="Shape 13"/>
          <p:cNvSpPr/>
          <p:nvPr/>
        </p:nvSpPr>
        <p:spPr>
          <a:xfrm>
            <a:off x="4404208" y="1481328"/>
            <a:ext cx="3383280" cy="54864"/>
          </a:xfrm>
          <a:prstGeom prst="roundRect">
            <a:avLst>
              <a:gd name="adj" fmla="val 66667"/>
            </a:avLst>
          </a:prstGeom>
          <a:solidFill>
            <a:srgbClr val="00A896"/>
          </a:solidFill>
          <a:ln w="12700">
            <a:solidFill>
              <a:srgbClr val="00A896"/>
            </a:solidFill>
            <a:prstDash val="solid"/>
          </a:ln>
        </p:spPr>
      </p:sp>
      <p:sp>
        <p:nvSpPr>
          <p:cNvPr id="16" name="Shape 14"/>
          <p:cNvSpPr/>
          <p:nvPr/>
        </p:nvSpPr>
        <p:spPr>
          <a:xfrm>
            <a:off x="4568800" y="1627632"/>
            <a:ext cx="347472" cy="347472"/>
          </a:xfrm>
          <a:prstGeom prst="ellipse">
            <a:avLst/>
          </a:prstGeom>
          <a:solidFill>
            <a:srgbClr val="00A896"/>
          </a:solidFill>
          <a:ln w="12700">
            <a:solidFill>
              <a:srgbClr val="00A896"/>
            </a:solidFill>
            <a:prstDash val="solid"/>
          </a:ln>
        </p:spPr>
      </p:sp>
      <p:sp>
        <p:nvSpPr>
          <p:cNvPr id="17" name="Text 15"/>
          <p:cNvSpPr txBox="1"/>
          <p:nvPr/>
        </p:nvSpPr>
        <p:spPr>
          <a:xfrm>
            <a:off x="4568800" y="1627632"/>
            <a:ext cx="347472" cy="347472"/>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6</a:t>
            </a:r>
            <a:endParaRPr lang="en-US" sz="1200" dirty="0"/>
          </a:p>
        </p:txBody>
      </p:sp>
      <p:sp>
        <p:nvSpPr>
          <p:cNvPr id="18" name="Text 16"/>
          <p:cNvSpPr txBox="1"/>
          <p:nvPr/>
        </p:nvSpPr>
        <p:spPr>
          <a:xfrm>
            <a:off x="5026000" y="1664208"/>
            <a:ext cx="2633472" cy="219456"/>
          </a:xfrm>
          <a:prstGeom prst="rect">
            <a:avLst/>
          </a:prstGeom>
          <a:noFill/>
          <a:ln/>
        </p:spPr>
        <p:txBody>
          <a:bodyPr wrap="square" lIns="0" tIns="0" rIns="0" bIns="0" rtlCol="0" anchor="ctr"/>
          <a:lstStyle/>
          <a:p>
            <a:pPr marL="0" indent="0">
              <a:buNone/>
            </a:pPr>
            <a:r>
              <a:rPr lang="en-US" sz="700" b="1" kern="0" spc="150" dirty="0">
                <a:solidFill>
                  <a:srgbClr val="00A896"/>
                </a:solidFill>
                <a:latin typeface="Calibri" pitchFamily="34" charset="0"/>
                <a:ea typeface="Calibri" pitchFamily="34" charset="-122"/>
                <a:cs typeface="Calibri" pitchFamily="34" charset="-120"/>
              </a:rPr>
              <a:t>RETAILER APP (MOBILE)</a:t>
            </a:r>
            <a:endParaRPr lang="en-US" sz="700" dirty="0"/>
          </a:p>
        </p:txBody>
      </p:sp>
      <p:sp>
        <p:nvSpPr>
          <p:cNvPr id="19" name="Text 17"/>
          <p:cNvSpPr txBox="1"/>
          <p:nvPr/>
        </p:nvSpPr>
        <p:spPr>
          <a:xfrm>
            <a:off x="4568800" y="2011680"/>
            <a:ext cx="3127248" cy="347472"/>
          </a:xfrm>
          <a:prstGeom prst="rect">
            <a:avLst/>
          </a:prstGeom>
          <a:noFill/>
          <a:ln/>
        </p:spPr>
        <p:txBody>
          <a:bodyPr wrap="square" lIns="0" tIns="0" rIns="0" bIns="0" rtlCol="0" anchor="t"/>
          <a:lstStyle/>
          <a:p>
            <a:pPr marL="0" indent="0">
              <a:buNone/>
            </a:pPr>
            <a:r>
              <a:rPr lang="en-US" sz="1250" b="1" dirty="0">
                <a:solidFill>
                  <a:srgbClr val="13292C"/>
                </a:solidFill>
                <a:latin typeface="Calibri" pitchFamily="34" charset="0"/>
                <a:ea typeface="Calibri" pitchFamily="34" charset="-122"/>
                <a:cs typeface="Calibri" pitchFamily="34" charset="-120"/>
              </a:rPr>
              <a:t>Retailer</a:t>
            </a:r>
            <a:endParaRPr lang="en-US" sz="1250" dirty="0"/>
          </a:p>
        </p:txBody>
      </p:sp>
      <p:sp>
        <p:nvSpPr>
          <p:cNvPr id="20" name="Text 18"/>
          <p:cNvSpPr txBox="1"/>
          <p:nvPr/>
        </p:nvSpPr>
        <p:spPr>
          <a:xfrm>
            <a:off x="4568800" y="2359152"/>
            <a:ext cx="3127248" cy="256032"/>
          </a:xfrm>
          <a:prstGeom prst="rect">
            <a:avLst/>
          </a:prstGeom>
          <a:noFill/>
          <a:ln/>
        </p:spPr>
        <p:txBody>
          <a:bodyPr wrap="square" lIns="0" tIns="0" rIns="0" bIns="0" rtlCol="0" anchor="t"/>
          <a:lstStyle/>
          <a:p>
            <a:pPr marL="0" indent="0">
              <a:buNone/>
            </a:pPr>
            <a:r>
              <a:rPr lang="en-US" sz="900" i="1" dirty="0">
                <a:solidFill>
                  <a:srgbClr val="4C6764"/>
                </a:solidFill>
                <a:latin typeface="Calibri" pitchFamily="34" charset="0"/>
                <a:ea typeface="Calibri" pitchFamily="34" charset="-122"/>
                <a:cs typeface="Calibri" pitchFamily="34" charset="-120"/>
              </a:rPr>
              <a:t>Tracks orders and confirms delivery</a:t>
            </a:r>
            <a:endParaRPr lang="en-US" sz="900" dirty="0"/>
          </a:p>
        </p:txBody>
      </p:sp>
      <p:sp>
        <p:nvSpPr>
          <p:cNvPr id="21" name="Shape 19"/>
          <p:cNvSpPr/>
          <p:nvPr/>
        </p:nvSpPr>
        <p:spPr>
          <a:xfrm>
            <a:off x="4568800" y="2633472"/>
            <a:ext cx="3054096" cy="6401"/>
          </a:xfrm>
          <a:prstGeom prst="rect">
            <a:avLst/>
          </a:prstGeom>
          <a:solidFill>
            <a:srgbClr val="BFE8DC"/>
          </a:solidFill>
          <a:ln w="12700">
            <a:solidFill>
              <a:srgbClr val="BFE8DC"/>
            </a:solidFill>
            <a:prstDash val="solid"/>
          </a:ln>
        </p:spPr>
      </p:sp>
      <p:sp>
        <p:nvSpPr>
          <p:cNvPr id="22" name="Text 20"/>
          <p:cNvSpPr txBox="1"/>
          <p:nvPr/>
        </p:nvSpPr>
        <p:spPr>
          <a:xfrm>
            <a:off x="4568800" y="2706624"/>
            <a:ext cx="3127248" cy="3429000"/>
          </a:xfrm>
          <a:prstGeom prst="rect">
            <a:avLst/>
          </a:prstGeom>
          <a:noFill/>
          <a:ln/>
        </p:spPr>
        <p:txBody>
          <a:bodyPr wrap="square" lIns="0" tIns="0" rIns="0" bIns="0" rtlCol="0" anchor="t"/>
          <a:lstStyle/>
          <a:p>
            <a:pPr marL="101600" indent="-101600">
              <a:spcAft>
                <a:spcPts val="250"/>
              </a:spcAft>
              <a:buSzPct val="100000"/>
              <a:buChar char="•"/>
            </a:pPr>
            <a:r>
              <a:rPr lang="en-US" sz="900" dirty="0">
                <a:solidFill>
                  <a:srgbClr val="13292C"/>
                </a:solidFill>
                <a:latin typeface="Calibri" pitchFamily="34" charset="0"/>
                <a:ea typeface="Calibri" pitchFamily="34" charset="-122"/>
                <a:cs typeface="Calibri" pitchFamily="34" charset="-120"/>
              </a:rPr>
              <a:t>Log in with account issued by Admin / Operator (no self-registration; cannot place orders)</a:t>
            </a:r>
            <a:endParaRPr lang="en-US" sz="900" dirty="0"/>
          </a:p>
          <a:p>
            <a:pPr marL="101600" indent="-101600">
              <a:spcAft>
                <a:spcPts val="250"/>
              </a:spcAft>
              <a:buSzPct val="100000"/>
              <a:buChar char="•"/>
            </a:pPr>
            <a:r>
              <a:rPr lang="en-US" sz="900" dirty="0">
                <a:solidFill>
                  <a:srgbClr val="13292C"/>
                </a:solidFill>
                <a:latin typeface="Calibri" pitchFamily="34" charset="0"/>
                <a:ea typeface="Calibri" pitchFamily="34" charset="-122"/>
                <a:cs typeface="Calibri" pitchFamily="34" charset="-120"/>
              </a:rPr>
              <a:t>View order list, applied promotions, and delivery status notifications</a:t>
            </a:r>
            <a:endParaRPr lang="en-US" sz="900" dirty="0"/>
          </a:p>
          <a:p>
            <a:pPr marL="101600" indent="-101600">
              <a:spcAft>
                <a:spcPts val="250"/>
              </a:spcAft>
              <a:buSzPct val="100000"/>
              <a:buChar char="•"/>
            </a:pPr>
            <a:r>
              <a:rPr lang="en-US" sz="900" dirty="0">
                <a:solidFill>
                  <a:srgbClr val="13292C"/>
                </a:solidFill>
                <a:latin typeface="Calibri" pitchFamily="34" charset="0"/>
                <a:ea typeface="Calibri" pitchFamily="34" charset="-122"/>
                <a:cs typeface="Calibri" pitchFamily="34" charset="-120"/>
              </a:rPr>
              <a:t>Scan issued batch QR labels to confirm received Batch ID and quantity</a:t>
            </a:r>
            <a:endParaRPr lang="en-US" sz="900" dirty="0"/>
          </a:p>
          <a:p>
            <a:pPr marL="101600" indent="-101600">
              <a:spcAft>
                <a:spcPts val="250"/>
              </a:spcAft>
              <a:buSzPct val="100000"/>
              <a:buChar char="•"/>
            </a:pPr>
            <a:r>
              <a:rPr lang="en-US" sz="900" dirty="0">
                <a:solidFill>
                  <a:srgbClr val="13292C"/>
                </a:solidFill>
                <a:latin typeface="Calibri" pitchFamily="34" charset="0"/>
                <a:ea typeface="Calibri" pitchFamily="34" charset="-122"/>
                <a:cs typeface="Calibri" pitchFamily="34" charset="-120"/>
              </a:rPr>
              <a:t>Pay on delivery (COD) when applicable</a:t>
            </a:r>
            <a:endParaRPr lang="en-US" sz="900" dirty="0"/>
          </a:p>
          <a:p>
            <a:pPr marL="101600" indent="-101600">
              <a:spcAft>
                <a:spcPts val="250"/>
              </a:spcAft>
              <a:buSzPct val="100000"/>
              <a:buChar char="•"/>
            </a:pPr>
            <a:r>
              <a:rPr lang="en-US" sz="900" dirty="0">
                <a:solidFill>
                  <a:srgbClr val="13292C"/>
                </a:solidFill>
                <a:latin typeface="Calibri" pitchFamily="34" charset="0"/>
                <a:ea typeface="Calibri" pitchFamily="34" charset="-122"/>
                <a:cs typeface="Calibri" pitchFamily="34" charset="-120"/>
              </a:rPr>
              <a:t>View total orders and amount paid by time period</a:t>
            </a:r>
            <a:endParaRPr lang="en-US" sz="900" dirty="0"/>
          </a:p>
        </p:txBody>
      </p:sp>
      <p:sp>
        <p:nvSpPr>
          <p:cNvPr id="23" name="Shape 21"/>
          <p:cNvSpPr/>
          <p:nvPr/>
        </p:nvSpPr>
        <p:spPr>
          <a:xfrm>
            <a:off x="8290408" y="1481328"/>
            <a:ext cx="3383280" cy="4754880"/>
          </a:xfrm>
          <a:prstGeom prst="roundRect">
            <a:avLst>
              <a:gd name="adj" fmla="val 2162"/>
            </a:avLst>
          </a:prstGeom>
          <a:solidFill>
            <a:srgbClr val="FFFFFF"/>
          </a:solidFill>
          <a:ln w="9525">
            <a:solidFill>
              <a:srgbClr val="BFE8DC"/>
            </a:solidFill>
            <a:prstDash val="solid"/>
          </a:ln>
          <a:effectLst>
            <a:outerShdw blurRad="63500" dist="25400" dir="5400000" algn="bl" rotWithShape="0">
              <a:srgbClr val="1B3B3B">
                <a:alpha val="15000"/>
              </a:srgbClr>
            </a:outerShdw>
          </a:effectLst>
        </p:spPr>
      </p:sp>
      <p:sp>
        <p:nvSpPr>
          <p:cNvPr id="24" name="Shape 22"/>
          <p:cNvSpPr/>
          <p:nvPr/>
        </p:nvSpPr>
        <p:spPr>
          <a:xfrm>
            <a:off x="8290408" y="1481328"/>
            <a:ext cx="3383280" cy="54864"/>
          </a:xfrm>
          <a:prstGeom prst="roundRect">
            <a:avLst>
              <a:gd name="adj" fmla="val 66667"/>
            </a:avLst>
          </a:prstGeom>
          <a:solidFill>
            <a:srgbClr val="028090"/>
          </a:solidFill>
          <a:ln w="12700">
            <a:solidFill>
              <a:srgbClr val="028090"/>
            </a:solidFill>
            <a:prstDash val="solid"/>
          </a:ln>
        </p:spPr>
      </p:sp>
      <p:sp>
        <p:nvSpPr>
          <p:cNvPr id="25" name="Shape 23"/>
          <p:cNvSpPr/>
          <p:nvPr/>
        </p:nvSpPr>
        <p:spPr>
          <a:xfrm>
            <a:off x="8455000" y="1627632"/>
            <a:ext cx="347472" cy="347472"/>
          </a:xfrm>
          <a:prstGeom prst="ellipse">
            <a:avLst/>
          </a:prstGeom>
          <a:solidFill>
            <a:srgbClr val="028090"/>
          </a:solidFill>
          <a:ln w="12700">
            <a:solidFill>
              <a:srgbClr val="028090"/>
            </a:solidFill>
            <a:prstDash val="solid"/>
          </a:ln>
        </p:spPr>
      </p:sp>
      <p:sp>
        <p:nvSpPr>
          <p:cNvPr id="26" name="Text 24"/>
          <p:cNvSpPr txBox="1"/>
          <p:nvPr/>
        </p:nvSpPr>
        <p:spPr>
          <a:xfrm>
            <a:off x="8455000" y="1627632"/>
            <a:ext cx="347472" cy="347472"/>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7</a:t>
            </a:r>
            <a:endParaRPr lang="en-US" sz="1200" dirty="0"/>
          </a:p>
        </p:txBody>
      </p:sp>
      <p:sp>
        <p:nvSpPr>
          <p:cNvPr id="27" name="Text 25"/>
          <p:cNvSpPr txBox="1"/>
          <p:nvPr/>
        </p:nvSpPr>
        <p:spPr>
          <a:xfrm>
            <a:off x="8912200" y="1664208"/>
            <a:ext cx="2633472" cy="219456"/>
          </a:xfrm>
          <a:prstGeom prst="rect">
            <a:avLst/>
          </a:prstGeom>
          <a:noFill/>
          <a:ln/>
        </p:spPr>
        <p:txBody>
          <a:bodyPr wrap="square" lIns="0" tIns="0" rIns="0" bIns="0" rtlCol="0" anchor="ctr"/>
          <a:lstStyle/>
          <a:p>
            <a:pPr marL="0" indent="0">
              <a:buNone/>
            </a:pPr>
            <a:r>
              <a:rPr lang="en-US" sz="700" b="1" kern="0" spc="150" dirty="0">
                <a:solidFill>
                  <a:srgbClr val="028090"/>
                </a:solidFill>
                <a:latin typeface="Calibri" pitchFamily="34" charset="0"/>
                <a:ea typeface="Calibri" pitchFamily="34" charset="-122"/>
                <a:cs typeface="Calibri" pitchFamily="34" charset="-120"/>
              </a:rPr>
              <a:t>BACKGROUND SERVICES</a:t>
            </a:r>
            <a:endParaRPr lang="en-US" sz="700" dirty="0"/>
          </a:p>
        </p:txBody>
      </p:sp>
      <p:sp>
        <p:nvSpPr>
          <p:cNvPr id="28" name="Text 26"/>
          <p:cNvSpPr txBox="1"/>
          <p:nvPr/>
        </p:nvSpPr>
        <p:spPr>
          <a:xfrm>
            <a:off x="8455000" y="2011680"/>
            <a:ext cx="3127248" cy="347472"/>
          </a:xfrm>
          <a:prstGeom prst="rect">
            <a:avLst/>
          </a:prstGeom>
          <a:noFill/>
          <a:ln/>
        </p:spPr>
        <p:txBody>
          <a:bodyPr wrap="square" lIns="0" tIns="0" rIns="0" bIns="0" rtlCol="0" anchor="t"/>
          <a:lstStyle/>
          <a:p>
            <a:pPr marL="0" indent="0">
              <a:buNone/>
            </a:pPr>
            <a:r>
              <a:rPr lang="en-US" sz="1250" b="1" dirty="0">
                <a:solidFill>
                  <a:srgbClr val="13292C"/>
                </a:solidFill>
                <a:latin typeface="Calibri" pitchFamily="34" charset="0"/>
                <a:ea typeface="Calibri" pitchFamily="34" charset="-122"/>
                <a:cs typeface="Calibri" pitchFamily="34" charset="-120"/>
              </a:rPr>
              <a:t>Automated System</a:t>
            </a:r>
            <a:endParaRPr lang="en-US" sz="1250" dirty="0"/>
          </a:p>
        </p:txBody>
      </p:sp>
      <p:sp>
        <p:nvSpPr>
          <p:cNvPr id="29" name="Text 27"/>
          <p:cNvSpPr txBox="1"/>
          <p:nvPr/>
        </p:nvSpPr>
        <p:spPr>
          <a:xfrm>
            <a:off x="8455000" y="2359152"/>
            <a:ext cx="3127248" cy="256032"/>
          </a:xfrm>
          <a:prstGeom prst="rect">
            <a:avLst/>
          </a:prstGeom>
          <a:noFill/>
          <a:ln/>
        </p:spPr>
        <p:txBody>
          <a:bodyPr wrap="square" lIns="0" tIns="0" rIns="0" bIns="0" rtlCol="0" anchor="t"/>
          <a:lstStyle/>
          <a:p>
            <a:pPr marL="0" indent="0">
              <a:buNone/>
            </a:pPr>
            <a:r>
              <a:rPr lang="en-US" sz="900" i="1" dirty="0">
                <a:solidFill>
                  <a:srgbClr val="4C6764"/>
                </a:solidFill>
                <a:latin typeface="Calibri" pitchFamily="34" charset="0"/>
                <a:ea typeface="Calibri" pitchFamily="34" charset="-122"/>
                <a:cs typeface="Calibri" pitchFamily="34" charset="-120"/>
              </a:rPr>
              <a:t>Background processing — no login</a:t>
            </a:r>
            <a:endParaRPr lang="en-US" sz="900" dirty="0"/>
          </a:p>
        </p:txBody>
      </p:sp>
      <p:sp>
        <p:nvSpPr>
          <p:cNvPr id="30" name="Shape 28"/>
          <p:cNvSpPr/>
          <p:nvPr/>
        </p:nvSpPr>
        <p:spPr>
          <a:xfrm>
            <a:off x="8455000" y="2633472"/>
            <a:ext cx="3054096" cy="6401"/>
          </a:xfrm>
          <a:prstGeom prst="rect">
            <a:avLst/>
          </a:prstGeom>
          <a:solidFill>
            <a:srgbClr val="BFE8DC"/>
          </a:solidFill>
          <a:ln w="12700">
            <a:solidFill>
              <a:srgbClr val="BFE8DC"/>
            </a:solidFill>
            <a:prstDash val="solid"/>
          </a:ln>
        </p:spPr>
      </p:sp>
      <p:sp>
        <p:nvSpPr>
          <p:cNvPr id="31" name="Text 29"/>
          <p:cNvSpPr txBox="1"/>
          <p:nvPr/>
        </p:nvSpPr>
        <p:spPr>
          <a:xfrm>
            <a:off x="8455000" y="2706624"/>
            <a:ext cx="3127248" cy="3429000"/>
          </a:xfrm>
          <a:prstGeom prst="rect">
            <a:avLst/>
          </a:prstGeom>
          <a:noFill/>
          <a:ln/>
        </p:spPr>
        <p:txBody>
          <a:bodyPr wrap="square" lIns="0" tIns="0" rIns="0" bIns="0" rtlCol="0" anchor="t"/>
          <a:lstStyle/>
          <a:p>
            <a:pPr marL="101600" indent="-101600">
              <a:spcAft>
                <a:spcPts val="250"/>
              </a:spcAft>
              <a:buSzPct val="100000"/>
              <a:buChar char="•"/>
            </a:pPr>
            <a:r>
              <a:rPr lang="en-US" sz="900" dirty="0">
                <a:solidFill>
                  <a:srgbClr val="13292C"/>
                </a:solidFill>
                <a:latin typeface="Calibri" pitchFamily="34" charset="0"/>
                <a:ea typeface="Calibri" pitchFamily="34" charset="-122"/>
                <a:cs typeface="Calibri" pitchFamily="34" charset="-120"/>
              </a:rPr>
              <a:t>On order submission: validate, estimate ETA, filter batches by range + MLOR</a:t>
            </a:r>
            <a:endParaRPr lang="en-US" sz="900" dirty="0"/>
          </a:p>
          <a:p>
            <a:pPr marL="101600" indent="-101600">
              <a:spcAft>
                <a:spcPts val="250"/>
              </a:spcAft>
              <a:buSzPct val="100000"/>
              <a:buChar char="•"/>
            </a:pPr>
            <a:r>
              <a:rPr lang="en-US" sz="900" dirty="0">
                <a:solidFill>
                  <a:srgbClr val="13292C"/>
                </a:solidFill>
                <a:latin typeface="Calibri" pitchFamily="34" charset="0"/>
                <a:ea typeface="Calibri" pitchFamily="34" charset="-122"/>
                <a:cs typeface="Calibri" pitchFamily="34" charset="-120"/>
              </a:rPr>
              <a:t>Allocate across warehouses by FEFO → distance → quantity</a:t>
            </a:r>
            <a:endParaRPr lang="en-US" sz="900" dirty="0"/>
          </a:p>
          <a:p>
            <a:pPr marL="101600" indent="-101600">
              <a:spcAft>
                <a:spcPts val="250"/>
              </a:spcAft>
              <a:buSzPct val="100000"/>
              <a:buChar char="•"/>
            </a:pPr>
            <a:r>
              <a:rPr lang="en-US" sz="900" dirty="0">
                <a:solidFill>
                  <a:srgbClr val="13292C"/>
                </a:solidFill>
                <a:latin typeface="Calibri" pitchFamily="34" charset="0"/>
                <a:ea typeface="Calibri" pitchFamily="34" charset="-122"/>
                <a:cs typeface="Calibri" pitchFamily="34" charset="-120"/>
              </a:rPr>
              <a:t>Sufficient stock → Pending Approval (temporary hold); else → Auto-Reject with notification</a:t>
            </a:r>
            <a:endParaRPr lang="en-US" sz="900" dirty="0"/>
          </a:p>
          <a:p>
            <a:pPr marL="101600" indent="-101600">
              <a:spcAft>
                <a:spcPts val="250"/>
              </a:spcAft>
              <a:buSzPct val="100000"/>
              <a:buChar char="•"/>
            </a:pPr>
            <a:r>
              <a:rPr lang="en-US" sz="900" dirty="0">
                <a:solidFill>
                  <a:srgbClr val="13292C"/>
                </a:solidFill>
                <a:latin typeface="Calibri" pitchFamily="34" charset="0"/>
                <a:ea typeface="Calibri" pitchFamily="34" charset="-122"/>
                <a:cs typeface="Calibri" pitchFamily="34" charset="-120"/>
              </a:rPr>
              <a:t>On approval: convert holds to reservations, generate picking list</a:t>
            </a:r>
            <a:endParaRPr lang="en-US" sz="900" dirty="0"/>
          </a:p>
          <a:p>
            <a:pPr marL="101600" indent="-101600">
              <a:spcAft>
                <a:spcPts val="250"/>
              </a:spcAft>
              <a:buSzPct val="100000"/>
              <a:buChar char="•"/>
            </a:pPr>
            <a:r>
              <a:rPr lang="en-US" sz="900" dirty="0">
                <a:solidFill>
                  <a:srgbClr val="13292C"/>
                </a:solidFill>
                <a:latin typeface="Calibri" pitchFamily="34" charset="0"/>
                <a:ea typeface="Calibri" pitchFamily="34" charset="-122"/>
                <a:cs typeface="Calibri" pitchFamily="34" charset="-120"/>
              </a:rPr>
              <a:t>Recalculate promotions on sync of offline orders (server result is authoritative)</a:t>
            </a:r>
            <a:endParaRPr lang="en-US" sz="900" dirty="0"/>
          </a:p>
        </p:txBody>
      </p:sp>
      <p:sp>
        <p:nvSpPr>
          <p:cNvPr id="32" name="Text 30"/>
          <p:cNvSpPr txBox="1"/>
          <p:nvPr/>
        </p:nvSpPr>
        <p:spPr>
          <a:xfrm>
            <a:off x="502920" y="6510528"/>
            <a:ext cx="7315200" cy="201168"/>
          </a:xfrm>
          <a:prstGeom prst="rect">
            <a:avLst/>
          </a:prstGeom>
          <a:noFill/>
          <a:ln/>
        </p:spPr>
        <p:txBody>
          <a:bodyPr wrap="square" lIns="0" tIns="0" rIns="0" bIns="0" rtlCol="0" anchor="ctr"/>
          <a:lstStyle/>
          <a:p>
            <a:pPr marL="0" indent="0">
              <a:buNone/>
            </a:pPr>
            <a:r>
              <a:rPr lang="en-US" sz="850" dirty="0">
                <a:solidFill>
                  <a:srgbClr val="A8C5C0"/>
                </a:solidFill>
                <a:latin typeface="Calibri" pitchFamily="34" charset="0"/>
                <a:ea typeface="Calibri" pitchFamily="34" charset="-122"/>
                <a:cs typeface="Calibri" pitchFamily="34" charset="-120"/>
              </a:rPr>
              <a:t>FSCM  ·  Capstone Project Overview  ·  FA26SE083</a:t>
            </a:r>
            <a:endParaRPr lang="en-US" sz="850" dirty="0"/>
          </a:p>
        </p:txBody>
      </p:sp>
      <p:sp>
        <p:nvSpPr>
          <p:cNvPr id="33" name="Text 31"/>
          <p:cNvSpPr txBox="1"/>
          <p:nvPr/>
        </p:nvSpPr>
        <p:spPr>
          <a:xfrm>
            <a:off x="11338560" y="6510528"/>
            <a:ext cx="365760" cy="201168"/>
          </a:xfrm>
          <a:prstGeom prst="rect">
            <a:avLst/>
          </a:prstGeom>
          <a:noFill/>
          <a:ln/>
        </p:spPr>
        <p:txBody>
          <a:bodyPr wrap="square" lIns="0" tIns="0" rIns="0" bIns="0" rtlCol="0" anchor="ctr"/>
          <a:lstStyle/>
          <a:p>
            <a:pPr marL="0" indent="0" algn="r">
              <a:buNone/>
            </a:pPr>
            <a:r>
              <a:rPr lang="en-US" sz="850" dirty="0">
                <a:solidFill>
                  <a:srgbClr val="A8C5C0"/>
                </a:solidFill>
                <a:latin typeface="Calibri" pitchFamily="34" charset="0"/>
                <a:ea typeface="Calibri" pitchFamily="34" charset="-122"/>
                <a:cs typeface="Calibri" pitchFamily="34" charset="-120"/>
              </a:rPr>
              <a:t>5</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AF9"/>
        </a:solidFill>
        <a:effectLst/>
      </p:bgPr>
    </p:bg>
    <p:spTree>
      <p:nvGrpSpPr>
        <p:cNvPr id="1" name=""/>
        <p:cNvGrpSpPr/>
        <p:nvPr/>
      </p:nvGrpSpPr>
      <p:grpSpPr>
        <a:xfrm>
          <a:off x="0" y="0"/>
          <a:ext cx="0" cy="0"/>
          <a:chOff x="0" y="0"/>
          <a:chExt cx="0" cy="0"/>
        </a:xfrm>
      </p:grpSpPr>
      <p:sp>
        <p:nvSpPr>
          <p:cNvPr id="2" name="Text 0"/>
          <p:cNvSpPr txBox="1"/>
          <p:nvPr/>
        </p:nvSpPr>
        <p:spPr>
          <a:xfrm>
            <a:off x="502920" y="402336"/>
            <a:ext cx="10058400" cy="292608"/>
          </a:xfrm>
          <a:prstGeom prst="rect">
            <a:avLst/>
          </a:prstGeom>
          <a:noFill/>
          <a:ln/>
        </p:spPr>
        <p:txBody>
          <a:bodyPr wrap="square" lIns="0" tIns="0" rIns="0" bIns="0" rtlCol="0" anchor="ctr"/>
          <a:lstStyle/>
          <a:p>
            <a:pPr marL="0" indent="0">
              <a:buNone/>
            </a:pPr>
            <a:r>
              <a:rPr lang="en-US" sz="1100" b="1" kern="0" spc="300" dirty="0">
                <a:solidFill>
                  <a:srgbClr val="028090"/>
                </a:solidFill>
                <a:latin typeface="Calibri" pitchFamily="34" charset="0"/>
                <a:ea typeface="Calibri" pitchFamily="34" charset="-122"/>
                <a:cs typeface="Calibri" pitchFamily="34" charset="-120"/>
              </a:rPr>
              <a:t>03 · FUNCTIONAL REQUIREMENTS</a:t>
            </a:r>
            <a:endParaRPr lang="en-US" sz="1100" dirty="0"/>
          </a:p>
        </p:txBody>
      </p:sp>
      <p:sp>
        <p:nvSpPr>
          <p:cNvPr id="3" name="Shape 1"/>
          <p:cNvSpPr/>
          <p:nvPr/>
        </p:nvSpPr>
        <p:spPr>
          <a:xfrm>
            <a:off x="502920" y="731520"/>
            <a:ext cx="11201400" cy="13716"/>
          </a:xfrm>
          <a:prstGeom prst="rect">
            <a:avLst/>
          </a:prstGeom>
          <a:solidFill>
            <a:srgbClr val="BFE8DC"/>
          </a:solidFill>
          <a:ln w="12700">
            <a:solidFill>
              <a:srgbClr val="BFE8DC"/>
            </a:solidFill>
            <a:prstDash val="solid"/>
          </a:ln>
        </p:spPr>
      </p:sp>
      <p:sp>
        <p:nvSpPr>
          <p:cNvPr id="4" name="Text 2"/>
          <p:cNvSpPr txBox="1"/>
          <p:nvPr/>
        </p:nvSpPr>
        <p:spPr>
          <a:xfrm>
            <a:off x="502920" y="777240"/>
            <a:ext cx="11201400" cy="594360"/>
          </a:xfrm>
          <a:prstGeom prst="rect">
            <a:avLst/>
          </a:prstGeom>
          <a:noFill/>
          <a:ln/>
        </p:spPr>
        <p:txBody>
          <a:bodyPr wrap="square" lIns="0" tIns="0" rIns="0" bIns="0" rtlCol="0" anchor="ctr"/>
          <a:lstStyle/>
          <a:p>
            <a:pPr marL="0" indent="0">
              <a:buNone/>
            </a:pPr>
            <a:r>
              <a:rPr lang="en-US" sz="3000" b="1" dirty="0">
                <a:solidFill>
                  <a:srgbClr val="13292C"/>
                </a:solidFill>
                <a:latin typeface="Cambria" pitchFamily="34" charset="0"/>
                <a:ea typeface="Cambria" pitchFamily="34" charset="-122"/>
                <a:cs typeface="Cambria" pitchFamily="34" charset="-120"/>
              </a:rPr>
              <a:t>Must-have MVP  ①  Features 01 – 07</a:t>
            </a:r>
            <a:endParaRPr lang="en-US" sz="3000" dirty="0"/>
          </a:p>
        </p:txBody>
      </p:sp>
      <p:sp>
        <p:nvSpPr>
          <p:cNvPr id="5" name="Shape 3"/>
          <p:cNvSpPr/>
          <p:nvPr/>
        </p:nvSpPr>
        <p:spPr>
          <a:xfrm>
            <a:off x="502920" y="1508760"/>
            <a:ext cx="5394960" cy="905256"/>
          </a:xfrm>
          <a:prstGeom prst="roundRect">
            <a:avLst>
              <a:gd name="adj" fmla="val 9195"/>
            </a:avLst>
          </a:prstGeom>
          <a:solidFill>
            <a:srgbClr val="FFFFFF"/>
          </a:solidFill>
          <a:ln w="9525">
            <a:solidFill>
              <a:srgbClr val="BFE8DC"/>
            </a:solidFill>
            <a:prstDash val="solid"/>
          </a:ln>
          <a:effectLst>
            <a:outerShdw blurRad="63500" dist="25400" dir="5400000" algn="bl" rotWithShape="0">
              <a:srgbClr val="1B3B3B">
                <a:alpha val="15000"/>
              </a:srgbClr>
            </a:outerShdw>
          </a:effectLst>
        </p:spPr>
      </p:sp>
      <p:sp>
        <p:nvSpPr>
          <p:cNvPr id="6" name="Shape 4"/>
          <p:cNvSpPr/>
          <p:nvPr/>
        </p:nvSpPr>
        <p:spPr>
          <a:xfrm>
            <a:off x="511397" y="1687068"/>
            <a:ext cx="45720" cy="576072"/>
          </a:xfrm>
          <a:prstGeom prst="rect">
            <a:avLst/>
          </a:prstGeom>
          <a:solidFill>
            <a:srgbClr val="028090"/>
          </a:solidFill>
          <a:ln w="12700">
            <a:solidFill>
              <a:srgbClr val="028090"/>
            </a:solidFill>
            <a:prstDash val="solid"/>
          </a:ln>
        </p:spPr>
      </p:sp>
      <p:sp>
        <p:nvSpPr>
          <p:cNvPr id="7" name="Text 5"/>
          <p:cNvSpPr txBox="1"/>
          <p:nvPr/>
        </p:nvSpPr>
        <p:spPr>
          <a:xfrm>
            <a:off x="704088" y="1627632"/>
            <a:ext cx="5084064" cy="329184"/>
          </a:xfrm>
          <a:prstGeom prst="rect">
            <a:avLst/>
          </a:prstGeom>
          <a:noFill/>
          <a:ln/>
        </p:spPr>
        <p:txBody>
          <a:bodyPr wrap="square" lIns="0" tIns="0" rIns="0" bIns="0" rtlCol="0" anchor="ctr"/>
          <a:lstStyle/>
          <a:p>
            <a:pPr marL="0" indent="0">
              <a:buNone/>
            </a:pPr>
            <a:r>
              <a:rPr lang="en-US" sz="1200" b="1" dirty="0">
                <a:solidFill>
                  <a:srgbClr val="13292C"/>
                </a:solidFill>
                <a:latin typeface="Calibri" pitchFamily="34" charset="0"/>
                <a:ea typeface="Calibri" pitchFamily="34" charset="-122"/>
                <a:cs typeface="Calibri" pitchFamily="34" charset="-120"/>
              </a:rPr>
              <a:t>User &amp; Access Management</a:t>
            </a:r>
            <a:endParaRPr lang="en-US" sz="1200" dirty="0"/>
          </a:p>
        </p:txBody>
      </p:sp>
      <p:sp>
        <p:nvSpPr>
          <p:cNvPr id="8" name="Text 6"/>
          <p:cNvSpPr txBox="1"/>
          <p:nvPr/>
        </p:nvSpPr>
        <p:spPr>
          <a:xfrm>
            <a:off x="704088" y="1975104"/>
            <a:ext cx="5084064" cy="219456"/>
          </a:xfrm>
          <a:prstGeom prst="rect">
            <a:avLst/>
          </a:prstGeom>
          <a:noFill/>
          <a:ln/>
        </p:spPr>
        <p:txBody>
          <a:bodyPr wrap="square" lIns="0" tIns="0" rIns="0" bIns="0" rtlCol="0" anchor="t"/>
          <a:lstStyle/>
          <a:p>
            <a:pPr marL="0" indent="0">
              <a:lnSpc>
                <a:spcPct val="120000"/>
              </a:lnSpc>
              <a:buNone/>
            </a:pPr>
            <a:r>
              <a:rPr lang="en-US" sz="1000" dirty="0">
                <a:solidFill>
                  <a:srgbClr val="4C6764"/>
                </a:solidFill>
                <a:latin typeface="Calibri" pitchFamily="34" charset="0"/>
                <a:ea typeface="Calibri" pitchFamily="34" charset="-122"/>
                <a:cs typeface="Calibri" pitchFamily="34" charset="-120"/>
              </a:rPr>
              <a:t>Admin creates and manages portal accounts (Admin, Operator, Sales Manager, Warehouse Keeper) and mobile accounts (Sales Rep, Retailer); assigns roles and warehouse access.</a:t>
            </a:r>
            <a:endParaRPr lang="en-US" sz="1000" dirty="0"/>
          </a:p>
        </p:txBody>
      </p:sp>
      <p:sp>
        <p:nvSpPr>
          <p:cNvPr id="9" name="Shape 7"/>
          <p:cNvSpPr/>
          <p:nvPr/>
        </p:nvSpPr>
        <p:spPr>
          <a:xfrm>
            <a:off x="502920" y="2674620"/>
            <a:ext cx="5394960" cy="905256"/>
          </a:xfrm>
          <a:prstGeom prst="roundRect">
            <a:avLst>
              <a:gd name="adj" fmla="val 9195"/>
            </a:avLst>
          </a:prstGeom>
          <a:solidFill>
            <a:srgbClr val="FFFFFF"/>
          </a:solidFill>
          <a:ln w="9525">
            <a:solidFill>
              <a:srgbClr val="BFE8DC"/>
            </a:solidFill>
            <a:prstDash val="solid"/>
          </a:ln>
          <a:effectLst>
            <a:outerShdw blurRad="63500" dist="25400" dir="5400000" algn="bl" rotWithShape="0">
              <a:srgbClr val="1B3B3B">
                <a:alpha val="15000"/>
              </a:srgbClr>
            </a:outerShdw>
          </a:effectLst>
        </p:spPr>
      </p:sp>
      <p:sp>
        <p:nvSpPr>
          <p:cNvPr id="10" name="Shape 8"/>
          <p:cNvSpPr/>
          <p:nvPr/>
        </p:nvSpPr>
        <p:spPr>
          <a:xfrm>
            <a:off x="512349" y="2834640"/>
            <a:ext cx="45720" cy="576072"/>
          </a:xfrm>
          <a:prstGeom prst="rect">
            <a:avLst/>
          </a:prstGeom>
          <a:solidFill>
            <a:srgbClr val="00A896"/>
          </a:solidFill>
          <a:ln w="12700">
            <a:solidFill>
              <a:srgbClr val="00A896"/>
            </a:solidFill>
            <a:prstDash val="solid"/>
          </a:ln>
        </p:spPr>
      </p:sp>
      <p:sp>
        <p:nvSpPr>
          <p:cNvPr id="11" name="Text 9"/>
          <p:cNvSpPr txBox="1"/>
          <p:nvPr/>
        </p:nvSpPr>
        <p:spPr>
          <a:xfrm>
            <a:off x="704088" y="2793492"/>
            <a:ext cx="5084064" cy="329184"/>
          </a:xfrm>
          <a:prstGeom prst="rect">
            <a:avLst/>
          </a:prstGeom>
          <a:noFill/>
          <a:ln/>
        </p:spPr>
        <p:txBody>
          <a:bodyPr wrap="square" lIns="0" tIns="0" rIns="0" bIns="0" rtlCol="0" anchor="ctr"/>
          <a:lstStyle/>
          <a:p>
            <a:pPr marL="0" indent="0">
              <a:buNone/>
            </a:pPr>
            <a:r>
              <a:rPr lang="en-US" sz="1200" b="1" dirty="0">
                <a:solidFill>
                  <a:srgbClr val="13292C"/>
                </a:solidFill>
                <a:latin typeface="Calibri" pitchFamily="34" charset="0"/>
                <a:ea typeface="Calibri" pitchFamily="34" charset="-122"/>
                <a:cs typeface="Calibri" pitchFamily="34" charset="-120"/>
              </a:rPr>
              <a:t>Master Data</a:t>
            </a:r>
            <a:endParaRPr lang="en-US" sz="1200" dirty="0"/>
          </a:p>
        </p:txBody>
      </p:sp>
      <p:sp>
        <p:nvSpPr>
          <p:cNvPr id="12" name="Text 10"/>
          <p:cNvSpPr txBox="1"/>
          <p:nvPr/>
        </p:nvSpPr>
        <p:spPr>
          <a:xfrm>
            <a:off x="704088" y="3140964"/>
            <a:ext cx="5084064" cy="219456"/>
          </a:xfrm>
          <a:prstGeom prst="rect">
            <a:avLst/>
          </a:prstGeom>
          <a:noFill/>
          <a:ln/>
        </p:spPr>
        <p:txBody>
          <a:bodyPr wrap="square" lIns="0" tIns="0" rIns="0" bIns="0" rtlCol="0" anchor="t"/>
          <a:lstStyle/>
          <a:p>
            <a:pPr marL="0" indent="0">
              <a:lnSpc>
                <a:spcPct val="120000"/>
              </a:lnSpc>
              <a:buNone/>
            </a:pPr>
            <a:r>
              <a:rPr lang="en-US" sz="1000" dirty="0">
                <a:solidFill>
                  <a:srgbClr val="4C6764"/>
                </a:solidFill>
                <a:latin typeface="Calibri" pitchFamily="34" charset="0"/>
                <a:ea typeface="Calibri" pitchFamily="34" charset="-122"/>
                <a:cs typeface="Calibri" pitchFamily="34" charset="-120"/>
              </a:rPr>
              <a:t>Manage SKUs (category, price, total shelf life, near-date threshold), warehouses (address, coordinates), retailer-SKU MLOR values, and distance-based transit-time rules.</a:t>
            </a:r>
            <a:endParaRPr lang="en-US" sz="1000" dirty="0"/>
          </a:p>
        </p:txBody>
      </p:sp>
      <p:sp>
        <p:nvSpPr>
          <p:cNvPr id="13" name="Shape 11"/>
          <p:cNvSpPr/>
          <p:nvPr/>
        </p:nvSpPr>
        <p:spPr>
          <a:xfrm>
            <a:off x="502920" y="3840480"/>
            <a:ext cx="5394960" cy="905256"/>
          </a:xfrm>
          <a:prstGeom prst="roundRect">
            <a:avLst>
              <a:gd name="adj" fmla="val 9195"/>
            </a:avLst>
          </a:prstGeom>
          <a:solidFill>
            <a:srgbClr val="FFFFFF"/>
          </a:solidFill>
          <a:ln w="9525">
            <a:solidFill>
              <a:srgbClr val="BFE8DC"/>
            </a:solidFill>
            <a:prstDash val="solid"/>
          </a:ln>
          <a:effectLst>
            <a:outerShdw blurRad="63500" dist="25400" dir="5400000" algn="bl" rotWithShape="0">
              <a:srgbClr val="1B3B3B">
                <a:alpha val="15000"/>
              </a:srgbClr>
            </a:outerShdw>
          </a:effectLst>
        </p:spPr>
      </p:sp>
      <p:sp>
        <p:nvSpPr>
          <p:cNvPr id="14" name="Shape 12"/>
          <p:cNvSpPr/>
          <p:nvPr/>
        </p:nvSpPr>
        <p:spPr>
          <a:xfrm>
            <a:off x="511397" y="4018788"/>
            <a:ext cx="45720" cy="576072"/>
          </a:xfrm>
          <a:prstGeom prst="rect">
            <a:avLst/>
          </a:prstGeom>
          <a:solidFill>
            <a:srgbClr val="028090"/>
          </a:solidFill>
          <a:ln w="12700">
            <a:solidFill>
              <a:srgbClr val="028090"/>
            </a:solidFill>
            <a:prstDash val="solid"/>
          </a:ln>
        </p:spPr>
      </p:sp>
      <p:sp>
        <p:nvSpPr>
          <p:cNvPr id="15" name="Text 13"/>
          <p:cNvSpPr txBox="1"/>
          <p:nvPr/>
        </p:nvSpPr>
        <p:spPr>
          <a:xfrm>
            <a:off x="704088" y="3959352"/>
            <a:ext cx="5084064" cy="329184"/>
          </a:xfrm>
          <a:prstGeom prst="rect">
            <a:avLst/>
          </a:prstGeom>
          <a:noFill/>
          <a:ln/>
        </p:spPr>
        <p:txBody>
          <a:bodyPr wrap="square" lIns="0" tIns="0" rIns="0" bIns="0" rtlCol="0" anchor="ctr"/>
          <a:lstStyle/>
          <a:p>
            <a:pPr marL="0" indent="0">
              <a:buNone/>
            </a:pPr>
            <a:r>
              <a:rPr lang="en-US" sz="1200" b="1" dirty="0">
                <a:solidFill>
                  <a:srgbClr val="13292C"/>
                </a:solidFill>
                <a:latin typeface="Calibri" pitchFamily="34" charset="0"/>
                <a:ea typeface="Calibri" pitchFamily="34" charset="-122"/>
                <a:cs typeface="Calibri" pitchFamily="34" charset="-120"/>
              </a:rPr>
              <a:t>Retailer &amp; Sales-Territory Management</a:t>
            </a:r>
            <a:endParaRPr lang="en-US" sz="1200" dirty="0"/>
          </a:p>
        </p:txBody>
      </p:sp>
      <p:sp>
        <p:nvSpPr>
          <p:cNvPr id="16" name="Text 14"/>
          <p:cNvSpPr txBox="1"/>
          <p:nvPr/>
        </p:nvSpPr>
        <p:spPr>
          <a:xfrm>
            <a:off x="704088" y="4306824"/>
            <a:ext cx="5084064" cy="219456"/>
          </a:xfrm>
          <a:prstGeom prst="rect">
            <a:avLst/>
          </a:prstGeom>
          <a:noFill/>
          <a:ln/>
        </p:spPr>
        <p:txBody>
          <a:bodyPr wrap="square" lIns="0" tIns="0" rIns="0" bIns="0" rtlCol="0" anchor="t"/>
          <a:lstStyle/>
          <a:p>
            <a:pPr marL="0" indent="0">
              <a:lnSpc>
                <a:spcPct val="120000"/>
              </a:lnSpc>
              <a:buNone/>
            </a:pPr>
            <a:r>
              <a:rPr lang="en-US" sz="1000" dirty="0">
                <a:solidFill>
                  <a:srgbClr val="4C6764"/>
                </a:solidFill>
                <a:latin typeface="Calibri" pitchFamily="34" charset="0"/>
                <a:ea typeface="Calibri" pitchFamily="34" charset="-122"/>
                <a:cs typeface="Calibri" pitchFamily="34" charset="-120"/>
              </a:rPr>
              <a:t>Admin / Operator creates or imports retailers; Sales Rep may declare a new retailer (active only after approval). Sales groups control which retailers each rep can see and order for.</a:t>
            </a:r>
            <a:endParaRPr lang="en-US" sz="1000" dirty="0"/>
          </a:p>
        </p:txBody>
      </p:sp>
      <p:sp>
        <p:nvSpPr>
          <p:cNvPr id="17" name="Shape 15"/>
          <p:cNvSpPr/>
          <p:nvPr/>
        </p:nvSpPr>
        <p:spPr>
          <a:xfrm>
            <a:off x="502920" y="5006340"/>
            <a:ext cx="5394960" cy="905256"/>
          </a:xfrm>
          <a:prstGeom prst="roundRect">
            <a:avLst>
              <a:gd name="adj" fmla="val 9195"/>
            </a:avLst>
          </a:prstGeom>
          <a:solidFill>
            <a:srgbClr val="FFFFFF"/>
          </a:solidFill>
          <a:ln w="9525">
            <a:solidFill>
              <a:srgbClr val="BFE8DC"/>
            </a:solidFill>
            <a:prstDash val="solid"/>
          </a:ln>
          <a:effectLst>
            <a:outerShdw blurRad="63500" dist="25400" dir="5400000" algn="bl" rotWithShape="0">
              <a:srgbClr val="1B3B3B">
                <a:alpha val="15000"/>
              </a:srgbClr>
            </a:outerShdw>
          </a:effectLst>
        </p:spPr>
      </p:sp>
      <p:sp>
        <p:nvSpPr>
          <p:cNvPr id="18" name="Shape 16"/>
          <p:cNvSpPr/>
          <p:nvPr/>
        </p:nvSpPr>
        <p:spPr>
          <a:xfrm>
            <a:off x="502920" y="5170932"/>
            <a:ext cx="45720" cy="576072"/>
          </a:xfrm>
          <a:prstGeom prst="rect">
            <a:avLst/>
          </a:prstGeom>
          <a:solidFill>
            <a:srgbClr val="00A896"/>
          </a:solidFill>
          <a:ln w="12700">
            <a:solidFill>
              <a:srgbClr val="00A896"/>
            </a:solidFill>
            <a:prstDash val="solid"/>
          </a:ln>
        </p:spPr>
      </p:sp>
      <p:sp>
        <p:nvSpPr>
          <p:cNvPr id="19" name="Text 17"/>
          <p:cNvSpPr txBox="1"/>
          <p:nvPr/>
        </p:nvSpPr>
        <p:spPr>
          <a:xfrm>
            <a:off x="704088" y="5125212"/>
            <a:ext cx="5084064" cy="329184"/>
          </a:xfrm>
          <a:prstGeom prst="rect">
            <a:avLst/>
          </a:prstGeom>
          <a:noFill/>
          <a:ln/>
        </p:spPr>
        <p:txBody>
          <a:bodyPr wrap="square" lIns="0" tIns="0" rIns="0" bIns="0" rtlCol="0" anchor="ctr"/>
          <a:lstStyle/>
          <a:p>
            <a:pPr marL="0" indent="0">
              <a:buNone/>
            </a:pPr>
            <a:r>
              <a:rPr lang="en-US" sz="1200" b="1" dirty="0">
                <a:solidFill>
                  <a:srgbClr val="13292C"/>
                </a:solidFill>
                <a:latin typeface="Calibri" pitchFamily="34" charset="0"/>
                <a:ea typeface="Calibri" pitchFamily="34" charset="-122"/>
                <a:cs typeface="Calibri" pitchFamily="34" charset="-120"/>
              </a:rPr>
              <a:t>Goods Receipt, Batch/Lot &amp; QR Labels</a:t>
            </a:r>
            <a:endParaRPr lang="en-US" sz="1200" dirty="0"/>
          </a:p>
        </p:txBody>
      </p:sp>
      <p:sp>
        <p:nvSpPr>
          <p:cNvPr id="20" name="Text 18"/>
          <p:cNvSpPr txBox="1"/>
          <p:nvPr/>
        </p:nvSpPr>
        <p:spPr>
          <a:xfrm>
            <a:off x="704088" y="5472684"/>
            <a:ext cx="5084064" cy="219456"/>
          </a:xfrm>
          <a:prstGeom prst="rect">
            <a:avLst/>
          </a:prstGeom>
          <a:noFill/>
          <a:ln/>
        </p:spPr>
        <p:txBody>
          <a:bodyPr wrap="square" lIns="0" tIns="0" rIns="0" bIns="0" rtlCol="0" anchor="t"/>
          <a:lstStyle/>
          <a:p>
            <a:pPr marL="0" indent="0">
              <a:lnSpc>
                <a:spcPct val="120000"/>
              </a:lnSpc>
              <a:buNone/>
            </a:pPr>
            <a:r>
              <a:rPr lang="en-US" sz="1000" dirty="0">
                <a:solidFill>
                  <a:srgbClr val="4C6764"/>
                </a:solidFill>
                <a:latin typeface="Calibri" pitchFamily="34" charset="0"/>
                <a:ea typeface="Calibri" pitchFamily="34" charset="-122"/>
                <a:cs typeface="Calibri" pitchFamily="34" charset="-120"/>
              </a:rPr>
              <a:t>Admin (any warehouse) or Warehouse Keeper (assigned warehouse) records SKU, Batch ID, expiry date and quantity. System generates batch-quantity QR label; stock increases after approval.</a:t>
            </a:r>
            <a:endParaRPr lang="en-US" sz="1000" dirty="0"/>
          </a:p>
        </p:txBody>
      </p:sp>
      <p:sp>
        <p:nvSpPr>
          <p:cNvPr id="21" name="Shape 19"/>
          <p:cNvSpPr/>
          <p:nvPr/>
        </p:nvSpPr>
        <p:spPr>
          <a:xfrm>
            <a:off x="6217920" y="1508760"/>
            <a:ext cx="5394960" cy="905256"/>
          </a:xfrm>
          <a:prstGeom prst="roundRect">
            <a:avLst>
              <a:gd name="adj" fmla="val 9195"/>
            </a:avLst>
          </a:prstGeom>
          <a:solidFill>
            <a:srgbClr val="FFFFFF"/>
          </a:solidFill>
          <a:ln w="9525">
            <a:solidFill>
              <a:srgbClr val="BFE8DC"/>
            </a:solidFill>
            <a:prstDash val="solid"/>
          </a:ln>
          <a:effectLst>
            <a:outerShdw blurRad="63500" dist="25400" dir="5400000" algn="bl" rotWithShape="0">
              <a:srgbClr val="1B3B3B">
                <a:alpha val="15000"/>
              </a:srgbClr>
            </a:outerShdw>
          </a:effectLst>
        </p:spPr>
      </p:sp>
      <p:sp>
        <p:nvSpPr>
          <p:cNvPr id="22" name="Shape 20"/>
          <p:cNvSpPr/>
          <p:nvPr/>
        </p:nvSpPr>
        <p:spPr>
          <a:xfrm>
            <a:off x="6218428" y="1668780"/>
            <a:ext cx="45720" cy="576072"/>
          </a:xfrm>
          <a:prstGeom prst="rect">
            <a:avLst/>
          </a:prstGeom>
          <a:solidFill>
            <a:srgbClr val="028090"/>
          </a:solidFill>
          <a:ln w="12700">
            <a:solidFill>
              <a:srgbClr val="028090"/>
            </a:solidFill>
            <a:prstDash val="solid"/>
          </a:ln>
        </p:spPr>
      </p:sp>
      <p:sp>
        <p:nvSpPr>
          <p:cNvPr id="23" name="Text 21"/>
          <p:cNvSpPr txBox="1"/>
          <p:nvPr/>
        </p:nvSpPr>
        <p:spPr>
          <a:xfrm>
            <a:off x="6419088" y="1627632"/>
            <a:ext cx="5084064" cy="329184"/>
          </a:xfrm>
          <a:prstGeom prst="rect">
            <a:avLst/>
          </a:prstGeom>
          <a:noFill/>
          <a:ln/>
        </p:spPr>
        <p:txBody>
          <a:bodyPr wrap="square" lIns="0" tIns="0" rIns="0" bIns="0" rtlCol="0" anchor="ctr"/>
          <a:lstStyle/>
          <a:p>
            <a:pPr marL="0" indent="0">
              <a:buNone/>
            </a:pPr>
            <a:r>
              <a:rPr lang="en-US" sz="1200" b="1" dirty="0">
                <a:solidFill>
                  <a:srgbClr val="13292C"/>
                </a:solidFill>
                <a:latin typeface="Calibri" pitchFamily="34" charset="0"/>
                <a:ea typeface="Calibri" pitchFamily="34" charset="-122"/>
                <a:cs typeface="Calibri" pitchFamily="34" charset="-120"/>
              </a:rPr>
              <a:t>Promotion Management</a:t>
            </a:r>
            <a:endParaRPr lang="en-US" sz="1200" dirty="0"/>
          </a:p>
        </p:txBody>
      </p:sp>
      <p:sp>
        <p:nvSpPr>
          <p:cNvPr id="24" name="Text 22"/>
          <p:cNvSpPr txBox="1"/>
          <p:nvPr/>
        </p:nvSpPr>
        <p:spPr>
          <a:xfrm>
            <a:off x="6419088" y="1975104"/>
            <a:ext cx="5084064" cy="219456"/>
          </a:xfrm>
          <a:prstGeom prst="rect">
            <a:avLst/>
          </a:prstGeom>
          <a:noFill/>
          <a:ln/>
        </p:spPr>
        <p:txBody>
          <a:bodyPr wrap="square" lIns="0" tIns="0" rIns="0" bIns="0" rtlCol="0" anchor="t"/>
          <a:lstStyle/>
          <a:p>
            <a:pPr marL="0" indent="0">
              <a:lnSpc>
                <a:spcPct val="120000"/>
              </a:lnSpc>
              <a:buNone/>
            </a:pPr>
            <a:r>
              <a:rPr lang="en-US" sz="1000" dirty="0">
                <a:solidFill>
                  <a:srgbClr val="4C6764"/>
                </a:solidFill>
                <a:latin typeface="Calibri" pitchFamily="34" charset="0"/>
                <a:ea typeface="Calibri" pitchFamily="34" charset="-122"/>
                <a:cs typeface="Calibri" pitchFamily="34" charset="-120"/>
              </a:rPr>
              <a:t>Admin creates promotions with validity period and eligible-retailer list. Two types: per-SKU (min qty + discount %) and product-group (basket qty + group discount). Report on applied promotions.</a:t>
            </a:r>
            <a:endParaRPr lang="en-US" sz="1000" dirty="0"/>
          </a:p>
        </p:txBody>
      </p:sp>
      <p:sp>
        <p:nvSpPr>
          <p:cNvPr id="25" name="Shape 23"/>
          <p:cNvSpPr/>
          <p:nvPr/>
        </p:nvSpPr>
        <p:spPr>
          <a:xfrm>
            <a:off x="6217920" y="2674620"/>
            <a:ext cx="5394960" cy="905256"/>
          </a:xfrm>
          <a:prstGeom prst="roundRect">
            <a:avLst>
              <a:gd name="adj" fmla="val 9195"/>
            </a:avLst>
          </a:prstGeom>
          <a:solidFill>
            <a:srgbClr val="FFFFFF"/>
          </a:solidFill>
          <a:ln w="9525">
            <a:solidFill>
              <a:srgbClr val="BFE8DC"/>
            </a:solidFill>
            <a:prstDash val="solid"/>
          </a:ln>
          <a:effectLst>
            <a:outerShdw blurRad="63500" dist="25400" dir="5400000" algn="bl" rotWithShape="0">
              <a:srgbClr val="1B3B3B">
                <a:alpha val="15000"/>
              </a:srgbClr>
            </a:outerShdw>
          </a:effectLst>
        </p:spPr>
      </p:sp>
      <p:sp>
        <p:nvSpPr>
          <p:cNvPr id="26" name="Shape 24"/>
          <p:cNvSpPr/>
          <p:nvPr/>
        </p:nvSpPr>
        <p:spPr>
          <a:xfrm>
            <a:off x="6226397" y="2834640"/>
            <a:ext cx="45720" cy="576072"/>
          </a:xfrm>
          <a:prstGeom prst="rect">
            <a:avLst/>
          </a:prstGeom>
          <a:solidFill>
            <a:srgbClr val="00A896"/>
          </a:solidFill>
          <a:ln w="12700">
            <a:solidFill>
              <a:srgbClr val="00A896"/>
            </a:solidFill>
            <a:prstDash val="solid"/>
          </a:ln>
        </p:spPr>
      </p:sp>
      <p:sp>
        <p:nvSpPr>
          <p:cNvPr id="27" name="Text 25"/>
          <p:cNvSpPr txBox="1"/>
          <p:nvPr/>
        </p:nvSpPr>
        <p:spPr>
          <a:xfrm>
            <a:off x="6419088" y="2793492"/>
            <a:ext cx="5084064" cy="329184"/>
          </a:xfrm>
          <a:prstGeom prst="rect">
            <a:avLst/>
          </a:prstGeom>
          <a:noFill/>
          <a:ln/>
        </p:spPr>
        <p:txBody>
          <a:bodyPr wrap="square" lIns="0" tIns="0" rIns="0" bIns="0" rtlCol="0" anchor="ctr"/>
          <a:lstStyle/>
          <a:p>
            <a:pPr marL="0" indent="0">
              <a:buNone/>
            </a:pPr>
            <a:r>
              <a:rPr lang="en-US" sz="1200" b="1" dirty="0">
                <a:solidFill>
                  <a:srgbClr val="13292C"/>
                </a:solidFill>
                <a:latin typeface="Calibri" pitchFamily="34" charset="0"/>
                <a:ea typeface="Calibri" pitchFamily="34" charset="-122"/>
                <a:cs typeface="Calibri" pitchFamily="34" charset="-120"/>
              </a:rPr>
              <a:t>Mobile Sales Ordering</a:t>
            </a:r>
            <a:endParaRPr lang="en-US" sz="1200" dirty="0"/>
          </a:p>
        </p:txBody>
      </p:sp>
      <p:sp>
        <p:nvSpPr>
          <p:cNvPr id="28" name="Text 26"/>
          <p:cNvSpPr txBox="1"/>
          <p:nvPr/>
        </p:nvSpPr>
        <p:spPr>
          <a:xfrm>
            <a:off x="6419088" y="3140964"/>
            <a:ext cx="5084064" cy="219456"/>
          </a:xfrm>
          <a:prstGeom prst="rect">
            <a:avLst/>
          </a:prstGeom>
          <a:noFill/>
          <a:ln/>
        </p:spPr>
        <p:txBody>
          <a:bodyPr wrap="square" lIns="0" tIns="0" rIns="0" bIns="0" rtlCol="0" anchor="t"/>
          <a:lstStyle/>
          <a:p>
            <a:pPr marL="0" indent="0">
              <a:lnSpc>
                <a:spcPct val="120000"/>
              </a:lnSpc>
              <a:buNone/>
            </a:pPr>
            <a:r>
              <a:rPr lang="en-US" sz="1000" dirty="0">
                <a:solidFill>
                  <a:srgbClr val="4C6764"/>
                </a:solidFill>
                <a:latin typeface="Calibri" pitchFamily="34" charset="0"/>
                <a:ea typeface="Calibri" pitchFamily="34" charset="-122"/>
                <a:cs typeface="Calibri" pitchFamily="34" charset="-120"/>
              </a:rPr>
              <a:t>Sales Rep selects an active assigned retailer, searches catalog, builds cart, reviews auto-applied promotions, confirms delivery address, payment method (COD / prepaid QR / cash), and submits.</a:t>
            </a:r>
            <a:endParaRPr lang="en-US" sz="1000" dirty="0"/>
          </a:p>
        </p:txBody>
      </p:sp>
      <p:sp>
        <p:nvSpPr>
          <p:cNvPr id="29" name="Shape 27"/>
          <p:cNvSpPr/>
          <p:nvPr/>
        </p:nvSpPr>
        <p:spPr>
          <a:xfrm>
            <a:off x="6217920" y="3840480"/>
            <a:ext cx="5394960" cy="905256"/>
          </a:xfrm>
          <a:prstGeom prst="roundRect">
            <a:avLst>
              <a:gd name="adj" fmla="val 9195"/>
            </a:avLst>
          </a:prstGeom>
          <a:solidFill>
            <a:srgbClr val="FFFFFF"/>
          </a:solidFill>
          <a:ln w="9525">
            <a:solidFill>
              <a:srgbClr val="BFE8DC"/>
            </a:solidFill>
            <a:prstDash val="solid"/>
          </a:ln>
          <a:effectLst>
            <a:outerShdw blurRad="63500" dist="25400" dir="5400000" algn="bl" rotWithShape="0">
              <a:srgbClr val="1B3B3B">
                <a:alpha val="15000"/>
              </a:srgbClr>
            </a:outerShdw>
          </a:effectLst>
        </p:spPr>
      </p:sp>
      <p:sp>
        <p:nvSpPr>
          <p:cNvPr id="30" name="Shape 28"/>
          <p:cNvSpPr/>
          <p:nvPr/>
        </p:nvSpPr>
        <p:spPr>
          <a:xfrm>
            <a:off x="6217920" y="4000500"/>
            <a:ext cx="45720" cy="576072"/>
          </a:xfrm>
          <a:prstGeom prst="rect">
            <a:avLst/>
          </a:prstGeom>
          <a:solidFill>
            <a:srgbClr val="028090"/>
          </a:solidFill>
          <a:ln w="12700">
            <a:solidFill>
              <a:srgbClr val="028090"/>
            </a:solidFill>
            <a:prstDash val="solid"/>
          </a:ln>
        </p:spPr>
      </p:sp>
      <p:sp>
        <p:nvSpPr>
          <p:cNvPr id="31" name="Text 29"/>
          <p:cNvSpPr txBox="1"/>
          <p:nvPr/>
        </p:nvSpPr>
        <p:spPr>
          <a:xfrm>
            <a:off x="6419088" y="3959352"/>
            <a:ext cx="5084064" cy="329184"/>
          </a:xfrm>
          <a:prstGeom prst="rect">
            <a:avLst/>
          </a:prstGeom>
          <a:noFill/>
          <a:ln/>
        </p:spPr>
        <p:txBody>
          <a:bodyPr wrap="square" lIns="0" tIns="0" rIns="0" bIns="0" rtlCol="0" anchor="ctr"/>
          <a:lstStyle/>
          <a:p>
            <a:pPr marL="0" indent="0">
              <a:buNone/>
            </a:pPr>
            <a:r>
              <a:rPr lang="en-US" sz="1200" b="1" dirty="0">
                <a:solidFill>
                  <a:srgbClr val="13292C"/>
                </a:solidFill>
                <a:latin typeface="Calibri" pitchFamily="34" charset="0"/>
                <a:ea typeface="Calibri" pitchFamily="34" charset="-122"/>
                <a:cs typeface="Calibri" pitchFamily="34" charset="-120"/>
              </a:rPr>
              <a:t>Offline Ordering &amp; Synchronisation</a:t>
            </a:r>
            <a:endParaRPr lang="en-US" sz="1200" dirty="0"/>
          </a:p>
        </p:txBody>
      </p:sp>
      <p:sp>
        <p:nvSpPr>
          <p:cNvPr id="32" name="Text 30"/>
          <p:cNvSpPr txBox="1"/>
          <p:nvPr/>
        </p:nvSpPr>
        <p:spPr>
          <a:xfrm>
            <a:off x="6419088" y="4306824"/>
            <a:ext cx="5084064" cy="219456"/>
          </a:xfrm>
          <a:prstGeom prst="rect">
            <a:avLst/>
          </a:prstGeom>
          <a:noFill/>
          <a:ln/>
        </p:spPr>
        <p:txBody>
          <a:bodyPr wrap="square" lIns="0" tIns="0" rIns="0" bIns="0" rtlCol="0" anchor="t"/>
          <a:lstStyle/>
          <a:p>
            <a:pPr marL="0" indent="0">
              <a:lnSpc>
                <a:spcPct val="120000"/>
              </a:lnSpc>
              <a:buNone/>
            </a:pPr>
            <a:r>
              <a:rPr lang="en-US" sz="1000" dirty="0">
                <a:solidFill>
                  <a:srgbClr val="4C6764"/>
                </a:solidFill>
                <a:latin typeface="Calibri" pitchFamily="34" charset="0"/>
                <a:ea typeface="Calibri" pitchFamily="34" charset="-122"/>
                <a:cs typeface="Calibri" pitchFamily="34" charset="-120"/>
              </a:rPr>
              <a:t>App caches retailers, products, prices and promotions in SQLite. Offline orders are queued locally and auto-synced on reconnect; server processes them first-come-first-served.</a:t>
            </a:r>
            <a:endParaRPr lang="en-US" sz="1000" dirty="0"/>
          </a:p>
        </p:txBody>
      </p:sp>
      <p:sp>
        <p:nvSpPr>
          <p:cNvPr id="33" name="Text 31"/>
          <p:cNvSpPr txBox="1"/>
          <p:nvPr/>
        </p:nvSpPr>
        <p:spPr>
          <a:xfrm>
            <a:off x="502920" y="6510528"/>
            <a:ext cx="7315200" cy="201168"/>
          </a:xfrm>
          <a:prstGeom prst="rect">
            <a:avLst/>
          </a:prstGeom>
          <a:noFill/>
          <a:ln/>
        </p:spPr>
        <p:txBody>
          <a:bodyPr wrap="square" lIns="0" tIns="0" rIns="0" bIns="0" rtlCol="0" anchor="ctr"/>
          <a:lstStyle/>
          <a:p>
            <a:pPr marL="0" indent="0">
              <a:buNone/>
            </a:pPr>
            <a:r>
              <a:rPr lang="en-US" sz="850" dirty="0">
                <a:solidFill>
                  <a:srgbClr val="A8C5C0"/>
                </a:solidFill>
                <a:latin typeface="Calibri" pitchFamily="34" charset="0"/>
                <a:ea typeface="Calibri" pitchFamily="34" charset="-122"/>
                <a:cs typeface="Calibri" pitchFamily="34" charset="-120"/>
              </a:rPr>
              <a:t>FSCM  ·  Capstone Project Overview  ·  FA26SE083</a:t>
            </a:r>
            <a:endParaRPr lang="en-US" sz="850" dirty="0"/>
          </a:p>
        </p:txBody>
      </p:sp>
      <p:sp>
        <p:nvSpPr>
          <p:cNvPr id="34" name="Text 32"/>
          <p:cNvSpPr txBox="1"/>
          <p:nvPr/>
        </p:nvSpPr>
        <p:spPr>
          <a:xfrm>
            <a:off x="11338560" y="6510528"/>
            <a:ext cx="365760" cy="201168"/>
          </a:xfrm>
          <a:prstGeom prst="rect">
            <a:avLst/>
          </a:prstGeom>
          <a:noFill/>
          <a:ln/>
        </p:spPr>
        <p:txBody>
          <a:bodyPr wrap="square" lIns="0" tIns="0" rIns="0" bIns="0" rtlCol="0" anchor="ctr"/>
          <a:lstStyle/>
          <a:p>
            <a:pPr marL="0" indent="0" algn="r">
              <a:buNone/>
            </a:pPr>
            <a:r>
              <a:rPr lang="en-US" sz="850" dirty="0">
                <a:solidFill>
                  <a:srgbClr val="A8C5C0"/>
                </a:solidFill>
                <a:latin typeface="Calibri" pitchFamily="34" charset="0"/>
                <a:ea typeface="Calibri" pitchFamily="34" charset="-122"/>
                <a:cs typeface="Calibri" pitchFamily="34" charset="-120"/>
              </a:rPr>
              <a:t>6</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AF9"/>
        </a:solidFill>
        <a:effectLst/>
      </p:bgPr>
    </p:bg>
    <p:spTree>
      <p:nvGrpSpPr>
        <p:cNvPr id="1" name=""/>
        <p:cNvGrpSpPr/>
        <p:nvPr/>
      </p:nvGrpSpPr>
      <p:grpSpPr>
        <a:xfrm>
          <a:off x="0" y="0"/>
          <a:ext cx="0" cy="0"/>
          <a:chOff x="0" y="0"/>
          <a:chExt cx="0" cy="0"/>
        </a:xfrm>
      </p:grpSpPr>
      <p:sp>
        <p:nvSpPr>
          <p:cNvPr id="2" name="Text 0"/>
          <p:cNvSpPr txBox="1"/>
          <p:nvPr/>
        </p:nvSpPr>
        <p:spPr>
          <a:xfrm>
            <a:off x="502920" y="402336"/>
            <a:ext cx="10058400" cy="292608"/>
          </a:xfrm>
          <a:prstGeom prst="rect">
            <a:avLst/>
          </a:prstGeom>
          <a:noFill/>
          <a:ln/>
        </p:spPr>
        <p:txBody>
          <a:bodyPr wrap="square" lIns="0" tIns="0" rIns="0" bIns="0" rtlCol="0" anchor="ctr"/>
          <a:lstStyle/>
          <a:p>
            <a:pPr marL="0" indent="0">
              <a:buNone/>
            </a:pPr>
            <a:r>
              <a:rPr lang="en-US" sz="1100" b="1" kern="0" spc="300" dirty="0">
                <a:solidFill>
                  <a:srgbClr val="028090"/>
                </a:solidFill>
                <a:latin typeface="Calibri" pitchFamily="34" charset="0"/>
                <a:ea typeface="Calibri" pitchFamily="34" charset="-122"/>
                <a:cs typeface="Calibri" pitchFamily="34" charset="-120"/>
              </a:rPr>
              <a:t>03 · FUNCTIONAL REQUIREMENTS</a:t>
            </a:r>
            <a:endParaRPr lang="en-US" sz="1100" dirty="0"/>
          </a:p>
        </p:txBody>
      </p:sp>
      <p:sp>
        <p:nvSpPr>
          <p:cNvPr id="3" name="Shape 1"/>
          <p:cNvSpPr/>
          <p:nvPr/>
        </p:nvSpPr>
        <p:spPr>
          <a:xfrm>
            <a:off x="502920" y="731520"/>
            <a:ext cx="11201400" cy="13716"/>
          </a:xfrm>
          <a:prstGeom prst="rect">
            <a:avLst/>
          </a:prstGeom>
          <a:solidFill>
            <a:srgbClr val="BFE8DC"/>
          </a:solidFill>
          <a:ln w="12700">
            <a:solidFill>
              <a:srgbClr val="BFE8DC"/>
            </a:solidFill>
            <a:prstDash val="solid"/>
          </a:ln>
        </p:spPr>
      </p:sp>
      <p:sp>
        <p:nvSpPr>
          <p:cNvPr id="4" name="Text 2"/>
          <p:cNvSpPr txBox="1"/>
          <p:nvPr/>
        </p:nvSpPr>
        <p:spPr>
          <a:xfrm>
            <a:off x="502920" y="777240"/>
            <a:ext cx="11201400" cy="594360"/>
          </a:xfrm>
          <a:prstGeom prst="rect">
            <a:avLst/>
          </a:prstGeom>
          <a:noFill/>
          <a:ln/>
        </p:spPr>
        <p:txBody>
          <a:bodyPr wrap="square" lIns="0" tIns="0" rIns="0" bIns="0" rtlCol="0" anchor="ctr"/>
          <a:lstStyle/>
          <a:p>
            <a:pPr marL="0" indent="0">
              <a:buNone/>
            </a:pPr>
            <a:r>
              <a:rPr lang="en-US" sz="3000" b="1" dirty="0">
                <a:solidFill>
                  <a:srgbClr val="13292C"/>
                </a:solidFill>
                <a:latin typeface="Cambria" pitchFamily="34" charset="0"/>
                <a:ea typeface="Cambria" pitchFamily="34" charset="-122"/>
                <a:cs typeface="Cambria" pitchFamily="34" charset="-120"/>
              </a:rPr>
              <a:t>Must-have MVP  ②  Features 08 – 13</a:t>
            </a:r>
            <a:endParaRPr lang="en-US" sz="3000" dirty="0"/>
          </a:p>
        </p:txBody>
      </p:sp>
      <p:sp>
        <p:nvSpPr>
          <p:cNvPr id="5" name="Shape 3"/>
          <p:cNvSpPr/>
          <p:nvPr/>
        </p:nvSpPr>
        <p:spPr>
          <a:xfrm>
            <a:off x="502920" y="1508760"/>
            <a:ext cx="5394960" cy="1089660"/>
          </a:xfrm>
          <a:prstGeom prst="roundRect">
            <a:avLst>
              <a:gd name="adj" fmla="val 8163"/>
            </a:avLst>
          </a:prstGeom>
          <a:solidFill>
            <a:srgbClr val="FFFFFF"/>
          </a:solidFill>
          <a:ln w="9525">
            <a:solidFill>
              <a:srgbClr val="BFE8DC"/>
            </a:solidFill>
            <a:prstDash val="solid"/>
          </a:ln>
          <a:effectLst>
            <a:outerShdw blurRad="63500" dist="25400" dir="5400000" algn="bl" rotWithShape="0">
              <a:srgbClr val="1B3B3B">
                <a:alpha val="15000"/>
              </a:srgbClr>
            </a:outerShdw>
          </a:effectLst>
        </p:spPr>
      </p:sp>
      <p:sp>
        <p:nvSpPr>
          <p:cNvPr id="6" name="Shape 4"/>
          <p:cNvSpPr/>
          <p:nvPr/>
        </p:nvSpPr>
        <p:spPr>
          <a:xfrm>
            <a:off x="502920" y="1713262"/>
            <a:ext cx="45720" cy="676656"/>
          </a:xfrm>
          <a:prstGeom prst="rect">
            <a:avLst/>
          </a:prstGeom>
          <a:solidFill>
            <a:srgbClr val="00A896"/>
          </a:solidFill>
          <a:ln w="12700">
            <a:solidFill>
              <a:srgbClr val="00A896"/>
            </a:solidFill>
            <a:prstDash val="solid"/>
          </a:ln>
        </p:spPr>
      </p:sp>
      <p:sp>
        <p:nvSpPr>
          <p:cNvPr id="7" name="Text 5"/>
          <p:cNvSpPr txBox="1"/>
          <p:nvPr/>
        </p:nvSpPr>
        <p:spPr>
          <a:xfrm>
            <a:off x="704088" y="1627632"/>
            <a:ext cx="5084064" cy="329184"/>
          </a:xfrm>
          <a:prstGeom prst="rect">
            <a:avLst/>
          </a:prstGeom>
          <a:noFill/>
          <a:ln/>
        </p:spPr>
        <p:txBody>
          <a:bodyPr wrap="square" lIns="0" tIns="0" rIns="0" bIns="0" rtlCol="0" anchor="ctr"/>
          <a:lstStyle/>
          <a:p>
            <a:pPr marL="0" indent="0">
              <a:buNone/>
            </a:pPr>
            <a:r>
              <a:rPr lang="en-US" sz="1200" b="1" dirty="0">
                <a:solidFill>
                  <a:srgbClr val="13292C"/>
                </a:solidFill>
                <a:latin typeface="Calibri" pitchFamily="34" charset="0"/>
                <a:ea typeface="Calibri" pitchFamily="34" charset="-122"/>
                <a:cs typeface="Calibri" pitchFamily="34" charset="-120"/>
              </a:rPr>
              <a:t>FEFO + MLOR Multi-Warehouse Allocation</a:t>
            </a:r>
            <a:endParaRPr lang="en-US" sz="1200" dirty="0"/>
          </a:p>
        </p:txBody>
      </p:sp>
      <p:sp>
        <p:nvSpPr>
          <p:cNvPr id="8" name="Text 6"/>
          <p:cNvSpPr txBox="1"/>
          <p:nvPr/>
        </p:nvSpPr>
        <p:spPr>
          <a:xfrm>
            <a:off x="704088" y="1975104"/>
            <a:ext cx="5084064" cy="320040"/>
          </a:xfrm>
          <a:prstGeom prst="rect">
            <a:avLst/>
          </a:prstGeom>
          <a:noFill/>
          <a:ln/>
        </p:spPr>
        <p:txBody>
          <a:bodyPr wrap="square" lIns="0" tIns="0" rIns="0" bIns="0" rtlCol="0" anchor="t"/>
          <a:lstStyle/>
          <a:p>
            <a:pPr marL="0" indent="0">
              <a:lnSpc>
                <a:spcPct val="120000"/>
              </a:lnSpc>
              <a:buNone/>
            </a:pPr>
            <a:r>
              <a:rPr lang="en-US" sz="1000" dirty="0">
                <a:solidFill>
                  <a:srgbClr val="4C6764"/>
                </a:solidFill>
                <a:latin typeface="Calibri" pitchFamily="34" charset="0"/>
                <a:ea typeface="Calibri" pitchFamily="34" charset="-122"/>
                <a:cs typeface="Calibri" pitchFamily="34" charset="-120"/>
              </a:rPr>
              <a:t>Per SKU: exclude expired batches and batches where EXP − ETA &lt; MLOR. Rank eligible batches by FEFO, then distance, then available quantity. One order line may draw from multiple warehouses.</a:t>
            </a:r>
            <a:endParaRPr lang="en-US" sz="1000" dirty="0"/>
          </a:p>
        </p:txBody>
      </p:sp>
      <p:sp>
        <p:nvSpPr>
          <p:cNvPr id="9" name="Shape 7"/>
          <p:cNvSpPr/>
          <p:nvPr/>
        </p:nvSpPr>
        <p:spPr>
          <a:xfrm>
            <a:off x="502920" y="2903220"/>
            <a:ext cx="5394960" cy="1089660"/>
          </a:xfrm>
          <a:prstGeom prst="roundRect">
            <a:avLst>
              <a:gd name="adj" fmla="val 8163"/>
            </a:avLst>
          </a:prstGeom>
          <a:solidFill>
            <a:srgbClr val="FFFFFF"/>
          </a:solidFill>
          <a:ln w="9525">
            <a:solidFill>
              <a:srgbClr val="BFE8DC"/>
            </a:solidFill>
            <a:prstDash val="solid"/>
          </a:ln>
          <a:effectLst>
            <a:outerShdw blurRad="63500" dist="25400" dir="5400000" algn="bl" rotWithShape="0">
              <a:srgbClr val="1B3B3B">
                <a:alpha val="15000"/>
              </a:srgbClr>
            </a:outerShdw>
          </a:effectLst>
        </p:spPr>
      </p:sp>
      <p:sp>
        <p:nvSpPr>
          <p:cNvPr id="10" name="Shape 8"/>
          <p:cNvSpPr/>
          <p:nvPr/>
        </p:nvSpPr>
        <p:spPr>
          <a:xfrm>
            <a:off x="502920" y="3090672"/>
            <a:ext cx="45720" cy="676656"/>
          </a:xfrm>
          <a:prstGeom prst="rect">
            <a:avLst/>
          </a:prstGeom>
          <a:solidFill>
            <a:srgbClr val="028090"/>
          </a:solidFill>
          <a:ln w="12700">
            <a:solidFill>
              <a:srgbClr val="028090"/>
            </a:solidFill>
            <a:prstDash val="solid"/>
          </a:ln>
        </p:spPr>
      </p:sp>
      <p:sp>
        <p:nvSpPr>
          <p:cNvPr id="11" name="Text 9"/>
          <p:cNvSpPr txBox="1"/>
          <p:nvPr/>
        </p:nvSpPr>
        <p:spPr>
          <a:xfrm>
            <a:off x="704088" y="3022092"/>
            <a:ext cx="5084064" cy="329184"/>
          </a:xfrm>
          <a:prstGeom prst="rect">
            <a:avLst/>
          </a:prstGeom>
          <a:noFill/>
          <a:ln/>
        </p:spPr>
        <p:txBody>
          <a:bodyPr wrap="square" lIns="0" tIns="0" rIns="0" bIns="0" rtlCol="0" anchor="ctr"/>
          <a:lstStyle/>
          <a:p>
            <a:pPr marL="0" indent="0">
              <a:buNone/>
            </a:pPr>
            <a:r>
              <a:rPr lang="en-US" sz="1200" b="1" dirty="0">
                <a:solidFill>
                  <a:srgbClr val="13292C"/>
                </a:solidFill>
                <a:latin typeface="Calibri" pitchFamily="34" charset="0"/>
                <a:ea typeface="Calibri" pitchFamily="34" charset="-122"/>
                <a:cs typeface="Calibri" pitchFamily="34" charset="-120"/>
              </a:rPr>
              <a:t>Order Approval &amp; Lifecycle</a:t>
            </a:r>
            <a:endParaRPr lang="en-US" sz="1200" dirty="0"/>
          </a:p>
        </p:txBody>
      </p:sp>
      <p:sp>
        <p:nvSpPr>
          <p:cNvPr id="12" name="Text 10"/>
          <p:cNvSpPr txBox="1"/>
          <p:nvPr/>
        </p:nvSpPr>
        <p:spPr>
          <a:xfrm>
            <a:off x="704088" y="3369564"/>
            <a:ext cx="5084064" cy="320040"/>
          </a:xfrm>
          <a:prstGeom prst="rect">
            <a:avLst/>
          </a:prstGeom>
          <a:noFill/>
          <a:ln/>
        </p:spPr>
        <p:txBody>
          <a:bodyPr wrap="square" lIns="0" tIns="0" rIns="0" bIns="0" rtlCol="0" anchor="t"/>
          <a:lstStyle/>
          <a:p>
            <a:pPr marL="0" indent="0">
              <a:lnSpc>
                <a:spcPct val="120000"/>
              </a:lnSpc>
              <a:buNone/>
            </a:pPr>
            <a:r>
              <a:rPr lang="en-US" sz="1000" dirty="0">
                <a:solidFill>
                  <a:srgbClr val="4C6764"/>
                </a:solidFill>
                <a:latin typeface="Calibri" pitchFamily="34" charset="0"/>
                <a:ea typeface="Calibri" pitchFamily="34" charset="-122"/>
                <a:cs typeface="Calibri" pitchFamily="34" charset="-120"/>
              </a:rPr>
              <a:t>Admin / Operator reviews allocation (warehouse, batch, qty, distance) and applied promotions. Approval → reservations confirmed + picking list generated. Rejection → held stock released.</a:t>
            </a:r>
            <a:endParaRPr lang="en-US" sz="1000" dirty="0"/>
          </a:p>
        </p:txBody>
      </p:sp>
      <p:sp>
        <p:nvSpPr>
          <p:cNvPr id="13" name="Shape 11"/>
          <p:cNvSpPr/>
          <p:nvPr/>
        </p:nvSpPr>
        <p:spPr>
          <a:xfrm>
            <a:off x="502920" y="4297680"/>
            <a:ext cx="5394960" cy="1089660"/>
          </a:xfrm>
          <a:prstGeom prst="roundRect">
            <a:avLst>
              <a:gd name="adj" fmla="val 8163"/>
            </a:avLst>
          </a:prstGeom>
          <a:solidFill>
            <a:srgbClr val="FFFFFF"/>
          </a:solidFill>
          <a:ln w="9525">
            <a:solidFill>
              <a:srgbClr val="BFE8DC"/>
            </a:solidFill>
            <a:prstDash val="solid"/>
          </a:ln>
          <a:effectLst>
            <a:outerShdw blurRad="63500" dist="25400" dir="5400000" algn="bl" rotWithShape="0">
              <a:srgbClr val="1B3B3B">
                <a:alpha val="15000"/>
              </a:srgbClr>
            </a:outerShdw>
          </a:effectLst>
        </p:spPr>
      </p:sp>
      <p:sp>
        <p:nvSpPr>
          <p:cNvPr id="14" name="Shape 12"/>
          <p:cNvSpPr/>
          <p:nvPr/>
        </p:nvSpPr>
        <p:spPr>
          <a:xfrm>
            <a:off x="498348" y="4504182"/>
            <a:ext cx="45720" cy="676656"/>
          </a:xfrm>
          <a:prstGeom prst="rect">
            <a:avLst/>
          </a:prstGeom>
          <a:solidFill>
            <a:srgbClr val="00A896"/>
          </a:solidFill>
          <a:ln w="12700">
            <a:solidFill>
              <a:srgbClr val="00A896"/>
            </a:solidFill>
            <a:prstDash val="solid"/>
          </a:ln>
        </p:spPr>
      </p:sp>
      <p:sp>
        <p:nvSpPr>
          <p:cNvPr id="15" name="Text 13"/>
          <p:cNvSpPr txBox="1"/>
          <p:nvPr/>
        </p:nvSpPr>
        <p:spPr>
          <a:xfrm>
            <a:off x="704088" y="4416552"/>
            <a:ext cx="5084064" cy="329184"/>
          </a:xfrm>
          <a:prstGeom prst="rect">
            <a:avLst/>
          </a:prstGeom>
          <a:noFill/>
          <a:ln/>
        </p:spPr>
        <p:txBody>
          <a:bodyPr wrap="square" lIns="0" tIns="0" rIns="0" bIns="0" rtlCol="0" anchor="ctr"/>
          <a:lstStyle/>
          <a:p>
            <a:pPr marL="0" indent="0">
              <a:buNone/>
            </a:pPr>
            <a:r>
              <a:rPr lang="en-US" sz="1200" b="1" dirty="0">
                <a:solidFill>
                  <a:srgbClr val="13292C"/>
                </a:solidFill>
                <a:latin typeface="Calibri" pitchFamily="34" charset="0"/>
                <a:ea typeface="Calibri" pitchFamily="34" charset="-122"/>
                <a:cs typeface="Calibri" pitchFamily="34" charset="-120"/>
              </a:rPr>
              <a:t>Picking &amp; Goods Issue with QR</a:t>
            </a:r>
            <a:endParaRPr lang="en-US" sz="1200" dirty="0"/>
          </a:p>
        </p:txBody>
      </p:sp>
      <p:sp>
        <p:nvSpPr>
          <p:cNvPr id="16" name="Text 14"/>
          <p:cNvSpPr txBox="1"/>
          <p:nvPr/>
        </p:nvSpPr>
        <p:spPr>
          <a:xfrm>
            <a:off x="704088" y="4764024"/>
            <a:ext cx="5084064" cy="320040"/>
          </a:xfrm>
          <a:prstGeom prst="rect">
            <a:avLst/>
          </a:prstGeom>
          <a:noFill/>
          <a:ln/>
        </p:spPr>
        <p:txBody>
          <a:bodyPr wrap="square" lIns="0" tIns="0" rIns="0" bIns="0" rtlCol="0" anchor="t"/>
          <a:lstStyle/>
          <a:p>
            <a:pPr marL="0" indent="0">
              <a:lnSpc>
                <a:spcPct val="120000"/>
              </a:lnSpc>
              <a:buNone/>
            </a:pPr>
            <a:r>
              <a:rPr lang="en-US" sz="1000" dirty="0">
                <a:solidFill>
                  <a:srgbClr val="4C6764"/>
                </a:solidFill>
                <a:latin typeface="Calibri" pitchFamily="34" charset="0"/>
                <a:ea typeface="Calibri" pitchFamily="34" charset="-122"/>
                <a:cs typeface="Calibri" pitchFamily="34" charset="-120"/>
              </a:rPr>
              <a:t>Warehouse Keeper follows picking list, scans batch QR and confirms issued qty. System generates split QR labels (issued qty and remaining in warehouse). Physical stock deducted at goods issue.</a:t>
            </a:r>
            <a:endParaRPr lang="en-US" sz="1000" dirty="0"/>
          </a:p>
        </p:txBody>
      </p:sp>
      <p:sp>
        <p:nvSpPr>
          <p:cNvPr id="17" name="Shape 15"/>
          <p:cNvSpPr/>
          <p:nvPr/>
        </p:nvSpPr>
        <p:spPr>
          <a:xfrm>
            <a:off x="6217920" y="1508760"/>
            <a:ext cx="5394960" cy="1089660"/>
          </a:xfrm>
          <a:prstGeom prst="roundRect">
            <a:avLst>
              <a:gd name="adj" fmla="val 8163"/>
            </a:avLst>
          </a:prstGeom>
          <a:solidFill>
            <a:srgbClr val="FFFFFF"/>
          </a:solidFill>
          <a:ln w="9525">
            <a:solidFill>
              <a:srgbClr val="BFE8DC"/>
            </a:solidFill>
            <a:prstDash val="solid"/>
          </a:ln>
          <a:effectLst>
            <a:outerShdw blurRad="63500" dist="25400" dir="5400000" algn="bl" rotWithShape="0">
              <a:srgbClr val="1B3B3B">
                <a:alpha val="15000"/>
              </a:srgbClr>
            </a:outerShdw>
          </a:effectLst>
        </p:spPr>
      </p:sp>
      <p:sp>
        <p:nvSpPr>
          <p:cNvPr id="18" name="Shape 16"/>
          <p:cNvSpPr/>
          <p:nvPr/>
        </p:nvSpPr>
        <p:spPr>
          <a:xfrm>
            <a:off x="6217920" y="1713262"/>
            <a:ext cx="45720" cy="676656"/>
          </a:xfrm>
          <a:prstGeom prst="rect">
            <a:avLst/>
          </a:prstGeom>
          <a:solidFill>
            <a:srgbClr val="028090"/>
          </a:solidFill>
          <a:ln w="12700">
            <a:solidFill>
              <a:srgbClr val="028090"/>
            </a:solidFill>
            <a:prstDash val="solid"/>
          </a:ln>
        </p:spPr>
      </p:sp>
      <p:sp>
        <p:nvSpPr>
          <p:cNvPr id="19" name="Text 17"/>
          <p:cNvSpPr txBox="1"/>
          <p:nvPr/>
        </p:nvSpPr>
        <p:spPr>
          <a:xfrm>
            <a:off x="6419088" y="1627632"/>
            <a:ext cx="5084064" cy="329184"/>
          </a:xfrm>
          <a:prstGeom prst="rect">
            <a:avLst/>
          </a:prstGeom>
          <a:noFill/>
          <a:ln/>
        </p:spPr>
        <p:txBody>
          <a:bodyPr wrap="square" lIns="0" tIns="0" rIns="0" bIns="0" rtlCol="0" anchor="ctr"/>
          <a:lstStyle/>
          <a:p>
            <a:pPr marL="0" indent="0">
              <a:buNone/>
            </a:pPr>
            <a:r>
              <a:rPr lang="en-US" sz="1200" b="1" dirty="0">
                <a:solidFill>
                  <a:srgbClr val="13292C"/>
                </a:solidFill>
                <a:latin typeface="Calibri" pitchFamily="34" charset="0"/>
                <a:ea typeface="Calibri" pitchFamily="34" charset="-122"/>
                <a:cs typeface="Calibri" pitchFamily="34" charset="-120"/>
              </a:rPr>
              <a:t>Delivery Status, Receipt Confirmation &amp; Payment</a:t>
            </a:r>
            <a:endParaRPr lang="en-US" sz="1200" dirty="0"/>
          </a:p>
        </p:txBody>
      </p:sp>
      <p:sp>
        <p:nvSpPr>
          <p:cNvPr id="20" name="Text 18"/>
          <p:cNvSpPr txBox="1"/>
          <p:nvPr/>
        </p:nvSpPr>
        <p:spPr>
          <a:xfrm>
            <a:off x="6419088" y="1975104"/>
            <a:ext cx="5084064" cy="320040"/>
          </a:xfrm>
          <a:prstGeom prst="rect">
            <a:avLst/>
          </a:prstGeom>
          <a:noFill/>
          <a:ln/>
        </p:spPr>
        <p:txBody>
          <a:bodyPr wrap="square" lIns="0" tIns="0" rIns="0" bIns="0" rtlCol="0" anchor="t"/>
          <a:lstStyle/>
          <a:p>
            <a:pPr marL="0" indent="0">
              <a:lnSpc>
                <a:spcPct val="120000"/>
              </a:lnSpc>
              <a:buNone/>
            </a:pPr>
            <a:r>
              <a:rPr lang="en-US" sz="1000" dirty="0">
                <a:solidFill>
                  <a:srgbClr val="4C6764"/>
                </a:solidFill>
                <a:latin typeface="Calibri" pitchFamily="34" charset="0"/>
                <a:ea typeface="Calibri" pitchFamily="34" charset="-122"/>
                <a:cs typeface="Calibri" pitchFamily="34" charset="-120"/>
              </a:rPr>
              <a:t>Operator marks order as Delivering. Retailer scans issued QR labels in app to confirm received Batch ID and quantity → order moves to Delivered. Payment method and status tracked separately.</a:t>
            </a:r>
            <a:endParaRPr lang="en-US" sz="1000" dirty="0"/>
          </a:p>
        </p:txBody>
      </p:sp>
      <p:sp>
        <p:nvSpPr>
          <p:cNvPr id="21" name="Shape 19"/>
          <p:cNvSpPr/>
          <p:nvPr/>
        </p:nvSpPr>
        <p:spPr>
          <a:xfrm>
            <a:off x="6217920" y="2903220"/>
            <a:ext cx="5394960" cy="1089660"/>
          </a:xfrm>
          <a:prstGeom prst="roundRect">
            <a:avLst>
              <a:gd name="adj" fmla="val 8163"/>
            </a:avLst>
          </a:prstGeom>
          <a:solidFill>
            <a:srgbClr val="FFFFFF"/>
          </a:solidFill>
          <a:ln w="9525">
            <a:solidFill>
              <a:srgbClr val="BFE8DC"/>
            </a:solidFill>
            <a:prstDash val="solid"/>
          </a:ln>
          <a:effectLst>
            <a:outerShdw blurRad="63500" dist="25400" dir="5400000" algn="bl" rotWithShape="0">
              <a:srgbClr val="1B3B3B">
                <a:alpha val="15000"/>
              </a:srgbClr>
            </a:outerShdw>
          </a:effectLst>
        </p:spPr>
      </p:sp>
      <p:sp>
        <p:nvSpPr>
          <p:cNvPr id="22" name="Shape 20"/>
          <p:cNvSpPr/>
          <p:nvPr/>
        </p:nvSpPr>
        <p:spPr>
          <a:xfrm>
            <a:off x="6217920" y="3090672"/>
            <a:ext cx="45720" cy="676656"/>
          </a:xfrm>
          <a:prstGeom prst="rect">
            <a:avLst/>
          </a:prstGeom>
          <a:solidFill>
            <a:srgbClr val="00A896"/>
          </a:solidFill>
          <a:ln w="12700">
            <a:solidFill>
              <a:srgbClr val="00A896"/>
            </a:solidFill>
            <a:prstDash val="solid"/>
          </a:ln>
        </p:spPr>
      </p:sp>
      <p:sp>
        <p:nvSpPr>
          <p:cNvPr id="23" name="Text 21"/>
          <p:cNvSpPr txBox="1"/>
          <p:nvPr/>
        </p:nvSpPr>
        <p:spPr>
          <a:xfrm>
            <a:off x="6419088" y="3022092"/>
            <a:ext cx="5084064" cy="329184"/>
          </a:xfrm>
          <a:prstGeom prst="rect">
            <a:avLst/>
          </a:prstGeom>
          <a:noFill/>
          <a:ln/>
        </p:spPr>
        <p:txBody>
          <a:bodyPr wrap="square" lIns="0" tIns="0" rIns="0" bIns="0" rtlCol="0" anchor="ctr"/>
          <a:lstStyle/>
          <a:p>
            <a:pPr marL="0" indent="0">
              <a:buNone/>
            </a:pPr>
            <a:r>
              <a:rPr lang="en-US" sz="1200" b="1" dirty="0">
                <a:solidFill>
                  <a:srgbClr val="13292C"/>
                </a:solidFill>
                <a:latin typeface="Calibri" pitchFamily="34" charset="0"/>
                <a:ea typeface="Calibri" pitchFamily="34" charset="-122"/>
                <a:cs typeface="Calibri" pitchFamily="34" charset="-120"/>
              </a:rPr>
              <a:t>Order Tracking &amp; Notifications</a:t>
            </a:r>
            <a:endParaRPr lang="en-US" sz="1200" dirty="0"/>
          </a:p>
        </p:txBody>
      </p:sp>
      <p:sp>
        <p:nvSpPr>
          <p:cNvPr id="24" name="Text 22"/>
          <p:cNvSpPr txBox="1"/>
          <p:nvPr/>
        </p:nvSpPr>
        <p:spPr>
          <a:xfrm>
            <a:off x="6419088" y="3369564"/>
            <a:ext cx="5084064" cy="320040"/>
          </a:xfrm>
          <a:prstGeom prst="rect">
            <a:avLst/>
          </a:prstGeom>
          <a:noFill/>
          <a:ln/>
        </p:spPr>
        <p:txBody>
          <a:bodyPr wrap="square" lIns="0" tIns="0" rIns="0" bIns="0" rtlCol="0" anchor="t"/>
          <a:lstStyle/>
          <a:p>
            <a:pPr marL="0" indent="0">
              <a:lnSpc>
                <a:spcPct val="120000"/>
              </a:lnSpc>
              <a:buNone/>
            </a:pPr>
            <a:r>
              <a:rPr lang="en-US" sz="1000" dirty="0">
                <a:solidFill>
                  <a:srgbClr val="4C6764"/>
                </a:solidFill>
                <a:latin typeface="Calibri" pitchFamily="34" charset="0"/>
                <a:ea typeface="Calibri" pitchFamily="34" charset="-122"/>
                <a:cs typeface="Calibri" pitchFamily="34" charset="-120"/>
              </a:rPr>
              <a:t>Sales Reps view orders within their group (with applied promotions and status timeline). Retailers view their own orders. Push notifications sent for key status changes (dispatched, rejected, etc.).</a:t>
            </a:r>
            <a:endParaRPr lang="en-US" sz="1000" dirty="0"/>
          </a:p>
        </p:txBody>
      </p:sp>
      <p:sp>
        <p:nvSpPr>
          <p:cNvPr id="25" name="Shape 23"/>
          <p:cNvSpPr/>
          <p:nvPr/>
        </p:nvSpPr>
        <p:spPr>
          <a:xfrm>
            <a:off x="6217920" y="4297680"/>
            <a:ext cx="5394960" cy="1089660"/>
          </a:xfrm>
          <a:prstGeom prst="roundRect">
            <a:avLst>
              <a:gd name="adj" fmla="val 8163"/>
            </a:avLst>
          </a:prstGeom>
          <a:solidFill>
            <a:srgbClr val="FFFFFF"/>
          </a:solidFill>
          <a:ln w="9525">
            <a:solidFill>
              <a:srgbClr val="BFE8DC"/>
            </a:solidFill>
            <a:prstDash val="solid"/>
          </a:ln>
          <a:effectLst>
            <a:outerShdw blurRad="63500" dist="25400" dir="5400000" algn="bl" rotWithShape="0">
              <a:srgbClr val="1B3B3B">
                <a:alpha val="15000"/>
              </a:srgbClr>
            </a:outerShdw>
          </a:effectLst>
        </p:spPr>
      </p:sp>
      <p:sp>
        <p:nvSpPr>
          <p:cNvPr id="26" name="Shape 24"/>
          <p:cNvSpPr/>
          <p:nvPr/>
        </p:nvSpPr>
        <p:spPr>
          <a:xfrm>
            <a:off x="6217920" y="4504182"/>
            <a:ext cx="45720" cy="676656"/>
          </a:xfrm>
          <a:prstGeom prst="rect">
            <a:avLst/>
          </a:prstGeom>
          <a:solidFill>
            <a:srgbClr val="028090"/>
          </a:solidFill>
          <a:ln w="12700">
            <a:solidFill>
              <a:srgbClr val="028090"/>
            </a:solidFill>
            <a:prstDash val="solid"/>
          </a:ln>
        </p:spPr>
        <p:txBody>
          <a:bodyPr/>
          <a:lstStyle/>
          <a:p>
            <a:endParaRPr lang="en-US" dirty="0"/>
          </a:p>
        </p:txBody>
      </p:sp>
      <p:sp>
        <p:nvSpPr>
          <p:cNvPr id="27" name="Text 25"/>
          <p:cNvSpPr txBox="1"/>
          <p:nvPr/>
        </p:nvSpPr>
        <p:spPr>
          <a:xfrm>
            <a:off x="6419088" y="4416552"/>
            <a:ext cx="5084064" cy="329184"/>
          </a:xfrm>
          <a:prstGeom prst="rect">
            <a:avLst/>
          </a:prstGeom>
          <a:noFill/>
          <a:ln/>
        </p:spPr>
        <p:txBody>
          <a:bodyPr wrap="square" lIns="0" tIns="0" rIns="0" bIns="0" rtlCol="0" anchor="ctr"/>
          <a:lstStyle/>
          <a:p>
            <a:pPr marL="0" indent="0">
              <a:buNone/>
            </a:pPr>
            <a:r>
              <a:rPr lang="en-US" sz="1200" b="1" dirty="0">
                <a:solidFill>
                  <a:srgbClr val="13292C"/>
                </a:solidFill>
                <a:latin typeface="Calibri" pitchFamily="34" charset="0"/>
                <a:ea typeface="Calibri" pitchFamily="34" charset="-122"/>
                <a:cs typeface="Calibri" pitchFamily="34" charset="-120"/>
              </a:rPr>
              <a:t>Dashboards &amp; Sales Performance</a:t>
            </a:r>
            <a:endParaRPr lang="en-US" sz="1200" dirty="0"/>
          </a:p>
        </p:txBody>
      </p:sp>
      <p:sp>
        <p:nvSpPr>
          <p:cNvPr id="28" name="Text 26"/>
          <p:cNvSpPr txBox="1"/>
          <p:nvPr/>
        </p:nvSpPr>
        <p:spPr>
          <a:xfrm>
            <a:off x="6419088" y="4764024"/>
            <a:ext cx="5084064" cy="320040"/>
          </a:xfrm>
          <a:prstGeom prst="rect">
            <a:avLst/>
          </a:prstGeom>
          <a:noFill/>
          <a:ln/>
        </p:spPr>
        <p:txBody>
          <a:bodyPr wrap="square" lIns="0" tIns="0" rIns="0" bIns="0" rtlCol="0" anchor="t"/>
          <a:lstStyle/>
          <a:p>
            <a:pPr marL="0" indent="0">
              <a:lnSpc>
                <a:spcPct val="120000"/>
              </a:lnSpc>
              <a:buNone/>
            </a:pPr>
            <a:r>
              <a:rPr lang="en-US" sz="1000" dirty="0">
                <a:solidFill>
                  <a:srgbClr val="4C6764"/>
                </a:solidFill>
                <a:latin typeface="Calibri" pitchFamily="34" charset="0"/>
                <a:ea typeface="Calibri" pitchFamily="34" charset="-122"/>
                <a:cs typeface="Calibri" pitchFamily="34" charset="-120"/>
              </a:rPr>
              <a:t>Admin views order and revenue totals by status, retailer, Sales Rep and time period. Sales Reps view own order history, revenue and leaderboard ranking. Admin can approve rewards for top reps.</a:t>
            </a:r>
            <a:endParaRPr lang="en-US" sz="1000" dirty="0"/>
          </a:p>
        </p:txBody>
      </p:sp>
      <p:sp>
        <p:nvSpPr>
          <p:cNvPr id="29" name="Text 27"/>
          <p:cNvSpPr txBox="1"/>
          <p:nvPr/>
        </p:nvSpPr>
        <p:spPr>
          <a:xfrm>
            <a:off x="502920" y="6510528"/>
            <a:ext cx="7315200" cy="201168"/>
          </a:xfrm>
          <a:prstGeom prst="rect">
            <a:avLst/>
          </a:prstGeom>
          <a:noFill/>
          <a:ln/>
        </p:spPr>
        <p:txBody>
          <a:bodyPr wrap="square" lIns="0" tIns="0" rIns="0" bIns="0" rtlCol="0" anchor="ctr"/>
          <a:lstStyle/>
          <a:p>
            <a:pPr marL="0" indent="0">
              <a:buNone/>
            </a:pPr>
            <a:r>
              <a:rPr lang="en-US" sz="850" dirty="0">
                <a:solidFill>
                  <a:srgbClr val="A8C5C0"/>
                </a:solidFill>
                <a:latin typeface="Calibri" pitchFamily="34" charset="0"/>
                <a:ea typeface="Calibri" pitchFamily="34" charset="-122"/>
                <a:cs typeface="Calibri" pitchFamily="34" charset="-120"/>
              </a:rPr>
              <a:t>FSCM  ·  Capstone Project Overview  ·  FA26SE083</a:t>
            </a:r>
            <a:endParaRPr lang="en-US" sz="850" dirty="0"/>
          </a:p>
        </p:txBody>
      </p:sp>
      <p:sp>
        <p:nvSpPr>
          <p:cNvPr id="30" name="Text 28"/>
          <p:cNvSpPr txBox="1"/>
          <p:nvPr/>
        </p:nvSpPr>
        <p:spPr>
          <a:xfrm>
            <a:off x="11338560" y="6510528"/>
            <a:ext cx="365760" cy="201168"/>
          </a:xfrm>
          <a:prstGeom prst="rect">
            <a:avLst/>
          </a:prstGeom>
          <a:noFill/>
          <a:ln/>
        </p:spPr>
        <p:txBody>
          <a:bodyPr wrap="square" lIns="0" tIns="0" rIns="0" bIns="0" rtlCol="0" anchor="ctr"/>
          <a:lstStyle/>
          <a:p>
            <a:pPr marL="0" indent="0" algn="r">
              <a:buNone/>
            </a:pPr>
            <a:r>
              <a:rPr lang="en-US" sz="850" dirty="0">
                <a:solidFill>
                  <a:srgbClr val="A8C5C0"/>
                </a:solidFill>
                <a:latin typeface="Calibri" pitchFamily="34" charset="0"/>
                <a:ea typeface="Calibri" pitchFamily="34" charset="-122"/>
                <a:cs typeface="Calibri" pitchFamily="34" charset="-120"/>
              </a:rPr>
              <a:t>7</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AF9"/>
        </a:solidFill>
        <a:effectLst/>
      </p:bgPr>
    </p:bg>
    <p:spTree>
      <p:nvGrpSpPr>
        <p:cNvPr id="1" name=""/>
        <p:cNvGrpSpPr/>
        <p:nvPr/>
      </p:nvGrpSpPr>
      <p:grpSpPr>
        <a:xfrm>
          <a:off x="0" y="0"/>
          <a:ext cx="0" cy="0"/>
          <a:chOff x="0" y="0"/>
          <a:chExt cx="0" cy="0"/>
        </a:xfrm>
      </p:grpSpPr>
      <p:sp>
        <p:nvSpPr>
          <p:cNvPr id="2" name="Text 0"/>
          <p:cNvSpPr txBox="1"/>
          <p:nvPr/>
        </p:nvSpPr>
        <p:spPr>
          <a:xfrm>
            <a:off x="502920" y="402336"/>
            <a:ext cx="10058400" cy="292608"/>
          </a:xfrm>
          <a:prstGeom prst="rect">
            <a:avLst/>
          </a:prstGeom>
          <a:noFill/>
          <a:ln/>
        </p:spPr>
        <p:txBody>
          <a:bodyPr wrap="square" lIns="0" tIns="0" rIns="0" bIns="0" rtlCol="0" anchor="ctr"/>
          <a:lstStyle/>
          <a:p>
            <a:pPr marL="0" indent="0">
              <a:buNone/>
            </a:pPr>
            <a:r>
              <a:rPr lang="en-US" sz="1100" b="1" kern="0" spc="300" dirty="0">
                <a:solidFill>
                  <a:srgbClr val="028090"/>
                </a:solidFill>
                <a:latin typeface="Calibri" pitchFamily="34" charset="0"/>
                <a:ea typeface="Calibri" pitchFamily="34" charset="-122"/>
                <a:cs typeface="Calibri" pitchFamily="34" charset="-120"/>
              </a:rPr>
              <a:t>03 · FUNCTIONAL REQUIREMENTS</a:t>
            </a:r>
            <a:endParaRPr lang="en-US" sz="1100" dirty="0"/>
          </a:p>
        </p:txBody>
      </p:sp>
      <p:sp>
        <p:nvSpPr>
          <p:cNvPr id="3" name="Shape 1"/>
          <p:cNvSpPr/>
          <p:nvPr/>
        </p:nvSpPr>
        <p:spPr>
          <a:xfrm>
            <a:off x="502920" y="731520"/>
            <a:ext cx="11201400" cy="13716"/>
          </a:xfrm>
          <a:prstGeom prst="rect">
            <a:avLst/>
          </a:prstGeom>
          <a:solidFill>
            <a:srgbClr val="BFE8DC"/>
          </a:solidFill>
          <a:ln w="12700">
            <a:solidFill>
              <a:srgbClr val="BFE8DC"/>
            </a:solidFill>
            <a:prstDash val="solid"/>
          </a:ln>
        </p:spPr>
      </p:sp>
      <p:sp>
        <p:nvSpPr>
          <p:cNvPr id="4" name="Text 2"/>
          <p:cNvSpPr txBox="1"/>
          <p:nvPr/>
        </p:nvSpPr>
        <p:spPr>
          <a:xfrm>
            <a:off x="502920" y="777240"/>
            <a:ext cx="11201400" cy="594360"/>
          </a:xfrm>
          <a:prstGeom prst="rect">
            <a:avLst/>
          </a:prstGeom>
          <a:noFill/>
          <a:ln/>
        </p:spPr>
        <p:txBody>
          <a:bodyPr wrap="square" lIns="0" tIns="0" rIns="0" bIns="0" rtlCol="0" anchor="ctr"/>
          <a:lstStyle/>
          <a:p>
            <a:pPr marL="0" indent="0">
              <a:buNone/>
            </a:pPr>
            <a:r>
              <a:rPr lang="en-US" sz="3000" b="1" dirty="0">
                <a:solidFill>
                  <a:srgbClr val="13292C"/>
                </a:solidFill>
                <a:latin typeface="Cambria" pitchFamily="34" charset="0"/>
                <a:ea typeface="Cambria" pitchFamily="34" charset="-122"/>
                <a:cs typeface="Cambria" pitchFamily="34" charset="-120"/>
              </a:rPr>
              <a:t>Nice-to-have  OP-01 – OP-04</a:t>
            </a:r>
            <a:endParaRPr lang="en-US" sz="3000" dirty="0"/>
          </a:p>
        </p:txBody>
      </p:sp>
      <p:sp>
        <p:nvSpPr>
          <p:cNvPr id="5" name="Text 3"/>
          <p:cNvSpPr txBox="1"/>
          <p:nvPr/>
        </p:nvSpPr>
        <p:spPr>
          <a:xfrm>
            <a:off x="502920" y="1371600"/>
            <a:ext cx="11155680" cy="256032"/>
          </a:xfrm>
          <a:prstGeom prst="rect">
            <a:avLst/>
          </a:prstGeom>
          <a:noFill/>
          <a:ln/>
        </p:spPr>
        <p:txBody>
          <a:bodyPr wrap="square" lIns="0" tIns="0" rIns="0" bIns="0" rtlCol="0" anchor="ctr"/>
          <a:lstStyle/>
          <a:p>
            <a:pPr marL="0" indent="0">
              <a:buNone/>
            </a:pPr>
            <a:r>
              <a:rPr lang="en-US" sz="1100" i="1" dirty="0">
                <a:solidFill>
                  <a:srgbClr val="6FAFA6"/>
                </a:solidFill>
                <a:latin typeface="Calibri" pitchFamily="34" charset="0"/>
                <a:ea typeface="Calibri" pitchFamily="34" charset="-122"/>
                <a:cs typeface="Calibri" pitchFamily="34" charset="-120"/>
              </a:rPr>
              <a:t>Started only after the full MVP (six roles · FEFO-MLOR allocation · offline ordering) is complete and accepted.</a:t>
            </a:r>
            <a:endParaRPr lang="en-US" sz="1100" dirty="0"/>
          </a:p>
        </p:txBody>
      </p:sp>
      <p:sp>
        <p:nvSpPr>
          <p:cNvPr id="6" name="Shape 4"/>
          <p:cNvSpPr/>
          <p:nvPr/>
        </p:nvSpPr>
        <p:spPr>
          <a:xfrm>
            <a:off x="502920" y="1737360"/>
            <a:ext cx="5349240" cy="2240280"/>
          </a:xfrm>
          <a:prstGeom prst="roundRect">
            <a:avLst>
              <a:gd name="adj" fmla="val 3265"/>
            </a:avLst>
          </a:prstGeom>
          <a:solidFill>
            <a:srgbClr val="FFFFFF"/>
          </a:solidFill>
          <a:ln w="9525">
            <a:solidFill>
              <a:srgbClr val="BFE8DC"/>
            </a:solidFill>
            <a:prstDash val="solid"/>
          </a:ln>
          <a:effectLst>
            <a:outerShdw blurRad="63500" dist="25400" dir="5400000" algn="bl" rotWithShape="0">
              <a:srgbClr val="1B3B3B">
                <a:alpha val="15000"/>
              </a:srgbClr>
            </a:outerShdw>
          </a:effectLst>
        </p:spPr>
      </p:sp>
      <p:sp>
        <p:nvSpPr>
          <p:cNvPr id="7" name="Shape 5"/>
          <p:cNvSpPr/>
          <p:nvPr/>
        </p:nvSpPr>
        <p:spPr>
          <a:xfrm>
            <a:off x="685800" y="1901952"/>
            <a:ext cx="640080" cy="219456"/>
          </a:xfrm>
          <a:prstGeom prst="roundRect">
            <a:avLst>
              <a:gd name="adj" fmla="val 50000"/>
            </a:avLst>
          </a:prstGeom>
          <a:solidFill>
            <a:srgbClr val="6FAFA6"/>
          </a:solidFill>
          <a:ln w="12700">
            <a:solidFill>
              <a:srgbClr val="6FAFA6"/>
            </a:solidFill>
            <a:prstDash val="solid"/>
          </a:ln>
        </p:spPr>
      </p:sp>
      <p:sp>
        <p:nvSpPr>
          <p:cNvPr id="8" name="Text 6"/>
          <p:cNvSpPr txBox="1"/>
          <p:nvPr/>
        </p:nvSpPr>
        <p:spPr>
          <a:xfrm>
            <a:off x="685800" y="1901952"/>
            <a:ext cx="640080" cy="219456"/>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OP-01</a:t>
            </a:r>
            <a:endParaRPr lang="en-US" sz="800" dirty="0"/>
          </a:p>
        </p:txBody>
      </p:sp>
      <p:sp>
        <p:nvSpPr>
          <p:cNvPr id="9" name="Text 7"/>
          <p:cNvSpPr txBox="1"/>
          <p:nvPr/>
        </p:nvSpPr>
        <p:spPr>
          <a:xfrm>
            <a:off x="1453896" y="1847088"/>
            <a:ext cx="4251960" cy="329184"/>
          </a:xfrm>
          <a:prstGeom prst="rect">
            <a:avLst/>
          </a:prstGeom>
          <a:noFill/>
          <a:ln/>
        </p:spPr>
        <p:txBody>
          <a:bodyPr wrap="square" lIns="0" tIns="0" rIns="0" bIns="0" rtlCol="0" anchor="ctr"/>
          <a:lstStyle/>
          <a:p>
            <a:pPr marL="0" indent="0">
              <a:buNone/>
            </a:pPr>
            <a:r>
              <a:rPr lang="en-US" sz="1250" b="1" dirty="0">
                <a:solidFill>
                  <a:srgbClr val="13292C"/>
                </a:solidFill>
                <a:latin typeface="Calibri" pitchFamily="34" charset="0"/>
                <a:ea typeface="Calibri" pitchFamily="34" charset="-122"/>
                <a:cs typeface="Calibri" pitchFamily="34" charset="-120"/>
              </a:rPr>
              <a:t>Transportation Coordination</a:t>
            </a:r>
            <a:endParaRPr lang="en-US" sz="1250" dirty="0"/>
          </a:p>
        </p:txBody>
      </p:sp>
      <p:sp>
        <p:nvSpPr>
          <p:cNvPr id="10" name="Text 8"/>
          <p:cNvSpPr txBox="1"/>
          <p:nvPr/>
        </p:nvSpPr>
        <p:spPr>
          <a:xfrm>
            <a:off x="685800" y="2194560"/>
            <a:ext cx="5001768" cy="566928"/>
          </a:xfrm>
          <a:prstGeom prst="rect">
            <a:avLst/>
          </a:prstGeom>
          <a:noFill/>
          <a:ln/>
        </p:spPr>
        <p:txBody>
          <a:bodyPr wrap="square" lIns="0" tIns="0" rIns="0" bIns="0" rtlCol="0" anchor="t"/>
          <a:lstStyle/>
          <a:p>
            <a:pPr marL="0" indent="0">
              <a:lnSpc>
                <a:spcPct val="115000"/>
              </a:lnSpc>
              <a:buNone/>
            </a:pPr>
            <a:r>
              <a:rPr lang="en-US" sz="1000" dirty="0">
                <a:solidFill>
                  <a:srgbClr val="4C6764"/>
                </a:solidFill>
                <a:latin typeface="Calibri" pitchFamily="34" charset="0"/>
                <a:ea typeface="Calibri" pitchFamily="34" charset="-122"/>
                <a:cs typeface="Calibri" pitchFamily="34" charset="-120"/>
              </a:rPr>
              <a:t>Shipment consolidation, vehicle and driver assignment, route planning, live GPS tracking, late-delivery analysis, cold-chain temperature monitoring.</a:t>
            </a:r>
            <a:endParaRPr lang="en-US" sz="1000" dirty="0"/>
          </a:p>
        </p:txBody>
      </p:sp>
      <p:sp>
        <p:nvSpPr>
          <p:cNvPr id="11" name="Shape 9"/>
          <p:cNvSpPr/>
          <p:nvPr/>
        </p:nvSpPr>
        <p:spPr>
          <a:xfrm>
            <a:off x="685800" y="2779776"/>
            <a:ext cx="5001768" cy="6401"/>
          </a:xfrm>
          <a:prstGeom prst="rect">
            <a:avLst/>
          </a:prstGeom>
          <a:solidFill>
            <a:srgbClr val="BFE8DC"/>
          </a:solidFill>
          <a:ln w="12700">
            <a:solidFill>
              <a:srgbClr val="BFE8DC"/>
            </a:solidFill>
            <a:prstDash val="solid"/>
          </a:ln>
        </p:spPr>
      </p:sp>
      <p:sp>
        <p:nvSpPr>
          <p:cNvPr id="12" name="Shape 10"/>
          <p:cNvSpPr/>
          <p:nvPr/>
        </p:nvSpPr>
        <p:spPr>
          <a:xfrm>
            <a:off x="685800" y="2862072"/>
            <a:ext cx="2409444" cy="329184"/>
          </a:xfrm>
          <a:prstGeom prst="roundRect">
            <a:avLst>
              <a:gd name="adj" fmla="val 19444"/>
            </a:avLst>
          </a:prstGeom>
          <a:solidFill>
            <a:srgbClr val="EAF3F1"/>
          </a:solidFill>
          <a:ln w="9525">
            <a:solidFill>
              <a:srgbClr val="BFE8DC"/>
            </a:solidFill>
            <a:prstDash val="solid"/>
          </a:ln>
        </p:spPr>
      </p:sp>
      <p:sp>
        <p:nvSpPr>
          <p:cNvPr id="13" name="Text 11"/>
          <p:cNvSpPr txBox="1"/>
          <p:nvPr/>
        </p:nvSpPr>
        <p:spPr>
          <a:xfrm>
            <a:off x="685800" y="2862072"/>
            <a:ext cx="2409444" cy="329184"/>
          </a:xfrm>
          <a:prstGeom prst="rect">
            <a:avLst/>
          </a:prstGeom>
          <a:noFill/>
          <a:ln/>
        </p:spPr>
        <p:txBody>
          <a:bodyPr wrap="square" lIns="0" tIns="0" rIns="0" bIns="0" rtlCol="0" anchor="ctr"/>
          <a:lstStyle/>
          <a:p>
            <a:pPr marL="0" indent="0" algn="ctr">
              <a:buNone/>
            </a:pPr>
            <a:r>
              <a:rPr lang="en-US" sz="950" b="1" dirty="0">
                <a:solidFill>
                  <a:srgbClr val="028090"/>
                </a:solidFill>
                <a:latin typeface="Calibri" pitchFamily="34" charset="0"/>
                <a:ea typeface="Calibri" pitchFamily="34" charset="-122"/>
                <a:cs typeface="Calibri" pitchFamily="34" charset="-120"/>
              </a:rPr>
              <a:t>Vehicle &amp; Driver Assignment</a:t>
            </a:r>
            <a:endParaRPr lang="en-US" sz="950" dirty="0"/>
          </a:p>
        </p:txBody>
      </p:sp>
      <p:sp>
        <p:nvSpPr>
          <p:cNvPr id="14" name="Shape 12"/>
          <p:cNvSpPr/>
          <p:nvPr/>
        </p:nvSpPr>
        <p:spPr>
          <a:xfrm>
            <a:off x="3223260" y="2862072"/>
            <a:ext cx="2409444" cy="329184"/>
          </a:xfrm>
          <a:prstGeom prst="roundRect">
            <a:avLst>
              <a:gd name="adj" fmla="val 19444"/>
            </a:avLst>
          </a:prstGeom>
          <a:solidFill>
            <a:srgbClr val="EAF3F1"/>
          </a:solidFill>
          <a:ln w="9525">
            <a:solidFill>
              <a:srgbClr val="BFE8DC"/>
            </a:solidFill>
            <a:prstDash val="solid"/>
          </a:ln>
        </p:spPr>
      </p:sp>
      <p:sp>
        <p:nvSpPr>
          <p:cNvPr id="15" name="Text 13"/>
          <p:cNvSpPr txBox="1"/>
          <p:nvPr/>
        </p:nvSpPr>
        <p:spPr>
          <a:xfrm>
            <a:off x="3223260" y="2862072"/>
            <a:ext cx="2409444" cy="329184"/>
          </a:xfrm>
          <a:prstGeom prst="rect">
            <a:avLst/>
          </a:prstGeom>
          <a:noFill/>
          <a:ln/>
        </p:spPr>
        <p:txBody>
          <a:bodyPr wrap="square" lIns="0" tIns="0" rIns="0" bIns="0" rtlCol="0" anchor="ctr"/>
          <a:lstStyle/>
          <a:p>
            <a:pPr marL="0" indent="0" algn="ctr">
              <a:buNone/>
            </a:pPr>
            <a:r>
              <a:rPr lang="en-US" sz="950" b="1" dirty="0">
                <a:solidFill>
                  <a:srgbClr val="028090"/>
                </a:solidFill>
                <a:latin typeface="Calibri" pitchFamily="34" charset="0"/>
                <a:ea typeface="Calibri" pitchFamily="34" charset="-122"/>
                <a:cs typeface="Calibri" pitchFamily="34" charset="-120"/>
              </a:rPr>
              <a:t>Route Planning</a:t>
            </a:r>
            <a:endParaRPr lang="en-US" sz="950" dirty="0"/>
          </a:p>
        </p:txBody>
      </p:sp>
      <p:sp>
        <p:nvSpPr>
          <p:cNvPr id="16" name="Shape 14"/>
          <p:cNvSpPr/>
          <p:nvPr/>
        </p:nvSpPr>
        <p:spPr>
          <a:xfrm>
            <a:off x="685800" y="3337560"/>
            <a:ext cx="2409444" cy="329184"/>
          </a:xfrm>
          <a:prstGeom prst="roundRect">
            <a:avLst>
              <a:gd name="adj" fmla="val 19444"/>
            </a:avLst>
          </a:prstGeom>
          <a:solidFill>
            <a:srgbClr val="EAF3F1"/>
          </a:solidFill>
          <a:ln w="9525">
            <a:solidFill>
              <a:srgbClr val="BFE8DC"/>
            </a:solidFill>
            <a:prstDash val="solid"/>
          </a:ln>
        </p:spPr>
      </p:sp>
      <p:sp>
        <p:nvSpPr>
          <p:cNvPr id="17" name="Text 15"/>
          <p:cNvSpPr txBox="1"/>
          <p:nvPr/>
        </p:nvSpPr>
        <p:spPr>
          <a:xfrm>
            <a:off x="685800" y="3337560"/>
            <a:ext cx="2409444" cy="329184"/>
          </a:xfrm>
          <a:prstGeom prst="rect">
            <a:avLst/>
          </a:prstGeom>
          <a:noFill/>
          <a:ln/>
        </p:spPr>
        <p:txBody>
          <a:bodyPr wrap="square" lIns="0" tIns="0" rIns="0" bIns="0" rtlCol="0" anchor="ctr"/>
          <a:lstStyle/>
          <a:p>
            <a:pPr marL="0" indent="0" algn="ctr">
              <a:buNone/>
            </a:pPr>
            <a:r>
              <a:rPr lang="en-US" sz="950" b="1" dirty="0">
                <a:solidFill>
                  <a:srgbClr val="028090"/>
                </a:solidFill>
                <a:latin typeface="Calibri" pitchFamily="34" charset="0"/>
                <a:ea typeface="Calibri" pitchFamily="34" charset="-122"/>
                <a:cs typeface="Calibri" pitchFamily="34" charset="-120"/>
              </a:rPr>
              <a:t>Live GPS Tracking</a:t>
            </a:r>
            <a:endParaRPr lang="en-US" sz="950" dirty="0"/>
          </a:p>
        </p:txBody>
      </p:sp>
      <p:sp>
        <p:nvSpPr>
          <p:cNvPr id="18" name="Shape 16"/>
          <p:cNvSpPr/>
          <p:nvPr/>
        </p:nvSpPr>
        <p:spPr>
          <a:xfrm>
            <a:off x="3223260" y="3337560"/>
            <a:ext cx="2409444" cy="329184"/>
          </a:xfrm>
          <a:prstGeom prst="roundRect">
            <a:avLst>
              <a:gd name="adj" fmla="val 19444"/>
            </a:avLst>
          </a:prstGeom>
          <a:solidFill>
            <a:srgbClr val="EAF3F1"/>
          </a:solidFill>
          <a:ln w="9525">
            <a:solidFill>
              <a:srgbClr val="BFE8DC"/>
            </a:solidFill>
            <a:prstDash val="solid"/>
          </a:ln>
        </p:spPr>
      </p:sp>
      <p:sp>
        <p:nvSpPr>
          <p:cNvPr id="19" name="Text 17"/>
          <p:cNvSpPr txBox="1"/>
          <p:nvPr/>
        </p:nvSpPr>
        <p:spPr>
          <a:xfrm>
            <a:off x="3223260" y="3337560"/>
            <a:ext cx="2409444" cy="329184"/>
          </a:xfrm>
          <a:prstGeom prst="rect">
            <a:avLst/>
          </a:prstGeom>
          <a:noFill/>
          <a:ln/>
        </p:spPr>
        <p:txBody>
          <a:bodyPr wrap="square" lIns="0" tIns="0" rIns="0" bIns="0" rtlCol="0" anchor="ctr"/>
          <a:lstStyle/>
          <a:p>
            <a:pPr marL="0" indent="0" algn="ctr">
              <a:buNone/>
            </a:pPr>
            <a:r>
              <a:rPr lang="en-US" sz="950" b="1" dirty="0">
                <a:solidFill>
                  <a:srgbClr val="028090"/>
                </a:solidFill>
                <a:latin typeface="Calibri" pitchFamily="34" charset="0"/>
                <a:ea typeface="Calibri" pitchFamily="34" charset="-122"/>
                <a:cs typeface="Calibri" pitchFamily="34" charset="-120"/>
              </a:rPr>
              <a:t>Cold-Chain Monitor</a:t>
            </a:r>
            <a:endParaRPr lang="en-US" sz="950" dirty="0"/>
          </a:p>
        </p:txBody>
      </p:sp>
      <p:sp>
        <p:nvSpPr>
          <p:cNvPr id="20" name="Shape 18"/>
          <p:cNvSpPr/>
          <p:nvPr/>
        </p:nvSpPr>
        <p:spPr>
          <a:xfrm>
            <a:off x="6080760" y="1737360"/>
            <a:ext cx="5349240" cy="2240280"/>
          </a:xfrm>
          <a:prstGeom prst="roundRect">
            <a:avLst>
              <a:gd name="adj" fmla="val 3265"/>
            </a:avLst>
          </a:prstGeom>
          <a:solidFill>
            <a:srgbClr val="FFFFFF"/>
          </a:solidFill>
          <a:ln w="9525">
            <a:solidFill>
              <a:srgbClr val="BFE8DC"/>
            </a:solidFill>
            <a:prstDash val="solid"/>
          </a:ln>
          <a:effectLst>
            <a:outerShdw blurRad="63500" dist="25400" dir="5400000" algn="bl" rotWithShape="0">
              <a:srgbClr val="1B3B3B">
                <a:alpha val="15000"/>
              </a:srgbClr>
            </a:outerShdw>
          </a:effectLst>
        </p:spPr>
      </p:sp>
      <p:sp>
        <p:nvSpPr>
          <p:cNvPr id="21" name="Shape 19"/>
          <p:cNvSpPr/>
          <p:nvPr/>
        </p:nvSpPr>
        <p:spPr>
          <a:xfrm>
            <a:off x="6263640" y="1901952"/>
            <a:ext cx="640080" cy="219456"/>
          </a:xfrm>
          <a:prstGeom prst="roundRect">
            <a:avLst>
              <a:gd name="adj" fmla="val 50000"/>
            </a:avLst>
          </a:prstGeom>
          <a:solidFill>
            <a:srgbClr val="6FAFA6"/>
          </a:solidFill>
          <a:ln w="12700">
            <a:solidFill>
              <a:srgbClr val="6FAFA6"/>
            </a:solidFill>
            <a:prstDash val="solid"/>
          </a:ln>
        </p:spPr>
      </p:sp>
      <p:sp>
        <p:nvSpPr>
          <p:cNvPr id="22" name="Text 20"/>
          <p:cNvSpPr txBox="1"/>
          <p:nvPr/>
        </p:nvSpPr>
        <p:spPr>
          <a:xfrm>
            <a:off x="6263640" y="1901952"/>
            <a:ext cx="640080" cy="219456"/>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OP-02</a:t>
            </a:r>
            <a:endParaRPr lang="en-US" sz="800" dirty="0"/>
          </a:p>
        </p:txBody>
      </p:sp>
      <p:sp>
        <p:nvSpPr>
          <p:cNvPr id="23" name="Text 21"/>
          <p:cNvSpPr txBox="1"/>
          <p:nvPr/>
        </p:nvSpPr>
        <p:spPr>
          <a:xfrm>
            <a:off x="7031736" y="1847088"/>
            <a:ext cx="4251960" cy="329184"/>
          </a:xfrm>
          <a:prstGeom prst="rect">
            <a:avLst/>
          </a:prstGeom>
          <a:noFill/>
          <a:ln/>
        </p:spPr>
        <p:txBody>
          <a:bodyPr wrap="square" lIns="0" tIns="0" rIns="0" bIns="0" rtlCol="0" anchor="ctr"/>
          <a:lstStyle/>
          <a:p>
            <a:pPr marL="0" indent="0">
              <a:buNone/>
            </a:pPr>
            <a:r>
              <a:rPr lang="en-US" sz="1250" b="1" dirty="0">
                <a:solidFill>
                  <a:srgbClr val="13292C"/>
                </a:solidFill>
                <a:latin typeface="Calibri" pitchFamily="34" charset="0"/>
                <a:ea typeface="Calibri" pitchFamily="34" charset="-122"/>
                <a:cs typeface="Calibri" pitchFamily="34" charset="-120"/>
              </a:rPr>
              <a:t>Supply-Chain Analytics</a:t>
            </a:r>
            <a:endParaRPr lang="en-US" sz="1250" dirty="0"/>
          </a:p>
        </p:txBody>
      </p:sp>
      <p:sp>
        <p:nvSpPr>
          <p:cNvPr id="24" name="Text 22"/>
          <p:cNvSpPr txBox="1"/>
          <p:nvPr/>
        </p:nvSpPr>
        <p:spPr>
          <a:xfrm>
            <a:off x="6263640" y="2194560"/>
            <a:ext cx="5001768" cy="566928"/>
          </a:xfrm>
          <a:prstGeom prst="rect">
            <a:avLst/>
          </a:prstGeom>
          <a:noFill/>
          <a:ln/>
        </p:spPr>
        <p:txBody>
          <a:bodyPr wrap="square" lIns="0" tIns="0" rIns="0" bIns="0" rtlCol="0" anchor="t"/>
          <a:lstStyle/>
          <a:p>
            <a:pPr marL="0" indent="0">
              <a:lnSpc>
                <a:spcPct val="115000"/>
              </a:lnSpc>
              <a:buNone/>
            </a:pPr>
            <a:r>
              <a:rPr lang="en-US" sz="1000" dirty="0">
                <a:solidFill>
                  <a:srgbClr val="4C6764"/>
                </a:solidFill>
                <a:latin typeface="Calibri" pitchFamily="34" charset="0"/>
                <a:ea typeface="Calibri" pitchFamily="34" charset="-122"/>
                <a:cs typeface="Calibri" pitchFamily="34" charset="-120"/>
              </a:rPr>
              <a:t>Demand forecasting by SKU and retailer, forecast-vs-actual reporting, safety-stock or reorder suggestions, and deeper stockout / spoilage analysis.</a:t>
            </a:r>
            <a:endParaRPr lang="en-US" sz="1000" dirty="0"/>
          </a:p>
        </p:txBody>
      </p:sp>
      <p:sp>
        <p:nvSpPr>
          <p:cNvPr id="25" name="Shape 23"/>
          <p:cNvSpPr/>
          <p:nvPr/>
        </p:nvSpPr>
        <p:spPr>
          <a:xfrm>
            <a:off x="6263640" y="2779776"/>
            <a:ext cx="5001768" cy="6401"/>
          </a:xfrm>
          <a:prstGeom prst="rect">
            <a:avLst/>
          </a:prstGeom>
          <a:solidFill>
            <a:srgbClr val="BFE8DC"/>
          </a:solidFill>
          <a:ln w="12700">
            <a:solidFill>
              <a:srgbClr val="BFE8DC"/>
            </a:solidFill>
            <a:prstDash val="solid"/>
          </a:ln>
        </p:spPr>
      </p:sp>
      <p:sp>
        <p:nvSpPr>
          <p:cNvPr id="26" name="Shape 24"/>
          <p:cNvSpPr/>
          <p:nvPr/>
        </p:nvSpPr>
        <p:spPr>
          <a:xfrm>
            <a:off x="6263640" y="2862072"/>
            <a:ext cx="2409444" cy="329184"/>
          </a:xfrm>
          <a:prstGeom prst="roundRect">
            <a:avLst>
              <a:gd name="adj" fmla="val 19444"/>
            </a:avLst>
          </a:prstGeom>
          <a:solidFill>
            <a:srgbClr val="EAF3F1"/>
          </a:solidFill>
          <a:ln w="9525">
            <a:solidFill>
              <a:srgbClr val="BFE8DC"/>
            </a:solidFill>
            <a:prstDash val="solid"/>
          </a:ln>
        </p:spPr>
      </p:sp>
      <p:sp>
        <p:nvSpPr>
          <p:cNvPr id="27" name="Text 25"/>
          <p:cNvSpPr txBox="1"/>
          <p:nvPr/>
        </p:nvSpPr>
        <p:spPr>
          <a:xfrm>
            <a:off x="6263640" y="2862072"/>
            <a:ext cx="2409444" cy="329184"/>
          </a:xfrm>
          <a:prstGeom prst="rect">
            <a:avLst/>
          </a:prstGeom>
          <a:noFill/>
          <a:ln/>
        </p:spPr>
        <p:txBody>
          <a:bodyPr wrap="square" lIns="0" tIns="0" rIns="0" bIns="0" rtlCol="0" anchor="ctr"/>
          <a:lstStyle/>
          <a:p>
            <a:pPr marL="0" indent="0" algn="ctr">
              <a:buNone/>
            </a:pPr>
            <a:r>
              <a:rPr lang="en-US" sz="950" b="1" dirty="0">
                <a:solidFill>
                  <a:srgbClr val="028090"/>
                </a:solidFill>
                <a:latin typeface="Calibri" pitchFamily="34" charset="0"/>
                <a:ea typeface="Calibri" pitchFamily="34" charset="-122"/>
                <a:cs typeface="Calibri" pitchFamily="34" charset="-120"/>
              </a:rPr>
              <a:t>Demand Forecasting</a:t>
            </a:r>
            <a:endParaRPr lang="en-US" sz="950" dirty="0"/>
          </a:p>
        </p:txBody>
      </p:sp>
      <p:sp>
        <p:nvSpPr>
          <p:cNvPr id="28" name="Shape 26"/>
          <p:cNvSpPr/>
          <p:nvPr/>
        </p:nvSpPr>
        <p:spPr>
          <a:xfrm>
            <a:off x="8801100" y="2862072"/>
            <a:ext cx="2409444" cy="329184"/>
          </a:xfrm>
          <a:prstGeom prst="roundRect">
            <a:avLst>
              <a:gd name="adj" fmla="val 19444"/>
            </a:avLst>
          </a:prstGeom>
          <a:solidFill>
            <a:srgbClr val="EAF3F1"/>
          </a:solidFill>
          <a:ln w="9525">
            <a:solidFill>
              <a:srgbClr val="BFE8DC"/>
            </a:solidFill>
            <a:prstDash val="solid"/>
          </a:ln>
        </p:spPr>
      </p:sp>
      <p:sp>
        <p:nvSpPr>
          <p:cNvPr id="29" name="Text 27"/>
          <p:cNvSpPr txBox="1"/>
          <p:nvPr/>
        </p:nvSpPr>
        <p:spPr>
          <a:xfrm>
            <a:off x="8801100" y="2862072"/>
            <a:ext cx="2409444" cy="329184"/>
          </a:xfrm>
          <a:prstGeom prst="rect">
            <a:avLst/>
          </a:prstGeom>
          <a:noFill/>
          <a:ln/>
        </p:spPr>
        <p:txBody>
          <a:bodyPr wrap="square" lIns="0" tIns="0" rIns="0" bIns="0" rtlCol="0" anchor="ctr"/>
          <a:lstStyle/>
          <a:p>
            <a:pPr marL="0" indent="0" algn="ctr">
              <a:buNone/>
            </a:pPr>
            <a:r>
              <a:rPr lang="en-US" sz="950" b="1" dirty="0">
                <a:solidFill>
                  <a:srgbClr val="028090"/>
                </a:solidFill>
                <a:latin typeface="Calibri" pitchFamily="34" charset="0"/>
                <a:ea typeface="Calibri" pitchFamily="34" charset="-122"/>
                <a:cs typeface="Calibri" pitchFamily="34" charset="-120"/>
              </a:rPr>
              <a:t>Forecast vs Actual</a:t>
            </a:r>
            <a:endParaRPr lang="en-US" sz="950" dirty="0"/>
          </a:p>
        </p:txBody>
      </p:sp>
      <p:sp>
        <p:nvSpPr>
          <p:cNvPr id="30" name="Shape 28"/>
          <p:cNvSpPr/>
          <p:nvPr/>
        </p:nvSpPr>
        <p:spPr>
          <a:xfrm>
            <a:off x="6263640" y="3337560"/>
            <a:ext cx="2409444" cy="329184"/>
          </a:xfrm>
          <a:prstGeom prst="roundRect">
            <a:avLst>
              <a:gd name="adj" fmla="val 19444"/>
            </a:avLst>
          </a:prstGeom>
          <a:solidFill>
            <a:srgbClr val="EAF3F1"/>
          </a:solidFill>
          <a:ln w="9525">
            <a:solidFill>
              <a:srgbClr val="BFE8DC"/>
            </a:solidFill>
            <a:prstDash val="solid"/>
          </a:ln>
        </p:spPr>
      </p:sp>
      <p:sp>
        <p:nvSpPr>
          <p:cNvPr id="31" name="Text 29"/>
          <p:cNvSpPr txBox="1"/>
          <p:nvPr/>
        </p:nvSpPr>
        <p:spPr>
          <a:xfrm>
            <a:off x="6263640" y="3337560"/>
            <a:ext cx="2409444" cy="329184"/>
          </a:xfrm>
          <a:prstGeom prst="rect">
            <a:avLst/>
          </a:prstGeom>
          <a:noFill/>
          <a:ln/>
        </p:spPr>
        <p:txBody>
          <a:bodyPr wrap="square" lIns="0" tIns="0" rIns="0" bIns="0" rtlCol="0" anchor="ctr"/>
          <a:lstStyle/>
          <a:p>
            <a:pPr marL="0" indent="0" algn="ctr">
              <a:buNone/>
            </a:pPr>
            <a:r>
              <a:rPr lang="en-US" sz="950" b="1" dirty="0">
                <a:solidFill>
                  <a:srgbClr val="028090"/>
                </a:solidFill>
                <a:latin typeface="Calibri" pitchFamily="34" charset="0"/>
                <a:ea typeface="Calibri" pitchFamily="34" charset="-122"/>
                <a:cs typeface="Calibri" pitchFamily="34" charset="-120"/>
              </a:rPr>
              <a:t>Safety-Stock Hints</a:t>
            </a:r>
            <a:endParaRPr lang="en-US" sz="950" dirty="0"/>
          </a:p>
        </p:txBody>
      </p:sp>
      <p:sp>
        <p:nvSpPr>
          <p:cNvPr id="32" name="Shape 30"/>
          <p:cNvSpPr/>
          <p:nvPr/>
        </p:nvSpPr>
        <p:spPr>
          <a:xfrm>
            <a:off x="8801100" y="3337560"/>
            <a:ext cx="2409444" cy="329184"/>
          </a:xfrm>
          <a:prstGeom prst="roundRect">
            <a:avLst>
              <a:gd name="adj" fmla="val 19444"/>
            </a:avLst>
          </a:prstGeom>
          <a:solidFill>
            <a:srgbClr val="EAF3F1"/>
          </a:solidFill>
          <a:ln w="9525">
            <a:solidFill>
              <a:srgbClr val="BFE8DC"/>
            </a:solidFill>
            <a:prstDash val="solid"/>
          </a:ln>
        </p:spPr>
      </p:sp>
      <p:sp>
        <p:nvSpPr>
          <p:cNvPr id="33" name="Text 31"/>
          <p:cNvSpPr txBox="1"/>
          <p:nvPr/>
        </p:nvSpPr>
        <p:spPr>
          <a:xfrm>
            <a:off x="8801100" y="3337560"/>
            <a:ext cx="2409444" cy="329184"/>
          </a:xfrm>
          <a:prstGeom prst="rect">
            <a:avLst/>
          </a:prstGeom>
          <a:noFill/>
          <a:ln/>
        </p:spPr>
        <p:txBody>
          <a:bodyPr wrap="square" lIns="0" tIns="0" rIns="0" bIns="0" rtlCol="0" anchor="ctr"/>
          <a:lstStyle/>
          <a:p>
            <a:pPr marL="0" indent="0" algn="ctr">
              <a:buNone/>
            </a:pPr>
            <a:r>
              <a:rPr lang="en-US" sz="950" b="1" dirty="0">
                <a:solidFill>
                  <a:srgbClr val="028090"/>
                </a:solidFill>
                <a:latin typeface="Calibri" pitchFamily="34" charset="0"/>
                <a:ea typeface="Calibri" pitchFamily="34" charset="-122"/>
                <a:cs typeface="Calibri" pitchFamily="34" charset="-120"/>
              </a:rPr>
              <a:t>Spoilage Analysis</a:t>
            </a:r>
            <a:endParaRPr lang="en-US" sz="950" dirty="0"/>
          </a:p>
        </p:txBody>
      </p:sp>
      <p:sp>
        <p:nvSpPr>
          <p:cNvPr id="34" name="Shape 32"/>
          <p:cNvSpPr/>
          <p:nvPr/>
        </p:nvSpPr>
        <p:spPr>
          <a:xfrm>
            <a:off x="502920" y="4215384"/>
            <a:ext cx="5349240" cy="2240280"/>
          </a:xfrm>
          <a:prstGeom prst="roundRect">
            <a:avLst>
              <a:gd name="adj" fmla="val 3265"/>
            </a:avLst>
          </a:prstGeom>
          <a:solidFill>
            <a:srgbClr val="FFFFFF"/>
          </a:solidFill>
          <a:ln w="9525">
            <a:solidFill>
              <a:srgbClr val="BFE8DC"/>
            </a:solidFill>
            <a:prstDash val="solid"/>
          </a:ln>
          <a:effectLst>
            <a:outerShdw blurRad="63500" dist="25400" dir="5400000" algn="bl" rotWithShape="0">
              <a:srgbClr val="1B3B3B">
                <a:alpha val="15000"/>
              </a:srgbClr>
            </a:outerShdw>
          </a:effectLst>
        </p:spPr>
      </p:sp>
      <p:sp>
        <p:nvSpPr>
          <p:cNvPr id="35" name="Shape 33"/>
          <p:cNvSpPr/>
          <p:nvPr/>
        </p:nvSpPr>
        <p:spPr>
          <a:xfrm>
            <a:off x="685800" y="4379976"/>
            <a:ext cx="640080" cy="219456"/>
          </a:xfrm>
          <a:prstGeom prst="roundRect">
            <a:avLst>
              <a:gd name="adj" fmla="val 50000"/>
            </a:avLst>
          </a:prstGeom>
          <a:solidFill>
            <a:srgbClr val="6FAFA6"/>
          </a:solidFill>
          <a:ln w="12700">
            <a:solidFill>
              <a:srgbClr val="6FAFA6"/>
            </a:solidFill>
            <a:prstDash val="solid"/>
          </a:ln>
        </p:spPr>
      </p:sp>
      <p:sp>
        <p:nvSpPr>
          <p:cNvPr id="36" name="Text 34"/>
          <p:cNvSpPr txBox="1"/>
          <p:nvPr/>
        </p:nvSpPr>
        <p:spPr>
          <a:xfrm>
            <a:off x="685800" y="4379976"/>
            <a:ext cx="640080" cy="219456"/>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OP-03</a:t>
            </a:r>
            <a:endParaRPr lang="en-US" sz="800" dirty="0"/>
          </a:p>
        </p:txBody>
      </p:sp>
      <p:sp>
        <p:nvSpPr>
          <p:cNvPr id="37" name="Text 35"/>
          <p:cNvSpPr txBox="1"/>
          <p:nvPr/>
        </p:nvSpPr>
        <p:spPr>
          <a:xfrm>
            <a:off x="1453896" y="4325112"/>
            <a:ext cx="4251960" cy="329184"/>
          </a:xfrm>
          <a:prstGeom prst="rect">
            <a:avLst/>
          </a:prstGeom>
          <a:noFill/>
          <a:ln/>
        </p:spPr>
        <p:txBody>
          <a:bodyPr wrap="square" lIns="0" tIns="0" rIns="0" bIns="0" rtlCol="0" anchor="ctr"/>
          <a:lstStyle/>
          <a:p>
            <a:pPr marL="0" indent="0">
              <a:buNone/>
            </a:pPr>
            <a:r>
              <a:rPr lang="en-US" sz="1250" b="1" dirty="0">
                <a:solidFill>
                  <a:srgbClr val="13292C"/>
                </a:solidFill>
                <a:latin typeface="Calibri" pitchFamily="34" charset="0"/>
                <a:ea typeface="Calibri" pitchFamily="34" charset="-122"/>
                <a:cs typeface="Calibri" pitchFamily="34" charset="-120"/>
              </a:rPr>
              <a:t>Warehouse Exception Workflow</a:t>
            </a:r>
            <a:endParaRPr lang="en-US" sz="1250" dirty="0"/>
          </a:p>
        </p:txBody>
      </p:sp>
      <p:sp>
        <p:nvSpPr>
          <p:cNvPr id="38" name="Text 36"/>
          <p:cNvSpPr txBox="1"/>
          <p:nvPr/>
        </p:nvSpPr>
        <p:spPr>
          <a:xfrm>
            <a:off x="685800" y="4672584"/>
            <a:ext cx="5001768" cy="566928"/>
          </a:xfrm>
          <a:prstGeom prst="rect">
            <a:avLst/>
          </a:prstGeom>
          <a:noFill/>
          <a:ln/>
        </p:spPr>
        <p:txBody>
          <a:bodyPr wrap="square" lIns="0" tIns="0" rIns="0" bIns="0" rtlCol="0" anchor="t"/>
          <a:lstStyle/>
          <a:p>
            <a:pPr marL="0" indent="0">
              <a:lnSpc>
                <a:spcPct val="115000"/>
              </a:lnSpc>
              <a:buNone/>
            </a:pPr>
            <a:r>
              <a:rPr lang="en-US" sz="1000" dirty="0">
                <a:solidFill>
                  <a:srgbClr val="4C6764"/>
                </a:solidFill>
                <a:latin typeface="Calibri" pitchFamily="34" charset="0"/>
                <a:ea typeface="Calibri" pitchFamily="34" charset="-122"/>
                <a:cs typeface="Calibri" pitchFamily="34" charset="-120"/>
              </a:rPr>
              <a:t>Damage reports and controlled multi-level write-off of unusable or expired batches with photo evidence and stock validation before final deduction.</a:t>
            </a:r>
            <a:endParaRPr lang="en-US" sz="1000" dirty="0"/>
          </a:p>
        </p:txBody>
      </p:sp>
      <p:sp>
        <p:nvSpPr>
          <p:cNvPr id="39" name="Shape 37"/>
          <p:cNvSpPr/>
          <p:nvPr/>
        </p:nvSpPr>
        <p:spPr>
          <a:xfrm>
            <a:off x="685800" y="5257800"/>
            <a:ext cx="5001768" cy="6401"/>
          </a:xfrm>
          <a:prstGeom prst="rect">
            <a:avLst/>
          </a:prstGeom>
          <a:solidFill>
            <a:srgbClr val="BFE8DC"/>
          </a:solidFill>
          <a:ln w="12700">
            <a:solidFill>
              <a:srgbClr val="BFE8DC"/>
            </a:solidFill>
            <a:prstDash val="solid"/>
          </a:ln>
        </p:spPr>
      </p:sp>
      <p:sp>
        <p:nvSpPr>
          <p:cNvPr id="40" name="Shape 38"/>
          <p:cNvSpPr/>
          <p:nvPr/>
        </p:nvSpPr>
        <p:spPr>
          <a:xfrm>
            <a:off x="685800" y="5340096"/>
            <a:ext cx="2409444" cy="329184"/>
          </a:xfrm>
          <a:prstGeom prst="roundRect">
            <a:avLst>
              <a:gd name="adj" fmla="val 19444"/>
            </a:avLst>
          </a:prstGeom>
          <a:solidFill>
            <a:srgbClr val="EAF3F1"/>
          </a:solidFill>
          <a:ln w="9525">
            <a:solidFill>
              <a:srgbClr val="BFE8DC"/>
            </a:solidFill>
            <a:prstDash val="solid"/>
          </a:ln>
        </p:spPr>
      </p:sp>
      <p:sp>
        <p:nvSpPr>
          <p:cNvPr id="41" name="Text 39"/>
          <p:cNvSpPr txBox="1"/>
          <p:nvPr/>
        </p:nvSpPr>
        <p:spPr>
          <a:xfrm>
            <a:off x="685800" y="5340096"/>
            <a:ext cx="2409444" cy="329184"/>
          </a:xfrm>
          <a:prstGeom prst="rect">
            <a:avLst/>
          </a:prstGeom>
          <a:noFill/>
          <a:ln/>
        </p:spPr>
        <p:txBody>
          <a:bodyPr wrap="square" lIns="0" tIns="0" rIns="0" bIns="0" rtlCol="0" anchor="ctr"/>
          <a:lstStyle/>
          <a:p>
            <a:pPr marL="0" indent="0" algn="ctr">
              <a:buNone/>
            </a:pPr>
            <a:r>
              <a:rPr lang="en-US" sz="950" b="1" dirty="0">
                <a:solidFill>
                  <a:srgbClr val="028090"/>
                </a:solidFill>
                <a:latin typeface="Calibri" pitchFamily="34" charset="0"/>
                <a:ea typeface="Calibri" pitchFamily="34" charset="-122"/>
                <a:cs typeface="Calibri" pitchFamily="34" charset="-120"/>
              </a:rPr>
              <a:t>Damage Reporting</a:t>
            </a:r>
            <a:endParaRPr lang="en-US" sz="950" dirty="0"/>
          </a:p>
        </p:txBody>
      </p:sp>
      <p:sp>
        <p:nvSpPr>
          <p:cNvPr id="42" name="Shape 40"/>
          <p:cNvSpPr/>
          <p:nvPr/>
        </p:nvSpPr>
        <p:spPr>
          <a:xfrm>
            <a:off x="3223260" y="5340096"/>
            <a:ext cx="2409444" cy="329184"/>
          </a:xfrm>
          <a:prstGeom prst="roundRect">
            <a:avLst>
              <a:gd name="adj" fmla="val 19444"/>
            </a:avLst>
          </a:prstGeom>
          <a:solidFill>
            <a:srgbClr val="EAF3F1"/>
          </a:solidFill>
          <a:ln w="9525">
            <a:solidFill>
              <a:srgbClr val="BFE8DC"/>
            </a:solidFill>
            <a:prstDash val="solid"/>
          </a:ln>
        </p:spPr>
      </p:sp>
      <p:sp>
        <p:nvSpPr>
          <p:cNvPr id="43" name="Text 41"/>
          <p:cNvSpPr txBox="1"/>
          <p:nvPr/>
        </p:nvSpPr>
        <p:spPr>
          <a:xfrm>
            <a:off x="3223260" y="5340096"/>
            <a:ext cx="2409444" cy="329184"/>
          </a:xfrm>
          <a:prstGeom prst="rect">
            <a:avLst/>
          </a:prstGeom>
          <a:noFill/>
          <a:ln/>
        </p:spPr>
        <p:txBody>
          <a:bodyPr wrap="square" lIns="0" tIns="0" rIns="0" bIns="0" rtlCol="0" anchor="ctr"/>
          <a:lstStyle/>
          <a:p>
            <a:pPr marL="0" indent="0" algn="ctr">
              <a:buNone/>
            </a:pPr>
            <a:r>
              <a:rPr lang="en-US" sz="950" b="1" dirty="0">
                <a:solidFill>
                  <a:srgbClr val="028090"/>
                </a:solidFill>
                <a:latin typeface="Calibri" pitchFamily="34" charset="0"/>
                <a:ea typeface="Calibri" pitchFamily="34" charset="-122"/>
                <a:cs typeface="Calibri" pitchFamily="34" charset="-120"/>
              </a:rPr>
              <a:t>Multi-Level Write-off</a:t>
            </a:r>
            <a:endParaRPr lang="en-US" sz="950" dirty="0"/>
          </a:p>
        </p:txBody>
      </p:sp>
      <p:sp>
        <p:nvSpPr>
          <p:cNvPr id="44" name="Shape 42"/>
          <p:cNvSpPr/>
          <p:nvPr/>
        </p:nvSpPr>
        <p:spPr>
          <a:xfrm>
            <a:off x="685800" y="5815584"/>
            <a:ext cx="2409444" cy="329184"/>
          </a:xfrm>
          <a:prstGeom prst="roundRect">
            <a:avLst>
              <a:gd name="adj" fmla="val 19444"/>
            </a:avLst>
          </a:prstGeom>
          <a:solidFill>
            <a:srgbClr val="EAF3F1"/>
          </a:solidFill>
          <a:ln w="9525">
            <a:solidFill>
              <a:srgbClr val="BFE8DC"/>
            </a:solidFill>
            <a:prstDash val="solid"/>
          </a:ln>
        </p:spPr>
      </p:sp>
      <p:sp>
        <p:nvSpPr>
          <p:cNvPr id="45" name="Text 43"/>
          <p:cNvSpPr txBox="1"/>
          <p:nvPr/>
        </p:nvSpPr>
        <p:spPr>
          <a:xfrm>
            <a:off x="685800" y="5815584"/>
            <a:ext cx="2409444" cy="329184"/>
          </a:xfrm>
          <a:prstGeom prst="rect">
            <a:avLst/>
          </a:prstGeom>
          <a:noFill/>
          <a:ln/>
        </p:spPr>
        <p:txBody>
          <a:bodyPr wrap="square" lIns="0" tIns="0" rIns="0" bIns="0" rtlCol="0" anchor="ctr"/>
          <a:lstStyle/>
          <a:p>
            <a:pPr marL="0" indent="0" algn="ctr">
              <a:buNone/>
            </a:pPr>
            <a:r>
              <a:rPr lang="en-US" sz="950" b="1" dirty="0">
                <a:solidFill>
                  <a:srgbClr val="028090"/>
                </a:solidFill>
                <a:latin typeface="Calibri" pitchFamily="34" charset="0"/>
                <a:ea typeface="Calibri" pitchFamily="34" charset="-122"/>
                <a:cs typeface="Calibri" pitchFamily="34" charset="-120"/>
              </a:rPr>
              <a:t>Photo Evidence</a:t>
            </a:r>
            <a:endParaRPr lang="en-US" sz="950" dirty="0"/>
          </a:p>
        </p:txBody>
      </p:sp>
      <p:sp>
        <p:nvSpPr>
          <p:cNvPr id="46" name="Shape 44"/>
          <p:cNvSpPr/>
          <p:nvPr/>
        </p:nvSpPr>
        <p:spPr>
          <a:xfrm>
            <a:off x="3223260" y="5815584"/>
            <a:ext cx="2409444" cy="329184"/>
          </a:xfrm>
          <a:prstGeom prst="roundRect">
            <a:avLst>
              <a:gd name="adj" fmla="val 19444"/>
            </a:avLst>
          </a:prstGeom>
          <a:solidFill>
            <a:srgbClr val="EAF3F1"/>
          </a:solidFill>
          <a:ln w="9525">
            <a:solidFill>
              <a:srgbClr val="BFE8DC"/>
            </a:solidFill>
            <a:prstDash val="solid"/>
          </a:ln>
        </p:spPr>
      </p:sp>
      <p:sp>
        <p:nvSpPr>
          <p:cNvPr id="47" name="Text 45"/>
          <p:cNvSpPr txBox="1"/>
          <p:nvPr/>
        </p:nvSpPr>
        <p:spPr>
          <a:xfrm>
            <a:off x="3223260" y="5815584"/>
            <a:ext cx="2409444" cy="329184"/>
          </a:xfrm>
          <a:prstGeom prst="rect">
            <a:avLst/>
          </a:prstGeom>
          <a:noFill/>
          <a:ln/>
        </p:spPr>
        <p:txBody>
          <a:bodyPr wrap="square" lIns="0" tIns="0" rIns="0" bIns="0" rtlCol="0" anchor="ctr"/>
          <a:lstStyle/>
          <a:p>
            <a:pPr marL="0" indent="0" algn="ctr">
              <a:buNone/>
            </a:pPr>
            <a:r>
              <a:rPr lang="en-US" sz="950" b="1" dirty="0">
                <a:solidFill>
                  <a:srgbClr val="028090"/>
                </a:solidFill>
                <a:latin typeface="Calibri" pitchFamily="34" charset="0"/>
                <a:ea typeface="Calibri" pitchFamily="34" charset="-122"/>
                <a:cs typeface="Calibri" pitchFamily="34" charset="-120"/>
              </a:rPr>
              <a:t>Audit Trail</a:t>
            </a:r>
            <a:endParaRPr lang="en-US" sz="950" dirty="0"/>
          </a:p>
        </p:txBody>
      </p:sp>
      <p:sp>
        <p:nvSpPr>
          <p:cNvPr id="48" name="Shape 46"/>
          <p:cNvSpPr/>
          <p:nvPr/>
        </p:nvSpPr>
        <p:spPr>
          <a:xfrm>
            <a:off x="6080760" y="4215384"/>
            <a:ext cx="5349240" cy="2240280"/>
          </a:xfrm>
          <a:prstGeom prst="roundRect">
            <a:avLst>
              <a:gd name="adj" fmla="val 3265"/>
            </a:avLst>
          </a:prstGeom>
          <a:solidFill>
            <a:srgbClr val="FFFFFF"/>
          </a:solidFill>
          <a:ln w="9525">
            <a:solidFill>
              <a:srgbClr val="BFE8DC"/>
            </a:solidFill>
            <a:prstDash val="solid"/>
          </a:ln>
          <a:effectLst>
            <a:outerShdw blurRad="63500" dist="25400" dir="5400000" algn="bl" rotWithShape="0">
              <a:srgbClr val="1B3B3B">
                <a:alpha val="15000"/>
              </a:srgbClr>
            </a:outerShdw>
          </a:effectLst>
        </p:spPr>
      </p:sp>
      <p:sp>
        <p:nvSpPr>
          <p:cNvPr id="49" name="Shape 47"/>
          <p:cNvSpPr/>
          <p:nvPr/>
        </p:nvSpPr>
        <p:spPr>
          <a:xfrm>
            <a:off x="6263640" y="4379976"/>
            <a:ext cx="640080" cy="219456"/>
          </a:xfrm>
          <a:prstGeom prst="roundRect">
            <a:avLst>
              <a:gd name="adj" fmla="val 50000"/>
            </a:avLst>
          </a:prstGeom>
          <a:solidFill>
            <a:srgbClr val="6FAFA6"/>
          </a:solidFill>
          <a:ln w="12700">
            <a:solidFill>
              <a:srgbClr val="6FAFA6"/>
            </a:solidFill>
            <a:prstDash val="solid"/>
          </a:ln>
        </p:spPr>
      </p:sp>
      <p:sp>
        <p:nvSpPr>
          <p:cNvPr id="50" name="Text 48"/>
          <p:cNvSpPr txBox="1"/>
          <p:nvPr/>
        </p:nvSpPr>
        <p:spPr>
          <a:xfrm>
            <a:off x="6263640" y="4379976"/>
            <a:ext cx="640080" cy="219456"/>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OP-04</a:t>
            </a:r>
            <a:endParaRPr lang="en-US" sz="800" dirty="0"/>
          </a:p>
        </p:txBody>
      </p:sp>
      <p:sp>
        <p:nvSpPr>
          <p:cNvPr id="51" name="Text 49"/>
          <p:cNvSpPr txBox="1"/>
          <p:nvPr/>
        </p:nvSpPr>
        <p:spPr>
          <a:xfrm>
            <a:off x="7031736" y="4325112"/>
            <a:ext cx="4251960" cy="329184"/>
          </a:xfrm>
          <a:prstGeom prst="rect">
            <a:avLst/>
          </a:prstGeom>
          <a:noFill/>
          <a:ln/>
        </p:spPr>
        <p:txBody>
          <a:bodyPr wrap="square" lIns="0" tIns="0" rIns="0" bIns="0" rtlCol="0" anchor="ctr"/>
          <a:lstStyle/>
          <a:p>
            <a:pPr marL="0" indent="0">
              <a:buNone/>
            </a:pPr>
            <a:r>
              <a:rPr lang="en-US" sz="1250" b="1" dirty="0">
                <a:solidFill>
                  <a:srgbClr val="13292C"/>
                </a:solidFill>
                <a:latin typeface="Calibri" pitchFamily="34" charset="0"/>
                <a:ea typeface="Calibri" pitchFamily="34" charset="-122"/>
                <a:cs typeface="Calibri" pitchFamily="34" charset="-120"/>
              </a:rPr>
              <a:t>Advanced Intelligence &amp; Traceability</a:t>
            </a:r>
            <a:endParaRPr lang="en-US" sz="1250" dirty="0"/>
          </a:p>
        </p:txBody>
      </p:sp>
      <p:sp>
        <p:nvSpPr>
          <p:cNvPr id="52" name="Text 50"/>
          <p:cNvSpPr txBox="1"/>
          <p:nvPr/>
        </p:nvSpPr>
        <p:spPr>
          <a:xfrm>
            <a:off x="6263640" y="4672584"/>
            <a:ext cx="5001768" cy="566928"/>
          </a:xfrm>
          <a:prstGeom prst="rect">
            <a:avLst/>
          </a:prstGeom>
          <a:noFill/>
          <a:ln/>
        </p:spPr>
        <p:txBody>
          <a:bodyPr wrap="square" lIns="0" tIns="0" rIns="0" bIns="0" rtlCol="0" anchor="t"/>
          <a:lstStyle/>
          <a:p>
            <a:pPr marL="0" indent="0">
              <a:lnSpc>
                <a:spcPct val="115000"/>
              </a:lnSpc>
              <a:buNone/>
            </a:pPr>
            <a:r>
              <a:rPr lang="en-US" sz="1000" dirty="0">
                <a:solidFill>
                  <a:srgbClr val="4C6764"/>
                </a:solidFill>
                <a:latin typeface="Calibri" pitchFamily="34" charset="0"/>
                <a:ea typeface="Calibri" pitchFamily="34" charset="-122"/>
                <a:cs typeface="Calibri" pitchFamily="34" charset="-120"/>
              </a:rPr>
              <a:t>OCR / LLM assistance for product labels, shelf-image analysis, expanded batch recall, additional promotion types and external payment or transport integrations.</a:t>
            </a:r>
            <a:endParaRPr lang="en-US" sz="1000" dirty="0"/>
          </a:p>
        </p:txBody>
      </p:sp>
      <p:sp>
        <p:nvSpPr>
          <p:cNvPr id="53" name="Shape 51"/>
          <p:cNvSpPr/>
          <p:nvPr/>
        </p:nvSpPr>
        <p:spPr>
          <a:xfrm>
            <a:off x="6263640" y="5257800"/>
            <a:ext cx="5001768" cy="6401"/>
          </a:xfrm>
          <a:prstGeom prst="rect">
            <a:avLst/>
          </a:prstGeom>
          <a:solidFill>
            <a:srgbClr val="BFE8DC"/>
          </a:solidFill>
          <a:ln w="12700">
            <a:solidFill>
              <a:srgbClr val="BFE8DC"/>
            </a:solidFill>
            <a:prstDash val="solid"/>
          </a:ln>
        </p:spPr>
      </p:sp>
      <p:sp>
        <p:nvSpPr>
          <p:cNvPr id="54" name="Shape 52"/>
          <p:cNvSpPr/>
          <p:nvPr/>
        </p:nvSpPr>
        <p:spPr>
          <a:xfrm>
            <a:off x="6263640" y="5340096"/>
            <a:ext cx="2409444" cy="329184"/>
          </a:xfrm>
          <a:prstGeom prst="roundRect">
            <a:avLst>
              <a:gd name="adj" fmla="val 19444"/>
            </a:avLst>
          </a:prstGeom>
          <a:solidFill>
            <a:srgbClr val="EAF3F1"/>
          </a:solidFill>
          <a:ln w="9525">
            <a:solidFill>
              <a:srgbClr val="BFE8DC"/>
            </a:solidFill>
            <a:prstDash val="solid"/>
          </a:ln>
        </p:spPr>
      </p:sp>
      <p:sp>
        <p:nvSpPr>
          <p:cNvPr id="55" name="Text 53"/>
          <p:cNvSpPr txBox="1"/>
          <p:nvPr/>
        </p:nvSpPr>
        <p:spPr>
          <a:xfrm>
            <a:off x="6263640" y="5340096"/>
            <a:ext cx="2409444" cy="329184"/>
          </a:xfrm>
          <a:prstGeom prst="rect">
            <a:avLst/>
          </a:prstGeom>
          <a:noFill/>
          <a:ln/>
        </p:spPr>
        <p:txBody>
          <a:bodyPr wrap="square" lIns="0" tIns="0" rIns="0" bIns="0" rtlCol="0" anchor="ctr"/>
          <a:lstStyle/>
          <a:p>
            <a:pPr marL="0" indent="0" algn="ctr">
              <a:buNone/>
            </a:pPr>
            <a:r>
              <a:rPr lang="en-US" sz="950" b="1" dirty="0">
                <a:solidFill>
                  <a:srgbClr val="028090"/>
                </a:solidFill>
                <a:latin typeface="Calibri" pitchFamily="34" charset="0"/>
                <a:ea typeface="Calibri" pitchFamily="34" charset="-122"/>
                <a:cs typeface="Calibri" pitchFamily="34" charset="-120"/>
              </a:rPr>
              <a:t>OCR / LLM Label Assist</a:t>
            </a:r>
            <a:endParaRPr lang="en-US" sz="950" dirty="0"/>
          </a:p>
        </p:txBody>
      </p:sp>
      <p:sp>
        <p:nvSpPr>
          <p:cNvPr id="56" name="Shape 54"/>
          <p:cNvSpPr/>
          <p:nvPr/>
        </p:nvSpPr>
        <p:spPr>
          <a:xfrm>
            <a:off x="8801100" y="5340096"/>
            <a:ext cx="2409444" cy="329184"/>
          </a:xfrm>
          <a:prstGeom prst="roundRect">
            <a:avLst>
              <a:gd name="adj" fmla="val 19444"/>
            </a:avLst>
          </a:prstGeom>
          <a:solidFill>
            <a:srgbClr val="EAF3F1"/>
          </a:solidFill>
          <a:ln w="9525">
            <a:solidFill>
              <a:srgbClr val="BFE8DC"/>
            </a:solidFill>
            <a:prstDash val="solid"/>
          </a:ln>
        </p:spPr>
      </p:sp>
      <p:sp>
        <p:nvSpPr>
          <p:cNvPr id="57" name="Text 55"/>
          <p:cNvSpPr txBox="1"/>
          <p:nvPr/>
        </p:nvSpPr>
        <p:spPr>
          <a:xfrm>
            <a:off x="8801100" y="5340096"/>
            <a:ext cx="2409444" cy="329184"/>
          </a:xfrm>
          <a:prstGeom prst="rect">
            <a:avLst/>
          </a:prstGeom>
          <a:noFill/>
          <a:ln/>
        </p:spPr>
        <p:txBody>
          <a:bodyPr wrap="square" lIns="0" tIns="0" rIns="0" bIns="0" rtlCol="0" anchor="ctr"/>
          <a:lstStyle/>
          <a:p>
            <a:pPr marL="0" indent="0" algn="ctr">
              <a:buNone/>
            </a:pPr>
            <a:r>
              <a:rPr lang="en-US" sz="950" b="1" dirty="0">
                <a:solidFill>
                  <a:srgbClr val="028090"/>
                </a:solidFill>
                <a:latin typeface="Calibri" pitchFamily="34" charset="0"/>
                <a:ea typeface="Calibri" pitchFamily="34" charset="-122"/>
                <a:cs typeface="Calibri" pitchFamily="34" charset="-120"/>
              </a:rPr>
              <a:t>Shelf-Image Analysis</a:t>
            </a:r>
            <a:endParaRPr lang="en-US" sz="950" dirty="0"/>
          </a:p>
        </p:txBody>
      </p:sp>
      <p:sp>
        <p:nvSpPr>
          <p:cNvPr id="58" name="Shape 56"/>
          <p:cNvSpPr/>
          <p:nvPr/>
        </p:nvSpPr>
        <p:spPr>
          <a:xfrm>
            <a:off x="6263640" y="5815584"/>
            <a:ext cx="2409444" cy="329184"/>
          </a:xfrm>
          <a:prstGeom prst="roundRect">
            <a:avLst>
              <a:gd name="adj" fmla="val 19444"/>
            </a:avLst>
          </a:prstGeom>
          <a:solidFill>
            <a:srgbClr val="EAF3F1"/>
          </a:solidFill>
          <a:ln w="9525">
            <a:solidFill>
              <a:srgbClr val="BFE8DC"/>
            </a:solidFill>
            <a:prstDash val="solid"/>
          </a:ln>
        </p:spPr>
      </p:sp>
      <p:sp>
        <p:nvSpPr>
          <p:cNvPr id="59" name="Text 57"/>
          <p:cNvSpPr txBox="1"/>
          <p:nvPr/>
        </p:nvSpPr>
        <p:spPr>
          <a:xfrm>
            <a:off x="6263640" y="5815584"/>
            <a:ext cx="2409444" cy="329184"/>
          </a:xfrm>
          <a:prstGeom prst="rect">
            <a:avLst/>
          </a:prstGeom>
          <a:noFill/>
          <a:ln/>
        </p:spPr>
        <p:txBody>
          <a:bodyPr wrap="square" lIns="0" tIns="0" rIns="0" bIns="0" rtlCol="0" anchor="ctr"/>
          <a:lstStyle/>
          <a:p>
            <a:pPr marL="0" indent="0" algn="ctr">
              <a:buNone/>
            </a:pPr>
            <a:r>
              <a:rPr lang="en-US" sz="950" b="1" dirty="0">
                <a:solidFill>
                  <a:srgbClr val="028090"/>
                </a:solidFill>
                <a:latin typeface="Calibri" pitchFamily="34" charset="0"/>
                <a:ea typeface="Calibri" pitchFamily="34" charset="-122"/>
                <a:cs typeface="Calibri" pitchFamily="34" charset="-120"/>
              </a:rPr>
              <a:t>Batch Recall</a:t>
            </a:r>
            <a:endParaRPr lang="en-US" sz="950" dirty="0"/>
          </a:p>
        </p:txBody>
      </p:sp>
      <p:sp>
        <p:nvSpPr>
          <p:cNvPr id="60" name="Shape 58"/>
          <p:cNvSpPr/>
          <p:nvPr/>
        </p:nvSpPr>
        <p:spPr>
          <a:xfrm>
            <a:off x="8801100" y="5815584"/>
            <a:ext cx="2409444" cy="329184"/>
          </a:xfrm>
          <a:prstGeom prst="roundRect">
            <a:avLst>
              <a:gd name="adj" fmla="val 19444"/>
            </a:avLst>
          </a:prstGeom>
          <a:solidFill>
            <a:srgbClr val="EAF3F1"/>
          </a:solidFill>
          <a:ln w="9525">
            <a:solidFill>
              <a:srgbClr val="BFE8DC"/>
            </a:solidFill>
            <a:prstDash val="solid"/>
          </a:ln>
        </p:spPr>
      </p:sp>
      <p:sp>
        <p:nvSpPr>
          <p:cNvPr id="61" name="Text 59"/>
          <p:cNvSpPr txBox="1"/>
          <p:nvPr/>
        </p:nvSpPr>
        <p:spPr>
          <a:xfrm>
            <a:off x="8801100" y="5815584"/>
            <a:ext cx="2409444" cy="329184"/>
          </a:xfrm>
          <a:prstGeom prst="rect">
            <a:avLst/>
          </a:prstGeom>
          <a:noFill/>
          <a:ln/>
        </p:spPr>
        <p:txBody>
          <a:bodyPr wrap="square" lIns="0" tIns="0" rIns="0" bIns="0" rtlCol="0" anchor="ctr"/>
          <a:lstStyle/>
          <a:p>
            <a:pPr marL="0" indent="0" algn="ctr">
              <a:buNone/>
            </a:pPr>
            <a:r>
              <a:rPr lang="en-US" sz="950" b="1" dirty="0">
                <a:solidFill>
                  <a:srgbClr val="028090"/>
                </a:solidFill>
                <a:latin typeface="Calibri" pitchFamily="34" charset="0"/>
                <a:ea typeface="Calibri" pitchFamily="34" charset="-122"/>
                <a:cs typeface="Calibri" pitchFamily="34" charset="-120"/>
              </a:rPr>
              <a:t>More Promo Types</a:t>
            </a:r>
            <a:endParaRPr lang="en-US" sz="950" dirty="0"/>
          </a:p>
        </p:txBody>
      </p:sp>
      <p:sp>
        <p:nvSpPr>
          <p:cNvPr id="62" name="Text 60"/>
          <p:cNvSpPr txBox="1"/>
          <p:nvPr/>
        </p:nvSpPr>
        <p:spPr>
          <a:xfrm>
            <a:off x="502920" y="6510528"/>
            <a:ext cx="7315200" cy="201168"/>
          </a:xfrm>
          <a:prstGeom prst="rect">
            <a:avLst/>
          </a:prstGeom>
          <a:noFill/>
          <a:ln/>
        </p:spPr>
        <p:txBody>
          <a:bodyPr wrap="square" lIns="0" tIns="0" rIns="0" bIns="0" rtlCol="0" anchor="ctr"/>
          <a:lstStyle/>
          <a:p>
            <a:pPr marL="0" indent="0">
              <a:buNone/>
            </a:pPr>
            <a:r>
              <a:rPr lang="en-US" sz="850" dirty="0">
                <a:solidFill>
                  <a:srgbClr val="A8C5C0"/>
                </a:solidFill>
                <a:latin typeface="Calibri" pitchFamily="34" charset="0"/>
                <a:ea typeface="Calibri" pitchFamily="34" charset="-122"/>
                <a:cs typeface="Calibri" pitchFamily="34" charset="-120"/>
              </a:rPr>
              <a:t>FSCM  ·  Capstone Project Overview  ·  FA26SE083</a:t>
            </a:r>
            <a:endParaRPr lang="en-US" sz="850" dirty="0"/>
          </a:p>
        </p:txBody>
      </p:sp>
      <p:sp>
        <p:nvSpPr>
          <p:cNvPr id="63" name="Text 61"/>
          <p:cNvSpPr txBox="1"/>
          <p:nvPr/>
        </p:nvSpPr>
        <p:spPr>
          <a:xfrm>
            <a:off x="11338560" y="6510528"/>
            <a:ext cx="365760" cy="201168"/>
          </a:xfrm>
          <a:prstGeom prst="rect">
            <a:avLst/>
          </a:prstGeom>
          <a:noFill/>
          <a:ln/>
        </p:spPr>
        <p:txBody>
          <a:bodyPr wrap="square" lIns="0" tIns="0" rIns="0" bIns="0" rtlCol="0" anchor="ctr"/>
          <a:lstStyle/>
          <a:p>
            <a:pPr marL="0" indent="0" algn="r">
              <a:buNone/>
            </a:pPr>
            <a:r>
              <a:rPr lang="en-US" sz="850" dirty="0">
                <a:solidFill>
                  <a:srgbClr val="A8C5C0"/>
                </a:solidFill>
                <a:latin typeface="Calibri" pitchFamily="34" charset="0"/>
                <a:ea typeface="Calibri" pitchFamily="34" charset="-122"/>
                <a:cs typeface="Calibri" pitchFamily="34" charset="-120"/>
              </a:rPr>
              <a:t>8</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B2E33"/>
        </a:solidFill>
        <a:effectLst/>
      </p:bgPr>
    </p:bg>
    <p:spTree>
      <p:nvGrpSpPr>
        <p:cNvPr id="1" name=""/>
        <p:cNvGrpSpPr/>
        <p:nvPr/>
      </p:nvGrpSpPr>
      <p:grpSpPr>
        <a:xfrm>
          <a:off x="0" y="0"/>
          <a:ext cx="0" cy="0"/>
          <a:chOff x="0" y="0"/>
          <a:chExt cx="0" cy="0"/>
        </a:xfrm>
      </p:grpSpPr>
      <p:sp>
        <p:nvSpPr>
          <p:cNvPr id="2" name="Text 0"/>
          <p:cNvSpPr txBox="1"/>
          <p:nvPr/>
        </p:nvSpPr>
        <p:spPr>
          <a:xfrm>
            <a:off x="502920" y="402336"/>
            <a:ext cx="10058400" cy="292608"/>
          </a:xfrm>
          <a:prstGeom prst="rect">
            <a:avLst/>
          </a:prstGeom>
          <a:noFill/>
          <a:ln/>
        </p:spPr>
        <p:txBody>
          <a:bodyPr wrap="square" lIns="0" tIns="0" rIns="0" bIns="0" rtlCol="0" anchor="ctr"/>
          <a:lstStyle/>
          <a:p>
            <a:pPr marL="0" indent="0">
              <a:buNone/>
            </a:pPr>
            <a:r>
              <a:rPr lang="en-US" sz="1100" b="1" kern="0" spc="300" dirty="0">
                <a:solidFill>
                  <a:srgbClr val="02C39A"/>
                </a:solidFill>
                <a:latin typeface="Calibri" pitchFamily="34" charset="0"/>
                <a:ea typeface="Calibri" pitchFamily="34" charset="-122"/>
                <a:cs typeface="Calibri" pitchFamily="34" charset="-120"/>
              </a:rPr>
              <a:t>04 · SYSTEM QUALITY</a:t>
            </a:r>
            <a:endParaRPr lang="en-US" sz="1100" dirty="0"/>
          </a:p>
        </p:txBody>
      </p:sp>
      <p:sp>
        <p:nvSpPr>
          <p:cNvPr id="3" name="Shape 1"/>
          <p:cNvSpPr/>
          <p:nvPr/>
        </p:nvSpPr>
        <p:spPr>
          <a:xfrm>
            <a:off x="502920" y="731520"/>
            <a:ext cx="11201400" cy="13716"/>
          </a:xfrm>
          <a:prstGeom prst="rect">
            <a:avLst/>
          </a:prstGeom>
          <a:solidFill>
            <a:srgbClr val="1C5A60"/>
          </a:solidFill>
          <a:ln w="12700">
            <a:solidFill>
              <a:srgbClr val="1C5A60"/>
            </a:solidFill>
            <a:prstDash val="solid"/>
          </a:ln>
        </p:spPr>
      </p:sp>
      <p:sp>
        <p:nvSpPr>
          <p:cNvPr id="4" name="Text 2"/>
          <p:cNvSpPr txBox="1"/>
          <p:nvPr/>
        </p:nvSpPr>
        <p:spPr>
          <a:xfrm>
            <a:off x="502920" y="777240"/>
            <a:ext cx="11201400" cy="594360"/>
          </a:xfrm>
          <a:prstGeom prst="rect">
            <a:avLst/>
          </a:prstGeom>
          <a:noFill/>
          <a:ln/>
        </p:spPr>
        <p:txBody>
          <a:bodyPr wrap="square" lIns="0" tIns="0" rIns="0" bIns="0"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Non-Functional Requirements</a:t>
            </a:r>
            <a:endParaRPr lang="en-US" sz="3000" dirty="0"/>
          </a:p>
        </p:txBody>
      </p:sp>
      <p:sp>
        <p:nvSpPr>
          <p:cNvPr id="5" name="Shape 3"/>
          <p:cNvSpPr/>
          <p:nvPr/>
        </p:nvSpPr>
        <p:spPr>
          <a:xfrm>
            <a:off x="502920" y="1508760"/>
            <a:ext cx="2606040" cy="1417320"/>
          </a:xfrm>
          <a:prstGeom prst="roundRect">
            <a:avLst>
              <a:gd name="adj" fmla="val 5161"/>
            </a:avLst>
          </a:prstGeom>
          <a:solidFill>
            <a:srgbClr val="0F3D42"/>
          </a:solidFill>
          <a:ln w="9525">
            <a:solidFill>
              <a:srgbClr val="028090"/>
            </a:solidFill>
            <a:prstDash val="solid"/>
          </a:ln>
        </p:spPr>
      </p:sp>
      <p:sp>
        <p:nvSpPr>
          <p:cNvPr id="6" name="Shape 4"/>
          <p:cNvSpPr/>
          <p:nvPr/>
        </p:nvSpPr>
        <p:spPr>
          <a:xfrm>
            <a:off x="502920" y="1508760"/>
            <a:ext cx="2606040" cy="41148"/>
          </a:xfrm>
          <a:prstGeom prst="roundRect">
            <a:avLst>
              <a:gd name="adj" fmla="val 88889"/>
            </a:avLst>
          </a:prstGeom>
          <a:solidFill>
            <a:srgbClr val="02C39A"/>
          </a:solidFill>
          <a:ln w="12700">
            <a:solidFill>
              <a:srgbClr val="02C39A"/>
            </a:solidFill>
            <a:prstDash val="solid"/>
          </a:ln>
        </p:spPr>
      </p:sp>
      <p:sp>
        <p:nvSpPr>
          <p:cNvPr id="7" name="Text 5"/>
          <p:cNvSpPr txBox="1"/>
          <p:nvPr/>
        </p:nvSpPr>
        <p:spPr>
          <a:xfrm>
            <a:off x="667512" y="1618488"/>
            <a:ext cx="2331720" cy="310896"/>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Tech Stack</a:t>
            </a:r>
            <a:endParaRPr lang="en-US" sz="1200" dirty="0"/>
          </a:p>
        </p:txBody>
      </p:sp>
      <p:sp>
        <p:nvSpPr>
          <p:cNvPr id="8" name="Text 6"/>
          <p:cNvSpPr txBox="1"/>
          <p:nvPr/>
        </p:nvSpPr>
        <p:spPr>
          <a:xfrm>
            <a:off x="667512" y="1965960"/>
            <a:ext cx="2331720" cy="850392"/>
          </a:xfrm>
          <a:prstGeom prst="rect">
            <a:avLst/>
          </a:prstGeom>
          <a:noFill/>
          <a:ln/>
        </p:spPr>
        <p:txBody>
          <a:bodyPr wrap="square" lIns="0" tIns="0" rIns="0" bIns="0" rtlCol="0" anchor="t"/>
          <a:lstStyle/>
          <a:p>
            <a:pPr marL="0" indent="0">
              <a:lnSpc>
                <a:spcPct val="115000"/>
              </a:lnSpc>
              <a:buNone/>
            </a:pPr>
            <a:r>
              <a:rPr lang="en-US" sz="1000" dirty="0">
                <a:solidFill>
                  <a:srgbClr val="B8DAD5"/>
                </a:solidFill>
                <a:latin typeface="Calibri" pitchFamily="34" charset="0"/>
                <a:ea typeface="Calibri" pitchFamily="34" charset="-122"/>
                <a:cs typeface="Calibri" pitchFamily="34" charset="-120"/>
              </a:rPr>
              <a:t>ASP.NET Core REST API · React + TypeScript + Chart.js portal · Flutter mobile · Azure Database for PostgreSQL</a:t>
            </a:r>
            <a:endParaRPr lang="en-US" sz="1000" dirty="0"/>
          </a:p>
        </p:txBody>
      </p:sp>
      <p:sp>
        <p:nvSpPr>
          <p:cNvPr id="9" name="Shape 7"/>
          <p:cNvSpPr/>
          <p:nvPr/>
        </p:nvSpPr>
        <p:spPr>
          <a:xfrm>
            <a:off x="3310128" y="1508760"/>
            <a:ext cx="2606040" cy="1417320"/>
          </a:xfrm>
          <a:prstGeom prst="roundRect">
            <a:avLst>
              <a:gd name="adj" fmla="val 5161"/>
            </a:avLst>
          </a:prstGeom>
          <a:solidFill>
            <a:srgbClr val="0F3D42"/>
          </a:solidFill>
          <a:ln w="9525">
            <a:solidFill>
              <a:srgbClr val="028090"/>
            </a:solidFill>
            <a:prstDash val="solid"/>
          </a:ln>
        </p:spPr>
      </p:sp>
      <p:sp>
        <p:nvSpPr>
          <p:cNvPr id="10" name="Shape 8"/>
          <p:cNvSpPr/>
          <p:nvPr/>
        </p:nvSpPr>
        <p:spPr>
          <a:xfrm>
            <a:off x="3310128" y="1508760"/>
            <a:ext cx="2606040" cy="41148"/>
          </a:xfrm>
          <a:prstGeom prst="roundRect">
            <a:avLst>
              <a:gd name="adj" fmla="val 88889"/>
            </a:avLst>
          </a:prstGeom>
          <a:solidFill>
            <a:srgbClr val="00A896"/>
          </a:solidFill>
          <a:ln w="12700">
            <a:solidFill>
              <a:srgbClr val="00A896"/>
            </a:solidFill>
            <a:prstDash val="solid"/>
          </a:ln>
        </p:spPr>
      </p:sp>
      <p:sp>
        <p:nvSpPr>
          <p:cNvPr id="11" name="Text 9"/>
          <p:cNvSpPr txBox="1"/>
          <p:nvPr/>
        </p:nvSpPr>
        <p:spPr>
          <a:xfrm>
            <a:off x="3474720" y="1618488"/>
            <a:ext cx="2331720" cy="310896"/>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Identity &amp; Auth</a:t>
            </a:r>
            <a:endParaRPr lang="en-US" sz="1200" dirty="0"/>
          </a:p>
        </p:txBody>
      </p:sp>
      <p:sp>
        <p:nvSpPr>
          <p:cNvPr id="12" name="Text 10"/>
          <p:cNvSpPr txBox="1"/>
          <p:nvPr/>
        </p:nvSpPr>
        <p:spPr>
          <a:xfrm>
            <a:off x="3474720" y="1965960"/>
            <a:ext cx="2331720" cy="850392"/>
          </a:xfrm>
          <a:prstGeom prst="rect">
            <a:avLst/>
          </a:prstGeom>
          <a:noFill/>
          <a:ln/>
        </p:spPr>
        <p:txBody>
          <a:bodyPr wrap="square" lIns="0" tIns="0" rIns="0" bIns="0" rtlCol="0" anchor="t"/>
          <a:lstStyle/>
          <a:p>
            <a:pPr marL="0" indent="0">
              <a:lnSpc>
                <a:spcPct val="115000"/>
              </a:lnSpc>
              <a:buNone/>
            </a:pPr>
            <a:r>
              <a:rPr lang="en-US" sz="1000" dirty="0">
                <a:solidFill>
                  <a:srgbClr val="B8DAD5"/>
                </a:solidFill>
                <a:latin typeface="Calibri" pitchFamily="34" charset="0"/>
                <a:ea typeface="Calibri" pitchFamily="34" charset="-122"/>
                <a:cs typeface="Calibri" pitchFamily="34" charset="-120"/>
              </a:rPr>
              <a:t>Microsoft Entra ID sign-in; application roles control business actions and warehouse-level access</a:t>
            </a:r>
            <a:endParaRPr lang="en-US" sz="1000" dirty="0"/>
          </a:p>
        </p:txBody>
      </p:sp>
      <p:sp>
        <p:nvSpPr>
          <p:cNvPr id="13" name="Shape 11"/>
          <p:cNvSpPr/>
          <p:nvPr/>
        </p:nvSpPr>
        <p:spPr>
          <a:xfrm>
            <a:off x="6117336" y="1508760"/>
            <a:ext cx="2606040" cy="1417320"/>
          </a:xfrm>
          <a:prstGeom prst="roundRect">
            <a:avLst>
              <a:gd name="adj" fmla="val 5161"/>
            </a:avLst>
          </a:prstGeom>
          <a:solidFill>
            <a:srgbClr val="0F3D42"/>
          </a:solidFill>
          <a:ln w="9525">
            <a:solidFill>
              <a:srgbClr val="028090"/>
            </a:solidFill>
            <a:prstDash val="solid"/>
          </a:ln>
        </p:spPr>
      </p:sp>
      <p:sp>
        <p:nvSpPr>
          <p:cNvPr id="14" name="Shape 12"/>
          <p:cNvSpPr/>
          <p:nvPr/>
        </p:nvSpPr>
        <p:spPr>
          <a:xfrm>
            <a:off x="6117336" y="1508760"/>
            <a:ext cx="2606040" cy="41148"/>
          </a:xfrm>
          <a:prstGeom prst="roundRect">
            <a:avLst>
              <a:gd name="adj" fmla="val 88889"/>
            </a:avLst>
          </a:prstGeom>
          <a:solidFill>
            <a:srgbClr val="02C39A"/>
          </a:solidFill>
          <a:ln w="12700">
            <a:solidFill>
              <a:srgbClr val="02C39A"/>
            </a:solidFill>
            <a:prstDash val="solid"/>
          </a:ln>
        </p:spPr>
      </p:sp>
      <p:sp>
        <p:nvSpPr>
          <p:cNvPr id="15" name="Text 13"/>
          <p:cNvSpPr txBox="1"/>
          <p:nvPr/>
        </p:nvSpPr>
        <p:spPr>
          <a:xfrm>
            <a:off x="6281928" y="1618488"/>
            <a:ext cx="2331720" cy="310896"/>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Stock Integrity</a:t>
            </a:r>
            <a:endParaRPr lang="en-US" sz="1200" dirty="0"/>
          </a:p>
        </p:txBody>
      </p:sp>
      <p:sp>
        <p:nvSpPr>
          <p:cNvPr id="16" name="Text 14"/>
          <p:cNvSpPr txBox="1"/>
          <p:nvPr/>
        </p:nvSpPr>
        <p:spPr>
          <a:xfrm>
            <a:off x="6281928" y="1965960"/>
            <a:ext cx="2331720" cy="850392"/>
          </a:xfrm>
          <a:prstGeom prst="rect">
            <a:avLst/>
          </a:prstGeom>
          <a:noFill/>
          <a:ln/>
        </p:spPr>
        <p:txBody>
          <a:bodyPr wrap="square" lIns="0" tIns="0" rIns="0" bIns="0" rtlCol="0" anchor="t"/>
          <a:lstStyle/>
          <a:p>
            <a:pPr marL="0" indent="0">
              <a:lnSpc>
                <a:spcPct val="115000"/>
              </a:lnSpc>
              <a:buNone/>
            </a:pPr>
            <a:r>
              <a:rPr lang="en-US" sz="1000" dirty="0">
                <a:solidFill>
                  <a:srgbClr val="B8DAD5"/>
                </a:solidFill>
                <a:latin typeface="Calibri" pitchFamily="34" charset="0"/>
                <a:ea typeface="Calibri" pitchFamily="34" charset="-122"/>
                <a:cs typeface="Calibri" pitchFamily="34" charset="-120"/>
              </a:rPr>
              <a:t>Transactional reservation and availability checks prevent negative availability and double-booking of batches</a:t>
            </a:r>
            <a:endParaRPr lang="en-US" sz="1000" dirty="0"/>
          </a:p>
        </p:txBody>
      </p:sp>
      <p:sp>
        <p:nvSpPr>
          <p:cNvPr id="17" name="Shape 15"/>
          <p:cNvSpPr/>
          <p:nvPr/>
        </p:nvSpPr>
        <p:spPr>
          <a:xfrm>
            <a:off x="8924544" y="1508760"/>
            <a:ext cx="2606040" cy="1417320"/>
          </a:xfrm>
          <a:prstGeom prst="roundRect">
            <a:avLst>
              <a:gd name="adj" fmla="val 5161"/>
            </a:avLst>
          </a:prstGeom>
          <a:solidFill>
            <a:srgbClr val="0F3D42"/>
          </a:solidFill>
          <a:ln w="9525">
            <a:solidFill>
              <a:srgbClr val="028090"/>
            </a:solidFill>
            <a:prstDash val="solid"/>
          </a:ln>
        </p:spPr>
      </p:sp>
      <p:sp>
        <p:nvSpPr>
          <p:cNvPr id="18" name="Shape 16"/>
          <p:cNvSpPr/>
          <p:nvPr/>
        </p:nvSpPr>
        <p:spPr>
          <a:xfrm>
            <a:off x="8924544" y="1508760"/>
            <a:ext cx="2606040" cy="41148"/>
          </a:xfrm>
          <a:prstGeom prst="roundRect">
            <a:avLst>
              <a:gd name="adj" fmla="val 88889"/>
            </a:avLst>
          </a:prstGeom>
          <a:solidFill>
            <a:srgbClr val="00A896"/>
          </a:solidFill>
          <a:ln w="12700">
            <a:solidFill>
              <a:srgbClr val="00A896"/>
            </a:solidFill>
            <a:prstDash val="solid"/>
          </a:ln>
        </p:spPr>
      </p:sp>
      <p:sp>
        <p:nvSpPr>
          <p:cNvPr id="19" name="Text 17"/>
          <p:cNvSpPr txBox="1"/>
          <p:nvPr/>
        </p:nvSpPr>
        <p:spPr>
          <a:xfrm>
            <a:off x="9089136" y="1618488"/>
            <a:ext cx="2331720" cy="310896"/>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Idempotency &amp; Audit</a:t>
            </a:r>
            <a:endParaRPr lang="en-US" sz="1200" dirty="0"/>
          </a:p>
        </p:txBody>
      </p:sp>
      <p:sp>
        <p:nvSpPr>
          <p:cNvPr id="20" name="Text 18"/>
          <p:cNvSpPr txBox="1"/>
          <p:nvPr/>
        </p:nvSpPr>
        <p:spPr>
          <a:xfrm>
            <a:off x="9089136" y="1965960"/>
            <a:ext cx="2331720" cy="850392"/>
          </a:xfrm>
          <a:prstGeom prst="rect">
            <a:avLst/>
          </a:prstGeom>
          <a:noFill/>
          <a:ln/>
        </p:spPr>
        <p:txBody>
          <a:bodyPr wrap="square" lIns="0" tIns="0" rIns="0" bIns="0" rtlCol="0" anchor="t"/>
          <a:lstStyle/>
          <a:p>
            <a:pPr marL="0" indent="0">
              <a:lnSpc>
                <a:spcPct val="115000"/>
              </a:lnSpc>
              <a:buNone/>
            </a:pPr>
            <a:r>
              <a:rPr lang="en-US" sz="1000" dirty="0">
                <a:solidFill>
                  <a:srgbClr val="B8DAD5"/>
                </a:solidFill>
                <a:latin typeface="Calibri" pitchFamily="34" charset="0"/>
                <a:ea typeface="Calibri" pitchFamily="34" charset="-122"/>
                <a:cs typeface="Calibri" pitchFamily="34" charset="-120"/>
              </a:rPr>
              <a:t>Idempotent sync and reservation processing; full audit history on critical order transitions</a:t>
            </a:r>
            <a:endParaRPr lang="en-US" sz="1000" dirty="0"/>
          </a:p>
        </p:txBody>
      </p:sp>
      <p:sp>
        <p:nvSpPr>
          <p:cNvPr id="21" name="Shape 19"/>
          <p:cNvSpPr/>
          <p:nvPr/>
        </p:nvSpPr>
        <p:spPr>
          <a:xfrm>
            <a:off x="502920" y="3090672"/>
            <a:ext cx="2606040" cy="1417320"/>
          </a:xfrm>
          <a:prstGeom prst="roundRect">
            <a:avLst>
              <a:gd name="adj" fmla="val 5161"/>
            </a:avLst>
          </a:prstGeom>
          <a:solidFill>
            <a:srgbClr val="0F3D42"/>
          </a:solidFill>
          <a:ln w="9525">
            <a:solidFill>
              <a:srgbClr val="028090"/>
            </a:solidFill>
            <a:prstDash val="solid"/>
          </a:ln>
        </p:spPr>
      </p:sp>
      <p:sp>
        <p:nvSpPr>
          <p:cNvPr id="22" name="Shape 20"/>
          <p:cNvSpPr/>
          <p:nvPr/>
        </p:nvSpPr>
        <p:spPr>
          <a:xfrm>
            <a:off x="502920" y="3090672"/>
            <a:ext cx="2606040" cy="41148"/>
          </a:xfrm>
          <a:prstGeom prst="roundRect">
            <a:avLst>
              <a:gd name="adj" fmla="val 88889"/>
            </a:avLst>
          </a:prstGeom>
          <a:solidFill>
            <a:srgbClr val="02C39A"/>
          </a:solidFill>
          <a:ln w="12700">
            <a:solidFill>
              <a:srgbClr val="02C39A"/>
            </a:solidFill>
            <a:prstDash val="solid"/>
          </a:ln>
        </p:spPr>
      </p:sp>
      <p:sp>
        <p:nvSpPr>
          <p:cNvPr id="23" name="Text 21"/>
          <p:cNvSpPr txBox="1"/>
          <p:nvPr/>
        </p:nvSpPr>
        <p:spPr>
          <a:xfrm>
            <a:off x="667512" y="3200400"/>
            <a:ext cx="2331720" cy="310896"/>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Offline-First Mobile</a:t>
            </a:r>
            <a:endParaRPr lang="en-US" sz="1200" dirty="0"/>
          </a:p>
        </p:txBody>
      </p:sp>
      <p:sp>
        <p:nvSpPr>
          <p:cNvPr id="24" name="Text 22"/>
          <p:cNvSpPr txBox="1"/>
          <p:nvPr/>
        </p:nvSpPr>
        <p:spPr>
          <a:xfrm>
            <a:off x="667512" y="3547872"/>
            <a:ext cx="2331720" cy="850392"/>
          </a:xfrm>
          <a:prstGeom prst="rect">
            <a:avLst/>
          </a:prstGeom>
          <a:noFill/>
          <a:ln/>
        </p:spPr>
        <p:txBody>
          <a:bodyPr wrap="square" lIns="0" tIns="0" rIns="0" bIns="0" rtlCol="0" anchor="t"/>
          <a:lstStyle/>
          <a:p>
            <a:pPr marL="0" indent="0">
              <a:lnSpc>
                <a:spcPct val="115000"/>
              </a:lnSpc>
              <a:buNone/>
            </a:pPr>
            <a:r>
              <a:rPr lang="en-US" sz="1000" dirty="0">
                <a:solidFill>
                  <a:srgbClr val="B8DAD5"/>
                </a:solidFill>
                <a:latin typeface="Calibri" pitchFamily="34" charset="0"/>
                <a:ea typeface="Calibri" pitchFamily="34" charset="-122"/>
                <a:cs typeface="Calibri" pitchFamily="34" charset="-120"/>
              </a:rPr>
              <a:t>SQLite cache and order queue on device; sync on reconnect — server re-validates current stock</a:t>
            </a:r>
            <a:endParaRPr lang="en-US" sz="1000" dirty="0"/>
          </a:p>
        </p:txBody>
      </p:sp>
      <p:sp>
        <p:nvSpPr>
          <p:cNvPr id="25" name="Shape 23"/>
          <p:cNvSpPr/>
          <p:nvPr/>
        </p:nvSpPr>
        <p:spPr>
          <a:xfrm>
            <a:off x="3310128" y="3090672"/>
            <a:ext cx="2606040" cy="1417320"/>
          </a:xfrm>
          <a:prstGeom prst="roundRect">
            <a:avLst>
              <a:gd name="adj" fmla="val 5161"/>
            </a:avLst>
          </a:prstGeom>
          <a:solidFill>
            <a:srgbClr val="0F3D42"/>
          </a:solidFill>
          <a:ln w="9525">
            <a:solidFill>
              <a:srgbClr val="028090"/>
            </a:solidFill>
            <a:prstDash val="solid"/>
          </a:ln>
        </p:spPr>
      </p:sp>
      <p:sp>
        <p:nvSpPr>
          <p:cNvPr id="26" name="Shape 24"/>
          <p:cNvSpPr/>
          <p:nvPr/>
        </p:nvSpPr>
        <p:spPr>
          <a:xfrm>
            <a:off x="3310128" y="3090672"/>
            <a:ext cx="2606040" cy="41148"/>
          </a:xfrm>
          <a:prstGeom prst="roundRect">
            <a:avLst>
              <a:gd name="adj" fmla="val 88889"/>
            </a:avLst>
          </a:prstGeom>
          <a:solidFill>
            <a:srgbClr val="00A896"/>
          </a:solidFill>
          <a:ln w="12700">
            <a:solidFill>
              <a:srgbClr val="00A896"/>
            </a:solidFill>
            <a:prstDash val="solid"/>
          </a:ln>
        </p:spPr>
      </p:sp>
      <p:sp>
        <p:nvSpPr>
          <p:cNvPr id="27" name="Text 25"/>
          <p:cNvSpPr txBox="1"/>
          <p:nvPr/>
        </p:nvSpPr>
        <p:spPr>
          <a:xfrm>
            <a:off x="3474720" y="3200400"/>
            <a:ext cx="2331720" cy="310896"/>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Async Processing</a:t>
            </a:r>
            <a:endParaRPr lang="en-US" sz="1200" dirty="0"/>
          </a:p>
        </p:txBody>
      </p:sp>
      <p:sp>
        <p:nvSpPr>
          <p:cNvPr id="28" name="Text 26"/>
          <p:cNvSpPr txBox="1"/>
          <p:nvPr/>
        </p:nvSpPr>
        <p:spPr>
          <a:xfrm>
            <a:off x="3474720" y="3547872"/>
            <a:ext cx="2331720" cy="850392"/>
          </a:xfrm>
          <a:prstGeom prst="rect">
            <a:avLst/>
          </a:prstGeom>
          <a:noFill/>
          <a:ln/>
        </p:spPr>
        <p:txBody>
          <a:bodyPr wrap="square" lIns="0" tIns="0" rIns="0" bIns="0" rtlCol="0" anchor="t"/>
          <a:lstStyle/>
          <a:p>
            <a:pPr marL="0" indent="0">
              <a:lnSpc>
                <a:spcPct val="115000"/>
              </a:lnSpc>
              <a:buNone/>
            </a:pPr>
            <a:r>
              <a:rPr lang="en-US" sz="1000" dirty="0">
                <a:solidFill>
                  <a:srgbClr val="B8DAD5"/>
                </a:solidFill>
                <a:latin typeface="Calibri" pitchFamily="34" charset="0"/>
                <a:ea typeface="Calibri" pitchFamily="34" charset="-122"/>
                <a:cs typeface="Calibri" pitchFamily="34" charset="-120"/>
              </a:rPr>
              <a:t>PostgreSQL transactional outbox + worker service; expiry-date checks via Azure Functions Timer Trigger</a:t>
            </a:r>
            <a:endParaRPr lang="en-US" sz="1000" dirty="0"/>
          </a:p>
        </p:txBody>
      </p:sp>
      <p:sp>
        <p:nvSpPr>
          <p:cNvPr id="29" name="Shape 27"/>
          <p:cNvSpPr/>
          <p:nvPr/>
        </p:nvSpPr>
        <p:spPr>
          <a:xfrm>
            <a:off x="6117336" y="3090672"/>
            <a:ext cx="2606040" cy="1417320"/>
          </a:xfrm>
          <a:prstGeom prst="roundRect">
            <a:avLst>
              <a:gd name="adj" fmla="val 5161"/>
            </a:avLst>
          </a:prstGeom>
          <a:solidFill>
            <a:srgbClr val="0F3D42"/>
          </a:solidFill>
          <a:ln w="9525">
            <a:solidFill>
              <a:srgbClr val="028090"/>
            </a:solidFill>
            <a:prstDash val="solid"/>
          </a:ln>
        </p:spPr>
      </p:sp>
      <p:sp>
        <p:nvSpPr>
          <p:cNvPr id="30" name="Shape 28"/>
          <p:cNvSpPr/>
          <p:nvPr/>
        </p:nvSpPr>
        <p:spPr>
          <a:xfrm>
            <a:off x="6117336" y="3090672"/>
            <a:ext cx="2606040" cy="41148"/>
          </a:xfrm>
          <a:prstGeom prst="roundRect">
            <a:avLst>
              <a:gd name="adj" fmla="val 88889"/>
            </a:avLst>
          </a:prstGeom>
          <a:solidFill>
            <a:srgbClr val="02C39A"/>
          </a:solidFill>
          <a:ln w="12700">
            <a:solidFill>
              <a:srgbClr val="02C39A"/>
            </a:solidFill>
            <a:prstDash val="solid"/>
          </a:ln>
        </p:spPr>
      </p:sp>
      <p:sp>
        <p:nvSpPr>
          <p:cNvPr id="31" name="Text 29"/>
          <p:cNvSpPr txBox="1"/>
          <p:nvPr/>
        </p:nvSpPr>
        <p:spPr>
          <a:xfrm>
            <a:off x="6281928" y="3200400"/>
            <a:ext cx="2331720" cy="310896"/>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Evidence Storage</a:t>
            </a:r>
            <a:endParaRPr lang="en-US" sz="1200" dirty="0"/>
          </a:p>
        </p:txBody>
      </p:sp>
      <p:sp>
        <p:nvSpPr>
          <p:cNvPr id="32" name="Text 30"/>
          <p:cNvSpPr txBox="1"/>
          <p:nvPr/>
        </p:nvSpPr>
        <p:spPr>
          <a:xfrm>
            <a:off x="6281928" y="3547872"/>
            <a:ext cx="2331720" cy="850392"/>
          </a:xfrm>
          <a:prstGeom prst="rect">
            <a:avLst/>
          </a:prstGeom>
          <a:noFill/>
          <a:ln/>
        </p:spPr>
        <p:txBody>
          <a:bodyPr wrap="square" lIns="0" tIns="0" rIns="0" bIns="0" rtlCol="0" anchor="t"/>
          <a:lstStyle/>
          <a:p>
            <a:pPr marL="0" indent="0">
              <a:lnSpc>
                <a:spcPct val="115000"/>
              </a:lnSpc>
              <a:buNone/>
            </a:pPr>
            <a:r>
              <a:rPr lang="en-US" sz="1000" dirty="0">
                <a:solidFill>
                  <a:srgbClr val="B8DAD5"/>
                </a:solidFill>
                <a:latin typeface="Calibri" pitchFamily="34" charset="0"/>
                <a:ea typeface="Calibri" pitchFamily="34" charset="-122"/>
                <a:cs typeface="Calibri" pitchFamily="34" charset="-120"/>
              </a:rPr>
              <a:t>Azure Blob Storage for dispatch and receipt evidence, with restricted access controls</a:t>
            </a:r>
            <a:endParaRPr lang="en-US" sz="1000" dirty="0"/>
          </a:p>
        </p:txBody>
      </p:sp>
      <p:sp>
        <p:nvSpPr>
          <p:cNvPr id="33" name="Shape 31"/>
          <p:cNvSpPr/>
          <p:nvPr/>
        </p:nvSpPr>
        <p:spPr>
          <a:xfrm>
            <a:off x="8924544" y="3090672"/>
            <a:ext cx="2606040" cy="1417320"/>
          </a:xfrm>
          <a:prstGeom prst="roundRect">
            <a:avLst>
              <a:gd name="adj" fmla="val 5161"/>
            </a:avLst>
          </a:prstGeom>
          <a:solidFill>
            <a:srgbClr val="0F3D42"/>
          </a:solidFill>
          <a:ln w="9525">
            <a:solidFill>
              <a:srgbClr val="028090"/>
            </a:solidFill>
            <a:prstDash val="solid"/>
          </a:ln>
        </p:spPr>
      </p:sp>
      <p:sp>
        <p:nvSpPr>
          <p:cNvPr id="34" name="Shape 32"/>
          <p:cNvSpPr/>
          <p:nvPr/>
        </p:nvSpPr>
        <p:spPr>
          <a:xfrm>
            <a:off x="8924544" y="3090672"/>
            <a:ext cx="2606040" cy="41148"/>
          </a:xfrm>
          <a:prstGeom prst="roundRect">
            <a:avLst>
              <a:gd name="adj" fmla="val 88889"/>
            </a:avLst>
          </a:prstGeom>
          <a:solidFill>
            <a:srgbClr val="00A896"/>
          </a:solidFill>
          <a:ln w="12700">
            <a:solidFill>
              <a:srgbClr val="00A896"/>
            </a:solidFill>
            <a:prstDash val="solid"/>
          </a:ln>
        </p:spPr>
      </p:sp>
      <p:sp>
        <p:nvSpPr>
          <p:cNvPr id="35" name="Text 33"/>
          <p:cNvSpPr txBox="1"/>
          <p:nvPr/>
        </p:nvSpPr>
        <p:spPr>
          <a:xfrm>
            <a:off x="9089136" y="3200400"/>
            <a:ext cx="2331720" cy="310896"/>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Security &amp; Secrets</a:t>
            </a:r>
            <a:endParaRPr lang="en-US" sz="1200" dirty="0"/>
          </a:p>
        </p:txBody>
      </p:sp>
      <p:sp>
        <p:nvSpPr>
          <p:cNvPr id="36" name="Text 34"/>
          <p:cNvSpPr txBox="1"/>
          <p:nvPr/>
        </p:nvSpPr>
        <p:spPr>
          <a:xfrm>
            <a:off x="9089136" y="3547872"/>
            <a:ext cx="2331720" cy="850392"/>
          </a:xfrm>
          <a:prstGeom prst="rect">
            <a:avLst/>
          </a:prstGeom>
          <a:noFill/>
          <a:ln/>
        </p:spPr>
        <p:txBody>
          <a:bodyPr wrap="square" lIns="0" tIns="0" rIns="0" bIns="0" rtlCol="0" anchor="t"/>
          <a:lstStyle/>
          <a:p>
            <a:pPr marL="0" indent="0">
              <a:lnSpc>
                <a:spcPct val="115000"/>
              </a:lnSpc>
              <a:buNone/>
            </a:pPr>
            <a:r>
              <a:rPr lang="en-US" sz="1000" dirty="0">
                <a:solidFill>
                  <a:srgbClr val="B8DAD5"/>
                </a:solidFill>
                <a:latin typeface="Calibri" pitchFamily="34" charset="0"/>
                <a:ea typeface="Calibri" pitchFamily="34" charset="-122"/>
                <a:cs typeface="Calibri" pitchFamily="34" charset="-120"/>
              </a:rPr>
              <a:t>Azure Key Vault for secrets management; role-based access enforced at API and UI layers</a:t>
            </a:r>
            <a:endParaRPr lang="en-US" sz="1000" dirty="0"/>
          </a:p>
        </p:txBody>
      </p:sp>
      <p:sp>
        <p:nvSpPr>
          <p:cNvPr id="37" name="Shape 35"/>
          <p:cNvSpPr/>
          <p:nvPr/>
        </p:nvSpPr>
        <p:spPr>
          <a:xfrm>
            <a:off x="502920" y="4672584"/>
            <a:ext cx="2606040" cy="1417320"/>
          </a:xfrm>
          <a:prstGeom prst="roundRect">
            <a:avLst>
              <a:gd name="adj" fmla="val 5161"/>
            </a:avLst>
          </a:prstGeom>
          <a:solidFill>
            <a:srgbClr val="0F3D42"/>
          </a:solidFill>
          <a:ln w="9525">
            <a:solidFill>
              <a:srgbClr val="028090"/>
            </a:solidFill>
            <a:prstDash val="solid"/>
          </a:ln>
        </p:spPr>
      </p:sp>
      <p:sp>
        <p:nvSpPr>
          <p:cNvPr id="38" name="Shape 36"/>
          <p:cNvSpPr/>
          <p:nvPr/>
        </p:nvSpPr>
        <p:spPr>
          <a:xfrm>
            <a:off x="502920" y="4672584"/>
            <a:ext cx="2606040" cy="41148"/>
          </a:xfrm>
          <a:prstGeom prst="roundRect">
            <a:avLst>
              <a:gd name="adj" fmla="val 88889"/>
            </a:avLst>
          </a:prstGeom>
          <a:solidFill>
            <a:srgbClr val="02C39A"/>
          </a:solidFill>
          <a:ln w="12700">
            <a:solidFill>
              <a:srgbClr val="02C39A"/>
            </a:solidFill>
            <a:prstDash val="solid"/>
          </a:ln>
        </p:spPr>
      </p:sp>
      <p:sp>
        <p:nvSpPr>
          <p:cNvPr id="39" name="Text 37"/>
          <p:cNvSpPr txBox="1"/>
          <p:nvPr/>
        </p:nvSpPr>
        <p:spPr>
          <a:xfrm>
            <a:off x="667512" y="4782312"/>
            <a:ext cx="2331720" cy="310896"/>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Observability</a:t>
            </a:r>
            <a:endParaRPr lang="en-US" sz="1200" dirty="0"/>
          </a:p>
        </p:txBody>
      </p:sp>
      <p:sp>
        <p:nvSpPr>
          <p:cNvPr id="40" name="Text 38"/>
          <p:cNvSpPr txBox="1"/>
          <p:nvPr/>
        </p:nvSpPr>
        <p:spPr>
          <a:xfrm>
            <a:off x="667512" y="5129784"/>
            <a:ext cx="2331720" cy="850392"/>
          </a:xfrm>
          <a:prstGeom prst="rect">
            <a:avLst/>
          </a:prstGeom>
          <a:noFill/>
          <a:ln/>
        </p:spPr>
        <p:txBody>
          <a:bodyPr wrap="square" lIns="0" tIns="0" rIns="0" bIns="0" rtlCol="0" anchor="t"/>
          <a:lstStyle/>
          <a:p>
            <a:pPr marL="0" indent="0">
              <a:lnSpc>
                <a:spcPct val="115000"/>
              </a:lnSpc>
              <a:buNone/>
            </a:pPr>
            <a:r>
              <a:rPr lang="en-US" sz="1000" dirty="0">
                <a:solidFill>
                  <a:srgbClr val="B8DAD5"/>
                </a:solidFill>
                <a:latin typeface="Calibri" pitchFamily="34" charset="0"/>
                <a:ea typeface="Calibri" pitchFamily="34" charset="-122"/>
                <a:cs typeface="Calibri" pitchFamily="34" charset="-120"/>
              </a:rPr>
              <a:t>Azure Monitor for diagnostics and alerting; GitHub Actions CI/CD pipeline; Vercel for web hosting</a:t>
            </a:r>
            <a:endParaRPr lang="en-US" sz="1000" dirty="0"/>
          </a:p>
        </p:txBody>
      </p:sp>
      <p:sp>
        <p:nvSpPr>
          <p:cNvPr id="41" name="Shape 39"/>
          <p:cNvSpPr/>
          <p:nvPr/>
        </p:nvSpPr>
        <p:spPr>
          <a:xfrm>
            <a:off x="3310128" y="4672584"/>
            <a:ext cx="2606040" cy="1417320"/>
          </a:xfrm>
          <a:prstGeom prst="roundRect">
            <a:avLst>
              <a:gd name="adj" fmla="val 5161"/>
            </a:avLst>
          </a:prstGeom>
          <a:solidFill>
            <a:srgbClr val="0F3D42"/>
          </a:solidFill>
          <a:ln w="9525">
            <a:solidFill>
              <a:srgbClr val="028090"/>
            </a:solidFill>
            <a:prstDash val="solid"/>
          </a:ln>
        </p:spPr>
      </p:sp>
      <p:sp>
        <p:nvSpPr>
          <p:cNvPr id="42" name="Shape 40"/>
          <p:cNvSpPr/>
          <p:nvPr/>
        </p:nvSpPr>
        <p:spPr>
          <a:xfrm>
            <a:off x="3310128" y="4672584"/>
            <a:ext cx="2606040" cy="41148"/>
          </a:xfrm>
          <a:prstGeom prst="roundRect">
            <a:avLst>
              <a:gd name="adj" fmla="val 88889"/>
            </a:avLst>
          </a:prstGeom>
          <a:solidFill>
            <a:srgbClr val="00A896"/>
          </a:solidFill>
          <a:ln w="12700">
            <a:solidFill>
              <a:srgbClr val="00A896"/>
            </a:solidFill>
            <a:prstDash val="solid"/>
          </a:ln>
        </p:spPr>
      </p:sp>
      <p:sp>
        <p:nvSpPr>
          <p:cNvPr id="43" name="Text 41"/>
          <p:cNvSpPr txBox="1"/>
          <p:nvPr/>
        </p:nvSpPr>
        <p:spPr>
          <a:xfrm>
            <a:off x="3474720" y="4782312"/>
            <a:ext cx="2331720" cy="310896"/>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Scalability</a:t>
            </a:r>
            <a:endParaRPr lang="en-US" sz="1200" dirty="0"/>
          </a:p>
        </p:txBody>
      </p:sp>
      <p:sp>
        <p:nvSpPr>
          <p:cNvPr id="44" name="Text 42"/>
          <p:cNvSpPr txBox="1"/>
          <p:nvPr/>
        </p:nvSpPr>
        <p:spPr>
          <a:xfrm>
            <a:off x="3474720" y="5129784"/>
            <a:ext cx="2331720" cy="850392"/>
          </a:xfrm>
          <a:prstGeom prst="rect">
            <a:avLst/>
          </a:prstGeom>
          <a:noFill/>
          <a:ln/>
        </p:spPr>
        <p:txBody>
          <a:bodyPr wrap="square" lIns="0" tIns="0" rIns="0" bIns="0" rtlCol="0" anchor="t"/>
          <a:lstStyle/>
          <a:p>
            <a:pPr marL="0" indent="0">
              <a:lnSpc>
                <a:spcPct val="115000"/>
              </a:lnSpc>
              <a:buNone/>
            </a:pPr>
            <a:r>
              <a:rPr lang="en-US" sz="1000" dirty="0">
                <a:solidFill>
                  <a:srgbClr val="B8DAD5"/>
                </a:solidFill>
                <a:latin typeface="Calibri" pitchFamily="34" charset="0"/>
                <a:ea typeface="Calibri" pitchFamily="34" charset="-122"/>
                <a:cs typeface="Calibri" pitchFamily="34" charset="-120"/>
              </a:rPr>
              <a:t>Modular REST API; stateless services; initial single-tenant; microservices deferred to post-MVP</a:t>
            </a:r>
            <a:endParaRPr lang="en-US" sz="1000" dirty="0"/>
          </a:p>
        </p:txBody>
      </p:sp>
      <p:sp>
        <p:nvSpPr>
          <p:cNvPr id="45" name="Shape 43"/>
          <p:cNvSpPr/>
          <p:nvPr/>
        </p:nvSpPr>
        <p:spPr>
          <a:xfrm>
            <a:off x="6117336" y="4672584"/>
            <a:ext cx="2606040" cy="1417320"/>
          </a:xfrm>
          <a:prstGeom prst="roundRect">
            <a:avLst>
              <a:gd name="adj" fmla="val 5161"/>
            </a:avLst>
          </a:prstGeom>
          <a:solidFill>
            <a:srgbClr val="0F3D42"/>
          </a:solidFill>
          <a:ln w="9525">
            <a:solidFill>
              <a:srgbClr val="028090"/>
            </a:solidFill>
            <a:prstDash val="solid"/>
          </a:ln>
        </p:spPr>
      </p:sp>
      <p:sp>
        <p:nvSpPr>
          <p:cNvPr id="46" name="Shape 44"/>
          <p:cNvSpPr/>
          <p:nvPr/>
        </p:nvSpPr>
        <p:spPr>
          <a:xfrm>
            <a:off x="6117336" y="4672584"/>
            <a:ext cx="2606040" cy="41148"/>
          </a:xfrm>
          <a:prstGeom prst="roundRect">
            <a:avLst>
              <a:gd name="adj" fmla="val 88889"/>
            </a:avLst>
          </a:prstGeom>
          <a:solidFill>
            <a:srgbClr val="02C39A"/>
          </a:solidFill>
          <a:ln w="12700">
            <a:solidFill>
              <a:srgbClr val="02C39A"/>
            </a:solidFill>
            <a:prstDash val="solid"/>
          </a:ln>
        </p:spPr>
      </p:sp>
      <p:sp>
        <p:nvSpPr>
          <p:cNvPr id="47" name="Text 45"/>
          <p:cNvSpPr txBox="1"/>
          <p:nvPr/>
        </p:nvSpPr>
        <p:spPr>
          <a:xfrm>
            <a:off x="6281928" y="4782312"/>
            <a:ext cx="2331720" cy="310896"/>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Testing Coverage</a:t>
            </a:r>
            <a:endParaRPr lang="en-US" sz="1200" dirty="0"/>
          </a:p>
        </p:txBody>
      </p:sp>
      <p:sp>
        <p:nvSpPr>
          <p:cNvPr id="48" name="Text 46"/>
          <p:cNvSpPr txBox="1"/>
          <p:nvPr/>
        </p:nvSpPr>
        <p:spPr>
          <a:xfrm>
            <a:off x="6281928" y="5129784"/>
            <a:ext cx="2331720" cy="850392"/>
          </a:xfrm>
          <a:prstGeom prst="rect">
            <a:avLst/>
          </a:prstGeom>
          <a:noFill/>
          <a:ln/>
        </p:spPr>
        <p:txBody>
          <a:bodyPr wrap="square" lIns="0" tIns="0" rIns="0" bIns="0" rtlCol="0" anchor="t"/>
          <a:lstStyle/>
          <a:p>
            <a:pPr marL="0" indent="0">
              <a:lnSpc>
                <a:spcPct val="115000"/>
              </a:lnSpc>
              <a:buNone/>
            </a:pPr>
            <a:r>
              <a:rPr lang="en-US" sz="1000" dirty="0">
                <a:solidFill>
                  <a:srgbClr val="B8DAD5"/>
                </a:solidFill>
                <a:latin typeface="Calibri" pitchFamily="34" charset="0"/>
                <a:ea typeface="Calibri" pitchFamily="34" charset="-122"/>
                <a:cs typeface="Calibri" pitchFamily="34" charset="-120"/>
              </a:rPr>
              <a:t>ETA-MLOR boundary, FEFO order, offline sync, concurrent reservation, goods issue and receipt discrepancy scenarios</a:t>
            </a:r>
            <a:endParaRPr lang="en-US" sz="1000" dirty="0"/>
          </a:p>
        </p:txBody>
      </p:sp>
      <p:sp>
        <p:nvSpPr>
          <p:cNvPr id="49" name="Shape 47"/>
          <p:cNvSpPr/>
          <p:nvPr/>
        </p:nvSpPr>
        <p:spPr>
          <a:xfrm>
            <a:off x="8924544" y="4672584"/>
            <a:ext cx="2606040" cy="1417320"/>
          </a:xfrm>
          <a:prstGeom prst="roundRect">
            <a:avLst>
              <a:gd name="adj" fmla="val 5161"/>
            </a:avLst>
          </a:prstGeom>
          <a:solidFill>
            <a:srgbClr val="0F3D42"/>
          </a:solidFill>
          <a:ln w="9525">
            <a:solidFill>
              <a:srgbClr val="028090"/>
            </a:solidFill>
            <a:prstDash val="solid"/>
          </a:ln>
        </p:spPr>
      </p:sp>
      <p:sp>
        <p:nvSpPr>
          <p:cNvPr id="50" name="Shape 48"/>
          <p:cNvSpPr/>
          <p:nvPr/>
        </p:nvSpPr>
        <p:spPr>
          <a:xfrm>
            <a:off x="8924544" y="4672584"/>
            <a:ext cx="2606040" cy="41148"/>
          </a:xfrm>
          <a:prstGeom prst="roundRect">
            <a:avLst>
              <a:gd name="adj" fmla="val 88889"/>
            </a:avLst>
          </a:prstGeom>
          <a:solidFill>
            <a:srgbClr val="00A896"/>
          </a:solidFill>
          <a:ln w="12700">
            <a:solidFill>
              <a:srgbClr val="00A896"/>
            </a:solidFill>
            <a:prstDash val="solid"/>
          </a:ln>
        </p:spPr>
      </p:sp>
      <p:sp>
        <p:nvSpPr>
          <p:cNvPr id="51" name="Text 49"/>
          <p:cNvSpPr txBox="1"/>
          <p:nvPr/>
        </p:nvSpPr>
        <p:spPr>
          <a:xfrm>
            <a:off x="9089136" y="4782312"/>
            <a:ext cx="2331720" cy="310896"/>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Documentation</a:t>
            </a:r>
            <a:endParaRPr lang="en-US" sz="1200" dirty="0"/>
          </a:p>
        </p:txBody>
      </p:sp>
      <p:sp>
        <p:nvSpPr>
          <p:cNvPr id="52" name="Text 50"/>
          <p:cNvSpPr txBox="1"/>
          <p:nvPr/>
        </p:nvSpPr>
        <p:spPr>
          <a:xfrm>
            <a:off x="9089136" y="5129784"/>
            <a:ext cx="2331720" cy="850392"/>
          </a:xfrm>
          <a:prstGeom prst="rect">
            <a:avLst/>
          </a:prstGeom>
          <a:noFill/>
          <a:ln/>
        </p:spPr>
        <p:txBody>
          <a:bodyPr wrap="square" lIns="0" tIns="0" rIns="0" bIns="0" rtlCol="0" anchor="t"/>
          <a:lstStyle/>
          <a:p>
            <a:pPr marL="0" indent="0">
              <a:lnSpc>
                <a:spcPct val="115000"/>
              </a:lnSpc>
              <a:buNone/>
            </a:pPr>
            <a:r>
              <a:rPr lang="en-US" sz="1000" dirty="0">
                <a:solidFill>
                  <a:srgbClr val="B8DAD5"/>
                </a:solidFill>
                <a:latin typeface="Calibri" pitchFamily="34" charset="0"/>
                <a:ea typeface="Calibri" pitchFamily="34" charset="-122"/>
                <a:cs typeface="Calibri" pitchFamily="34" charset="-120"/>
              </a:rPr>
              <a:t>Requirements spec, API docs, test evidence and user guides maintained throughout project lifecycle</a:t>
            </a:r>
            <a:endParaRPr lang="en-US" sz="1000" dirty="0"/>
          </a:p>
        </p:txBody>
      </p:sp>
      <p:sp>
        <p:nvSpPr>
          <p:cNvPr id="53" name="Text 51"/>
          <p:cNvSpPr txBox="1"/>
          <p:nvPr/>
        </p:nvSpPr>
        <p:spPr>
          <a:xfrm>
            <a:off x="502920" y="6510528"/>
            <a:ext cx="7315200" cy="201168"/>
          </a:xfrm>
          <a:prstGeom prst="rect">
            <a:avLst/>
          </a:prstGeom>
          <a:noFill/>
          <a:ln/>
        </p:spPr>
        <p:txBody>
          <a:bodyPr wrap="square" lIns="0" tIns="0" rIns="0" bIns="0" rtlCol="0" anchor="ctr"/>
          <a:lstStyle/>
          <a:p>
            <a:pPr marL="0" indent="0">
              <a:buNone/>
            </a:pPr>
            <a:r>
              <a:rPr lang="en-US" sz="850" dirty="0">
                <a:solidFill>
                  <a:srgbClr val="3E6E74"/>
                </a:solidFill>
                <a:latin typeface="Calibri" pitchFamily="34" charset="0"/>
                <a:ea typeface="Calibri" pitchFamily="34" charset="-122"/>
                <a:cs typeface="Calibri" pitchFamily="34" charset="-120"/>
              </a:rPr>
              <a:t>FSCM  ·  Capstone Project Overview  ·  FA26SE083</a:t>
            </a:r>
            <a:endParaRPr lang="en-US" sz="850" dirty="0"/>
          </a:p>
        </p:txBody>
      </p:sp>
      <p:sp>
        <p:nvSpPr>
          <p:cNvPr id="54" name="Text 52"/>
          <p:cNvSpPr txBox="1"/>
          <p:nvPr/>
        </p:nvSpPr>
        <p:spPr>
          <a:xfrm>
            <a:off x="11338560" y="6510528"/>
            <a:ext cx="365760" cy="201168"/>
          </a:xfrm>
          <a:prstGeom prst="rect">
            <a:avLst/>
          </a:prstGeom>
          <a:noFill/>
          <a:ln/>
        </p:spPr>
        <p:txBody>
          <a:bodyPr wrap="square" lIns="0" tIns="0" rIns="0" bIns="0" rtlCol="0" anchor="ctr"/>
          <a:lstStyle/>
          <a:p>
            <a:pPr marL="0" indent="0" algn="r">
              <a:buNone/>
            </a:pPr>
            <a:r>
              <a:rPr lang="en-US" sz="850" dirty="0">
                <a:solidFill>
                  <a:srgbClr val="3E6E74"/>
                </a:solidFill>
                <a:latin typeface="Calibri" pitchFamily="34" charset="0"/>
                <a:ea typeface="Calibri" pitchFamily="34" charset="-122"/>
                <a:cs typeface="Calibri" pitchFamily="34" charset="-120"/>
              </a:rPr>
              <a:t>9</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AF9"/>
        </a:solidFill>
        <a:effectLst/>
      </p:bgPr>
    </p:bg>
    <p:spTree>
      <p:nvGrpSpPr>
        <p:cNvPr id="1" name=""/>
        <p:cNvGrpSpPr/>
        <p:nvPr/>
      </p:nvGrpSpPr>
      <p:grpSpPr>
        <a:xfrm>
          <a:off x="0" y="0"/>
          <a:ext cx="0" cy="0"/>
          <a:chOff x="0" y="0"/>
          <a:chExt cx="0" cy="0"/>
        </a:xfrm>
      </p:grpSpPr>
      <p:sp>
        <p:nvSpPr>
          <p:cNvPr id="2" name="Text 0"/>
          <p:cNvSpPr txBox="1"/>
          <p:nvPr/>
        </p:nvSpPr>
        <p:spPr>
          <a:xfrm>
            <a:off x="502920" y="402336"/>
            <a:ext cx="10058400" cy="292608"/>
          </a:xfrm>
          <a:prstGeom prst="rect">
            <a:avLst/>
          </a:prstGeom>
          <a:noFill/>
          <a:ln/>
        </p:spPr>
        <p:txBody>
          <a:bodyPr wrap="square" lIns="0" tIns="0" rIns="0" bIns="0" rtlCol="0" anchor="ctr"/>
          <a:lstStyle/>
          <a:p>
            <a:pPr marL="0" indent="0">
              <a:buNone/>
            </a:pPr>
            <a:r>
              <a:rPr lang="en-US" sz="1100" b="1" kern="0" spc="300" dirty="0">
                <a:solidFill>
                  <a:srgbClr val="028090"/>
                </a:solidFill>
                <a:latin typeface="Calibri" pitchFamily="34" charset="0"/>
                <a:ea typeface="Calibri" pitchFamily="34" charset="-122"/>
                <a:cs typeface="Calibri" pitchFamily="34" charset="-120"/>
              </a:rPr>
              <a:t>05 · SYSTEM FLOW</a:t>
            </a:r>
            <a:endParaRPr lang="en-US" sz="1100" dirty="0"/>
          </a:p>
        </p:txBody>
      </p:sp>
      <p:sp>
        <p:nvSpPr>
          <p:cNvPr id="3" name="Shape 1"/>
          <p:cNvSpPr/>
          <p:nvPr/>
        </p:nvSpPr>
        <p:spPr>
          <a:xfrm>
            <a:off x="502920" y="731520"/>
            <a:ext cx="11201400" cy="13716"/>
          </a:xfrm>
          <a:prstGeom prst="rect">
            <a:avLst/>
          </a:prstGeom>
          <a:solidFill>
            <a:srgbClr val="BFE8DC"/>
          </a:solidFill>
          <a:ln w="12700">
            <a:solidFill>
              <a:srgbClr val="BFE8DC"/>
            </a:solidFill>
            <a:prstDash val="solid"/>
          </a:ln>
        </p:spPr>
      </p:sp>
      <p:sp>
        <p:nvSpPr>
          <p:cNvPr id="4" name="Text 2"/>
          <p:cNvSpPr txBox="1"/>
          <p:nvPr/>
        </p:nvSpPr>
        <p:spPr>
          <a:xfrm>
            <a:off x="502920" y="777240"/>
            <a:ext cx="11201400" cy="594360"/>
          </a:xfrm>
          <a:prstGeom prst="rect">
            <a:avLst/>
          </a:prstGeom>
          <a:noFill/>
          <a:ln/>
        </p:spPr>
        <p:txBody>
          <a:bodyPr wrap="square" lIns="0" tIns="0" rIns="0" bIns="0" rtlCol="0" anchor="ctr"/>
          <a:lstStyle/>
          <a:p>
            <a:pPr marL="0" indent="0">
              <a:buNone/>
            </a:pPr>
            <a:r>
              <a:rPr lang="en-US" sz="3000" b="1" dirty="0">
                <a:solidFill>
                  <a:srgbClr val="13292C"/>
                </a:solidFill>
                <a:latin typeface="Cambria" pitchFamily="34" charset="0"/>
                <a:ea typeface="Cambria" pitchFamily="34" charset="-122"/>
                <a:cs typeface="Cambria" pitchFamily="34" charset="-120"/>
              </a:rPr>
              <a:t>Order Placement Flow</a:t>
            </a:r>
            <a:endParaRPr lang="en-US" sz="3000" dirty="0"/>
          </a:p>
        </p:txBody>
      </p:sp>
      <p:sp>
        <p:nvSpPr>
          <p:cNvPr id="5" name="Shape 3"/>
          <p:cNvSpPr/>
          <p:nvPr/>
        </p:nvSpPr>
        <p:spPr>
          <a:xfrm>
            <a:off x="609448" y="2359152"/>
            <a:ext cx="1426464" cy="1453896"/>
          </a:xfrm>
          <a:prstGeom prst="roundRect">
            <a:avLst>
              <a:gd name="adj" fmla="val 5797"/>
            </a:avLst>
          </a:prstGeom>
          <a:solidFill>
            <a:srgbClr val="EAF3F1"/>
          </a:solidFill>
          <a:ln w="12700">
            <a:solidFill>
              <a:srgbClr val="BFE8DC"/>
            </a:solidFill>
            <a:prstDash val="solid"/>
          </a:ln>
          <a:effectLst>
            <a:outerShdw blurRad="63500" dist="25400" dir="5400000" algn="bl" rotWithShape="0">
              <a:srgbClr val="1B3B3B">
                <a:alpha val="15000"/>
              </a:srgbClr>
            </a:outerShdw>
          </a:effectLst>
        </p:spPr>
      </p:sp>
      <p:sp>
        <p:nvSpPr>
          <p:cNvPr id="6" name="Shape 4"/>
          <p:cNvSpPr/>
          <p:nvPr/>
        </p:nvSpPr>
        <p:spPr>
          <a:xfrm>
            <a:off x="609448" y="2359152"/>
            <a:ext cx="1426464" cy="237744"/>
          </a:xfrm>
          <a:prstGeom prst="roundRect">
            <a:avLst>
              <a:gd name="adj" fmla="val 23077"/>
            </a:avLst>
          </a:prstGeom>
          <a:solidFill>
            <a:srgbClr val="028090"/>
          </a:solidFill>
          <a:ln w="12700">
            <a:solidFill>
              <a:srgbClr val="028090"/>
            </a:solidFill>
            <a:prstDash val="solid"/>
          </a:ln>
        </p:spPr>
      </p:sp>
      <p:sp>
        <p:nvSpPr>
          <p:cNvPr id="7" name="Text 5"/>
          <p:cNvSpPr txBox="1"/>
          <p:nvPr/>
        </p:nvSpPr>
        <p:spPr>
          <a:xfrm>
            <a:off x="609448" y="2359152"/>
            <a:ext cx="1426464" cy="237744"/>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Sales Rep</a:t>
            </a:r>
            <a:endParaRPr lang="en-US" sz="850" dirty="0"/>
          </a:p>
        </p:txBody>
      </p:sp>
      <p:sp>
        <p:nvSpPr>
          <p:cNvPr id="8" name="Shape 6"/>
          <p:cNvSpPr/>
          <p:nvPr/>
        </p:nvSpPr>
        <p:spPr>
          <a:xfrm>
            <a:off x="1139800" y="2633472"/>
            <a:ext cx="347472" cy="347472"/>
          </a:xfrm>
          <a:prstGeom prst="ellipse">
            <a:avLst/>
          </a:prstGeom>
          <a:solidFill>
            <a:srgbClr val="028090"/>
          </a:solidFill>
          <a:ln w="12700">
            <a:solidFill>
              <a:srgbClr val="028090"/>
            </a:solidFill>
            <a:prstDash val="solid"/>
          </a:ln>
        </p:spPr>
      </p:sp>
      <p:sp>
        <p:nvSpPr>
          <p:cNvPr id="9" name="Text 7"/>
          <p:cNvSpPr txBox="1"/>
          <p:nvPr/>
        </p:nvSpPr>
        <p:spPr>
          <a:xfrm>
            <a:off x="1139800" y="2633472"/>
            <a:ext cx="347472" cy="347472"/>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0" name="Text 8"/>
          <p:cNvSpPr txBox="1"/>
          <p:nvPr/>
        </p:nvSpPr>
        <p:spPr>
          <a:xfrm>
            <a:off x="664312" y="3017520"/>
            <a:ext cx="1316736" cy="420624"/>
          </a:xfrm>
          <a:prstGeom prst="rect">
            <a:avLst/>
          </a:prstGeom>
          <a:noFill/>
          <a:ln/>
        </p:spPr>
        <p:txBody>
          <a:bodyPr wrap="square" lIns="0" tIns="0" rIns="0" bIns="0" rtlCol="0" anchor="ctr"/>
          <a:lstStyle/>
          <a:p>
            <a:pPr marL="0" indent="0" algn="ctr">
              <a:buNone/>
            </a:pPr>
            <a:r>
              <a:rPr lang="en-US" sz="1200" b="1" dirty="0">
                <a:solidFill>
                  <a:srgbClr val="13292C"/>
                </a:solidFill>
                <a:latin typeface="Calibri" pitchFamily="34" charset="0"/>
                <a:ea typeface="Calibri" pitchFamily="34" charset="-122"/>
                <a:cs typeface="Calibri" pitchFamily="34" charset="-120"/>
              </a:rPr>
              <a:t>Select</a:t>
            </a:r>
            <a:endParaRPr lang="en-US" sz="1200" dirty="0"/>
          </a:p>
          <a:p>
            <a:pPr marL="0" indent="0" algn="ctr">
              <a:buNone/>
            </a:pPr>
            <a:r>
              <a:rPr lang="en-US" sz="1200" b="1" dirty="0">
                <a:solidFill>
                  <a:srgbClr val="13292C"/>
                </a:solidFill>
                <a:latin typeface="Calibri" pitchFamily="34" charset="0"/>
                <a:ea typeface="Calibri" pitchFamily="34" charset="-122"/>
                <a:cs typeface="Calibri" pitchFamily="34" charset="-120"/>
              </a:rPr>
              <a:t>Retailer</a:t>
            </a:r>
            <a:endParaRPr lang="en-US" sz="1200" dirty="0"/>
          </a:p>
        </p:txBody>
      </p:sp>
      <p:sp>
        <p:nvSpPr>
          <p:cNvPr id="11" name="Text 9"/>
          <p:cNvSpPr txBox="1"/>
          <p:nvPr/>
        </p:nvSpPr>
        <p:spPr>
          <a:xfrm>
            <a:off x="664312" y="3419856"/>
            <a:ext cx="1316736" cy="201168"/>
          </a:xfrm>
          <a:prstGeom prst="rect">
            <a:avLst/>
          </a:prstGeom>
          <a:noFill/>
          <a:ln/>
        </p:spPr>
        <p:txBody>
          <a:bodyPr wrap="square" lIns="0" tIns="0" rIns="0" bIns="0" rtlCol="0" anchor="t"/>
          <a:lstStyle/>
          <a:p>
            <a:pPr marL="0" indent="0" algn="ctr">
              <a:lnSpc>
                <a:spcPct val="110000"/>
              </a:lnSpc>
              <a:buNone/>
            </a:pPr>
            <a:r>
              <a:rPr lang="en-US" sz="850" dirty="0">
                <a:solidFill>
                  <a:srgbClr val="4C6764"/>
                </a:solidFill>
                <a:latin typeface="Calibri" pitchFamily="34" charset="0"/>
                <a:ea typeface="Calibri" pitchFamily="34" charset="-122"/>
                <a:cs typeface="Calibri" pitchFamily="34" charset="-120"/>
              </a:rPr>
              <a:t>Active retailers</a:t>
            </a:r>
            <a:endParaRPr lang="en-US" sz="850" dirty="0"/>
          </a:p>
          <a:p>
            <a:pPr marL="0" indent="0" algn="ctr">
              <a:lnSpc>
                <a:spcPct val="110000"/>
              </a:lnSpc>
              <a:buNone/>
            </a:pPr>
            <a:r>
              <a:rPr lang="en-US" sz="850" dirty="0">
                <a:solidFill>
                  <a:srgbClr val="4C6764"/>
                </a:solidFill>
                <a:latin typeface="Calibri" pitchFamily="34" charset="0"/>
                <a:ea typeface="Calibri" pitchFamily="34" charset="-122"/>
                <a:cs typeface="Calibri" pitchFamily="34" charset="-120"/>
              </a:rPr>
              <a:t>in assigned area</a:t>
            </a:r>
            <a:endParaRPr lang="en-US" sz="850" dirty="0"/>
          </a:p>
        </p:txBody>
      </p:sp>
      <p:sp>
        <p:nvSpPr>
          <p:cNvPr id="12" name="Shape 10"/>
          <p:cNvSpPr/>
          <p:nvPr/>
        </p:nvSpPr>
        <p:spPr>
          <a:xfrm>
            <a:off x="2200504" y="2359152"/>
            <a:ext cx="1426464" cy="1453896"/>
          </a:xfrm>
          <a:prstGeom prst="roundRect">
            <a:avLst>
              <a:gd name="adj" fmla="val 5797"/>
            </a:avLst>
          </a:prstGeom>
          <a:solidFill>
            <a:srgbClr val="EAF3F1"/>
          </a:solidFill>
          <a:ln w="12700">
            <a:solidFill>
              <a:srgbClr val="BFE8DC"/>
            </a:solidFill>
            <a:prstDash val="solid"/>
          </a:ln>
          <a:effectLst>
            <a:outerShdw blurRad="63500" dist="25400" dir="5400000" algn="bl" rotWithShape="0">
              <a:srgbClr val="1B3B3B">
                <a:alpha val="15000"/>
              </a:srgbClr>
            </a:outerShdw>
          </a:effectLst>
        </p:spPr>
      </p:sp>
      <p:sp>
        <p:nvSpPr>
          <p:cNvPr id="13" name="Shape 11"/>
          <p:cNvSpPr/>
          <p:nvPr/>
        </p:nvSpPr>
        <p:spPr>
          <a:xfrm>
            <a:off x="2200504" y="2359152"/>
            <a:ext cx="1426464" cy="237744"/>
          </a:xfrm>
          <a:prstGeom prst="roundRect">
            <a:avLst>
              <a:gd name="adj" fmla="val 23077"/>
            </a:avLst>
          </a:prstGeom>
          <a:solidFill>
            <a:srgbClr val="028090"/>
          </a:solidFill>
          <a:ln w="12700">
            <a:solidFill>
              <a:srgbClr val="028090"/>
            </a:solidFill>
            <a:prstDash val="solid"/>
          </a:ln>
        </p:spPr>
      </p:sp>
      <p:sp>
        <p:nvSpPr>
          <p:cNvPr id="14" name="Text 12"/>
          <p:cNvSpPr txBox="1"/>
          <p:nvPr/>
        </p:nvSpPr>
        <p:spPr>
          <a:xfrm>
            <a:off x="2200504" y="2359152"/>
            <a:ext cx="1426464" cy="237744"/>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Sales Rep</a:t>
            </a:r>
            <a:endParaRPr lang="en-US" sz="850" dirty="0"/>
          </a:p>
        </p:txBody>
      </p:sp>
      <p:sp>
        <p:nvSpPr>
          <p:cNvPr id="15" name="Shape 13"/>
          <p:cNvSpPr/>
          <p:nvPr/>
        </p:nvSpPr>
        <p:spPr>
          <a:xfrm>
            <a:off x="2730856" y="2633472"/>
            <a:ext cx="347472" cy="347472"/>
          </a:xfrm>
          <a:prstGeom prst="ellipse">
            <a:avLst/>
          </a:prstGeom>
          <a:solidFill>
            <a:srgbClr val="028090"/>
          </a:solidFill>
          <a:ln w="12700">
            <a:solidFill>
              <a:srgbClr val="028090"/>
            </a:solidFill>
            <a:prstDash val="solid"/>
          </a:ln>
        </p:spPr>
      </p:sp>
      <p:sp>
        <p:nvSpPr>
          <p:cNvPr id="16" name="Text 14"/>
          <p:cNvSpPr txBox="1"/>
          <p:nvPr/>
        </p:nvSpPr>
        <p:spPr>
          <a:xfrm>
            <a:off x="2730856" y="2633472"/>
            <a:ext cx="347472" cy="347472"/>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7" name="Text 15"/>
          <p:cNvSpPr txBox="1"/>
          <p:nvPr/>
        </p:nvSpPr>
        <p:spPr>
          <a:xfrm>
            <a:off x="2255368" y="3017520"/>
            <a:ext cx="1316736" cy="420624"/>
          </a:xfrm>
          <a:prstGeom prst="rect">
            <a:avLst/>
          </a:prstGeom>
          <a:noFill/>
          <a:ln/>
        </p:spPr>
        <p:txBody>
          <a:bodyPr wrap="square" lIns="0" tIns="0" rIns="0" bIns="0" rtlCol="0" anchor="ctr"/>
          <a:lstStyle/>
          <a:p>
            <a:pPr marL="0" indent="0" algn="ctr">
              <a:buNone/>
            </a:pPr>
            <a:r>
              <a:rPr lang="en-US" sz="1200" b="1" dirty="0">
                <a:solidFill>
                  <a:srgbClr val="13292C"/>
                </a:solidFill>
                <a:latin typeface="Calibri" pitchFamily="34" charset="0"/>
                <a:ea typeface="Calibri" pitchFamily="34" charset="-122"/>
                <a:cs typeface="Calibri" pitchFamily="34" charset="-120"/>
              </a:rPr>
              <a:t>Build</a:t>
            </a:r>
            <a:endParaRPr lang="en-US" sz="1200" dirty="0"/>
          </a:p>
          <a:p>
            <a:pPr marL="0" indent="0" algn="ctr">
              <a:buNone/>
            </a:pPr>
            <a:r>
              <a:rPr lang="en-US" sz="1200" b="1" dirty="0">
                <a:solidFill>
                  <a:srgbClr val="13292C"/>
                </a:solidFill>
                <a:latin typeface="Calibri" pitchFamily="34" charset="0"/>
                <a:ea typeface="Calibri" pitchFamily="34" charset="-122"/>
                <a:cs typeface="Calibri" pitchFamily="34" charset="-120"/>
              </a:rPr>
              <a:t>Cart</a:t>
            </a:r>
            <a:endParaRPr lang="en-US" sz="1200" dirty="0"/>
          </a:p>
        </p:txBody>
      </p:sp>
      <p:sp>
        <p:nvSpPr>
          <p:cNvPr id="18" name="Text 16"/>
          <p:cNvSpPr txBox="1"/>
          <p:nvPr/>
        </p:nvSpPr>
        <p:spPr>
          <a:xfrm>
            <a:off x="2255368" y="3419856"/>
            <a:ext cx="1316736" cy="201168"/>
          </a:xfrm>
          <a:prstGeom prst="rect">
            <a:avLst/>
          </a:prstGeom>
          <a:noFill/>
          <a:ln/>
        </p:spPr>
        <p:txBody>
          <a:bodyPr wrap="square" lIns="0" tIns="0" rIns="0" bIns="0" rtlCol="0" anchor="t"/>
          <a:lstStyle/>
          <a:p>
            <a:pPr marL="0" indent="0" algn="ctr">
              <a:lnSpc>
                <a:spcPct val="110000"/>
              </a:lnSpc>
              <a:buNone/>
            </a:pPr>
            <a:r>
              <a:rPr lang="en-US" sz="850" dirty="0">
                <a:solidFill>
                  <a:srgbClr val="4C6764"/>
                </a:solidFill>
                <a:latin typeface="Calibri" pitchFamily="34" charset="0"/>
                <a:ea typeface="Calibri" pitchFamily="34" charset="-122"/>
                <a:cs typeface="Calibri" pitchFamily="34" charset="-120"/>
              </a:rPr>
              <a:t>Search · filter</a:t>
            </a:r>
            <a:endParaRPr lang="en-US" sz="850" dirty="0"/>
          </a:p>
          <a:p>
            <a:pPr marL="0" indent="0" algn="ctr">
              <a:lnSpc>
                <a:spcPct val="110000"/>
              </a:lnSpc>
              <a:buNone/>
            </a:pPr>
            <a:r>
              <a:rPr lang="en-US" sz="850" dirty="0">
                <a:solidFill>
                  <a:srgbClr val="4C6764"/>
                </a:solidFill>
                <a:latin typeface="Calibri" pitchFamily="34" charset="0"/>
                <a:ea typeface="Calibri" pitchFamily="34" charset="-122"/>
                <a:cs typeface="Calibri" pitchFamily="34" charset="-120"/>
              </a:rPr>
              <a:t>set quantities</a:t>
            </a:r>
            <a:endParaRPr lang="en-US" sz="850" dirty="0"/>
          </a:p>
        </p:txBody>
      </p:sp>
      <p:sp>
        <p:nvSpPr>
          <p:cNvPr id="19" name="Shape 17"/>
          <p:cNvSpPr/>
          <p:nvPr/>
        </p:nvSpPr>
        <p:spPr>
          <a:xfrm>
            <a:off x="3791560" y="2359152"/>
            <a:ext cx="1426464" cy="1453896"/>
          </a:xfrm>
          <a:prstGeom prst="roundRect">
            <a:avLst>
              <a:gd name="adj" fmla="val 5797"/>
            </a:avLst>
          </a:prstGeom>
          <a:solidFill>
            <a:srgbClr val="EAF3F1"/>
          </a:solidFill>
          <a:ln w="12700">
            <a:solidFill>
              <a:srgbClr val="BFE8DC"/>
            </a:solidFill>
            <a:prstDash val="solid"/>
          </a:ln>
          <a:effectLst>
            <a:outerShdw blurRad="63500" dist="25400" dir="5400000" algn="bl" rotWithShape="0">
              <a:srgbClr val="1B3B3B">
                <a:alpha val="15000"/>
              </a:srgbClr>
            </a:outerShdw>
          </a:effectLst>
        </p:spPr>
      </p:sp>
      <p:sp>
        <p:nvSpPr>
          <p:cNvPr id="20" name="Shape 18"/>
          <p:cNvSpPr/>
          <p:nvPr/>
        </p:nvSpPr>
        <p:spPr>
          <a:xfrm>
            <a:off x="3791560" y="2359152"/>
            <a:ext cx="1426464" cy="237744"/>
          </a:xfrm>
          <a:prstGeom prst="roundRect">
            <a:avLst>
              <a:gd name="adj" fmla="val 23077"/>
            </a:avLst>
          </a:prstGeom>
          <a:solidFill>
            <a:srgbClr val="028090"/>
          </a:solidFill>
          <a:ln w="12700">
            <a:solidFill>
              <a:srgbClr val="028090"/>
            </a:solidFill>
            <a:prstDash val="solid"/>
          </a:ln>
        </p:spPr>
      </p:sp>
      <p:sp>
        <p:nvSpPr>
          <p:cNvPr id="21" name="Text 19"/>
          <p:cNvSpPr txBox="1"/>
          <p:nvPr/>
        </p:nvSpPr>
        <p:spPr>
          <a:xfrm>
            <a:off x="3791560" y="2359152"/>
            <a:ext cx="1426464" cy="237744"/>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Sales Rep</a:t>
            </a:r>
            <a:endParaRPr lang="en-US" sz="850" dirty="0"/>
          </a:p>
        </p:txBody>
      </p:sp>
      <p:sp>
        <p:nvSpPr>
          <p:cNvPr id="22" name="Shape 20"/>
          <p:cNvSpPr/>
          <p:nvPr/>
        </p:nvSpPr>
        <p:spPr>
          <a:xfrm>
            <a:off x="4321912" y="2633472"/>
            <a:ext cx="347472" cy="347472"/>
          </a:xfrm>
          <a:prstGeom prst="ellipse">
            <a:avLst/>
          </a:prstGeom>
          <a:solidFill>
            <a:srgbClr val="028090"/>
          </a:solidFill>
          <a:ln w="12700">
            <a:solidFill>
              <a:srgbClr val="028090"/>
            </a:solidFill>
            <a:prstDash val="solid"/>
          </a:ln>
        </p:spPr>
      </p:sp>
      <p:sp>
        <p:nvSpPr>
          <p:cNvPr id="23" name="Text 21"/>
          <p:cNvSpPr txBox="1"/>
          <p:nvPr/>
        </p:nvSpPr>
        <p:spPr>
          <a:xfrm>
            <a:off x="4321912" y="2633472"/>
            <a:ext cx="347472" cy="347472"/>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24" name="Text 22"/>
          <p:cNvSpPr txBox="1"/>
          <p:nvPr/>
        </p:nvSpPr>
        <p:spPr>
          <a:xfrm>
            <a:off x="3846424" y="3017520"/>
            <a:ext cx="1316736" cy="420624"/>
          </a:xfrm>
          <a:prstGeom prst="rect">
            <a:avLst/>
          </a:prstGeom>
          <a:noFill/>
          <a:ln/>
        </p:spPr>
        <p:txBody>
          <a:bodyPr wrap="square" lIns="0" tIns="0" rIns="0" bIns="0" rtlCol="0" anchor="ctr"/>
          <a:lstStyle/>
          <a:p>
            <a:pPr marL="0" indent="0" algn="ctr">
              <a:buNone/>
            </a:pPr>
            <a:r>
              <a:rPr lang="en-US" sz="1200" b="1" dirty="0">
                <a:solidFill>
                  <a:srgbClr val="13292C"/>
                </a:solidFill>
                <a:latin typeface="Calibri" pitchFamily="34" charset="0"/>
                <a:ea typeface="Calibri" pitchFamily="34" charset="-122"/>
                <a:cs typeface="Calibri" pitchFamily="34" charset="-120"/>
              </a:rPr>
              <a:t>Confirm</a:t>
            </a:r>
            <a:endParaRPr lang="en-US" sz="1200" dirty="0"/>
          </a:p>
          <a:p>
            <a:pPr marL="0" indent="0" algn="ctr">
              <a:buNone/>
            </a:pPr>
            <a:r>
              <a:rPr lang="en-US" sz="1200" b="1" dirty="0">
                <a:solidFill>
                  <a:srgbClr val="13292C"/>
                </a:solidFill>
                <a:latin typeface="Calibri" pitchFamily="34" charset="0"/>
                <a:ea typeface="Calibri" pitchFamily="34" charset="-122"/>
                <a:cs typeface="Calibri" pitchFamily="34" charset="-120"/>
              </a:rPr>
              <a:t>Order</a:t>
            </a:r>
            <a:endParaRPr lang="en-US" sz="1200" dirty="0"/>
          </a:p>
        </p:txBody>
      </p:sp>
      <p:sp>
        <p:nvSpPr>
          <p:cNvPr id="25" name="Text 23"/>
          <p:cNvSpPr txBox="1"/>
          <p:nvPr/>
        </p:nvSpPr>
        <p:spPr>
          <a:xfrm>
            <a:off x="3846424" y="3419856"/>
            <a:ext cx="1316736" cy="201168"/>
          </a:xfrm>
          <a:prstGeom prst="rect">
            <a:avLst/>
          </a:prstGeom>
          <a:noFill/>
          <a:ln/>
        </p:spPr>
        <p:txBody>
          <a:bodyPr wrap="square" lIns="0" tIns="0" rIns="0" bIns="0" rtlCol="0" anchor="t"/>
          <a:lstStyle/>
          <a:p>
            <a:pPr marL="0" indent="0" algn="ctr">
              <a:lnSpc>
                <a:spcPct val="110000"/>
              </a:lnSpc>
              <a:buNone/>
            </a:pPr>
            <a:r>
              <a:rPr lang="en-US" sz="850" dirty="0">
                <a:solidFill>
                  <a:srgbClr val="4C6764"/>
                </a:solidFill>
                <a:latin typeface="Calibri" pitchFamily="34" charset="0"/>
                <a:ea typeface="Calibri" pitchFamily="34" charset="-122"/>
                <a:cs typeface="Calibri" pitchFamily="34" charset="-120"/>
              </a:rPr>
              <a:t>Promotions · address</a:t>
            </a:r>
            <a:endParaRPr lang="en-US" sz="850" dirty="0"/>
          </a:p>
          <a:p>
            <a:pPr marL="0" indent="0" algn="ctr">
              <a:lnSpc>
                <a:spcPct val="110000"/>
              </a:lnSpc>
              <a:buNone/>
            </a:pPr>
            <a:r>
              <a:rPr lang="en-US" sz="850" dirty="0">
                <a:solidFill>
                  <a:srgbClr val="4C6764"/>
                </a:solidFill>
                <a:latin typeface="Calibri" pitchFamily="34" charset="0"/>
                <a:ea typeface="Calibri" pitchFamily="34" charset="-122"/>
                <a:cs typeface="Calibri" pitchFamily="34" charset="-120"/>
              </a:rPr>
              <a:t>Payment method</a:t>
            </a:r>
            <a:endParaRPr lang="en-US" sz="850" dirty="0"/>
          </a:p>
        </p:txBody>
      </p:sp>
      <p:sp>
        <p:nvSpPr>
          <p:cNvPr id="26" name="Shape 24"/>
          <p:cNvSpPr/>
          <p:nvPr/>
        </p:nvSpPr>
        <p:spPr>
          <a:xfrm>
            <a:off x="5382616" y="2359152"/>
            <a:ext cx="1426464" cy="1453896"/>
          </a:xfrm>
          <a:prstGeom prst="roundRect">
            <a:avLst>
              <a:gd name="adj" fmla="val 5797"/>
            </a:avLst>
          </a:prstGeom>
          <a:solidFill>
            <a:srgbClr val="FFFFFF"/>
          </a:solidFill>
          <a:ln w="12700">
            <a:solidFill>
              <a:srgbClr val="028090"/>
            </a:solidFill>
            <a:prstDash val="solid"/>
          </a:ln>
          <a:effectLst>
            <a:outerShdw blurRad="63500" dist="25400" dir="5400000" algn="bl" rotWithShape="0">
              <a:srgbClr val="1B3B3B">
                <a:alpha val="15000"/>
              </a:srgbClr>
            </a:outerShdw>
          </a:effectLst>
        </p:spPr>
      </p:sp>
      <p:sp>
        <p:nvSpPr>
          <p:cNvPr id="27" name="Shape 25"/>
          <p:cNvSpPr/>
          <p:nvPr/>
        </p:nvSpPr>
        <p:spPr>
          <a:xfrm>
            <a:off x="5382616" y="2359152"/>
            <a:ext cx="1426464" cy="237744"/>
          </a:xfrm>
          <a:prstGeom prst="roundRect">
            <a:avLst>
              <a:gd name="adj" fmla="val 23077"/>
            </a:avLst>
          </a:prstGeom>
          <a:solidFill>
            <a:srgbClr val="00A896"/>
          </a:solidFill>
          <a:ln w="12700">
            <a:solidFill>
              <a:srgbClr val="00A896"/>
            </a:solidFill>
            <a:prstDash val="solid"/>
          </a:ln>
        </p:spPr>
      </p:sp>
      <p:sp>
        <p:nvSpPr>
          <p:cNvPr id="28" name="Text 26"/>
          <p:cNvSpPr txBox="1"/>
          <p:nvPr/>
        </p:nvSpPr>
        <p:spPr>
          <a:xfrm>
            <a:off x="5382616" y="2359152"/>
            <a:ext cx="1426464" cy="237744"/>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System</a:t>
            </a:r>
            <a:endParaRPr lang="en-US" sz="850" dirty="0"/>
          </a:p>
        </p:txBody>
      </p:sp>
      <p:sp>
        <p:nvSpPr>
          <p:cNvPr id="29" name="Shape 27"/>
          <p:cNvSpPr/>
          <p:nvPr/>
        </p:nvSpPr>
        <p:spPr>
          <a:xfrm>
            <a:off x="5912968" y="2633472"/>
            <a:ext cx="347472" cy="347472"/>
          </a:xfrm>
          <a:prstGeom prst="ellipse">
            <a:avLst/>
          </a:prstGeom>
          <a:solidFill>
            <a:srgbClr val="00A896"/>
          </a:solidFill>
          <a:ln w="12700">
            <a:solidFill>
              <a:srgbClr val="00A896"/>
            </a:solidFill>
            <a:prstDash val="solid"/>
          </a:ln>
        </p:spPr>
      </p:sp>
      <p:sp>
        <p:nvSpPr>
          <p:cNvPr id="30" name="Text 28"/>
          <p:cNvSpPr txBox="1"/>
          <p:nvPr/>
        </p:nvSpPr>
        <p:spPr>
          <a:xfrm>
            <a:off x="5912968" y="2633472"/>
            <a:ext cx="347472" cy="347472"/>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31" name="Text 29"/>
          <p:cNvSpPr txBox="1"/>
          <p:nvPr/>
        </p:nvSpPr>
        <p:spPr>
          <a:xfrm>
            <a:off x="5437480" y="3017520"/>
            <a:ext cx="1316736" cy="420624"/>
          </a:xfrm>
          <a:prstGeom prst="rect">
            <a:avLst/>
          </a:prstGeom>
          <a:noFill/>
          <a:ln/>
        </p:spPr>
        <p:txBody>
          <a:bodyPr wrap="square" lIns="0" tIns="0" rIns="0" bIns="0" rtlCol="0" anchor="ctr"/>
          <a:lstStyle/>
          <a:p>
            <a:pPr marL="0" indent="0" algn="ctr">
              <a:buNone/>
            </a:pPr>
            <a:r>
              <a:rPr lang="en-US" sz="1200" b="1" dirty="0">
                <a:solidFill>
                  <a:srgbClr val="13292C"/>
                </a:solidFill>
                <a:latin typeface="Calibri" pitchFamily="34" charset="0"/>
                <a:ea typeface="Calibri" pitchFamily="34" charset="-122"/>
                <a:cs typeface="Calibri" pitchFamily="34" charset="-120"/>
              </a:rPr>
              <a:t>FEFO</a:t>
            </a:r>
            <a:endParaRPr lang="en-US" sz="1200" dirty="0"/>
          </a:p>
          <a:p>
            <a:pPr marL="0" indent="0" algn="ctr">
              <a:buNone/>
            </a:pPr>
            <a:r>
              <a:rPr lang="en-US" sz="1200" b="1" dirty="0">
                <a:solidFill>
                  <a:srgbClr val="13292C"/>
                </a:solidFill>
                <a:latin typeface="Calibri" pitchFamily="34" charset="0"/>
                <a:ea typeface="Calibri" pitchFamily="34" charset="-122"/>
                <a:cs typeface="Calibri" pitchFamily="34" charset="-120"/>
              </a:rPr>
              <a:t>Allocation</a:t>
            </a:r>
            <a:endParaRPr lang="en-US" sz="1200" dirty="0"/>
          </a:p>
        </p:txBody>
      </p:sp>
      <p:sp>
        <p:nvSpPr>
          <p:cNvPr id="32" name="Text 30"/>
          <p:cNvSpPr txBox="1"/>
          <p:nvPr/>
        </p:nvSpPr>
        <p:spPr>
          <a:xfrm>
            <a:off x="5437480" y="3419856"/>
            <a:ext cx="1316736" cy="201168"/>
          </a:xfrm>
          <a:prstGeom prst="rect">
            <a:avLst/>
          </a:prstGeom>
          <a:noFill/>
          <a:ln/>
        </p:spPr>
        <p:txBody>
          <a:bodyPr wrap="square" lIns="0" tIns="0" rIns="0" bIns="0" rtlCol="0" anchor="t"/>
          <a:lstStyle/>
          <a:p>
            <a:pPr marL="0" indent="0" algn="ctr">
              <a:lnSpc>
                <a:spcPct val="110000"/>
              </a:lnSpc>
              <a:buNone/>
            </a:pPr>
            <a:r>
              <a:rPr lang="en-US" sz="850" dirty="0">
                <a:solidFill>
                  <a:srgbClr val="4C6764"/>
                </a:solidFill>
                <a:latin typeface="Calibri" pitchFamily="34" charset="0"/>
                <a:ea typeface="Calibri" pitchFamily="34" charset="-122"/>
                <a:cs typeface="Calibri" pitchFamily="34" charset="-120"/>
              </a:rPr>
              <a:t>Filter MLOR + ETA</a:t>
            </a:r>
            <a:endParaRPr lang="en-US" sz="850" dirty="0"/>
          </a:p>
          <a:p>
            <a:pPr marL="0" indent="0" algn="ctr">
              <a:lnSpc>
                <a:spcPct val="110000"/>
              </a:lnSpc>
              <a:buNone/>
            </a:pPr>
            <a:r>
              <a:rPr lang="en-US" sz="850" dirty="0">
                <a:solidFill>
                  <a:srgbClr val="4C6764"/>
                </a:solidFill>
                <a:latin typeface="Calibri" pitchFamily="34" charset="0"/>
                <a:ea typeface="Calibri" pitchFamily="34" charset="-122"/>
                <a:cs typeface="Calibri" pitchFamily="34" charset="-120"/>
              </a:rPr>
              <a:t>Rank by FEFO</a:t>
            </a:r>
            <a:endParaRPr lang="en-US" sz="850" dirty="0"/>
          </a:p>
        </p:txBody>
      </p:sp>
      <p:sp>
        <p:nvSpPr>
          <p:cNvPr id="33" name="Shape 31"/>
          <p:cNvSpPr/>
          <p:nvPr/>
        </p:nvSpPr>
        <p:spPr>
          <a:xfrm>
            <a:off x="6973672" y="2359152"/>
            <a:ext cx="1426464" cy="1453896"/>
          </a:xfrm>
          <a:prstGeom prst="roundRect">
            <a:avLst>
              <a:gd name="adj" fmla="val 5797"/>
            </a:avLst>
          </a:prstGeom>
          <a:solidFill>
            <a:srgbClr val="0A4550"/>
          </a:solidFill>
          <a:ln w="19050">
            <a:solidFill>
              <a:srgbClr val="00A896"/>
            </a:solidFill>
            <a:prstDash val="solid"/>
          </a:ln>
          <a:effectLst>
            <a:outerShdw blurRad="63500" dist="25400" dir="5400000" algn="bl" rotWithShape="0">
              <a:srgbClr val="1B3B3B">
                <a:alpha val="15000"/>
              </a:srgbClr>
            </a:outerShdw>
          </a:effectLst>
        </p:spPr>
      </p:sp>
      <p:sp>
        <p:nvSpPr>
          <p:cNvPr id="34" name="Shape 32"/>
          <p:cNvSpPr/>
          <p:nvPr/>
        </p:nvSpPr>
        <p:spPr>
          <a:xfrm>
            <a:off x="6973672" y="2359152"/>
            <a:ext cx="1426464" cy="237744"/>
          </a:xfrm>
          <a:prstGeom prst="roundRect">
            <a:avLst>
              <a:gd name="adj" fmla="val 23077"/>
            </a:avLst>
          </a:prstGeom>
          <a:solidFill>
            <a:srgbClr val="00A896"/>
          </a:solidFill>
          <a:ln w="12700">
            <a:solidFill>
              <a:srgbClr val="00A896"/>
            </a:solidFill>
            <a:prstDash val="solid"/>
          </a:ln>
        </p:spPr>
      </p:sp>
      <p:sp>
        <p:nvSpPr>
          <p:cNvPr id="35" name="Text 33"/>
          <p:cNvSpPr txBox="1"/>
          <p:nvPr/>
        </p:nvSpPr>
        <p:spPr>
          <a:xfrm>
            <a:off x="6973672" y="2359152"/>
            <a:ext cx="1426464" cy="237744"/>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System</a:t>
            </a:r>
            <a:endParaRPr lang="en-US" sz="850" dirty="0"/>
          </a:p>
        </p:txBody>
      </p:sp>
      <p:sp>
        <p:nvSpPr>
          <p:cNvPr id="36" name="Shape 34"/>
          <p:cNvSpPr/>
          <p:nvPr/>
        </p:nvSpPr>
        <p:spPr>
          <a:xfrm>
            <a:off x="7504024" y="2633472"/>
            <a:ext cx="347472" cy="347472"/>
          </a:xfrm>
          <a:prstGeom prst="ellipse">
            <a:avLst/>
          </a:prstGeom>
          <a:solidFill>
            <a:srgbClr val="00A896"/>
          </a:solidFill>
          <a:ln w="12700">
            <a:solidFill>
              <a:srgbClr val="00A896"/>
            </a:solidFill>
            <a:prstDash val="solid"/>
          </a:ln>
        </p:spPr>
      </p:sp>
      <p:sp>
        <p:nvSpPr>
          <p:cNvPr id="37" name="Text 35"/>
          <p:cNvSpPr txBox="1"/>
          <p:nvPr/>
        </p:nvSpPr>
        <p:spPr>
          <a:xfrm>
            <a:off x="7504024" y="2633472"/>
            <a:ext cx="347472" cy="347472"/>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38" name="Text 36"/>
          <p:cNvSpPr txBox="1"/>
          <p:nvPr/>
        </p:nvSpPr>
        <p:spPr>
          <a:xfrm>
            <a:off x="7028536" y="3017520"/>
            <a:ext cx="1316736" cy="420624"/>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Sufficient</a:t>
            </a:r>
            <a:endParaRPr lang="en-US" sz="1200" dirty="0"/>
          </a:p>
          <a:p>
            <a:pPr marL="0" indent="0" algn="ctr">
              <a:buNone/>
            </a:pPr>
            <a:r>
              <a:rPr lang="en-US" sz="1200" b="1" dirty="0">
                <a:solidFill>
                  <a:srgbClr val="FFFFFF"/>
                </a:solidFill>
                <a:latin typeface="Calibri" pitchFamily="34" charset="0"/>
                <a:ea typeface="Calibri" pitchFamily="34" charset="-122"/>
                <a:cs typeface="Calibri" pitchFamily="34" charset="-120"/>
              </a:rPr>
              <a:t>Stock?</a:t>
            </a:r>
            <a:endParaRPr lang="en-US" sz="1200" dirty="0"/>
          </a:p>
        </p:txBody>
      </p:sp>
      <p:sp>
        <p:nvSpPr>
          <p:cNvPr id="39" name="Text 37"/>
          <p:cNvSpPr txBox="1"/>
          <p:nvPr/>
        </p:nvSpPr>
        <p:spPr>
          <a:xfrm>
            <a:off x="7485736" y="2651760"/>
            <a:ext cx="402336" cy="347472"/>
          </a:xfrm>
          <a:prstGeom prst="rect">
            <a:avLst/>
          </a:prstGeom>
          <a:noFill/>
          <a:ln/>
        </p:spPr>
        <p:txBody>
          <a:bodyPr wrap="square" lIns="0" tIns="0" rIns="0" bIns="0" rtlCol="0" anchor="ctr"/>
          <a:lstStyle/>
          <a:p>
            <a:pPr marL="0" indent="0" algn="ctr">
              <a:buNone/>
            </a:pPr>
            <a:endParaRPr lang="en-US" sz="2200" dirty="0"/>
          </a:p>
        </p:txBody>
      </p:sp>
      <p:sp>
        <p:nvSpPr>
          <p:cNvPr id="40" name="Shape 38"/>
          <p:cNvSpPr/>
          <p:nvPr/>
        </p:nvSpPr>
        <p:spPr>
          <a:xfrm>
            <a:off x="8564728" y="2359152"/>
            <a:ext cx="1426464" cy="1453896"/>
          </a:xfrm>
          <a:prstGeom prst="roundRect">
            <a:avLst>
              <a:gd name="adj" fmla="val 5797"/>
            </a:avLst>
          </a:prstGeom>
          <a:solidFill>
            <a:srgbClr val="E8F7F4"/>
          </a:solidFill>
          <a:ln w="12700">
            <a:solidFill>
              <a:srgbClr val="02C39A"/>
            </a:solidFill>
            <a:prstDash val="solid"/>
          </a:ln>
          <a:effectLst>
            <a:outerShdw blurRad="63500" dist="25400" dir="5400000" algn="bl" rotWithShape="0">
              <a:srgbClr val="1B3B3B">
                <a:alpha val="15000"/>
              </a:srgbClr>
            </a:outerShdw>
          </a:effectLst>
        </p:spPr>
      </p:sp>
      <p:sp>
        <p:nvSpPr>
          <p:cNvPr id="41" name="Shape 39"/>
          <p:cNvSpPr/>
          <p:nvPr/>
        </p:nvSpPr>
        <p:spPr>
          <a:xfrm>
            <a:off x="8564728" y="2359152"/>
            <a:ext cx="1426464" cy="237744"/>
          </a:xfrm>
          <a:prstGeom prst="roundRect">
            <a:avLst>
              <a:gd name="adj" fmla="val 23077"/>
            </a:avLst>
          </a:prstGeom>
          <a:solidFill>
            <a:srgbClr val="02C39A"/>
          </a:solidFill>
          <a:ln w="12700">
            <a:solidFill>
              <a:srgbClr val="02C39A"/>
            </a:solidFill>
            <a:prstDash val="solid"/>
          </a:ln>
        </p:spPr>
      </p:sp>
      <p:sp>
        <p:nvSpPr>
          <p:cNvPr id="42" name="Text 40"/>
          <p:cNvSpPr txBox="1"/>
          <p:nvPr/>
        </p:nvSpPr>
        <p:spPr>
          <a:xfrm>
            <a:off x="8564728" y="2359152"/>
            <a:ext cx="1426464" cy="237744"/>
          </a:xfrm>
          <a:prstGeom prst="rect">
            <a:avLst/>
          </a:prstGeom>
          <a:noFill/>
          <a:ln/>
        </p:spPr>
        <p:txBody>
          <a:bodyPr wrap="square" lIns="0" tIns="0" rIns="0" bIns="0" rtlCol="0" anchor="ctr"/>
          <a:lstStyle/>
          <a:p>
            <a:pPr marL="0" indent="0" algn="ctr">
              <a:buNone/>
            </a:pPr>
            <a:r>
              <a:rPr lang="en-US" sz="850" b="1" dirty="0">
                <a:solidFill>
                  <a:srgbClr val="0B2E33"/>
                </a:solidFill>
                <a:latin typeface="Calibri" pitchFamily="34" charset="0"/>
                <a:ea typeface="Calibri" pitchFamily="34" charset="-122"/>
                <a:cs typeface="Calibri" pitchFamily="34" charset="-120"/>
              </a:rPr>
              <a:t>Admin / Operator</a:t>
            </a:r>
            <a:endParaRPr lang="en-US" sz="850" dirty="0"/>
          </a:p>
        </p:txBody>
      </p:sp>
      <p:sp>
        <p:nvSpPr>
          <p:cNvPr id="43" name="Shape 41"/>
          <p:cNvSpPr/>
          <p:nvPr/>
        </p:nvSpPr>
        <p:spPr>
          <a:xfrm>
            <a:off x="9095080" y="2633472"/>
            <a:ext cx="347472" cy="347472"/>
          </a:xfrm>
          <a:prstGeom prst="ellipse">
            <a:avLst/>
          </a:prstGeom>
          <a:solidFill>
            <a:srgbClr val="02C39A"/>
          </a:solidFill>
          <a:ln w="12700">
            <a:solidFill>
              <a:srgbClr val="02C39A"/>
            </a:solidFill>
            <a:prstDash val="solid"/>
          </a:ln>
        </p:spPr>
      </p:sp>
      <p:sp>
        <p:nvSpPr>
          <p:cNvPr id="44" name="Text 42"/>
          <p:cNvSpPr txBox="1"/>
          <p:nvPr/>
        </p:nvSpPr>
        <p:spPr>
          <a:xfrm>
            <a:off x="9095080" y="2633472"/>
            <a:ext cx="347472" cy="347472"/>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6</a:t>
            </a:r>
            <a:endParaRPr lang="en-US" sz="1200" dirty="0"/>
          </a:p>
        </p:txBody>
      </p:sp>
      <p:sp>
        <p:nvSpPr>
          <p:cNvPr id="45" name="Text 43"/>
          <p:cNvSpPr txBox="1"/>
          <p:nvPr/>
        </p:nvSpPr>
        <p:spPr>
          <a:xfrm>
            <a:off x="8619592" y="3017520"/>
            <a:ext cx="1316736" cy="420624"/>
          </a:xfrm>
          <a:prstGeom prst="rect">
            <a:avLst/>
          </a:prstGeom>
          <a:noFill/>
          <a:ln/>
        </p:spPr>
        <p:txBody>
          <a:bodyPr wrap="square" lIns="0" tIns="0" rIns="0" bIns="0" rtlCol="0" anchor="ctr"/>
          <a:lstStyle/>
          <a:p>
            <a:pPr marL="0" indent="0" algn="ctr">
              <a:buNone/>
            </a:pPr>
            <a:r>
              <a:rPr lang="en-US" sz="1200" b="1" dirty="0">
                <a:solidFill>
                  <a:srgbClr val="13292C"/>
                </a:solidFill>
                <a:latin typeface="Calibri" pitchFamily="34" charset="0"/>
                <a:ea typeface="Calibri" pitchFamily="34" charset="-122"/>
                <a:cs typeface="Calibri" pitchFamily="34" charset="-120"/>
              </a:rPr>
              <a:t>Approve /</a:t>
            </a:r>
            <a:endParaRPr lang="en-US" sz="1200" dirty="0"/>
          </a:p>
          <a:p>
            <a:pPr marL="0" indent="0" algn="ctr">
              <a:buNone/>
            </a:pPr>
            <a:r>
              <a:rPr lang="en-US" sz="1200" b="1" dirty="0">
                <a:solidFill>
                  <a:srgbClr val="13292C"/>
                </a:solidFill>
                <a:latin typeface="Calibri" pitchFamily="34" charset="0"/>
                <a:ea typeface="Calibri" pitchFamily="34" charset="-122"/>
                <a:cs typeface="Calibri" pitchFamily="34" charset="-120"/>
              </a:rPr>
              <a:t>Reject</a:t>
            </a:r>
            <a:endParaRPr lang="en-US" sz="1200" dirty="0"/>
          </a:p>
        </p:txBody>
      </p:sp>
      <p:sp>
        <p:nvSpPr>
          <p:cNvPr id="46" name="Text 44"/>
          <p:cNvSpPr txBox="1"/>
          <p:nvPr/>
        </p:nvSpPr>
        <p:spPr>
          <a:xfrm>
            <a:off x="8619592" y="3419856"/>
            <a:ext cx="1316736" cy="201168"/>
          </a:xfrm>
          <a:prstGeom prst="rect">
            <a:avLst/>
          </a:prstGeom>
          <a:noFill/>
          <a:ln/>
        </p:spPr>
        <p:txBody>
          <a:bodyPr wrap="square" lIns="0" tIns="0" rIns="0" bIns="0" rtlCol="0" anchor="t"/>
          <a:lstStyle/>
          <a:p>
            <a:pPr marL="0" indent="0" algn="ctr">
              <a:lnSpc>
                <a:spcPct val="110000"/>
              </a:lnSpc>
              <a:buNone/>
            </a:pPr>
            <a:r>
              <a:rPr lang="en-US" sz="850" dirty="0">
                <a:solidFill>
                  <a:srgbClr val="4C6764"/>
                </a:solidFill>
                <a:latin typeface="Calibri" pitchFamily="34" charset="0"/>
                <a:ea typeface="Calibri" pitchFamily="34" charset="-122"/>
                <a:cs typeface="Calibri" pitchFamily="34" charset="-120"/>
              </a:rPr>
              <a:t>Reason required</a:t>
            </a:r>
            <a:endParaRPr lang="en-US" sz="850" dirty="0"/>
          </a:p>
          <a:p>
            <a:pPr marL="0" indent="0" algn="ctr">
              <a:lnSpc>
                <a:spcPct val="110000"/>
              </a:lnSpc>
              <a:buNone/>
            </a:pPr>
            <a:r>
              <a:rPr lang="en-US" sz="850" dirty="0">
                <a:solidFill>
                  <a:srgbClr val="4C6764"/>
                </a:solidFill>
                <a:latin typeface="Calibri" pitchFamily="34" charset="0"/>
                <a:ea typeface="Calibri" pitchFamily="34" charset="-122"/>
                <a:cs typeface="Calibri" pitchFamily="34" charset="-120"/>
              </a:rPr>
              <a:t>for rejection</a:t>
            </a:r>
            <a:endParaRPr lang="en-US" sz="850" dirty="0"/>
          </a:p>
        </p:txBody>
      </p:sp>
      <p:sp>
        <p:nvSpPr>
          <p:cNvPr id="47" name="Shape 45"/>
          <p:cNvSpPr/>
          <p:nvPr/>
        </p:nvSpPr>
        <p:spPr>
          <a:xfrm>
            <a:off x="10155784" y="2359152"/>
            <a:ext cx="1426464" cy="1453896"/>
          </a:xfrm>
          <a:prstGeom prst="roundRect">
            <a:avLst>
              <a:gd name="adj" fmla="val 5797"/>
            </a:avLst>
          </a:prstGeom>
          <a:solidFill>
            <a:srgbClr val="EAF3F1"/>
          </a:solidFill>
          <a:ln w="12700">
            <a:solidFill>
              <a:srgbClr val="BFE8DC"/>
            </a:solidFill>
            <a:prstDash val="solid"/>
          </a:ln>
          <a:effectLst>
            <a:outerShdw blurRad="63500" dist="25400" dir="5400000" algn="bl" rotWithShape="0">
              <a:srgbClr val="1B3B3B">
                <a:alpha val="15000"/>
              </a:srgbClr>
            </a:outerShdw>
          </a:effectLst>
        </p:spPr>
      </p:sp>
      <p:sp>
        <p:nvSpPr>
          <p:cNvPr id="48" name="Shape 46"/>
          <p:cNvSpPr/>
          <p:nvPr/>
        </p:nvSpPr>
        <p:spPr>
          <a:xfrm>
            <a:off x="10155784" y="2359152"/>
            <a:ext cx="1426464" cy="237744"/>
          </a:xfrm>
          <a:prstGeom prst="roundRect">
            <a:avLst>
              <a:gd name="adj" fmla="val 23077"/>
            </a:avLst>
          </a:prstGeom>
          <a:solidFill>
            <a:srgbClr val="028090"/>
          </a:solidFill>
          <a:ln w="12700">
            <a:solidFill>
              <a:srgbClr val="028090"/>
            </a:solidFill>
            <a:prstDash val="solid"/>
          </a:ln>
        </p:spPr>
      </p:sp>
      <p:sp>
        <p:nvSpPr>
          <p:cNvPr id="49" name="Text 47"/>
          <p:cNvSpPr txBox="1"/>
          <p:nvPr/>
        </p:nvSpPr>
        <p:spPr>
          <a:xfrm>
            <a:off x="10155784" y="2359152"/>
            <a:ext cx="1426464" cy="237744"/>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Sales Rep</a:t>
            </a:r>
            <a:endParaRPr lang="en-US" sz="850" dirty="0"/>
          </a:p>
        </p:txBody>
      </p:sp>
      <p:sp>
        <p:nvSpPr>
          <p:cNvPr id="50" name="Shape 48"/>
          <p:cNvSpPr/>
          <p:nvPr/>
        </p:nvSpPr>
        <p:spPr>
          <a:xfrm>
            <a:off x="10686136" y="2633472"/>
            <a:ext cx="347472" cy="347472"/>
          </a:xfrm>
          <a:prstGeom prst="ellipse">
            <a:avLst/>
          </a:prstGeom>
          <a:solidFill>
            <a:srgbClr val="028090"/>
          </a:solidFill>
          <a:ln w="12700">
            <a:solidFill>
              <a:srgbClr val="028090"/>
            </a:solidFill>
            <a:prstDash val="solid"/>
          </a:ln>
        </p:spPr>
      </p:sp>
      <p:sp>
        <p:nvSpPr>
          <p:cNvPr id="51" name="Text 49"/>
          <p:cNvSpPr txBox="1"/>
          <p:nvPr/>
        </p:nvSpPr>
        <p:spPr>
          <a:xfrm>
            <a:off x="10686136" y="2633472"/>
            <a:ext cx="347472" cy="347472"/>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7</a:t>
            </a:r>
            <a:endParaRPr lang="en-US" sz="1200" dirty="0"/>
          </a:p>
        </p:txBody>
      </p:sp>
      <p:sp>
        <p:nvSpPr>
          <p:cNvPr id="52" name="Text 50"/>
          <p:cNvSpPr txBox="1"/>
          <p:nvPr/>
        </p:nvSpPr>
        <p:spPr>
          <a:xfrm>
            <a:off x="10210648" y="3017520"/>
            <a:ext cx="1316736" cy="420624"/>
          </a:xfrm>
          <a:prstGeom prst="rect">
            <a:avLst/>
          </a:prstGeom>
          <a:noFill/>
          <a:ln/>
        </p:spPr>
        <p:txBody>
          <a:bodyPr wrap="square" lIns="0" tIns="0" rIns="0" bIns="0" rtlCol="0" anchor="ctr"/>
          <a:lstStyle/>
          <a:p>
            <a:pPr marL="0" indent="0" algn="ctr">
              <a:buNone/>
            </a:pPr>
            <a:r>
              <a:rPr lang="en-US" sz="1200" b="1" dirty="0">
                <a:solidFill>
                  <a:srgbClr val="13292C"/>
                </a:solidFill>
                <a:latin typeface="Calibri" pitchFamily="34" charset="0"/>
                <a:ea typeface="Calibri" pitchFamily="34" charset="-122"/>
                <a:cs typeface="Calibri" pitchFamily="34" charset="-120"/>
              </a:rPr>
              <a:t>View Order</a:t>
            </a:r>
            <a:endParaRPr lang="en-US" sz="1200" dirty="0"/>
          </a:p>
          <a:p>
            <a:pPr marL="0" indent="0" algn="ctr">
              <a:buNone/>
            </a:pPr>
            <a:r>
              <a:rPr lang="en-US" sz="1200" b="1" dirty="0">
                <a:solidFill>
                  <a:srgbClr val="13292C"/>
                </a:solidFill>
                <a:latin typeface="Calibri" pitchFamily="34" charset="0"/>
                <a:ea typeface="Calibri" pitchFamily="34" charset="-122"/>
                <a:cs typeface="Calibri" pitchFamily="34" charset="-120"/>
              </a:rPr>
              <a:t>History</a:t>
            </a:r>
            <a:endParaRPr lang="en-US" sz="1200" dirty="0"/>
          </a:p>
        </p:txBody>
      </p:sp>
      <p:sp>
        <p:nvSpPr>
          <p:cNvPr id="53" name="Text 51"/>
          <p:cNvSpPr txBox="1"/>
          <p:nvPr/>
        </p:nvSpPr>
        <p:spPr>
          <a:xfrm>
            <a:off x="10210648" y="3419856"/>
            <a:ext cx="1316736" cy="201168"/>
          </a:xfrm>
          <a:prstGeom prst="rect">
            <a:avLst/>
          </a:prstGeom>
          <a:noFill/>
          <a:ln/>
        </p:spPr>
        <p:txBody>
          <a:bodyPr wrap="square" lIns="0" tIns="0" rIns="0" bIns="0" rtlCol="0" anchor="t"/>
          <a:lstStyle/>
          <a:p>
            <a:pPr marL="0" indent="0" algn="ctr">
              <a:lnSpc>
                <a:spcPct val="110000"/>
              </a:lnSpc>
              <a:buNone/>
            </a:pPr>
            <a:r>
              <a:rPr lang="en-US" sz="850" dirty="0">
                <a:solidFill>
                  <a:srgbClr val="4C6764"/>
                </a:solidFill>
                <a:latin typeface="Calibri" pitchFamily="34" charset="0"/>
                <a:ea typeface="Calibri" pitchFamily="34" charset="-122"/>
                <a:cs typeface="Calibri" pitchFamily="34" charset="-120"/>
              </a:rPr>
              <a:t>Track status</a:t>
            </a:r>
            <a:endParaRPr lang="en-US" sz="850" dirty="0"/>
          </a:p>
          <a:p>
            <a:pPr marL="0" indent="0" algn="ctr">
              <a:lnSpc>
                <a:spcPct val="110000"/>
              </a:lnSpc>
              <a:buNone/>
            </a:pPr>
            <a:r>
              <a:rPr lang="en-US" sz="850" dirty="0">
                <a:solidFill>
                  <a:srgbClr val="4C6764"/>
                </a:solidFill>
                <a:latin typeface="Calibri" pitchFamily="34" charset="0"/>
                <a:ea typeface="Calibri" pitchFamily="34" charset="-122"/>
                <a:cs typeface="Calibri" pitchFamily="34" charset="-120"/>
              </a:rPr>
              <a:t>&amp; promotions</a:t>
            </a:r>
            <a:endParaRPr lang="en-US" sz="850" dirty="0"/>
          </a:p>
        </p:txBody>
      </p:sp>
      <p:sp>
        <p:nvSpPr>
          <p:cNvPr id="54" name="Shape 52"/>
          <p:cNvSpPr/>
          <p:nvPr/>
        </p:nvSpPr>
        <p:spPr>
          <a:xfrm>
            <a:off x="2035912" y="2979115"/>
            <a:ext cx="18288" cy="21946"/>
          </a:xfrm>
          <a:prstGeom prst="rect">
            <a:avLst/>
          </a:prstGeom>
          <a:solidFill>
            <a:srgbClr val="00A896"/>
          </a:solidFill>
          <a:ln w="12700">
            <a:solidFill>
              <a:srgbClr val="00A896"/>
            </a:solidFill>
            <a:prstDash val="solid"/>
          </a:ln>
        </p:spPr>
      </p:sp>
      <p:sp>
        <p:nvSpPr>
          <p:cNvPr id="55" name="Text 53"/>
          <p:cNvSpPr txBox="1"/>
          <p:nvPr/>
        </p:nvSpPr>
        <p:spPr>
          <a:xfrm>
            <a:off x="1981048" y="2825496"/>
            <a:ext cx="201168" cy="329184"/>
          </a:xfrm>
          <a:prstGeom prst="rect">
            <a:avLst/>
          </a:prstGeom>
          <a:noFill/>
          <a:ln/>
        </p:spPr>
        <p:txBody>
          <a:bodyPr wrap="square" lIns="0" tIns="0" rIns="0" bIns="0" rtlCol="0" anchor="ctr"/>
          <a:lstStyle/>
          <a:p>
            <a:pPr marL="0" indent="0" algn="ctr">
              <a:buNone/>
            </a:pPr>
            <a:r>
              <a:rPr lang="en-US" sz="1000" dirty="0">
                <a:solidFill>
                  <a:srgbClr val="00A896"/>
                </a:solidFill>
                <a:latin typeface="Calibri" pitchFamily="34" charset="0"/>
                <a:ea typeface="Calibri" pitchFamily="34" charset="-122"/>
                <a:cs typeface="Calibri" pitchFamily="34" charset="-120"/>
              </a:rPr>
              <a:t>▶</a:t>
            </a:r>
            <a:endParaRPr lang="en-US" sz="1000" dirty="0"/>
          </a:p>
        </p:txBody>
      </p:sp>
      <p:sp>
        <p:nvSpPr>
          <p:cNvPr id="56" name="Shape 54"/>
          <p:cNvSpPr/>
          <p:nvPr/>
        </p:nvSpPr>
        <p:spPr>
          <a:xfrm>
            <a:off x="3626968" y="2979115"/>
            <a:ext cx="18288" cy="21946"/>
          </a:xfrm>
          <a:prstGeom prst="rect">
            <a:avLst/>
          </a:prstGeom>
          <a:solidFill>
            <a:srgbClr val="00A896"/>
          </a:solidFill>
          <a:ln w="12700">
            <a:solidFill>
              <a:srgbClr val="00A896"/>
            </a:solidFill>
            <a:prstDash val="solid"/>
          </a:ln>
        </p:spPr>
      </p:sp>
      <p:sp>
        <p:nvSpPr>
          <p:cNvPr id="57" name="Text 55"/>
          <p:cNvSpPr txBox="1"/>
          <p:nvPr/>
        </p:nvSpPr>
        <p:spPr>
          <a:xfrm>
            <a:off x="3572104" y="2825496"/>
            <a:ext cx="201168" cy="329184"/>
          </a:xfrm>
          <a:prstGeom prst="rect">
            <a:avLst/>
          </a:prstGeom>
          <a:noFill/>
          <a:ln/>
        </p:spPr>
        <p:txBody>
          <a:bodyPr wrap="square" lIns="0" tIns="0" rIns="0" bIns="0" rtlCol="0" anchor="ctr"/>
          <a:lstStyle/>
          <a:p>
            <a:pPr marL="0" indent="0" algn="ctr">
              <a:buNone/>
            </a:pPr>
            <a:r>
              <a:rPr lang="en-US" sz="1000" dirty="0">
                <a:solidFill>
                  <a:srgbClr val="00A896"/>
                </a:solidFill>
                <a:latin typeface="Calibri" pitchFamily="34" charset="0"/>
                <a:ea typeface="Calibri" pitchFamily="34" charset="-122"/>
                <a:cs typeface="Calibri" pitchFamily="34" charset="-120"/>
              </a:rPr>
              <a:t>▶</a:t>
            </a:r>
            <a:endParaRPr lang="en-US" sz="1000" dirty="0"/>
          </a:p>
        </p:txBody>
      </p:sp>
      <p:sp>
        <p:nvSpPr>
          <p:cNvPr id="58" name="Shape 56"/>
          <p:cNvSpPr/>
          <p:nvPr/>
        </p:nvSpPr>
        <p:spPr>
          <a:xfrm>
            <a:off x="5218024" y="2979115"/>
            <a:ext cx="18288" cy="21946"/>
          </a:xfrm>
          <a:prstGeom prst="rect">
            <a:avLst/>
          </a:prstGeom>
          <a:solidFill>
            <a:srgbClr val="00A896"/>
          </a:solidFill>
          <a:ln w="12700">
            <a:solidFill>
              <a:srgbClr val="00A896"/>
            </a:solidFill>
            <a:prstDash val="solid"/>
          </a:ln>
        </p:spPr>
      </p:sp>
      <p:sp>
        <p:nvSpPr>
          <p:cNvPr id="59" name="Text 57"/>
          <p:cNvSpPr txBox="1"/>
          <p:nvPr/>
        </p:nvSpPr>
        <p:spPr>
          <a:xfrm>
            <a:off x="5163160" y="2825496"/>
            <a:ext cx="201168" cy="329184"/>
          </a:xfrm>
          <a:prstGeom prst="rect">
            <a:avLst/>
          </a:prstGeom>
          <a:noFill/>
          <a:ln/>
        </p:spPr>
        <p:txBody>
          <a:bodyPr wrap="square" lIns="0" tIns="0" rIns="0" bIns="0" rtlCol="0" anchor="ctr"/>
          <a:lstStyle/>
          <a:p>
            <a:pPr marL="0" indent="0" algn="ctr">
              <a:buNone/>
            </a:pPr>
            <a:r>
              <a:rPr lang="en-US" sz="1000" dirty="0">
                <a:solidFill>
                  <a:srgbClr val="00A896"/>
                </a:solidFill>
                <a:latin typeface="Calibri" pitchFamily="34" charset="0"/>
                <a:ea typeface="Calibri" pitchFamily="34" charset="-122"/>
                <a:cs typeface="Calibri" pitchFamily="34" charset="-120"/>
              </a:rPr>
              <a:t>▶</a:t>
            </a:r>
            <a:endParaRPr lang="en-US" sz="1000" dirty="0"/>
          </a:p>
        </p:txBody>
      </p:sp>
      <p:sp>
        <p:nvSpPr>
          <p:cNvPr id="60" name="Shape 58"/>
          <p:cNvSpPr/>
          <p:nvPr/>
        </p:nvSpPr>
        <p:spPr>
          <a:xfrm>
            <a:off x="6809080" y="2979115"/>
            <a:ext cx="18288" cy="21946"/>
          </a:xfrm>
          <a:prstGeom prst="rect">
            <a:avLst/>
          </a:prstGeom>
          <a:solidFill>
            <a:srgbClr val="00A896"/>
          </a:solidFill>
          <a:ln w="12700">
            <a:solidFill>
              <a:srgbClr val="00A896"/>
            </a:solidFill>
            <a:prstDash val="solid"/>
          </a:ln>
        </p:spPr>
      </p:sp>
      <p:sp>
        <p:nvSpPr>
          <p:cNvPr id="61" name="Text 59"/>
          <p:cNvSpPr txBox="1"/>
          <p:nvPr/>
        </p:nvSpPr>
        <p:spPr>
          <a:xfrm>
            <a:off x="6754216" y="2825496"/>
            <a:ext cx="201168" cy="329184"/>
          </a:xfrm>
          <a:prstGeom prst="rect">
            <a:avLst/>
          </a:prstGeom>
          <a:noFill/>
          <a:ln/>
        </p:spPr>
        <p:txBody>
          <a:bodyPr wrap="square" lIns="0" tIns="0" rIns="0" bIns="0" rtlCol="0" anchor="ctr"/>
          <a:lstStyle/>
          <a:p>
            <a:pPr marL="0" indent="0" algn="ctr">
              <a:buNone/>
            </a:pPr>
            <a:r>
              <a:rPr lang="en-US" sz="1000" dirty="0">
                <a:solidFill>
                  <a:srgbClr val="00A896"/>
                </a:solidFill>
                <a:latin typeface="Calibri" pitchFamily="34" charset="0"/>
                <a:ea typeface="Calibri" pitchFamily="34" charset="-122"/>
                <a:cs typeface="Calibri" pitchFamily="34" charset="-120"/>
              </a:rPr>
              <a:t>▶</a:t>
            </a:r>
            <a:endParaRPr lang="en-US" sz="1000" dirty="0"/>
          </a:p>
        </p:txBody>
      </p:sp>
      <p:sp>
        <p:nvSpPr>
          <p:cNvPr id="62" name="Shape 60"/>
          <p:cNvSpPr/>
          <p:nvPr/>
        </p:nvSpPr>
        <p:spPr>
          <a:xfrm>
            <a:off x="9991192" y="2979115"/>
            <a:ext cx="18288" cy="21946"/>
          </a:xfrm>
          <a:prstGeom prst="rect">
            <a:avLst/>
          </a:prstGeom>
          <a:solidFill>
            <a:srgbClr val="00A896"/>
          </a:solidFill>
          <a:ln w="12700">
            <a:solidFill>
              <a:srgbClr val="00A896"/>
            </a:solidFill>
            <a:prstDash val="solid"/>
          </a:ln>
        </p:spPr>
      </p:sp>
      <p:sp>
        <p:nvSpPr>
          <p:cNvPr id="63" name="Text 61"/>
          <p:cNvSpPr txBox="1"/>
          <p:nvPr/>
        </p:nvSpPr>
        <p:spPr>
          <a:xfrm>
            <a:off x="9936328" y="2825496"/>
            <a:ext cx="201168" cy="329184"/>
          </a:xfrm>
          <a:prstGeom prst="rect">
            <a:avLst/>
          </a:prstGeom>
          <a:noFill/>
          <a:ln/>
        </p:spPr>
        <p:txBody>
          <a:bodyPr wrap="square" lIns="0" tIns="0" rIns="0" bIns="0" rtlCol="0" anchor="ctr"/>
          <a:lstStyle/>
          <a:p>
            <a:pPr marL="0" indent="0" algn="ctr">
              <a:buNone/>
            </a:pPr>
            <a:r>
              <a:rPr lang="en-US" sz="1000" dirty="0">
                <a:solidFill>
                  <a:srgbClr val="00A896"/>
                </a:solidFill>
                <a:latin typeface="Calibri" pitchFamily="34" charset="0"/>
                <a:ea typeface="Calibri" pitchFamily="34" charset="-122"/>
                <a:cs typeface="Calibri" pitchFamily="34" charset="-120"/>
              </a:rPr>
              <a:t>▶</a:t>
            </a:r>
            <a:endParaRPr lang="en-US" sz="1000" dirty="0"/>
          </a:p>
        </p:txBody>
      </p:sp>
      <p:sp>
        <p:nvSpPr>
          <p:cNvPr id="64" name="Shape 62"/>
          <p:cNvSpPr/>
          <p:nvPr/>
        </p:nvSpPr>
        <p:spPr>
          <a:xfrm>
            <a:off x="8400136" y="2979115"/>
            <a:ext cx="18288" cy="21946"/>
          </a:xfrm>
          <a:prstGeom prst="rect">
            <a:avLst/>
          </a:prstGeom>
          <a:solidFill>
            <a:srgbClr val="02C39A"/>
          </a:solidFill>
          <a:ln w="12700">
            <a:solidFill>
              <a:srgbClr val="02C39A"/>
            </a:solidFill>
            <a:prstDash val="solid"/>
          </a:ln>
        </p:spPr>
      </p:sp>
      <p:sp>
        <p:nvSpPr>
          <p:cNvPr id="65" name="Text 63"/>
          <p:cNvSpPr txBox="1"/>
          <p:nvPr/>
        </p:nvSpPr>
        <p:spPr>
          <a:xfrm>
            <a:off x="8345272" y="2825496"/>
            <a:ext cx="201168" cy="329184"/>
          </a:xfrm>
          <a:prstGeom prst="rect">
            <a:avLst/>
          </a:prstGeom>
          <a:noFill/>
          <a:ln/>
        </p:spPr>
        <p:txBody>
          <a:bodyPr wrap="square" lIns="0" tIns="0" rIns="0" bIns="0" rtlCol="0" anchor="ctr"/>
          <a:lstStyle/>
          <a:p>
            <a:pPr marL="0" indent="0" algn="ctr">
              <a:buNone/>
            </a:pPr>
            <a:r>
              <a:rPr lang="en-US" sz="1000" dirty="0">
                <a:solidFill>
                  <a:srgbClr val="02C39A"/>
                </a:solidFill>
                <a:latin typeface="Calibri" pitchFamily="34" charset="0"/>
                <a:ea typeface="Calibri" pitchFamily="34" charset="-122"/>
                <a:cs typeface="Calibri" pitchFamily="34" charset="-120"/>
              </a:rPr>
              <a:t>▶</a:t>
            </a:r>
            <a:endParaRPr lang="en-US" sz="1000" dirty="0"/>
          </a:p>
        </p:txBody>
      </p:sp>
      <p:sp>
        <p:nvSpPr>
          <p:cNvPr id="67" name="Shape 65"/>
          <p:cNvSpPr/>
          <p:nvPr/>
        </p:nvSpPr>
        <p:spPr>
          <a:xfrm>
            <a:off x="7675931" y="3813048"/>
            <a:ext cx="21946" cy="411480"/>
          </a:xfrm>
          <a:prstGeom prst="rect">
            <a:avLst/>
          </a:prstGeom>
          <a:solidFill>
            <a:srgbClr val="E05A5A"/>
          </a:solidFill>
          <a:ln w="12700">
            <a:solidFill>
              <a:srgbClr val="E05A5A"/>
            </a:solidFill>
            <a:prstDash val="solid"/>
          </a:ln>
        </p:spPr>
      </p:sp>
      <p:sp>
        <p:nvSpPr>
          <p:cNvPr id="70" name="Shape 68"/>
          <p:cNvSpPr/>
          <p:nvPr/>
        </p:nvSpPr>
        <p:spPr>
          <a:xfrm>
            <a:off x="6927952" y="4123944"/>
            <a:ext cx="1517904" cy="822960"/>
          </a:xfrm>
          <a:prstGeom prst="roundRect">
            <a:avLst>
              <a:gd name="adj" fmla="val 7778"/>
            </a:avLst>
          </a:prstGeom>
          <a:solidFill>
            <a:srgbClr val="3D1010"/>
          </a:solidFill>
          <a:ln w="15240">
            <a:solidFill>
              <a:srgbClr val="E05A5A"/>
            </a:solidFill>
            <a:prstDash val="solid"/>
          </a:ln>
          <a:effectLst>
            <a:outerShdw blurRad="63500" dist="25400" dir="5400000" algn="bl" rotWithShape="0">
              <a:srgbClr val="1B3B3B">
                <a:alpha val="15000"/>
              </a:srgbClr>
            </a:outerShdw>
          </a:effectLst>
        </p:spPr>
      </p:sp>
      <p:sp>
        <p:nvSpPr>
          <p:cNvPr id="71" name="Text 69"/>
          <p:cNvSpPr txBox="1"/>
          <p:nvPr/>
        </p:nvSpPr>
        <p:spPr>
          <a:xfrm>
            <a:off x="6927952" y="4197096"/>
            <a:ext cx="1517904" cy="347472"/>
          </a:xfrm>
          <a:prstGeom prst="rect">
            <a:avLst/>
          </a:prstGeom>
          <a:noFill/>
          <a:ln/>
        </p:spPr>
        <p:txBody>
          <a:bodyPr wrap="square" lIns="0" tIns="0" rIns="0" bIns="0" rtlCol="0" anchor="ctr"/>
          <a:lstStyle/>
          <a:p>
            <a:pPr marL="0" indent="0" algn="ctr">
              <a:buNone/>
            </a:pPr>
            <a:r>
              <a:rPr lang="en-US" sz="1200" b="1" dirty="0">
                <a:solidFill>
                  <a:srgbClr val="F0A0A0"/>
                </a:solidFill>
                <a:latin typeface="Calibri" pitchFamily="34" charset="0"/>
                <a:ea typeface="Calibri" pitchFamily="34" charset="-122"/>
                <a:cs typeface="Calibri" pitchFamily="34" charset="-120"/>
              </a:rPr>
              <a:t>Auto-Reject</a:t>
            </a:r>
            <a:endParaRPr lang="en-US" sz="1200" dirty="0"/>
          </a:p>
        </p:txBody>
      </p:sp>
      <p:sp>
        <p:nvSpPr>
          <p:cNvPr id="72" name="Text 70"/>
          <p:cNvSpPr txBox="1"/>
          <p:nvPr/>
        </p:nvSpPr>
        <p:spPr>
          <a:xfrm>
            <a:off x="6927952" y="4544568"/>
            <a:ext cx="1517904" cy="347472"/>
          </a:xfrm>
          <a:prstGeom prst="rect">
            <a:avLst/>
          </a:prstGeom>
          <a:noFill/>
          <a:ln/>
        </p:spPr>
        <p:txBody>
          <a:bodyPr wrap="square" lIns="0" tIns="0" rIns="0" bIns="0" rtlCol="0" anchor="t"/>
          <a:lstStyle/>
          <a:p>
            <a:pPr marL="0" indent="0" algn="ctr">
              <a:lnSpc>
                <a:spcPct val="105000"/>
              </a:lnSpc>
              <a:buNone/>
            </a:pPr>
            <a:r>
              <a:rPr lang="en-US" sz="850" dirty="0">
                <a:solidFill>
                  <a:srgbClr val="C07070"/>
                </a:solidFill>
                <a:latin typeface="Calibri" pitchFamily="34" charset="0"/>
                <a:ea typeface="Calibri" pitchFamily="34" charset="-122"/>
                <a:cs typeface="Calibri" pitchFamily="34" charset="-120"/>
              </a:rPr>
              <a:t>Notify Sales &amp; Retailer</a:t>
            </a:r>
            <a:endParaRPr lang="en-US" sz="850" dirty="0"/>
          </a:p>
          <a:p>
            <a:pPr marL="0" indent="0" algn="ctr">
              <a:lnSpc>
                <a:spcPct val="105000"/>
              </a:lnSpc>
              <a:buNone/>
            </a:pPr>
            <a:r>
              <a:rPr lang="en-US" sz="850" dirty="0">
                <a:solidFill>
                  <a:srgbClr val="C07070"/>
                </a:solidFill>
                <a:latin typeface="Calibri" pitchFamily="34" charset="0"/>
                <a:ea typeface="Calibri" pitchFamily="34" charset="-122"/>
                <a:cs typeface="Calibri" pitchFamily="34" charset="-120"/>
              </a:rPr>
              <a:t>No partial fulfillment</a:t>
            </a:r>
            <a:endParaRPr lang="en-US" sz="850" dirty="0"/>
          </a:p>
        </p:txBody>
      </p:sp>
      <p:sp>
        <p:nvSpPr>
          <p:cNvPr id="73" name="Shape 71"/>
          <p:cNvSpPr/>
          <p:nvPr/>
        </p:nvSpPr>
        <p:spPr>
          <a:xfrm>
            <a:off x="9269045" y="3804539"/>
            <a:ext cx="21946" cy="502920"/>
          </a:xfrm>
          <a:prstGeom prst="rect">
            <a:avLst/>
          </a:prstGeom>
          <a:solidFill>
            <a:srgbClr val="C8A800"/>
          </a:solidFill>
          <a:ln w="12700">
            <a:solidFill>
              <a:srgbClr val="C8A800"/>
            </a:solidFill>
            <a:prstDash val="solid"/>
          </a:ln>
        </p:spPr>
      </p:sp>
      <p:sp>
        <p:nvSpPr>
          <p:cNvPr id="76" name="Shape 74"/>
          <p:cNvSpPr/>
          <p:nvPr/>
        </p:nvSpPr>
        <p:spPr>
          <a:xfrm>
            <a:off x="8519008" y="4123944"/>
            <a:ext cx="1517904" cy="822960"/>
          </a:xfrm>
          <a:prstGeom prst="roundRect">
            <a:avLst>
              <a:gd name="adj" fmla="val 7778"/>
            </a:avLst>
          </a:prstGeom>
          <a:solidFill>
            <a:srgbClr val="2E2A10"/>
          </a:solidFill>
          <a:ln w="15240">
            <a:solidFill>
              <a:srgbClr val="C8A800"/>
            </a:solidFill>
            <a:prstDash val="solid"/>
          </a:ln>
          <a:effectLst>
            <a:outerShdw blurRad="63500" dist="25400" dir="5400000" algn="bl" rotWithShape="0">
              <a:srgbClr val="1B3B3B">
                <a:alpha val="15000"/>
              </a:srgbClr>
            </a:outerShdw>
          </a:effectLst>
        </p:spPr>
      </p:sp>
      <p:sp>
        <p:nvSpPr>
          <p:cNvPr id="77" name="Text 75"/>
          <p:cNvSpPr txBox="1"/>
          <p:nvPr/>
        </p:nvSpPr>
        <p:spPr>
          <a:xfrm>
            <a:off x="8519008" y="4197096"/>
            <a:ext cx="1517904" cy="347472"/>
          </a:xfrm>
          <a:prstGeom prst="rect">
            <a:avLst/>
          </a:prstGeom>
          <a:noFill/>
          <a:ln/>
        </p:spPr>
        <p:txBody>
          <a:bodyPr wrap="square" lIns="0" tIns="0" rIns="0" bIns="0" rtlCol="0" anchor="ctr"/>
          <a:lstStyle/>
          <a:p>
            <a:pPr marL="0" indent="0" algn="ctr">
              <a:buNone/>
            </a:pPr>
            <a:r>
              <a:rPr lang="en-US" sz="1100" b="1" dirty="0">
                <a:solidFill>
                  <a:srgbClr val="F0D060"/>
                </a:solidFill>
                <a:latin typeface="Calibri" pitchFamily="34" charset="0"/>
                <a:ea typeface="Calibri" pitchFamily="34" charset="-122"/>
                <a:cs typeface="Calibri" pitchFamily="34" charset="-120"/>
              </a:rPr>
              <a:t>Rejected by Admin/Op</a:t>
            </a:r>
            <a:endParaRPr lang="en-US" sz="1100" dirty="0"/>
          </a:p>
        </p:txBody>
      </p:sp>
      <p:sp>
        <p:nvSpPr>
          <p:cNvPr id="78" name="Text 76"/>
          <p:cNvSpPr txBox="1"/>
          <p:nvPr/>
        </p:nvSpPr>
        <p:spPr>
          <a:xfrm>
            <a:off x="8519008" y="4544568"/>
            <a:ext cx="1517904" cy="347472"/>
          </a:xfrm>
          <a:prstGeom prst="rect">
            <a:avLst/>
          </a:prstGeom>
          <a:noFill/>
          <a:ln/>
        </p:spPr>
        <p:txBody>
          <a:bodyPr wrap="square" lIns="0" tIns="0" rIns="0" bIns="0" rtlCol="0" anchor="t"/>
          <a:lstStyle/>
          <a:p>
            <a:pPr marL="0" indent="0" algn="ctr">
              <a:lnSpc>
                <a:spcPct val="105000"/>
              </a:lnSpc>
              <a:buNone/>
            </a:pPr>
            <a:r>
              <a:rPr lang="en-US" sz="850" dirty="0">
                <a:solidFill>
                  <a:srgbClr val="B09040"/>
                </a:solidFill>
                <a:latin typeface="Calibri" pitchFamily="34" charset="0"/>
                <a:ea typeface="Calibri" pitchFamily="34" charset="-122"/>
                <a:cs typeface="Calibri" pitchFamily="34" charset="-120"/>
              </a:rPr>
              <a:t>Held stock released</a:t>
            </a:r>
            <a:endParaRPr lang="en-US" sz="850" dirty="0"/>
          </a:p>
          <a:p>
            <a:pPr marL="0" indent="0" algn="ctr">
              <a:lnSpc>
                <a:spcPct val="105000"/>
              </a:lnSpc>
              <a:buNone/>
            </a:pPr>
            <a:r>
              <a:rPr lang="en-US" sz="850" dirty="0">
                <a:solidFill>
                  <a:srgbClr val="B09040"/>
                </a:solidFill>
                <a:latin typeface="Calibri" pitchFamily="34" charset="0"/>
                <a:ea typeface="Calibri" pitchFamily="34" charset="-122"/>
                <a:cs typeface="Calibri" pitchFamily="34" charset="-120"/>
              </a:rPr>
              <a:t>Reason sent to Sales</a:t>
            </a:r>
            <a:endParaRPr lang="en-US" sz="850" dirty="0"/>
          </a:p>
        </p:txBody>
      </p:sp>
      <p:sp>
        <p:nvSpPr>
          <p:cNvPr id="79" name="Shape 77"/>
          <p:cNvSpPr/>
          <p:nvPr/>
        </p:nvSpPr>
        <p:spPr>
          <a:xfrm>
            <a:off x="438912" y="6364224"/>
            <a:ext cx="11320272" cy="256032"/>
          </a:xfrm>
          <a:prstGeom prst="roundRect">
            <a:avLst>
              <a:gd name="adj" fmla="val 17857"/>
            </a:avLst>
          </a:prstGeom>
          <a:solidFill>
            <a:srgbClr val="FFF8E1"/>
          </a:solidFill>
          <a:ln w="9525">
            <a:solidFill>
              <a:srgbClr val="C8A800"/>
            </a:solidFill>
            <a:prstDash val="solid"/>
          </a:ln>
        </p:spPr>
      </p:sp>
      <p:sp>
        <p:nvSpPr>
          <p:cNvPr id="80" name="Text 78"/>
          <p:cNvSpPr txBox="1"/>
          <p:nvPr/>
        </p:nvSpPr>
        <p:spPr>
          <a:xfrm>
            <a:off x="566928" y="6364224"/>
            <a:ext cx="11064240" cy="256032"/>
          </a:xfrm>
          <a:prstGeom prst="rect">
            <a:avLst/>
          </a:prstGeom>
          <a:noFill/>
          <a:ln/>
        </p:spPr>
        <p:txBody>
          <a:bodyPr wrap="square" lIns="0" tIns="0" rIns="0" bIns="0" rtlCol="0" anchor="ctr"/>
          <a:lstStyle/>
          <a:p>
            <a:pPr marL="0" indent="0">
              <a:buNone/>
            </a:pPr>
            <a:r>
              <a:rPr lang="en-US" sz="1000" dirty="0">
                <a:solidFill>
                  <a:srgbClr val="5C4600"/>
                </a:solidFill>
                <a:latin typeface="Calibri" pitchFamily="34" charset="0"/>
                <a:ea typeface="Calibri" pitchFamily="34" charset="-122"/>
                <a:cs typeface="Calibri" pitchFamily="34" charset="-120"/>
              </a:rPr>
              <a:t>⚡ Offline mode: Sales Rep saves order locally (Pending Sync) → auto-syncs on reconnect → System processes in arrival order (FCFS)</a:t>
            </a:r>
            <a:endParaRPr lang="en-US" sz="1000" dirty="0"/>
          </a:p>
        </p:txBody>
      </p:sp>
      <p:sp>
        <p:nvSpPr>
          <p:cNvPr id="81" name="Text 79"/>
          <p:cNvSpPr txBox="1"/>
          <p:nvPr/>
        </p:nvSpPr>
        <p:spPr>
          <a:xfrm>
            <a:off x="502920" y="6510528"/>
            <a:ext cx="7315200" cy="201168"/>
          </a:xfrm>
          <a:prstGeom prst="rect">
            <a:avLst/>
          </a:prstGeom>
          <a:noFill/>
          <a:ln/>
        </p:spPr>
        <p:txBody>
          <a:bodyPr wrap="square" lIns="0" tIns="0" rIns="0" bIns="0" rtlCol="0" anchor="ctr"/>
          <a:lstStyle/>
          <a:p>
            <a:pPr marL="0" indent="0">
              <a:buNone/>
            </a:pPr>
            <a:r>
              <a:rPr lang="en-US" sz="850" dirty="0">
                <a:solidFill>
                  <a:srgbClr val="A8C5C0"/>
                </a:solidFill>
                <a:latin typeface="Calibri" pitchFamily="34" charset="0"/>
                <a:ea typeface="Calibri" pitchFamily="34" charset="-122"/>
                <a:cs typeface="Calibri" pitchFamily="34" charset="-120"/>
              </a:rPr>
              <a:t>FSCM  ·  Capstone Project Overview  ·  FA26SE083</a:t>
            </a:r>
            <a:endParaRPr lang="en-US" sz="850" dirty="0"/>
          </a:p>
        </p:txBody>
      </p:sp>
      <p:sp>
        <p:nvSpPr>
          <p:cNvPr id="82" name="Text 80"/>
          <p:cNvSpPr txBox="1"/>
          <p:nvPr/>
        </p:nvSpPr>
        <p:spPr>
          <a:xfrm>
            <a:off x="11338560" y="6510528"/>
            <a:ext cx="365760" cy="201168"/>
          </a:xfrm>
          <a:prstGeom prst="rect">
            <a:avLst/>
          </a:prstGeom>
          <a:noFill/>
          <a:ln/>
        </p:spPr>
        <p:txBody>
          <a:bodyPr wrap="square" lIns="0" tIns="0" rIns="0" bIns="0" rtlCol="0" anchor="ctr"/>
          <a:lstStyle/>
          <a:p>
            <a:pPr marL="0" indent="0" algn="r">
              <a:buNone/>
            </a:pPr>
            <a:r>
              <a:rPr lang="en-US" sz="850" dirty="0">
                <a:solidFill>
                  <a:srgbClr val="A8C5C0"/>
                </a:solidFill>
                <a:latin typeface="Calibri" pitchFamily="34" charset="0"/>
                <a:ea typeface="Calibri" pitchFamily="34" charset="-122"/>
                <a:cs typeface="Calibri" pitchFamily="34" charset="-120"/>
              </a:rPr>
              <a:t>10</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AF9"/>
        </a:solidFill>
        <a:effectLst/>
      </p:bgPr>
    </p:bg>
    <p:spTree>
      <p:nvGrpSpPr>
        <p:cNvPr id="1" name=""/>
        <p:cNvGrpSpPr/>
        <p:nvPr/>
      </p:nvGrpSpPr>
      <p:grpSpPr>
        <a:xfrm>
          <a:off x="0" y="0"/>
          <a:ext cx="0" cy="0"/>
          <a:chOff x="0" y="0"/>
          <a:chExt cx="0" cy="0"/>
        </a:xfrm>
      </p:grpSpPr>
      <p:sp>
        <p:nvSpPr>
          <p:cNvPr id="2" name="Text 0"/>
          <p:cNvSpPr txBox="1"/>
          <p:nvPr/>
        </p:nvSpPr>
        <p:spPr>
          <a:xfrm>
            <a:off x="502920" y="402336"/>
            <a:ext cx="10058400" cy="292608"/>
          </a:xfrm>
          <a:prstGeom prst="rect">
            <a:avLst/>
          </a:prstGeom>
          <a:noFill/>
          <a:ln/>
        </p:spPr>
        <p:txBody>
          <a:bodyPr wrap="square" lIns="0" tIns="0" rIns="0" bIns="0" rtlCol="0" anchor="ctr"/>
          <a:lstStyle/>
          <a:p>
            <a:pPr marL="0" indent="0">
              <a:buNone/>
            </a:pPr>
            <a:r>
              <a:rPr lang="en-US" sz="1100" b="1" kern="0" spc="300" dirty="0">
                <a:solidFill>
                  <a:srgbClr val="028090"/>
                </a:solidFill>
                <a:latin typeface="Calibri" pitchFamily="34" charset="0"/>
                <a:ea typeface="Calibri" pitchFamily="34" charset="-122"/>
                <a:cs typeface="Calibri" pitchFamily="34" charset="-120"/>
              </a:rPr>
              <a:t>05 · SYSTEM FLOW</a:t>
            </a:r>
            <a:endParaRPr lang="en-US" sz="1100" dirty="0"/>
          </a:p>
        </p:txBody>
      </p:sp>
      <p:sp>
        <p:nvSpPr>
          <p:cNvPr id="3" name="Shape 1"/>
          <p:cNvSpPr/>
          <p:nvPr/>
        </p:nvSpPr>
        <p:spPr>
          <a:xfrm>
            <a:off x="502920" y="731520"/>
            <a:ext cx="11201400" cy="13716"/>
          </a:xfrm>
          <a:prstGeom prst="rect">
            <a:avLst/>
          </a:prstGeom>
          <a:solidFill>
            <a:srgbClr val="BFE8DC"/>
          </a:solidFill>
          <a:ln w="12700">
            <a:solidFill>
              <a:srgbClr val="BFE8DC"/>
            </a:solidFill>
            <a:prstDash val="solid"/>
          </a:ln>
        </p:spPr>
      </p:sp>
      <p:sp>
        <p:nvSpPr>
          <p:cNvPr id="4" name="Text 2"/>
          <p:cNvSpPr txBox="1"/>
          <p:nvPr/>
        </p:nvSpPr>
        <p:spPr>
          <a:xfrm>
            <a:off x="502920" y="777240"/>
            <a:ext cx="11201400" cy="594360"/>
          </a:xfrm>
          <a:prstGeom prst="rect">
            <a:avLst/>
          </a:prstGeom>
          <a:noFill/>
          <a:ln/>
        </p:spPr>
        <p:txBody>
          <a:bodyPr wrap="square" lIns="0" tIns="0" rIns="0" bIns="0" rtlCol="0" anchor="ctr"/>
          <a:lstStyle/>
          <a:p>
            <a:pPr marL="0" indent="0">
              <a:buNone/>
            </a:pPr>
            <a:r>
              <a:rPr lang="en-US" sz="3000" b="1" dirty="0">
                <a:solidFill>
                  <a:srgbClr val="13292C"/>
                </a:solidFill>
                <a:latin typeface="Cambria" pitchFamily="34" charset="0"/>
                <a:ea typeface="Cambria" pitchFamily="34" charset="-122"/>
                <a:cs typeface="Cambria" pitchFamily="34" charset="-120"/>
              </a:rPr>
              <a:t>Order Fulfillment &amp; Delivery Flow</a:t>
            </a:r>
            <a:endParaRPr lang="en-US" sz="3000" dirty="0"/>
          </a:p>
        </p:txBody>
      </p:sp>
      <p:sp>
        <p:nvSpPr>
          <p:cNvPr id="5" name="Shape 3"/>
          <p:cNvSpPr/>
          <p:nvPr/>
        </p:nvSpPr>
        <p:spPr>
          <a:xfrm>
            <a:off x="585216" y="1682496"/>
            <a:ext cx="1435608" cy="292608"/>
          </a:xfrm>
          <a:prstGeom prst="roundRect">
            <a:avLst>
              <a:gd name="adj" fmla="val 50000"/>
            </a:avLst>
          </a:prstGeom>
          <a:solidFill>
            <a:srgbClr val="EAF3F1"/>
          </a:solidFill>
          <a:ln w="12700">
            <a:solidFill>
              <a:srgbClr val="EAF3F1"/>
            </a:solidFill>
            <a:prstDash val="solid"/>
          </a:ln>
        </p:spPr>
      </p:sp>
      <p:sp>
        <p:nvSpPr>
          <p:cNvPr id="6" name="Text 4"/>
          <p:cNvSpPr txBox="1"/>
          <p:nvPr/>
        </p:nvSpPr>
        <p:spPr>
          <a:xfrm>
            <a:off x="585216" y="1682496"/>
            <a:ext cx="1435608" cy="292608"/>
          </a:xfrm>
          <a:prstGeom prst="rect">
            <a:avLst/>
          </a:prstGeom>
          <a:noFill/>
          <a:ln/>
        </p:spPr>
        <p:txBody>
          <a:bodyPr wrap="square" lIns="0" tIns="0" rIns="0" bIns="0" rtlCol="0" anchor="ctr"/>
          <a:lstStyle/>
          <a:p>
            <a:pPr marL="0" indent="0" algn="ctr">
              <a:buNone/>
            </a:pPr>
            <a:r>
              <a:rPr lang="en-US" sz="950" b="1" dirty="0">
                <a:solidFill>
                  <a:srgbClr val="028090"/>
                </a:solidFill>
                <a:latin typeface="Calibri" pitchFamily="34" charset="0"/>
                <a:ea typeface="Calibri" pitchFamily="34" charset="-122"/>
                <a:cs typeface="Calibri" pitchFamily="34" charset="-120"/>
              </a:rPr>
              <a:t>System</a:t>
            </a:r>
            <a:endParaRPr lang="en-US" sz="950" dirty="0"/>
          </a:p>
        </p:txBody>
      </p:sp>
      <p:sp>
        <p:nvSpPr>
          <p:cNvPr id="7" name="Shape 5"/>
          <p:cNvSpPr/>
          <p:nvPr/>
        </p:nvSpPr>
        <p:spPr>
          <a:xfrm>
            <a:off x="457200" y="2121408"/>
            <a:ext cx="1691640" cy="1371600"/>
          </a:xfrm>
          <a:prstGeom prst="roundRect">
            <a:avLst>
              <a:gd name="adj" fmla="val 6000"/>
            </a:avLst>
          </a:prstGeom>
          <a:solidFill>
            <a:srgbClr val="FFFFFF"/>
          </a:solidFill>
          <a:ln w="15240">
            <a:solidFill>
              <a:srgbClr val="028090"/>
            </a:solidFill>
            <a:prstDash val="solid"/>
          </a:ln>
          <a:effectLst>
            <a:outerShdw blurRad="63500" dist="25400" dir="5400000" algn="bl" rotWithShape="0">
              <a:srgbClr val="1B3B3B">
                <a:alpha val="15000"/>
              </a:srgbClr>
            </a:outerShdw>
          </a:effectLst>
        </p:spPr>
      </p:sp>
      <p:sp>
        <p:nvSpPr>
          <p:cNvPr id="8" name="Shape 6"/>
          <p:cNvSpPr/>
          <p:nvPr/>
        </p:nvSpPr>
        <p:spPr>
          <a:xfrm>
            <a:off x="585216" y="2212848"/>
            <a:ext cx="329184" cy="329184"/>
          </a:xfrm>
          <a:prstGeom prst="ellipse">
            <a:avLst/>
          </a:prstGeom>
          <a:solidFill>
            <a:srgbClr val="028090"/>
          </a:solidFill>
          <a:ln w="12700">
            <a:solidFill>
              <a:srgbClr val="028090"/>
            </a:solidFill>
            <a:prstDash val="solid"/>
          </a:ln>
        </p:spPr>
      </p:sp>
      <p:sp>
        <p:nvSpPr>
          <p:cNvPr id="9" name="Text 7"/>
          <p:cNvSpPr txBox="1"/>
          <p:nvPr/>
        </p:nvSpPr>
        <p:spPr>
          <a:xfrm>
            <a:off x="585216" y="2212848"/>
            <a:ext cx="329184" cy="329184"/>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1</a:t>
            </a:r>
            <a:endParaRPr lang="en-US" sz="1150" dirty="0"/>
          </a:p>
        </p:txBody>
      </p:sp>
      <p:sp>
        <p:nvSpPr>
          <p:cNvPr id="10" name="Text 8"/>
          <p:cNvSpPr txBox="1"/>
          <p:nvPr/>
        </p:nvSpPr>
        <p:spPr>
          <a:xfrm>
            <a:off x="530352" y="2615184"/>
            <a:ext cx="1545336" cy="530352"/>
          </a:xfrm>
          <a:prstGeom prst="rect">
            <a:avLst/>
          </a:prstGeom>
          <a:noFill/>
          <a:ln/>
        </p:spPr>
        <p:txBody>
          <a:bodyPr wrap="square" lIns="0" tIns="0" rIns="0" bIns="0" rtlCol="0" anchor="ctr"/>
          <a:lstStyle/>
          <a:p>
            <a:pPr marL="0" indent="0" algn="ctr">
              <a:buNone/>
            </a:pPr>
            <a:r>
              <a:rPr lang="en-US" sz="1200" b="1" dirty="0">
                <a:solidFill>
                  <a:srgbClr val="13292C"/>
                </a:solidFill>
                <a:latin typeface="Calibri" pitchFamily="34" charset="0"/>
                <a:ea typeface="Calibri" pitchFamily="34" charset="-122"/>
                <a:cs typeface="Calibri" pitchFamily="34" charset="-120"/>
              </a:rPr>
              <a:t>Allocation</a:t>
            </a:r>
            <a:endParaRPr lang="en-US" sz="1200" dirty="0"/>
          </a:p>
          <a:p>
            <a:pPr marL="0" indent="0" algn="ctr">
              <a:buNone/>
            </a:pPr>
            <a:r>
              <a:rPr lang="en-US" sz="1200" b="1" dirty="0">
                <a:solidFill>
                  <a:srgbClr val="13292C"/>
                </a:solidFill>
                <a:latin typeface="Calibri" pitchFamily="34" charset="0"/>
                <a:ea typeface="Calibri" pitchFamily="34" charset="-122"/>
                <a:cs typeface="Calibri" pitchFamily="34" charset="-120"/>
              </a:rPr>
              <a:t>Complete</a:t>
            </a:r>
            <a:endParaRPr lang="en-US" sz="1200" dirty="0"/>
          </a:p>
        </p:txBody>
      </p:sp>
      <p:sp>
        <p:nvSpPr>
          <p:cNvPr id="11" name="Text 9"/>
          <p:cNvSpPr txBox="1"/>
          <p:nvPr/>
        </p:nvSpPr>
        <p:spPr>
          <a:xfrm>
            <a:off x="530352" y="3127248"/>
            <a:ext cx="1545336" cy="347472"/>
          </a:xfrm>
          <a:prstGeom prst="rect">
            <a:avLst/>
          </a:prstGeom>
          <a:noFill/>
          <a:ln/>
        </p:spPr>
        <p:txBody>
          <a:bodyPr wrap="square" lIns="0" tIns="0" rIns="0" bIns="0" rtlCol="0" anchor="t"/>
          <a:lstStyle/>
          <a:p>
            <a:pPr marL="0" indent="0" algn="ctr">
              <a:lnSpc>
                <a:spcPct val="105000"/>
              </a:lnSpc>
              <a:buNone/>
            </a:pPr>
            <a:r>
              <a:rPr lang="en-US" sz="950" dirty="0">
                <a:solidFill>
                  <a:srgbClr val="4C6764"/>
                </a:solidFill>
                <a:latin typeface="Calibri" pitchFamily="34" charset="0"/>
                <a:ea typeface="Calibri" pitchFamily="34" charset="-122"/>
                <a:cs typeface="Calibri" pitchFamily="34" charset="-120"/>
              </a:rPr>
              <a:t>Batch Reserved</a:t>
            </a:r>
            <a:endParaRPr lang="en-US" sz="950" dirty="0"/>
          </a:p>
          <a:p>
            <a:pPr marL="0" indent="0" algn="ctr">
              <a:lnSpc>
                <a:spcPct val="105000"/>
              </a:lnSpc>
              <a:buNone/>
            </a:pPr>
            <a:r>
              <a:rPr lang="en-US" sz="950" dirty="0">
                <a:solidFill>
                  <a:srgbClr val="4C6764"/>
                </a:solidFill>
                <a:latin typeface="Calibri" pitchFamily="34" charset="0"/>
                <a:ea typeface="Calibri" pitchFamily="34" charset="-122"/>
                <a:cs typeface="Calibri" pitchFamily="34" charset="-120"/>
              </a:rPr>
              <a:t>Picking list created</a:t>
            </a:r>
            <a:endParaRPr lang="en-US" sz="950" dirty="0"/>
          </a:p>
        </p:txBody>
      </p:sp>
      <p:sp>
        <p:nvSpPr>
          <p:cNvPr id="12" name="Text 10"/>
          <p:cNvSpPr txBox="1"/>
          <p:nvPr/>
        </p:nvSpPr>
        <p:spPr>
          <a:xfrm>
            <a:off x="2167128" y="2642616"/>
            <a:ext cx="132588" cy="329184"/>
          </a:xfrm>
          <a:prstGeom prst="rect">
            <a:avLst/>
          </a:prstGeom>
          <a:noFill/>
          <a:ln/>
        </p:spPr>
        <p:txBody>
          <a:bodyPr wrap="square" lIns="0" tIns="0" rIns="0" bIns="0" rtlCol="0" anchor="ctr"/>
          <a:lstStyle/>
          <a:p>
            <a:pPr marL="0" indent="0" algn="ctr">
              <a:buNone/>
            </a:pPr>
            <a:r>
              <a:rPr lang="en-US" sz="1000" dirty="0">
                <a:solidFill>
                  <a:srgbClr val="00A896"/>
                </a:solidFill>
                <a:latin typeface="Calibri" pitchFamily="34" charset="0"/>
                <a:ea typeface="Calibri" pitchFamily="34" charset="-122"/>
                <a:cs typeface="Calibri" pitchFamily="34" charset="-120"/>
              </a:rPr>
              <a:t>▶</a:t>
            </a:r>
            <a:endParaRPr lang="en-US" sz="1000" dirty="0"/>
          </a:p>
        </p:txBody>
      </p:sp>
      <p:sp>
        <p:nvSpPr>
          <p:cNvPr id="13" name="Shape 11"/>
          <p:cNvSpPr/>
          <p:nvPr/>
        </p:nvSpPr>
        <p:spPr>
          <a:xfrm>
            <a:off x="2446020" y="1682496"/>
            <a:ext cx="1435608" cy="292608"/>
          </a:xfrm>
          <a:prstGeom prst="roundRect">
            <a:avLst>
              <a:gd name="adj" fmla="val 50000"/>
            </a:avLst>
          </a:prstGeom>
          <a:solidFill>
            <a:srgbClr val="EAF3F1"/>
          </a:solidFill>
          <a:ln w="12700">
            <a:solidFill>
              <a:srgbClr val="EAF3F1"/>
            </a:solidFill>
            <a:prstDash val="solid"/>
          </a:ln>
        </p:spPr>
      </p:sp>
      <p:sp>
        <p:nvSpPr>
          <p:cNvPr id="14" name="Text 12"/>
          <p:cNvSpPr txBox="1"/>
          <p:nvPr/>
        </p:nvSpPr>
        <p:spPr>
          <a:xfrm>
            <a:off x="2446020" y="1682496"/>
            <a:ext cx="1435608" cy="292608"/>
          </a:xfrm>
          <a:prstGeom prst="rect">
            <a:avLst/>
          </a:prstGeom>
          <a:noFill/>
          <a:ln/>
        </p:spPr>
        <p:txBody>
          <a:bodyPr wrap="square" lIns="0" tIns="0" rIns="0" bIns="0" rtlCol="0" anchor="ctr"/>
          <a:lstStyle/>
          <a:p>
            <a:pPr marL="0" indent="0" algn="ctr">
              <a:buNone/>
            </a:pPr>
            <a:r>
              <a:rPr lang="en-US" sz="950" b="1" dirty="0">
                <a:solidFill>
                  <a:srgbClr val="028090"/>
                </a:solidFill>
                <a:latin typeface="Calibri" pitchFamily="34" charset="0"/>
                <a:ea typeface="Calibri" pitchFamily="34" charset="-122"/>
                <a:cs typeface="Calibri" pitchFamily="34" charset="-120"/>
              </a:rPr>
              <a:t>Warehouse Keeper</a:t>
            </a:r>
            <a:endParaRPr lang="en-US" sz="950" dirty="0"/>
          </a:p>
        </p:txBody>
      </p:sp>
      <p:sp>
        <p:nvSpPr>
          <p:cNvPr id="15" name="Shape 13"/>
          <p:cNvSpPr/>
          <p:nvPr/>
        </p:nvSpPr>
        <p:spPr>
          <a:xfrm>
            <a:off x="2318004" y="2121408"/>
            <a:ext cx="1691640" cy="1371600"/>
          </a:xfrm>
          <a:prstGeom prst="roundRect">
            <a:avLst>
              <a:gd name="adj" fmla="val 6000"/>
            </a:avLst>
          </a:prstGeom>
          <a:solidFill>
            <a:srgbClr val="EAF3F1"/>
          </a:solidFill>
          <a:ln w="15240">
            <a:solidFill>
              <a:srgbClr val="BFE8DC"/>
            </a:solidFill>
            <a:prstDash val="solid"/>
          </a:ln>
          <a:effectLst>
            <a:outerShdw blurRad="63500" dist="25400" dir="5400000" algn="bl" rotWithShape="0">
              <a:srgbClr val="1B3B3B">
                <a:alpha val="15000"/>
              </a:srgbClr>
            </a:outerShdw>
          </a:effectLst>
        </p:spPr>
      </p:sp>
      <p:sp>
        <p:nvSpPr>
          <p:cNvPr id="16" name="Shape 14"/>
          <p:cNvSpPr/>
          <p:nvPr/>
        </p:nvSpPr>
        <p:spPr>
          <a:xfrm>
            <a:off x="2446020" y="2212848"/>
            <a:ext cx="329184" cy="329184"/>
          </a:xfrm>
          <a:prstGeom prst="ellipse">
            <a:avLst/>
          </a:prstGeom>
          <a:solidFill>
            <a:srgbClr val="028090"/>
          </a:solidFill>
          <a:ln w="12700">
            <a:solidFill>
              <a:srgbClr val="028090"/>
            </a:solidFill>
            <a:prstDash val="solid"/>
          </a:ln>
        </p:spPr>
      </p:sp>
      <p:sp>
        <p:nvSpPr>
          <p:cNvPr id="17" name="Text 15"/>
          <p:cNvSpPr txBox="1"/>
          <p:nvPr/>
        </p:nvSpPr>
        <p:spPr>
          <a:xfrm>
            <a:off x="2446020" y="2212848"/>
            <a:ext cx="329184" cy="329184"/>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2</a:t>
            </a:r>
            <a:endParaRPr lang="en-US" sz="1150" dirty="0"/>
          </a:p>
        </p:txBody>
      </p:sp>
      <p:sp>
        <p:nvSpPr>
          <p:cNvPr id="18" name="Text 16"/>
          <p:cNvSpPr txBox="1"/>
          <p:nvPr/>
        </p:nvSpPr>
        <p:spPr>
          <a:xfrm>
            <a:off x="2391156" y="2615184"/>
            <a:ext cx="1545336" cy="530352"/>
          </a:xfrm>
          <a:prstGeom prst="rect">
            <a:avLst/>
          </a:prstGeom>
          <a:noFill/>
          <a:ln/>
        </p:spPr>
        <p:txBody>
          <a:bodyPr wrap="square" lIns="0" tIns="0" rIns="0" bIns="0" rtlCol="0" anchor="ctr"/>
          <a:lstStyle/>
          <a:p>
            <a:pPr marL="0" indent="0" algn="ctr">
              <a:buNone/>
            </a:pPr>
            <a:r>
              <a:rPr lang="en-US" sz="1200" b="1" dirty="0">
                <a:solidFill>
                  <a:srgbClr val="13292C"/>
                </a:solidFill>
                <a:latin typeface="Calibri" pitchFamily="34" charset="0"/>
                <a:ea typeface="Calibri" pitchFamily="34" charset="-122"/>
                <a:cs typeface="Calibri" pitchFamily="34" charset="-120"/>
              </a:rPr>
              <a:t>Pick Goods</a:t>
            </a:r>
            <a:endParaRPr lang="en-US" sz="1200" dirty="0"/>
          </a:p>
        </p:txBody>
      </p:sp>
      <p:sp>
        <p:nvSpPr>
          <p:cNvPr id="19" name="Text 17"/>
          <p:cNvSpPr txBox="1"/>
          <p:nvPr/>
        </p:nvSpPr>
        <p:spPr>
          <a:xfrm>
            <a:off x="2391156" y="3127248"/>
            <a:ext cx="1545336" cy="347472"/>
          </a:xfrm>
          <a:prstGeom prst="rect">
            <a:avLst/>
          </a:prstGeom>
          <a:noFill/>
          <a:ln/>
        </p:spPr>
        <p:txBody>
          <a:bodyPr wrap="square" lIns="0" tIns="0" rIns="0" bIns="0" rtlCol="0" anchor="t"/>
          <a:lstStyle/>
          <a:p>
            <a:pPr marL="0" indent="0" algn="ctr">
              <a:lnSpc>
                <a:spcPct val="105000"/>
              </a:lnSpc>
              <a:buNone/>
            </a:pPr>
            <a:r>
              <a:rPr lang="en-US" sz="950" dirty="0">
                <a:solidFill>
                  <a:srgbClr val="4C6764"/>
                </a:solidFill>
                <a:latin typeface="Calibri" pitchFamily="34" charset="0"/>
                <a:ea typeface="Calibri" pitchFamily="34" charset="-122"/>
                <a:cs typeface="Calibri" pitchFamily="34" charset="-120"/>
              </a:rPr>
              <a:t>Follow picking list</a:t>
            </a:r>
            <a:endParaRPr lang="en-US" sz="950" dirty="0"/>
          </a:p>
          <a:p>
            <a:pPr marL="0" indent="0" algn="ctr">
              <a:lnSpc>
                <a:spcPct val="105000"/>
              </a:lnSpc>
              <a:buNone/>
            </a:pPr>
            <a:r>
              <a:rPr lang="en-US" sz="950" dirty="0">
                <a:solidFill>
                  <a:srgbClr val="4C6764"/>
                </a:solidFill>
                <a:latin typeface="Calibri" pitchFamily="34" charset="0"/>
                <a:ea typeface="Calibri" pitchFamily="34" charset="-122"/>
                <a:cs typeface="Calibri" pitchFamily="34" charset="-120"/>
              </a:rPr>
              <a:t>Scan batch QR</a:t>
            </a:r>
            <a:endParaRPr lang="en-US" sz="950" dirty="0"/>
          </a:p>
        </p:txBody>
      </p:sp>
      <p:sp>
        <p:nvSpPr>
          <p:cNvPr id="20" name="Text 18"/>
          <p:cNvSpPr txBox="1"/>
          <p:nvPr/>
        </p:nvSpPr>
        <p:spPr>
          <a:xfrm>
            <a:off x="4027932" y="2642616"/>
            <a:ext cx="132588" cy="329184"/>
          </a:xfrm>
          <a:prstGeom prst="rect">
            <a:avLst/>
          </a:prstGeom>
          <a:noFill/>
          <a:ln/>
        </p:spPr>
        <p:txBody>
          <a:bodyPr wrap="square" lIns="0" tIns="0" rIns="0" bIns="0" rtlCol="0" anchor="ctr"/>
          <a:lstStyle/>
          <a:p>
            <a:pPr marL="0" indent="0" algn="ctr">
              <a:buNone/>
            </a:pPr>
            <a:r>
              <a:rPr lang="en-US" sz="1000" dirty="0">
                <a:solidFill>
                  <a:srgbClr val="00A896"/>
                </a:solidFill>
                <a:latin typeface="Calibri" pitchFamily="34" charset="0"/>
                <a:ea typeface="Calibri" pitchFamily="34" charset="-122"/>
                <a:cs typeface="Calibri" pitchFamily="34" charset="-120"/>
              </a:rPr>
              <a:t>▶</a:t>
            </a:r>
            <a:endParaRPr lang="en-US" sz="1000" dirty="0"/>
          </a:p>
        </p:txBody>
      </p:sp>
      <p:sp>
        <p:nvSpPr>
          <p:cNvPr id="21" name="Shape 19"/>
          <p:cNvSpPr/>
          <p:nvPr/>
        </p:nvSpPr>
        <p:spPr>
          <a:xfrm>
            <a:off x="4306824" y="1682496"/>
            <a:ext cx="1435608" cy="292608"/>
          </a:xfrm>
          <a:prstGeom prst="roundRect">
            <a:avLst>
              <a:gd name="adj" fmla="val 50000"/>
            </a:avLst>
          </a:prstGeom>
          <a:solidFill>
            <a:srgbClr val="EAF3F1"/>
          </a:solidFill>
          <a:ln w="12700">
            <a:solidFill>
              <a:srgbClr val="EAF3F1"/>
            </a:solidFill>
            <a:prstDash val="solid"/>
          </a:ln>
        </p:spPr>
      </p:sp>
      <p:sp>
        <p:nvSpPr>
          <p:cNvPr id="22" name="Text 20"/>
          <p:cNvSpPr txBox="1"/>
          <p:nvPr/>
        </p:nvSpPr>
        <p:spPr>
          <a:xfrm>
            <a:off x="4306824" y="1682496"/>
            <a:ext cx="1435608" cy="292608"/>
          </a:xfrm>
          <a:prstGeom prst="rect">
            <a:avLst/>
          </a:prstGeom>
          <a:noFill/>
          <a:ln/>
        </p:spPr>
        <p:txBody>
          <a:bodyPr wrap="square" lIns="0" tIns="0" rIns="0" bIns="0" rtlCol="0" anchor="ctr"/>
          <a:lstStyle/>
          <a:p>
            <a:pPr marL="0" indent="0" algn="ctr">
              <a:buNone/>
            </a:pPr>
            <a:r>
              <a:rPr lang="en-US" sz="950" b="1" dirty="0">
                <a:solidFill>
                  <a:srgbClr val="028090"/>
                </a:solidFill>
                <a:latin typeface="Calibri" pitchFamily="34" charset="0"/>
                <a:ea typeface="Calibri" pitchFamily="34" charset="-122"/>
                <a:cs typeface="Calibri" pitchFamily="34" charset="-120"/>
              </a:rPr>
              <a:t>Warehouse Keeper</a:t>
            </a:r>
            <a:endParaRPr lang="en-US" sz="950" dirty="0"/>
          </a:p>
        </p:txBody>
      </p:sp>
      <p:sp>
        <p:nvSpPr>
          <p:cNvPr id="23" name="Shape 21"/>
          <p:cNvSpPr/>
          <p:nvPr/>
        </p:nvSpPr>
        <p:spPr>
          <a:xfrm>
            <a:off x="4178808" y="2121408"/>
            <a:ext cx="1691640" cy="1371600"/>
          </a:xfrm>
          <a:prstGeom prst="roundRect">
            <a:avLst>
              <a:gd name="adj" fmla="val 6000"/>
            </a:avLst>
          </a:prstGeom>
          <a:solidFill>
            <a:srgbClr val="EAF3F1"/>
          </a:solidFill>
          <a:ln w="15240">
            <a:solidFill>
              <a:srgbClr val="BFE8DC"/>
            </a:solidFill>
            <a:prstDash val="solid"/>
          </a:ln>
          <a:effectLst>
            <a:outerShdw blurRad="63500" dist="25400" dir="5400000" algn="bl" rotWithShape="0">
              <a:srgbClr val="1B3B3B">
                <a:alpha val="15000"/>
              </a:srgbClr>
            </a:outerShdw>
          </a:effectLst>
        </p:spPr>
      </p:sp>
      <p:sp>
        <p:nvSpPr>
          <p:cNvPr id="24" name="Shape 22"/>
          <p:cNvSpPr/>
          <p:nvPr/>
        </p:nvSpPr>
        <p:spPr>
          <a:xfrm>
            <a:off x="4306824" y="2212848"/>
            <a:ext cx="329184" cy="329184"/>
          </a:xfrm>
          <a:prstGeom prst="ellipse">
            <a:avLst/>
          </a:prstGeom>
          <a:solidFill>
            <a:srgbClr val="028090"/>
          </a:solidFill>
          <a:ln w="12700">
            <a:solidFill>
              <a:srgbClr val="028090"/>
            </a:solidFill>
            <a:prstDash val="solid"/>
          </a:ln>
        </p:spPr>
      </p:sp>
      <p:sp>
        <p:nvSpPr>
          <p:cNvPr id="25" name="Text 23"/>
          <p:cNvSpPr txBox="1"/>
          <p:nvPr/>
        </p:nvSpPr>
        <p:spPr>
          <a:xfrm>
            <a:off x="4306824" y="2212848"/>
            <a:ext cx="329184" cy="329184"/>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3</a:t>
            </a:r>
            <a:endParaRPr lang="en-US" sz="1150" dirty="0"/>
          </a:p>
        </p:txBody>
      </p:sp>
      <p:sp>
        <p:nvSpPr>
          <p:cNvPr id="26" name="Text 24"/>
          <p:cNvSpPr txBox="1"/>
          <p:nvPr/>
        </p:nvSpPr>
        <p:spPr>
          <a:xfrm>
            <a:off x="4251960" y="2615184"/>
            <a:ext cx="1545336" cy="530352"/>
          </a:xfrm>
          <a:prstGeom prst="rect">
            <a:avLst/>
          </a:prstGeom>
          <a:noFill/>
          <a:ln/>
        </p:spPr>
        <p:txBody>
          <a:bodyPr wrap="square" lIns="0" tIns="0" rIns="0" bIns="0" rtlCol="0" anchor="ctr"/>
          <a:lstStyle/>
          <a:p>
            <a:pPr marL="0" indent="0" algn="ctr">
              <a:buNone/>
            </a:pPr>
            <a:r>
              <a:rPr lang="en-US" sz="1200" b="1" dirty="0">
                <a:solidFill>
                  <a:srgbClr val="13292C"/>
                </a:solidFill>
                <a:latin typeface="Calibri" pitchFamily="34" charset="0"/>
                <a:ea typeface="Calibri" pitchFamily="34" charset="-122"/>
                <a:cs typeface="Calibri" pitchFamily="34" charset="-120"/>
              </a:rPr>
              <a:t>Confirm</a:t>
            </a:r>
            <a:endParaRPr lang="en-US" sz="1200" dirty="0"/>
          </a:p>
          <a:p>
            <a:pPr marL="0" indent="0" algn="ctr">
              <a:buNone/>
            </a:pPr>
            <a:r>
              <a:rPr lang="en-US" sz="1200" b="1" dirty="0">
                <a:solidFill>
                  <a:srgbClr val="13292C"/>
                </a:solidFill>
                <a:latin typeface="Calibri" pitchFamily="34" charset="0"/>
                <a:ea typeface="Calibri" pitchFamily="34" charset="-122"/>
                <a:cs typeface="Calibri" pitchFamily="34" charset="-120"/>
              </a:rPr>
              <a:t>Dispatch</a:t>
            </a:r>
            <a:endParaRPr lang="en-US" sz="1200" dirty="0"/>
          </a:p>
        </p:txBody>
      </p:sp>
      <p:sp>
        <p:nvSpPr>
          <p:cNvPr id="27" name="Text 25"/>
          <p:cNvSpPr txBox="1"/>
          <p:nvPr/>
        </p:nvSpPr>
        <p:spPr>
          <a:xfrm>
            <a:off x="4251960" y="3127248"/>
            <a:ext cx="1545336" cy="347472"/>
          </a:xfrm>
          <a:prstGeom prst="rect">
            <a:avLst/>
          </a:prstGeom>
          <a:noFill/>
          <a:ln/>
        </p:spPr>
        <p:txBody>
          <a:bodyPr wrap="square" lIns="0" tIns="0" rIns="0" bIns="0" rtlCol="0" anchor="t"/>
          <a:lstStyle/>
          <a:p>
            <a:pPr marL="0" indent="0" algn="ctr">
              <a:lnSpc>
                <a:spcPct val="105000"/>
              </a:lnSpc>
              <a:buNone/>
            </a:pPr>
            <a:r>
              <a:rPr lang="en-US" sz="950" dirty="0">
                <a:solidFill>
                  <a:srgbClr val="4C6764"/>
                </a:solidFill>
                <a:latin typeface="Calibri" pitchFamily="34" charset="0"/>
                <a:ea typeface="Calibri" pitchFamily="34" charset="-122"/>
                <a:cs typeface="Calibri" pitchFamily="34" charset="-120"/>
              </a:rPr>
              <a:t>Scan QR → split</a:t>
            </a:r>
            <a:endParaRPr lang="en-US" sz="950" dirty="0"/>
          </a:p>
          <a:p>
            <a:pPr marL="0" indent="0" algn="ctr">
              <a:lnSpc>
                <a:spcPct val="105000"/>
              </a:lnSpc>
              <a:buNone/>
            </a:pPr>
            <a:r>
              <a:rPr lang="en-US" sz="950" dirty="0">
                <a:solidFill>
                  <a:srgbClr val="4C6764"/>
                </a:solidFill>
                <a:latin typeface="Calibri" pitchFamily="34" charset="0"/>
                <a:ea typeface="Calibri" pitchFamily="34" charset="-122"/>
                <a:cs typeface="Calibri" pitchFamily="34" charset="-120"/>
              </a:rPr>
              <a:t>Deduct actual stock</a:t>
            </a:r>
            <a:endParaRPr lang="en-US" sz="950" dirty="0"/>
          </a:p>
        </p:txBody>
      </p:sp>
      <p:sp>
        <p:nvSpPr>
          <p:cNvPr id="28" name="Text 26"/>
          <p:cNvSpPr txBox="1"/>
          <p:nvPr/>
        </p:nvSpPr>
        <p:spPr>
          <a:xfrm>
            <a:off x="5888736" y="2642616"/>
            <a:ext cx="132588" cy="329184"/>
          </a:xfrm>
          <a:prstGeom prst="rect">
            <a:avLst/>
          </a:prstGeom>
          <a:noFill/>
          <a:ln/>
        </p:spPr>
        <p:txBody>
          <a:bodyPr wrap="square" lIns="0" tIns="0" rIns="0" bIns="0" rtlCol="0" anchor="ctr"/>
          <a:lstStyle/>
          <a:p>
            <a:pPr marL="0" indent="0" algn="ctr">
              <a:buNone/>
            </a:pPr>
            <a:r>
              <a:rPr lang="en-US" sz="1000" dirty="0">
                <a:solidFill>
                  <a:srgbClr val="00A896"/>
                </a:solidFill>
                <a:latin typeface="Calibri" pitchFamily="34" charset="0"/>
                <a:ea typeface="Calibri" pitchFamily="34" charset="-122"/>
                <a:cs typeface="Calibri" pitchFamily="34" charset="-120"/>
              </a:rPr>
              <a:t>▶</a:t>
            </a:r>
            <a:endParaRPr lang="en-US" sz="1000" dirty="0"/>
          </a:p>
        </p:txBody>
      </p:sp>
      <p:sp>
        <p:nvSpPr>
          <p:cNvPr id="29" name="Shape 27"/>
          <p:cNvSpPr/>
          <p:nvPr/>
        </p:nvSpPr>
        <p:spPr>
          <a:xfrm>
            <a:off x="6167628" y="1682496"/>
            <a:ext cx="1435608" cy="292608"/>
          </a:xfrm>
          <a:prstGeom prst="roundRect">
            <a:avLst>
              <a:gd name="adj" fmla="val 50000"/>
            </a:avLst>
          </a:prstGeom>
          <a:solidFill>
            <a:srgbClr val="EAF3F1"/>
          </a:solidFill>
          <a:ln w="12700">
            <a:solidFill>
              <a:srgbClr val="EAF3F1"/>
            </a:solidFill>
            <a:prstDash val="solid"/>
          </a:ln>
        </p:spPr>
      </p:sp>
      <p:sp>
        <p:nvSpPr>
          <p:cNvPr id="30" name="Text 28"/>
          <p:cNvSpPr txBox="1"/>
          <p:nvPr/>
        </p:nvSpPr>
        <p:spPr>
          <a:xfrm>
            <a:off x="6167628" y="1682496"/>
            <a:ext cx="1435608" cy="292608"/>
          </a:xfrm>
          <a:prstGeom prst="rect">
            <a:avLst/>
          </a:prstGeom>
          <a:noFill/>
          <a:ln/>
        </p:spPr>
        <p:txBody>
          <a:bodyPr wrap="square" lIns="0" tIns="0" rIns="0" bIns="0" rtlCol="0" anchor="ctr"/>
          <a:lstStyle/>
          <a:p>
            <a:pPr marL="0" indent="0" algn="ctr">
              <a:buNone/>
            </a:pPr>
            <a:r>
              <a:rPr lang="en-US" sz="950" b="1" dirty="0">
                <a:solidFill>
                  <a:srgbClr val="028090"/>
                </a:solidFill>
                <a:latin typeface="Calibri" pitchFamily="34" charset="0"/>
                <a:ea typeface="Calibri" pitchFamily="34" charset="-122"/>
                <a:cs typeface="Calibri" pitchFamily="34" charset="-120"/>
              </a:rPr>
              <a:t>Operator</a:t>
            </a:r>
            <a:endParaRPr lang="en-US" sz="950" dirty="0"/>
          </a:p>
        </p:txBody>
      </p:sp>
      <p:sp>
        <p:nvSpPr>
          <p:cNvPr id="31" name="Shape 29"/>
          <p:cNvSpPr/>
          <p:nvPr/>
        </p:nvSpPr>
        <p:spPr>
          <a:xfrm>
            <a:off x="6039612" y="2121408"/>
            <a:ext cx="1691640" cy="1371600"/>
          </a:xfrm>
          <a:prstGeom prst="roundRect">
            <a:avLst>
              <a:gd name="adj" fmla="val 6000"/>
            </a:avLst>
          </a:prstGeom>
          <a:solidFill>
            <a:srgbClr val="E8F7F4"/>
          </a:solidFill>
          <a:ln w="15240">
            <a:solidFill>
              <a:srgbClr val="02C39A"/>
            </a:solidFill>
            <a:prstDash val="solid"/>
          </a:ln>
          <a:effectLst>
            <a:outerShdw blurRad="63500" dist="25400" dir="5400000" algn="bl" rotWithShape="0">
              <a:srgbClr val="1B3B3B">
                <a:alpha val="15000"/>
              </a:srgbClr>
            </a:outerShdw>
          </a:effectLst>
        </p:spPr>
      </p:sp>
      <p:sp>
        <p:nvSpPr>
          <p:cNvPr id="32" name="Shape 30"/>
          <p:cNvSpPr/>
          <p:nvPr/>
        </p:nvSpPr>
        <p:spPr>
          <a:xfrm>
            <a:off x="6167628" y="2212848"/>
            <a:ext cx="329184" cy="329184"/>
          </a:xfrm>
          <a:prstGeom prst="ellipse">
            <a:avLst/>
          </a:prstGeom>
          <a:solidFill>
            <a:srgbClr val="028090"/>
          </a:solidFill>
          <a:ln w="12700">
            <a:solidFill>
              <a:srgbClr val="028090"/>
            </a:solidFill>
            <a:prstDash val="solid"/>
          </a:ln>
        </p:spPr>
      </p:sp>
      <p:sp>
        <p:nvSpPr>
          <p:cNvPr id="33" name="Text 31"/>
          <p:cNvSpPr txBox="1"/>
          <p:nvPr/>
        </p:nvSpPr>
        <p:spPr>
          <a:xfrm>
            <a:off x="6167628" y="2212848"/>
            <a:ext cx="329184" cy="329184"/>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4</a:t>
            </a:r>
            <a:endParaRPr lang="en-US" sz="1150" dirty="0"/>
          </a:p>
        </p:txBody>
      </p:sp>
      <p:sp>
        <p:nvSpPr>
          <p:cNvPr id="34" name="Text 32"/>
          <p:cNvSpPr txBox="1"/>
          <p:nvPr/>
        </p:nvSpPr>
        <p:spPr>
          <a:xfrm>
            <a:off x="6112764" y="2615184"/>
            <a:ext cx="1545336" cy="530352"/>
          </a:xfrm>
          <a:prstGeom prst="rect">
            <a:avLst/>
          </a:prstGeom>
          <a:noFill/>
          <a:ln/>
        </p:spPr>
        <p:txBody>
          <a:bodyPr wrap="square" lIns="0" tIns="0" rIns="0" bIns="0" rtlCol="0" anchor="ctr"/>
          <a:lstStyle/>
          <a:p>
            <a:pPr marL="0" indent="0" algn="ctr">
              <a:buNone/>
            </a:pPr>
            <a:r>
              <a:rPr lang="en-US" sz="1200" b="1" dirty="0">
                <a:solidFill>
                  <a:srgbClr val="13292C"/>
                </a:solidFill>
                <a:latin typeface="Calibri" pitchFamily="34" charset="0"/>
                <a:ea typeface="Calibri" pitchFamily="34" charset="-122"/>
                <a:cs typeface="Calibri" pitchFamily="34" charset="-120"/>
              </a:rPr>
              <a:t>Mark</a:t>
            </a:r>
            <a:endParaRPr lang="en-US" sz="1200" dirty="0"/>
          </a:p>
          <a:p>
            <a:pPr marL="0" indent="0" algn="ctr">
              <a:buNone/>
            </a:pPr>
            <a:r>
              <a:rPr lang="en-US" sz="1200" b="1" dirty="0">
                <a:solidFill>
                  <a:srgbClr val="13292C"/>
                </a:solidFill>
                <a:latin typeface="Calibri" pitchFamily="34" charset="0"/>
                <a:ea typeface="Calibri" pitchFamily="34" charset="-122"/>
                <a:cs typeface="Calibri" pitchFamily="34" charset="-120"/>
              </a:rPr>
              <a:t>"In Delivery"</a:t>
            </a:r>
            <a:endParaRPr lang="en-US" sz="1200" dirty="0"/>
          </a:p>
        </p:txBody>
      </p:sp>
      <p:sp>
        <p:nvSpPr>
          <p:cNvPr id="35" name="Text 33"/>
          <p:cNvSpPr txBox="1"/>
          <p:nvPr/>
        </p:nvSpPr>
        <p:spPr>
          <a:xfrm>
            <a:off x="6112764" y="3127248"/>
            <a:ext cx="1545336" cy="347472"/>
          </a:xfrm>
          <a:prstGeom prst="rect">
            <a:avLst/>
          </a:prstGeom>
          <a:noFill/>
          <a:ln/>
        </p:spPr>
        <p:txBody>
          <a:bodyPr wrap="square" lIns="0" tIns="0" rIns="0" bIns="0" rtlCol="0" anchor="t"/>
          <a:lstStyle/>
          <a:p>
            <a:pPr marL="0" indent="0" algn="ctr">
              <a:lnSpc>
                <a:spcPct val="105000"/>
              </a:lnSpc>
              <a:buNone/>
            </a:pPr>
            <a:r>
              <a:rPr lang="en-US" sz="950" dirty="0">
                <a:solidFill>
                  <a:srgbClr val="4C6764"/>
                </a:solidFill>
                <a:latin typeface="Calibri" pitchFamily="34" charset="0"/>
                <a:ea typeface="Calibri" pitchFamily="34" charset="-122"/>
                <a:cs typeface="Calibri" pitchFamily="34" charset="-120"/>
              </a:rPr>
              <a:t>Push notification</a:t>
            </a:r>
            <a:endParaRPr lang="en-US" sz="950" dirty="0"/>
          </a:p>
          <a:p>
            <a:pPr marL="0" indent="0" algn="ctr">
              <a:lnSpc>
                <a:spcPct val="105000"/>
              </a:lnSpc>
              <a:buNone/>
            </a:pPr>
            <a:r>
              <a:rPr lang="en-US" sz="950" dirty="0">
                <a:solidFill>
                  <a:srgbClr val="4C6764"/>
                </a:solidFill>
                <a:latin typeface="Calibri" pitchFamily="34" charset="0"/>
                <a:ea typeface="Calibri" pitchFamily="34" charset="-122"/>
                <a:cs typeface="Calibri" pitchFamily="34" charset="-120"/>
              </a:rPr>
              <a:t>to Retailer</a:t>
            </a:r>
            <a:endParaRPr lang="en-US" sz="950" dirty="0"/>
          </a:p>
        </p:txBody>
      </p:sp>
      <p:sp>
        <p:nvSpPr>
          <p:cNvPr id="36" name="Text 34"/>
          <p:cNvSpPr txBox="1"/>
          <p:nvPr/>
        </p:nvSpPr>
        <p:spPr>
          <a:xfrm>
            <a:off x="7749540" y="2642616"/>
            <a:ext cx="132588" cy="329184"/>
          </a:xfrm>
          <a:prstGeom prst="rect">
            <a:avLst/>
          </a:prstGeom>
          <a:noFill/>
          <a:ln/>
        </p:spPr>
        <p:txBody>
          <a:bodyPr wrap="square" lIns="0" tIns="0" rIns="0" bIns="0" rtlCol="0" anchor="ctr"/>
          <a:lstStyle/>
          <a:p>
            <a:pPr marL="0" indent="0" algn="ctr">
              <a:buNone/>
            </a:pPr>
            <a:r>
              <a:rPr lang="en-US" sz="1000" dirty="0">
                <a:solidFill>
                  <a:srgbClr val="00A896"/>
                </a:solidFill>
                <a:latin typeface="Calibri" pitchFamily="34" charset="0"/>
                <a:ea typeface="Calibri" pitchFamily="34" charset="-122"/>
                <a:cs typeface="Calibri" pitchFamily="34" charset="-120"/>
              </a:rPr>
              <a:t>▶</a:t>
            </a:r>
            <a:endParaRPr lang="en-US" sz="1000" dirty="0"/>
          </a:p>
        </p:txBody>
      </p:sp>
      <p:sp>
        <p:nvSpPr>
          <p:cNvPr id="37" name="Shape 35"/>
          <p:cNvSpPr/>
          <p:nvPr/>
        </p:nvSpPr>
        <p:spPr>
          <a:xfrm>
            <a:off x="8028432" y="1682496"/>
            <a:ext cx="1435608" cy="292608"/>
          </a:xfrm>
          <a:prstGeom prst="roundRect">
            <a:avLst>
              <a:gd name="adj" fmla="val 50000"/>
            </a:avLst>
          </a:prstGeom>
          <a:solidFill>
            <a:srgbClr val="EAF3F1"/>
          </a:solidFill>
          <a:ln w="12700">
            <a:solidFill>
              <a:srgbClr val="EAF3F1"/>
            </a:solidFill>
            <a:prstDash val="solid"/>
          </a:ln>
        </p:spPr>
      </p:sp>
      <p:sp>
        <p:nvSpPr>
          <p:cNvPr id="38" name="Text 36"/>
          <p:cNvSpPr txBox="1"/>
          <p:nvPr/>
        </p:nvSpPr>
        <p:spPr>
          <a:xfrm>
            <a:off x="8028432" y="1682496"/>
            <a:ext cx="1435608" cy="292608"/>
          </a:xfrm>
          <a:prstGeom prst="rect">
            <a:avLst/>
          </a:prstGeom>
          <a:noFill/>
          <a:ln/>
        </p:spPr>
        <p:txBody>
          <a:bodyPr wrap="square" lIns="0" tIns="0" rIns="0" bIns="0" rtlCol="0" anchor="ctr"/>
          <a:lstStyle/>
          <a:p>
            <a:pPr marL="0" indent="0" algn="ctr">
              <a:buNone/>
            </a:pPr>
            <a:r>
              <a:rPr lang="en-US" sz="950" b="1" dirty="0">
                <a:solidFill>
                  <a:srgbClr val="028090"/>
                </a:solidFill>
                <a:latin typeface="Calibri" pitchFamily="34" charset="0"/>
                <a:ea typeface="Calibri" pitchFamily="34" charset="-122"/>
                <a:cs typeface="Calibri" pitchFamily="34" charset="-120"/>
              </a:rPr>
              <a:t>Retailer</a:t>
            </a:r>
            <a:endParaRPr lang="en-US" sz="950" dirty="0"/>
          </a:p>
        </p:txBody>
      </p:sp>
      <p:sp>
        <p:nvSpPr>
          <p:cNvPr id="39" name="Shape 37"/>
          <p:cNvSpPr/>
          <p:nvPr/>
        </p:nvSpPr>
        <p:spPr>
          <a:xfrm>
            <a:off x="7900416" y="2121408"/>
            <a:ext cx="1691640" cy="1371600"/>
          </a:xfrm>
          <a:prstGeom prst="roundRect">
            <a:avLst>
              <a:gd name="adj" fmla="val 6000"/>
            </a:avLst>
          </a:prstGeom>
          <a:solidFill>
            <a:srgbClr val="FFFFFF"/>
          </a:solidFill>
          <a:ln w="15240">
            <a:solidFill>
              <a:srgbClr val="00A896"/>
            </a:solidFill>
            <a:prstDash val="solid"/>
          </a:ln>
          <a:effectLst>
            <a:outerShdw blurRad="63500" dist="25400" dir="5400000" algn="bl" rotWithShape="0">
              <a:srgbClr val="1B3B3B">
                <a:alpha val="15000"/>
              </a:srgbClr>
            </a:outerShdw>
          </a:effectLst>
        </p:spPr>
      </p:sp>
      <p:sp>
        <p:nvSpPr>
          <p:cNvPr id="40" name="Shape 38"/>
          <p:cNvSpPr/>
          <p:nvPr/>
        </p:nvSpPr>
        <p:spPr>
          <a:xfrm>
            <a:off x="8028432" y="2212848"/>
            <a:ext cx="329184" cy="329184"/>
          </a:xfrm>
          <a:prstGeom prst="ellipse">
            <a:avLst/>
          </a:prstGeom>
          <a:solidFill>
            <a:srgbClr val="028090"/>
          </a:solidFill>
          <a:ln w="12700">
            <a:solidFill>
              <a:srgbClr val="028090"/>
            </a:solidFill>
            <a:prstDash val="solid"/>
          </a:ln>
        </p:spPr>
      </p:sp>
      <p:sp>
        <p:nvSpPr>
          <p:cNvPr id="41" name="Text 39"/>
          <p:cNvSpPr txBox="1"/>
          <p:nvPr/>
        </p:nvSpPr>
        <p:spPr>
          <a:xfrm>
            <a:off x="8028432" y="2212848"/>
            <a:ext cx="329184" cy="329184"/>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5</a:t>
            </a:r>
            <a:endParaRPr lang="en-US" sz="1150" dirty="0"/>
          </a:p>
        </p:txBody>
      </p:sp>
      <p:sp>
        <p:nvSpPr>
          <p:cNvPr id="42" name="Text 40"/>
          <p:cNvSpPr txBox="1"/>
          <p:nvPr/>
        </p:nvSpPr>
        <p:spPr>
          <a:xfrm>
            <a:off x="7973568" y="2615184"/>
            <a:ext cx="1545336" cy="530352"/>
          </a:xfrm>
          <a:prstGeom prst="rect">
            <a:avLst/>
          </a:prstGeom>
          <a:noFill/>
          <a:ln/>
        </p:spPr>
        <p:txBody>
          <a:bodyPr wrap="square" lIns="0" tIns="0" rIns="0" bIns="0" rtlCol="0" anchor="ctr"/>
          <a:lstStyle/>
          <a:p>
            <a:pPr marL="0" indent="0" algn="ctr">
              <a:buNone/>
            </a:pPr>
            <a:r>
              <a:rPr lang="en-US" sz="1200" b="1" dirty="0">
                <a:solidFill>
                  <a:srgbClr val="13292C"/>
                </a:solidFill>
                <a:latin typeface="Calibri" pitchFamily="34" charset="0"/>
                <a:ea typeface="Calibri" pitchFamily="34" charset="-122"/>
                <a:cs typeface="Calibri" pitchFamily="34" charset="-120"/>
              </a:rPr>
              <a:t>Scan QR to</a:t>
            </a:r>
            <a:endParaRPr lang="en-US" sz="1200" dirty="0"/>
          </a:p>
          <a:p>
            <a:pPr marL="0" indent="0" algn="ctr">
              <a:buNone/>
            </a:pPr>
            <a:r>
              <a:rPr lang="en-US" sz="1200" b="1" dirty="0">
                <a:solidFill>
                  <a:srgbClr val="13292C"/>
                </a:solidFill>
                <a:latin typeface="Calibri" pitchFamily="34" charset="0"/>
                <a:ea typeface="Calibri" pitchFamily="34" charset="-122"/>
                <a:cs typeface="Calibri" pitchFamily="34" charset="-120"/>
              </a:rPr>
              <a:t>Confirm Receipt</a:t>
            </a:r>
            <a:endParaRPr lang="en-US" sz="1200" dirty="0"/>
          </a:p>
        </p:txBody>
      </p:sp>
      <p:sp>
        <p:nvSpPr>
          <p:cNvPr id="43" name="Text 41"/>
          <p:cNvSpPr txBox="1"/>
          <p:nvPr/>
        </p:nvSpPr>
        <p:spPr>
          <a:xfrm>
            <a:off x="7973568" y="3127248"/>
            <a:ext cx="1545336" cy="347472"/>
          </a:xfrm>
          <a:prstGeom prst="rect">
            <a:avLst/>
          </a:prstGeom>
          <a:noFill/>
          <a:ln/>
        </p:spPr>
        <p:txBody>
          <a:bodyPr wrap="square" lIns="0" tIns="0" rIns="0" bIns="0" rtlCol="0" anchor="t"/>
          <a:lstStyle/>
          <a:p>
            <a:pPr marL="0" indent="0" algn="ctr">
              <a:lnSpc>
                <a:spcPct val="105000"/>
              </a:lnSpc>
              <a:buNone/>
            </a:pPr>
            <a:r>
              <a:rPr lang="en-US" sz="950" dirty="0">
                <a:solidFill>
                  <a:srgbClr val="4C6764"/>
                </a:solidFill>
                <a:latin typeface="Calibri" pitchFamily="34" charset="0"/>
                <a:ea typeface="Calibri" pitchFamily="34" charset="-122"/>
                <a:cs typeface="Calibri" pitchFamily="34" charset="-120"/>
              </a:rPr>
              <a:t>Match Batch ID</a:t>
            </a:r>
            <a:endParaRPr lang="en-US" sz="950" dirty="0"/>
          </a:p>
          <a:p>
            <a:pPr marL="0" indent="0" algn="ctr">
              <a:lnSpc>
                <a:spcPct val="105000"/>
              </a:lnSpc>
              <a:buNone/>
            </a:pPr>
            <a:r>
              <a:rPr lang="en-US" sz="950" dirty="0">
                <a:solidFill>
                  <a:srgbClr val="4C6764"/>
                </a:solidFill>
                <a:latin typeface="Calibri" pitchFamily="34" charset="0"/>
                <a:ea typeface="Calibri" pitchFamily="34" charset="-122"/>
                <a:cs typeface="Calibri" pitchFamily="34" charset="-120"/>
              </a:rPr>
              <a:t>+ Quantity</a:t>
            </a:r>
            <a:endParaRPr lang="en-US" sz="950" dirty="0"/>
          </a:p>
        </p:txBody>
      </p:sp>
      <p:sp>
        <p:nvSpPr>
          <p:cNvPr id="44" name="Text 42"/>
          <p:cNvSpPr txBox="1"/>
          <p:nvPr/>
        </p:nvSpPr>
        <p:spPr>
          <a:xfrm>
            <a:off x="9610344" y="2642616"/>
            <a:ext cx="132588" cy="329184"/>
          </a:xfrm>
          <a:prstGeom prst="rect">
            <a:avLst/>
          </a:prstGeom>
          <a:noFill/>
          <a:ln/>
        </p:spPr>
        <p:txBody>
          <a:bodyPr wrap="square" lIns="0" tIns="0" rIns="0" bIns="0" rtlCol="0" anchor="ctr"/>
          <a:lstStyle/>
          <a:p>
            <a:pPr marL="0" indent="0" algn="ctr">
              <a:buNone/>
            </a:pPr>
            <a:r>
              <a:rPr lang="en-US" sz="1000" dirty="0">
                <a:solidFill>
                  <a:srgbClr val="00A896"/>
                </a:solidFill>
                <a:latin typeface="Calibri" pitchFamily="34" charset="0"/>
                <a:ea typeface="Calibri" pitchFamily="34" charset="-122"/>
                <a:cs typeface="Calibri" pitchFamily="34" charset="-120"/>
              </a:rPr>
              <a:t>▶</a:t>
            </a:r>
            <a:endParaRPr lang="en-US" sz="1000" dirty="0"/>
          </a:p>
        </p:txBody>
      </p:sp>
      <p:sp>
        <p:nvSpPr>
          <p:cNvPr id="45" name="Shape 43"/>
          <p:cNvSpPr/>
          <p:nvPr/>
        </p:nvSpPr>
        <p:spPr>
          <a:xfrm>
            <a:off x="9889236" y="1682496"/>
            <a:ext cx="1435608" cy="292608"/>
          </a:xfrm>
          <a:prstGeom prst="roundRect">
            <a:avLst>
              <a:gd name="adj" fmla="val 50000"/>
            </a:avLst>
          </a:prstGeom>
          <a:solidFill>
            <a:srgbClr val="028090"/>
          </a:solidFill>
          <a:ln w="12700">
            <a:solidFill>
              <a:srgbClr val="028090"/>
            </a:solidFill>
            <a:prstDash val="solid"/>
          </a:ln>
        </p:spPr>
      </p:sp>
      <p:sp>
        <p:nvSpPr>
          <p:cNvPr id="46" name="Text 44"/>
          <p:cNvSpPr txBox="1"/>
          <p:nvPr/>
        </p:nvSpPr>
        <p:spPr>
          <a:xfrm>
            <a:off x="9889236" y="1682496"/>
            <a:ext cx="1435608" cy="292608"/>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System</a:t>
            </a:r>
            <a:endParaRPr lang="en-US" sz="950" dirty="0"/>
          </a:p>
        </p:txBody>
      </p:sp>
      <p:sp>
        <p:nvSpPr>
          <p:cNvPr id="47" name="Shape 45"/>
          <p:cNvSpPr/>
          <p:nvPr/>
        </p:nvSpPr>
        <p:spPr>
          <a:xfrm>
            <a:off x="9761220" y="2121408"/>
            <a:ext cx="1691640" cy="1371600"/>
          </a:xfrm>
          <a:prstGeom prst="roundRect">
            <a:avLst>
              <a:gd name="adj" fmla="val 6000"/>
            </a:avLst>
          </a:prstGeom>
          <a:solidFill>
            <a:srgbClr val="0B2E33"/>
          </a:solidFill>
          <a:ln w="15240">
            <a:solidFill>
              <a:srgbClr val="028090"/>
            </a:solidFill>
            <a:prstDash val="solid"/>
          </a:ln>
          <a:effectLst>
            <a:outerShdw blurRad="63500" dist="25400" dir="5400000" algn="bl" rotWithShape="0">
              <a:srgbClr val="1B3B3B">
                <a:alpha val="15000"/>
              </a:srgbClr>
            </a:outerShdw>
          </a:effectLst>
        </p:spPr>
      </p:sp>
      <p:sp>
        <p:nvSpPr>
          <p:cNvPr id="48" name="Shape 46"/>
          <p:cNvSpPr/>
          <p:nvPr/>
        </p:nvSpPr>
        <p:spPr>
          <a:xfrm>
            <a:off x="9889236" y="2212848"/>
            <a:ext cx="329184" cy="329184"/>
          </a:xfrm>
          <a:prstGeom prst="ellipse">
            <a:avLst/>
          </a:prstGeom>
          <a:solidFill>
            <a:srgbClr val="02C39A"/>
          </a:solidFill>
          <a:ln w="12700">
            <a:solidFill>
              <a:srgbClr val="02C39A"/>
            </a:solidFill>
            <a:prstDash val="solid"/>
          </a:ln>
        </p:spPr>
      </p:sp>
      <p:sp>
        <p:nvSpPr>
          <p:cNvPr id="49" name="Text 47"/>
          <p:cNvSpPr txBox="1"/>
          <p:nvPr/>
        </p:nvSpPr>
        <p:spPr>
          <a:xfrm>
            <a:off x="9889236" y="2212848"/>
            <a:ext cx="329184" cy="329184"/>
          </a:xfrm>
          <a:prstGeom prst="rect">
            <a:avLst/>
          </a:prstGeom>
          <a:noFill/>
          <a:ln/>
        </p:spPr>
        <p:txBody>
          <a:bodyPr wrap="square" lIns="0" tIns="0" rIns="0" bIns="0" rtlCol="0" anchor="ctr"/>
          <a:lstStyle/>
          <a:p>
            <a:pPr marL="0" indent="0" algn="ctr">
              <a:buNone/>
            </a:pPr>
            <a:r>
              <a:rPr lang="en-US" sz="1150" b="1" dirty="0">
                <a:solidFill>
                  <a:srgbClr val="0B2E33"/>
                </a:solidFill>
                <a:latin typeface="Calibri" pitchFamily="34" charset="0"/>
                <a:ea typeface="Calibri" pitchFamily="34" charset="-122"/>
                <a:cs typeface="Calibri" pitchFamily="34" charset="-120"/>
              </a:rPr>
              <a:t>6</a:t>
            </a:r>
            <a:endParaRPr lang="en-US" sz="1150" dirty="0"/>
          </a:p>
        </p:txBody>
      </p:sp>
      <p:sp>
        <p:nvSpPr>
          <p:cNvPr id="50" name="Text 48"/>
          <p:cNvSpPr txBox="1"/>
          <p:nvPr/>
        </p:nvSpPr>
        <p:spPr>
          <a:xfrm>
            <a:off x="9834372" y="2615184"/>
            <a:ext cx="1545336" cy="530352"/>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Order</a:t>
            </a:r>
            <a:endParaRPr lang="en-US" sz="1200" dirty="0"/>
          </a:p>
          <a:p>
            <a:pPr marL="0" indent="0" algn="ctr">
              <a:buNone/>
            </a:pPr>
            <a:r>
              <a:rPr lang="en-US" sz="1200" b="1" dirty="0">
                <a:solidFill>
                  <a:srgbClr val="FFFFFF"/>
                </a:solidFill>
                <a:latin typeface="Calibri" pitchFamily="34" charset="0"/>
                <a:ea typeface="Calibri" pitchFamily="34" charset="-122"/>
                <a:cs typeface="Calibri" pitchFamily="34" charset="-120"/>
              </a:rPr>
              <a:t>"Delivered"</a:t>
            </a:r>
            <a:endParaRPr lang="en-US" sz="1200" dirty="0"/>
          </a:p>
        </p:txBody>
      </p:sp>
      <p:sp>
        <p:nvSpPr>
          <p:cNvPr id="51" name="Text 49"/>
          <p:cNvSpPr txBox="1"/>
          <p:nvPr/>
        </p:nvSpPr>
        <p:spPr>
          <a:xfrm>
            <a:off x="9834372" y="3127248"/>
            <a:ext cx="1545336" cy="347472"/>
          </a:xfrm>
          <a:prstGeom prst="rect">
            <a:avLst/>
          </a:prstGeom>
          <a:noFill/>
          <a:ln/>
        </p:spPr>
        <p:txBody>
          <a:bodyPr wrap="square" lIns="0" tIns="0" rIns="0" bIns="0" rtlCol="0" anchor="t"/>
          <a:lstStyle/>
          <a:p>
            <a:pPr marL="0" indent="0" algn="ctr">
              <a:lnSpc>
                <a:spcPct val="105000"/>
              </a:lnSpc>
              <a:buNone/>
            </a:pPr>
            <a:r>
              <a:rPr lang="en-US" sz="950" dirty="0">
                <a:solidFill>
                  <a:srgbClr val="6FAFA6"/>
                </a:solidFill>
                <a:latin typeface="Calibri" pitchFamily="34" charset="0"/>
                <a:ea typeface="Calibri" pitchFamily="34" charset="-122"/>
                <a:cs typeface="Calibri" pitchFamily="34" charset="-120"/>
              </a:rPr>
              <a:t>Ledger updated</a:t>
            </a:r>
            <a:endParaRPr lang="en-US" sz="950" dirty="0"/>
          </a:p>
          <a:p>
            <a:pPr marL="0" indent="0" algn="ctr">
              <a:lnSpc>
                <a:spcPct val="105000"/>
              </a:lnSpc>
              <a:buNone/>
            </a:pPr>
            <a:r>
              <a:rPr lang="en-US" sz="950" dirty="0">
                <a:solidFill>
                  <a:srgbClr val="6FAFA6"/>
                </a:solidFill>
                <a:latin typeface="Calibri" pitchFamily="34" charset="0"/>
                <a:ea typeface="Calibri" pitchFamily="34" charset="-122"/>
                <a:cs typeface="Calibri" pitchFamily="34" charset="-120"/>
              </a:rPr>
              <a:t>Order closed</a:t>
            </a:r>
            <a:endParaRPr lang="en-US" sz="950" dirty="0"/>
          </a:p>
        </p:txBody>
      </p:sp>
      <p:sp>
        <p:nvSpPr>
          <p:cNvPr id="52" name="Shape 50"/>
          <p:cNvSpPr/>
          <p:nvPr/>
        </p:nvSpPr>
        <p:spPr>
          <a:xfrm>
            <a:off x="502920" y="3785616"/>
            <a:ext cx="11201400" cy="1956816"/>
          </a:xfrm>
          <a:prstGeom prst="roundRect">
            <a:avLst>
              <a:gd name="adj" fmla="val 4673"/>
            </a:avLst>
          </a:prstGeom>
          <a:solidFill>
            <a:srgbClr val="0F3D42"/>
          </a:solidFill>
          <a:ln w="9525">
            <a:solidFill>
              <a:srgbClr val="028090"/>
            </a:solidFill>
            <a:prstDash val="solid"/>
          </a:ln>
        </p:spPr>
      </p:sp>
      <p:sp>
        <p:nvSpPr>
          <p:cNvPr id="53" name="Text 51"/>
          <p:cNvSpPr txBox="1"/>
          <p:nvPr/>
        </p:nvSpPr>
        <p:spPr>
          <a:xfrm>
            <a:off x="685800" y="3877056"/>
            <a:ext cx="4572000" cy="292608"/>
          </a:xfrm>
          <a:prstGeom prst="rect">
            <a:avLst/>
          </a:prstGeom>
          <a:noFill/>
          <a:ln/>
        </p:spPr>
        <p:txBody>
          <a:bodyPr wrap="square" lIns="0" tIns="0" rIns="0" bIns="0" rtlCol="0" anchor="ctr"/>
          <a:lstStyle/>
          <a:p>
            <a:pPr marL="0" indent="0">
              <a:buNone/>
            </a:pPr>
            <a:r>
              <a:rPr lang="en-US" sz="1300" b="1" dirty="0">
                <a:solidFill>
                  <a:srgbClr val="02C39A"/>
                </a:solidFill>
                <a:latin typeface="Calibri" pitchFamily="34" charset="0"/>
                <a:ea typeface="Calibri" pitchFamily="34" charset="-122"/>
                <a:cs typeface="Calibri" pitchFamily="34" charset="-120"/>
              </a:rPr>
              <a:t>QR Batch Split on Dispatch</a:t>
            </a:r>
            <a:endParaRPr lang="en-US" sz="1300" dirty="0"/>
          </a:p>
        </p:txBody>
      </p:sp>
      <p:sp>
        <p:nvSpPr>
          <p:cNvPr id="54" name="Shape 52"/>
          <p:cNvSpPr/>
          <p:nvPr/>
        </p:nvSpPr>
        <p:spPr>
          <a:xfrm>
            <a:off x="621792" y="4242816"/>
            <a:ext cx="2011680" cy="1353312"/>
          </a:xfrm>
          <a:prstGeom prst="roundRect">
            <a:avLst>
              <a:gd name="adj" fmla="val 5405"/>
            </a:avLst>
          </a:prstGeom>
          <a:solidFill>
            <a:srgbClr val="0D3B41"/>
          </a:solidFill>
          <a:ln w="9525">
            <a:solidFill>
              <a:srgbClr val="00A896"/>
            </a:solidFill>
            <a:prstDash val="solid"/>
          </a:ln>
        </p:spPr>
      </p:sp>
      <p:sp>
        <p:nvSpPr>
          <p:cNvPr id="55" name="Shape 53"/>
          <p:cNvSpPr/>
          <p:nvPr/>
        </p:nvSpPr>
        <p:spPr>
          <a:xfrm>
            <a:off x="749808" y="4334256"/>
            <a:ext cx="292608" cy="292608"/>
          </a:xfrm>
          <a:prstGeom prst="ellipse">
            <a:avLst/>
          </a:prstGeom>
          <a:solidFill>
            <a:srgbClr val="00A896"/>
          </a:solidFill>
          <a:ln w="12700">
            <a:solidFill>
              <a:srgbClr val="00A896"/>
            </a:solidFill>
            <a:prstDash val="solid"/>
          </a:ln>
        </p:spPr>
      </p:sp>
      <p:sp>
        <p:nvSpPr>
          <p:cNvPr id="56" name="Text 54"/>
          <p:cNvSpPr txBox="1"/>
          <p:nvPr/>
        </p:nvSpPr>
        <p:spPr>
          <a:xfrm>
            <a:off x="749808" y="4334256"/>
            <a:ext cx="29260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1</a:t>
            </a:r>
            <a:endParaRPr lang="en-US" sz="1000" dirty="0"/>
          </a:p>
        </p:txBody>
      </p:sp>
      <p:sp>
        <p:nvSpPr>
          <p:cNvPr id="57" name="Text 55"/>
          <p:cNvSpPr txBox="1"/>
          <p:nvPr/>
        </p:nvSpPr>
        <p:spPr>
          <a:xfrm>
            <a:off x="694944" y="4700016"/>
            <a:ext cx="1865376" cy="804672"/>
          </a:xfrm>
          <a:prstGeom prst="rect">
            <a:avLst/>
          </a:prstGeom>
          <a:noFill/>
          <a:ln/>
        </p:spPr>
        <p:txBody>
          <a:bodyPr wrap="square" lIns="0" tIns="0" rIns="0" bIns="0" rtlCol="0" anchor="t"/>
          <a:lstStyle/>
          <a:p>
            <a:pPr marL="0" indent="0" algn="ctr">
              <a:lnSpc>
                <a:spcPct val="110000"/>
              </a:lnSpc>
              <a:buNone/>
            </a:pPr>
            <a:r>
              <a:rPr lang="en-US" sz="1050" dirty="0">
                <a:solidFill>
                  <a:srgbClr val="D2EFEB"/>
                </a:solidFill>
                <a:latin typeface="Calibri" pitchFamily="34" charset="0"/>
                <a:ea typeface="Calibri" pitchFamily="34" charset="-122"/>
                <a:cs typeface="Calibri" pitchFamily="34" charset="-120"/>
              </a:rPr>
              <a:t>WH Keeper</a:t>
            </a:r>
            <a:endParaRPr lang="en-US" sz="1050" dirty="0"/>
          </a:p>
          <a:p>
            <a:pPr marL="0" indent="0" algn="ctr">
              <a:lnSpc>
                <a:spcPct val="110000"/>
              </a:lnSpc>
              <a:buNone/>
            </a:pPr>
            <a:r>
              <a:rPr lang="en-US" sz="1050" dirty="0">
                <a:solidFill>
                  <a:srgbClr val="D2EFEB"/>
                </a:solidFill>
                <a:latin typeface="Calibri" pitchFamily="34" charset="0"/>
                <a:ea typeface="Calibri" pitchFamily="34" charset="-122"/>
                <a:cs typeface="Calibri" pitchFamily="34" charset="-120"/>
              </a:rPr>
              <a:t>scans batch QR</a:t>
            </a:r>
            <a:endParaRPr lang="en-US" sz="1050" dirty="0"/>
          </a:p>
          <a:p>
            <a:pPr marL="0" indent="0" algn="ctr">
              <a:lnSpc>
                <a:spcPct val="110000"/>
              </a:lnSpc>
              <a:buNone/>
            </a:pPr>
            <a:r>
              <a:rPr lang="en-US" sz="1050" dirty="0">
                <a:solidFill>
                  <a:srgbClr val="D2EFEB"/>
                </a:solidFill>
                <a:latin typeface="Calibri" pitchFamily="34" charset="0"/>
                <a:ea typeface="Calibri" pitchFamily="34" charset="-122"/>
                <a:cs typeface="Calibri" pitchFamily="34" charset="-120"/>
              </a:rPr>
              <a:t>(e.g. BTA  100 units)</a:t>
            </a:r>
            <a:endParaRPr lang="en-US" sz="1050" dirty="0"/>
          </a:p>
        </p:txBody>
      </p:sp>
      <p:sp>
        <p:nvSpPr>
          <p:cNvPr id="58" name="Text 56"/>
          <p:cNvSpPr txBox="1"/>
          <p:nvPr/>
        </p:nvSpPr>
        <p:spPr>
          <a:xfrm>
            <a:off x="2651760" y="4754880"/>
            <a:ext cx="91440" cy="329184"/>
          </a:xfrm>
          <a:prstGeom prst="rect">
            <a:avLst/>
          </a:prstGeom>
          <a:noFill/>
          <a:ln/>
        </p:spPr>
        <p:txBody>
          <a:bodyPr wrap="square" lIns="0" tIns="0" rIns="0" bIns="0" rtlCol="0" anchor="ctr"/>
          <a:lstStyle/>
          <a:p>
            <a:pPr marL="0" indent="0" algn="ctr">
              <a:buNone/>
            </a:pPr>
            <a:r>
              <a:rPr lang="en-US" sz="1000" dirty="0">
                <a:solidFill>
                  <a:srgbClr val="02C39A"/>
                </a:solidFill>
                <a:latin typeface="Calibri" pitchFamily="34" charset="0"/>
                <a:ea typeface="Calibri" pitchFamily="34" charset="-122"/>
                <a:cs typeface="Calibri" pitchFamily="34" charset="-120"/>
              </a:rPr>
              <a:t>▶</a:t>
            </a:r>
            <a:endParaRPr lang="en-US" sz="1000" dirty="0"/>
          </a:p>
        </p:txBody>
      </p:sp>
      <p:sp>
        <p:nvSpPr>
          <p:cNvPr id="59" name="Shape 57"/>
          <p:cNvSpPr/>
          <p:nvPr/>
        </p:nvSpPr>
        <p:spPr>
          <a:xfrm>
            <a:off x="2743200" y="4242816"/>
            <a:ext cx="2011680" cy="1353312"/>
          </a:xfrm>
          <a:prstGeom prst="roundRect">
            <a:avLst>
              <a:gd name="adj" fmla="val 5405"/>
            </a:avLst>
          </a:prstGeom>
          <a:solidFill>
            <a:srgbClr val="0D3B41"/>
          </a:solidFill>
          <a:ln w="9525">
            <a:solidFill>
              <a:srgbClr val="00A896"/>
            </a:solidFill>
            <a:prstDash val="solid"/>
          </a:ln>
        </p:spPr>
      </p:sp>
      <p:sp>
        <p:nvSpPr>
          <p:cNvPr id="60" name="Shape 58"/>
          <p:cNvSpPr/>
          <p:nvPr/>
        </p:nvSpPr>
        <p:spPr>
          <a:xfrm>
            <a:off x="2871216" y="4334256"/>
            <a:ext cx="292608" cy="292608"/>
          </a:xfrm>
          <a:prstGeom prst="ellipse">
            <a:avLst/>
          </a:prstGeom>
          <a:solidFill>
            <a:srgbClr val="00A896"/>
          </a:solidFill>
          <a:ln w="12700">
            <a:solidFill>
              <a:srgbClr val="00A896"/>
            </a:solidFill>
            <a:prstDash val="solid"/>
          </a:ln>
        </p:spPr>
      </p:sp>
      <p:sp>
        <p:nvSpPr>
          <p:cNvPr id="61" name="Text 59"/>
          <p:cNvSpPr txBox="1"/>
          <p:nvPr/>
        </p:nvSpPr>
        <p:spPr>
          <a:xfrm>
            <a:off x="2871216" y="4334256"/>
            <a:ext cx="29260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2</a:t>
            </a:r>
            <a:endParaRPr lang="en-US" sz="1000" dirty="0"/>
          </a:p>
        </p:txBody>
      </p:sp>
      <p:sp>
        <p:nvSpPr>
          <p:cNvPr id="62" name="Text 60"/>
          <p:cNvSpPr txBox="1"/>
          <p:nvPr/>
        </p:nvSpPr>
        <p:spPr>
          <a:xfrm>
            <a:off x="2816352" y="4700016"/>
            <a:ext cx="1865376" cy="804672"/>
          </a:xfrm>
          <a:prstGeom prst="rect">
            <a:avLst/>
          </a:prstGeom>
          <a:noFill/>
          <a:ln/>
        </p:spPr>
        <p:txBody>
          <a:bodyPr wrap="square" lIns="0" tIns="0" rIns="0" bIns="0" rtlCol="0" anchor="t"/>
          <a:lstStyle/>
          <a:p>
            <a:pPr marL="0" indent="0" algn="ctr">
              <a:lnSpc>
                <a:spcPct val="110000"/>
              </a:lnSpc>
              <a:buNone/>
            </a:pPr>
            <a:r>
              <a:rPr lang="en-US" sz="1050" dirty="0">
                <a:solidFill>
                  <a:srgbClr val="D2EFEB"/>
                </a:solidFill>
                <a:latin typeface="Calibri" pitchFamily="34" charset="0"/>
                <a:ea typeface="Calibri" pitchFamily="34" charset="-122"/>
                <a:cs typeface="Calibri" pitchFamily="34" charset="-120"/>
              </a:rPr>
              <a:t>Enters dispatch qty</a:t>
            </a:r>
            <a:endParaRPr lang="en-US" sz="1050" dirty="0"/>
          </a:p>
          <a:p>
            <a:pPr marL="0" indent="0" algn="ctr">
              <a:lnSpc>
                <a:spcPct val="110000"/>
              </a:lnSpc>
              <a:buNone/>
            </a:pPr>
            <a:r>
              <a:rPr lang="en-US" sz="1050" dirty="0">
                <a:solidFill>
                  <a:srgbClr val="D2EFEB"/>
                </a:solidFill>
                <a:latin typeface="Calibri" pitchFamily="34" charset="0"/>
                <a:ea typeface="Calibri" pitchFamily="34" charset="-122"/>
                <a:cs typeface="Calibri" pitchFamily="34" charset="-120"/>
              </a:rPr>
              <a:t>(e.g. 70 units)</a:t>
            </a:r>
            <a:endParaRPr lang="en-US" sz="1050" dirty="0"/>
          </a:p>
        </p:txBody>
      </p:sp>
      <p:sp>
        <p:nvSpPr>
          <p:cNvPr id="63" name="Text 61"/>
          <p:cNvSpPr txBox="1"/>
          <p:nvPr/>
        </p:nvSpPr>
        <p:spPr>
          <a:xfrm>
            <a:off x="4773168" y="4754880"/>
            <a:ext cx="91440" cy="329184"/>
          </a:xfrm>
          <a:prstGeom prst="rect">
            <a:avLst/>
          </a:prstGeom>
          <a:noFill/>
          <a:ln/>
        </p:spPr>
        <p:txBody>
          <a:bodyPr wrap="square" lIns="0" tIns="0" rIns="0" bIns="0" rtlCol="0" anchor="ctr"/>
          <a:lstStyle/>
          <a:p>
            <a:pPr marL="0" indent="0" algn="ctr">
              <a:buNone/>
            </a:pPr>
            <a:r>
              <a:rPr lang="en-US" sz="1000" dirty="0">
                <a:solidFill>
                  <a:srgbClr val="02C39A"/>
                </a:solidFill>
                <a:latin typeface="Calibri" pitchFamily="34" charset="0"/>
                <a:ea typeface="Calibri" pitchFamily="34" charset="-122"/>
                <a:cs typeface="Calibri" pitchFamily="34" charset="-120"/>
              </a:rPr>
              <a:t>▶</a:t>
            </a:r>
            <a:endParaRPr lang="en-US" sz="1000" dirty="0"/>
          </a:p>
        </p:txBody>
      </p:sp>
      <p:sp>
        <p:nvSpPr>
          <p:cNvPr id="64" name="Shape 62"/>
          <p:cNvSpPr/>
          <p:nvPr/>
        </p:nvSpPr>
        <p:spPr>
          <a:xfrm>
            <a:off x="4864608" y="4242816"/>
            <a:ext cx="2011680" cy="1353312"/>
          </a:xfrm>
          <a:prstGeom prst="roundRect">
            <a:avLst>
              <a:gd name="adj" fmla="val 5405"/>
            </a:avLst>
          </a:prstGeom>
          <a:solidFill>
            <a:srgbClr val="0D3B41"/>
          </a:solidFill>
          <a:ln w="9525">
            <a:solidFill>
              <a:srgbClr val="00A896"/>
            </a:solidFill>
            <a:prstDash val="solid"/>
          </a:ln>
        </p:spPr>
      </p:sp>
      <p:sp>
        <p:nvSpPr>
          <p:cNvPr id="65" name="Shape 63"/>
          <p:cNvSpPr/>
          <p:nvPr/>
        </p:nvSpPr>
        <p:spPr>
          <a:xfrm>
            <a:off x="4992624" y="4334256"/>
            <a:ext cx="292608" cy="292608"/>
          </a:xfrm>
          <a:prstGeom prst="ellipse">
            <a:avLst/>
          </a:prstGeom>
          <a:solidFill>
            <a:srgbClr val="00A896"/>
          </a:solidFill>
          <a:ln w="12700">
            <a:solidFill>
              <a:srgbClr val="00A896"/>
            </a:solidFill>
            <a:prstDash val="solid"/>
          </a:ln>
        </p:spPr>
      </p:sp>
      <p:sp>
        <p:nvSpPr>
          <p:cNvPr id="66" name="Text 64"/>
          <p:cNvSpPr txBox="1"/>
          <p:nvPr/>
        </p:nvSpPr>
        <p:spPr>
          <a:xfrm>
            <a:off x="4992624" y="4334256"/>
            <a:ext cx="29260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3</a:t>
            </a:r>
            <a:endParaRPr lang="en-US" sz="1000" dirty="0"/>
          </a:p>
        </p:txBody>
      </p:sp>
      <p:sp>
        <p:nvSpPr>
          <p:cNvPr id="67" name="Text 65"/>
          <p:cNvSpPr txBox="1"/>
          <p:nvPr/>
        </p:nvSpPr>
        <p:spPr>
          <a:xfrm>
            <a:off x="4937760" y="4700016"/>
            <a:ext cx="1865376" cy="804672"/>
          </a:xfrm>
          <a:prstGeom prst="rect">
            <a:avLst/>
          </a:prstGeom>
          <a:noFill/>
          <a:ln/>
        </p:spPr>
        <p:txBody>
          <a:bodyPr wrap="square" lIns="0" tIns="0" rIns="0" bIns="0" rtlCol="0" anchor="t"/>
          <a:lstStyle/>
          <a:p>
            <a:pPr marL="0" indent="0" algn="ctr">
              <a:lnSpc>
                <a:spcPct val="110000"/>
              </a:lnSpc>
              <a:buNone/>
            </a:pPr>
            <a:r>
              <a:rPr lang="en-US" sz="1050" dirty="0">
                <a:solidFill>
                  <a:srgbClr val="D2EFEB"/>
                </a:solidFill>
                <a:latin typeface="Calibri" pitchFamily="34" charset="0"/>
                <a:ea typeface="Calibri" pitchFamily="34" charset="-122"/>
                <a:cs typeface="Calibri" pitchFamily="34" charset="-120"/>
              </a:rPr>
              <a:t>System generates</a:t>
            </a:r>
            <a:endParaRPr lang="en-US" sz="1050" dirty="0"/>
          </a:p>
          <a:p>
            <a:pPr marL="0" indent="0" algn="ctr">
              <a:lnSpc>
                <a:spcPct val="110000"/>
              </a:lnSpc>
              <a:buNone/>
            </a:pPr>
            <a:r>
              <a:rPr lang="en-US" sz="1050" dirty="0">
                <a:solidFill>
                  <a:srgbClr val="D2EFEB"/>
                </a:solidFill>
                <a:latin typeface="Calibri" pitchFamily="34" charset="0"/>
                <a:ea typeface="Calibri" pitchFamily="34" charset="-122"/>
                <a:cs typeface="Calibri" pitchFamily="34" charset="-120"/>
              </a:rPr>
              <a:t>new QR: BTA-70</a:t>
            </a:r>
            <a:endParaRPr lang="en-US" sz="1050" dirty="0"/>
          </a:p>
          <a:p>
            <a:pPr marL="0" indent="0" algn="ctr">
              <a:lnSpc>
                <a:spcPct val="110000"/>
              </a:lnSpc>
              <a:buNone/>
            </a:pPr>
            <a:r>
              <a:rPr lang="en-US" sz="1050" dirty="0">
                <a:solidFill>
                  <a:srgbClr val="D2EFEB"/>
                </a:solidFill>
                <a:latin typeface="Calibri" pitchFamily="34" charset="0"/>
                <a:ea typeface="Calibri" pitchFamily="34" charset="-122"/>
                <a:cs typeface="Calibri" pitchFamily="34" charset="-120"/>
              </a:rPr>
              <a:t>→ labels outgoing</a:t>
            </a:r>
            <a:endParaRPr lang="en-US" sz="1050" dirty="0"/>
          </a:p>
        </p:txBody>
      </p:sp>
      <p:sp>
        <p:nvSpPr>
          <p:cNvPr id="68" name="Text 66"/>
          <p:cNvSpPr txBox="1"/>
          <p:nvPr/>
        </p:nvSpPr>
        <p:spPr>
          <a:xfrm>
            <a:off x="6894576" y="4754880"/>
            <a:ext cx="91440" cy="329184"/>
          </a:xfrm>
          <a:prstGeom prst="rect">
            <a:avLst/>
          </a:prstGeom>
          <a:noFill/>
          <a:ln/>
        </p:spPr>
        <p:txBody>
          <a:bodyPr wrap="square" lIns="0" tIns="0" rIns="0" bIns="0" rtlCol="0" anchor="ctr"/>
          <a:lstStyle/>
          <a:p>
            <a:pPr marL="0" indent="0" algn="ctr">
              <a:buNone/>
            </a:pPr>
            <a:r>
              <a:rPr lang="en-US" sz="1000" dirty="0">
                <a:solidFill>
                  <a:srgbClr val="02C39A"/>
                </a:solidFill>
                <a:latin typeface="Calibri" pitchFamily="34" charset="0"/>
                <a:ea typeface="Calibri" pitchFamily="34" charset="-122"/>
                <a:cs typeface="Calibri" pitchFamily="34" charset="-120"/>
              </a:rPr>
              <a:t>▶</a:t>
            </a:r>
            <a:endParaRPr lang="en-US" sz="1000" dirty="0"/>
          </a:p>
        </p:txBody>
      </p:sp>
      <p:sp>
        <p:nvSpPr>
          <p:cNvPr id="69" name="Shape 67"/>
          <p:cNvSpPr/>
          <p:nvPr/>
        </p:nvSpPr>
        <p:spPr>
          <a:xfrm>
            <a:off x="6986016" y="4242816"/>
            <a:ext cx="2011680" cy="1353312"/>
          </a:xfrm>
          <a:prstGeom prst="roundRect">
            <a:avLst>
              <a:gd name="adj" fmla="val 5405"/>
            </a:avLst>
          </a:prstGeom>
          <a:solidFill>
            <a:srgbClr val="0D3B41"/>
          </a:solidFill>
          <a:ln w="9525">
            <a:solidFill>
              <a:srgbClr val="00A896"/>
            </a:solidFill>
            <a:prstDash val="solid"/>
          </a:ln>
        </p:spPr>
      </p:sp>
      <p:sp>
        <p:nvSpPr>
          <p:cNvPr id="70" name="Shape 68"/>
          <p:cNvSpPr/>
          <p:nvPr/>
        </p:nvSpPr>
        <p:spPr>
          <a:xfrm>
            <a:off x="7114032" y="4334256"/>
            <a:ext cx="292608" cy="292608"/>
          </a:xfrm>
          <a:prstGeom prst="ellipse">
            <a:avLst/>
          </a:prstGeom>
          <a:solidFill>
            <a:srgbClr val="00A896"/>
          </a:solidFill>
          <a:ln w="12700">
            <a:solidFill>
              <a:srgbClr val="00A896"/>
            </a:solidFill>
            <a:prstDash val="solid"/>
          </a:ln>
        </p:spPr>
      </p:sp>
      <p:sp>
        <p:nvSpPr>
          <p:cNvPr id="71" name="Text 69"/>
          <p:cNvSpPr txBox="1"/>
          <p:nvPr/>
        </p:nvSpPr>
        <p:spPr>
          <a:xfrm>
            <a:off x="7114032" y="4334256"/>
            <a:ext cx="29260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4</a:t>
            </a:r>
            <a:endParaRPr lang="en-US" sz="1000" dirty="0"/>
          </a:p>
        </p:txBody>
      </p:sp>
      <p:sp>
        <p:nvSpPr>
          <p:cNvPr id="72" name="Text 70"/>
          <p:cNvSpPr txBox="1"/>
          <p:nvPr/>
        </p:nvSpPr>
        <p:spPr>
          <a:xfrm>
            <a:off x="7059168" y="4700016"/>
            <a:ext cx="1865376" cy="804672"/>
          </a:xfrm>
          <a:prstGeom prst="rect">
            <a:avLst/>
          </a:prstGeom>
          <a:noFill/>
          <a:ln/>
        </p:spPr>
        <p:txBody>
          <a:bodyPr wrap="square" lIns="0" tIns="0" rIns="0" bIns="0" rtlCol="0" anchor="t"/>
          <a:lstStyle/>
          <a:p>
            <a:pPr marL="0" indent="0" algn="ctr">
              <a:lnSpc>
                <a:spcPct val="110000"/>
              </a:lnSpc>
              <a:buNone/>
            </a:pPr>
            <a:r>
              <a:rPr lang="en-US" sz="1050" dirty="0">
                <a:solidFill>
                  <a:srgbClr val="D2EFEB"/>
                </a:solidFill>
                <a:latin typeface="Calibri" pitchFamily="34" charset="0"/>
                <a:ea typeface="Calibri" pitchFamily="34" charset="-122"/>
                <a:cs typeface="Calibri" pitchFamily="34" charset="-120"/>
              </a:rPr>
              <a:t>Remainder gets</a:t>
            </a:r>
            <a:endParaRPr lang="en-US" sz="1050" dirty="0"/>
          </a:p>
          <a:p>
            <a:pPr marL="0" indent="0" algn="ctr">
              <a:lnSpc>
                <a:spcPct val="110000"/>
              </a:lnSpc>
              <a:buNone/>
            </a:pPr>
            <a:r>
              <a:rPr lang="en-US" sz="1050" dirty="0">
                <a:solidFill>
                  <a:srgbClr val="D2EFEB"/>
                </a:solidFill>
                <a:latin typeface="Calibri" pitchFamily="34" charset="0"/>
                <a:ea typeface="Calibri" pitchFamily="34" charset="-122"/>
                <a:cs typeface="Calibri" pitchFamily="34" charset="-120"/>
              </a:rPr>
              <a:t>new QR: BTA-30</a:t>
            </a:r>
            <a:endParaRPr lang="en-US" sz="1050" dirty="0"/>
          </a:p>
          <a:p>
            <a:pPr marL="0" indent="0" algn="ctr">
              <a:lnSpc>
                <a:spcPct val="110000"/>
              </a:lnSpc>
              <a:buNone/>
            </a:pPr>
            <a:r>
              <a:rPr lang="en-US" sz="1050" dirty="0">
                <a:solidFill>
                  <a:srgbClr val="D2EFEB"/>
                </a:solidFill>
                <a:latin typeface="Calibri" pitchFamily="34" charset="0"/>
                <a:ea typeface="Calibri" pitchFamily="34" charset="-122"/>
                <a:cs typeface="Calibri" pitchFamily="34" charset="-120"/>
              </a:rPr>
              <a:t>→ stays in warehouse</a:t>
            </a:r>
            <a:endParaRPr lang="en-US" sz="1050" dirty="0"/>
          </a:p>
        </p:txBody>
      </p:sp>
      <p:sp>
        <p:nvSpPr>
          <p:cNvPr id="73" name="Text 71"/>
          <p:cNvSpPr txBox="1"/>
          <p:nvPr/>
        </p:nvSpPr>
        <p:spPr>
          <a:xfrm>
            <a:off x="9015984" y="4754880"/>
            <a:ext cx="91440" cy="329184"/>
          </a:xfrm>
          <a:prstGeom prst="rect">
            <a:avLst/>
          </a:prstGeom>
          <a:noFill/>
          <a:ln/>
        </p:spPr>
        <p:txBody>
          <a:bodyPr wrap="square" lIns="0" tIns="0" rIns="0" bIns="0" rtlCol="0" anchor="ctr"/>
          <a:lstStyle/>
          <a:p>
            <a:pPr marL="0" indent="0" algn="ctr">
              <a:buNone/>
            </a:pPr>
            <a:r>
              <a:rPr lang="en-US" sz="1000" dirty="0">
                <a:solidFill>
                  <a:srgbClr val="02C39A"/>
                </a:solidFill>
                <a:latin typeface="Calibri" pitchFamily="34" charset="0"/>
                <a:ea typeface="Calibri" pitchFamily="34" charset="-122"/>
                <a:cs typeface="Calibri" pitchFamily="34" charset="-120"/>
              </a:rPr>
              <a:t>▶</a:t>
            </a:r>
            <a:endParaRPr lang="en-US" sz="1000" dirty="0"/>
          </a:p>
        </p:txBody>
      </p:sp>
      <p:sp>
        <p:nvSpPr>
          <p:cNvPr id="74" name="Shape 72"/>
          <p:cNvSpPr/>
          <p:nvPr/>
        </p:nvSpPr>
        <p:spPr>
          <a:xfrm>
            <a:off x="9107424" y="4242816"/>
            <a:ext cx="2011680" cy="1353312"/>
          </a:xfrm>
          <a:prstGeom prst="roundRect">
            <a:avLst>
              <a:gd name="adj" fmla="val 5405"/>
            </a:avLst>
          </a:prstGeom>
          <a:solidFill>
            <a:srgbClr val="0D3B41"/>
          </a:solidFill>
          <a:ln w="9525">
            <a:solidFill>
              <a:srgbClr val="00A896"/>
            </a:solidFill>
            <a:prstDash val="solid"/>
          </a:ln>
        </p:spPr>
      </p:sp>
      <p:sp>
        <p:nvSpPr>
          <p:cNvPr id="75" name="Shape 73"/>
          <p:cNvSpPr/>
          <p:nvPr/>
        </p:nvSpPr>
        <p:spPr>
          <a:xfrm>
            <a:off x="9235440" y="4334256"/>
            <a:ext cx="292608" cy="292608"/>
          </a:xfrm>
          <a:prstGeom prst="ellipse">
            <a:avLst/>
          </a:prstGeom>
          <a:solidFill>
            <a:srgbClr val="00A896"/>
          </a:solidFill>
          <a:ln w="12700">
            <a:solidFill>
              <a:srgbClr val="00A896"/>
            </a:solidFill>
            <a:prstDash val="solid"/>
          </a:ln>
        </p:spPr>
      </p:sp>
      <p:sp>
        <p:nvSpPr>
          <p:cNvPr id="76" name="Text 74"/>
          <p:cNvSpPr txBox="1"/>
          <p:nvPr/>
        </p:nvSpPr>
        <p:spPr>
          <a:xfrm>
            <a:off x="9235440" y="4334256"/>
            <a:ext cx="29260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5</a:t>
            </a:r>
            <a:endParaRPr lang="en-US" sz="1000" dirty="0"/>
          </a:p>
        </p:txBody>
      </p:sp>
      <p:sp>
        <p:nvSpPr>
          <p:cNvPr id="77" name="Text 75"/>
          <p:cNvSpPr txBox="1"/>
          <p:nvPr/>
        </p:nvSpPr>
        <p:spPr>
          <a:xfrm>
            <a:off x="9180576" y="4700016"/>
            <a:ext cx="1865376" cy="804672"/>
          </a:xfrm>
          <a:prstGeom prst="rect">
            <a:avLst/>
          </a:prstGeom>
          <a:noFill/>
          <a:ln/>
        </p:spPr>
        <p:txBody>
          <a:bodyPr wrap="square" lIns="0" tIns="0" rIns="0" bIns="0" rtlCol="0" anchor="t"/>
          <a:lstStyle/>
          <a:p>
            <a:pPr marL="0" indent="0" algn="ctr">
              <a:lnSpc>
                <a:spcPct val="110000"/>
              </a:lnSpc>
              <a:buNone/>
            </a:pPr>
            <a:r>
              <a:rPr lang="en-US" sz="1050" dirty="0">
                <a:solidFill>
                  <a:srgbClr val="D2EFEB"/>
                </a:solidFill>
                <a:latin typeface="Calibri" pitchFamily="34" charset="0"/>
                <a:ea typeface="Calibri" pitchFamily="34" charset="-122"/>
                <a:cs typeface="Calibri" pitchFamily="34" charset="-120"/>
              </a:rPr>
              <a:t>Retailer scans BTA-70</a:t>
            </a:r>
            <a:endParaRPr lang="en-US" sz="1050" dirty="0"/>
          </a:p>
          <a:p>
            <a:pPr marL="0" indent="0" algn="ctr">
              <a:lnSpc>
                <a:spcPct val="110000"/>
              </a:lnSpc>
              <a:buNone/>
            </a:pPr>
            <a:r>
              <a:rPr lang="en-US" sz="1050" dirty="0">
                <a:solidFill>
                  <a:srgbClr val="D2EFEB"/>
                </a:solidFill>
                <a:latin typeface="Calibri" pitchFamily="34" charset="0"/>
                <a:ea typeface="Calibri" pitchFamily="34" charset="-122"/>
                <a:cs typeface="Calibri" pitchFamily="34" charset="-120"/>
              </a:rPr>
              <a:t>in app to confirm</a:t>
            </a:r>
            <a:endParaRPr lang="en-US" sz="1050" dirty="0"/>
          </a:p>
          <a:p>
            <a:pPr marL="0" indent="0" algn="ctr">
              <a:lnSpc>
                <a:spcPct val="110000"/>
              </a:lnSpc>
              <a:buNone/>
            </a:pPr>
            <a:r>
              <a:rPr lang="en-US" sz="1050" dirty="0">
                <a:solidFill>
                  <a:srgbClr val="D2EFEB"/>
                </a:solidFill>
                <a:latin typeface="Calibri" pitchFamily="34" charset="0"/>
                <a:ea typeface="Calibri" pitchFamily="34" charset="-122"/>
                <a:cs typeface="Calibri" pitchFamily="34" charset="-120"/>
              </a:rPr>
              <a:t>receipt</a:t>
            </a:r>
            <a:endParaRPr lang="en-US" sz="1050" dirty="0"/>
          </a:p>
        </p:txBody>
      </p:sp>
      <p:sp>
        <p:nvSpPr>
          <p:cNvPr id="78" name="Text 76"/>
          <p:cNvSpPr txBox="1"/>
          <p:nvPr/>
        </p:nvSpPr>
        <p:spPr>
          <a:xfrm>
            <a:off x="502920" y="6510528"/>
            <a:ext cx="7315200" cy="201168"/>
          </a:xfrm>
          <a:prstGeom prst="rect">
            <a:avLst/>
          </a:prstGeom>
          <a:noFill/>
          <a:ln/>
        </p:spPr>
        <p:txBody>
          <a:bodyPr wrap="square" lIns="0" tIns="0" rIns="0" bIns="0" rtlCol="0" anchor="ctr"/>
          <a:lstStyle/>
          <a:p>
            <a:pPr marL="0" indent="0">
              <a:buNone/>
            </a:pPr>
            <a:r>
              <a:rPr lang="en-US" sz="850" dirty="0">
                <a:solidFill>
                  <a:srgbClr val="A8C5C0"/>
                </a:solidFill>
                <a:latin typeface="Calibri" pitchFamily="34" charset="0"/>
                <a:ea typeface="Calibri" pitchFamily="34" charset="-122"/>
                <a:cs typeface="Calibri" pitchFamily="34" charset="-120"/>
              </a:rPr>
              <a:t>FSCM  ·  Capstone Project Overview  ·  FA26SE083</a:t>
            </a:r>
            <a:endParaRPr lang="en-US" sz="850" dirty="0"/>
          </a:p>
        </p:txBody>
      </p:sp>
      <p:sp>
        <p:nvSpPr>
          <p:cNvPr id="79" name="Text 77"/>
          <p:cNvSpPr txBox="1"/>
          <p:nvPr/>
        </p:nvSpPr>
        <p:spPr>
          <a:xfrm>
            <a:off x="11338560" y="6510528"/>
            <a:ext cx="365760" cy="201168"/>
          </a:xfrm>
          <a:prstGeom prst="rect">
            <a:avLst/>
          </a:prstGeom>
          <a:noFill/>
          <a:ln/>
        </p:spPr>
        <p:txBody>
          <a:bodyPr wrap="square" lIns="0" tIns="0" rIns="0" bIns="0" rtlCol="0" anchor="ctr"/>
          <a:lstStyle/>
          <a:p>
            <a:pPr marL="0" indent="0" algn="r">
              <a:buNone/>
            </a:pPr>
            <a:r>
              <a:rPr lang="en-US" sz="850" dirty="0">
                <a:solidFill>
                  <a:srgbClr val="A8C5C0"/>
                </a:solidFill>
                <a:latin typeface="Calibri" pitchFamily="34" charset="0"/>
                <a:ea typeface="Calibri" pitchFamily="34" charset="-122"/>
                <a:cs typeface="Calibri" pitchFamily="34" charset="-120"/>
              </a:rPr>
              <a:t>11</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B2E33"/>
        </a:solidFill>
        <a:effectLst/>
      </p:bgPr>
    </p:bg>
    <p:spTree>
      <p:nvGrpSpPr>
        <p:cNvPr id="1" name=""/>
        <p:cNvGrpSpPr/>
        <p:nvPr/>
      </p:nvGrpSpPr>
      <p:grpSpPr>
        <a:xfrm>
          <a:off x="0" y="0"/>
          <a:ext cx="0" cy="0"/>
          <a:chOff x="0" y="0"/>
          <a:chExt cx="0" cy="0"/>
        </a:xfrm>
      </p:grpSpPr>
      <p:sp>
        <p:nvSpPr>
          <p:cNvPr id="2" name="Text 0"/>
          <p:cNvSpPr txBox="1"/>
          <p:nvPr/>
        </p:nvSpPr>
        <p:spPr>
          <a:xfrm>
            <a:off x="502920" y="402336"/>
            <a:ext cx="10058400" cy="292608"/>
          </a:xfrm>
          <a:prstGeom prst="rect">
            <a:avLst/>
          </a:prstGeom>
          <a:noFill/>
          <a:ln/>
        </p:spPr>
        <p:txBody>
          <a:bodyPr wrap="square" lIns="0" tIns="0" rIns="0" bIns="0" rtlCol="0" anchor="ctr"/>
          <a:lstStyle/>
          <a:p>
            <a:pPr marL="0" indent="0">
              <a:buNone/>
            </a:pPr>
            <a:r>
              <a:rPr lang="en-US" sz="1100" b="1" kern="0" spc="300" dirty="0">
                <a:solidFill>
                  <a:srgbClr val="02C39A"/>
                </a:solidFill>
                <a:latin typeface="Calibri" pitchFamily="34" charset="0"/>
                <a:ea typeface="Calibri" pitchFamily="34" charset="-122"/>
                <a:cs typeface="Calibri" pitchFamily="34" charset="-120"/>
              </a:rPr>
              <a:t>05 · SYSTEM FLOW</a:t>
            </a:r>
            <a:endParaRPr lang="en-US" sz="1100" dirty="0"/>
          </a:p>
        </p:txBody>
      </p:sp>
      <p:sp>
        <p:nvSpPr>
          <p:cNvPr id="3" name="Shape 1"/>
          <p:cNvSpPr/>
          <p:nvPr/>
        </p:nvSpPr>
        <p:spPr>
          <a:xfrm>
            <a:off x="502920" y="731520"/>
            <a:ext cx="11201400" cy="13716"/>
          </a:xfrm>
          <a:prstGeom prst="rect">
            <a:avLst/>
          </a:prstGeom>
          <a:solidFill>
            <a:srgbClr val="1C5A60"/>
          </a:solidFill>
          <a:ln w="12700">
            <a:solidFill>
              <a:srgbClr val="1C5A60"/>
            </a:solidFill>
            <a:prstDash val="solid"/>
          </a:ln>
        </p:spPr>
      </p:sp>
      <p:sp>
        <p:nvSpPr>
          <p:cNvPr id="4" name="Text 2"/>
          <p:cNvSpPr txBox="1"/>
          <p:nvPr/>
        </p:nvSpPr>
        <p:spPr>
          <a:xfrm>
            <a:off x="502920" y="777240"/>
            <a:ext cx="11201400" cy="594360"/>
          </a:xfrm>
          <a:prstGeom prst="rect">
            <a:avLst/>
          </a:prstGeom>
          <a:noFill/>
          <a:ln/>
        </p:spPr>
        <p:txBody>
          <a:bodyPr wrap="square" lIns="0" tIns="0" rIns="0" bIns="0"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Order Status Lifecycle</a:t>
            </a:r>
            <a:endParaRPr lang="en-US" sz="3000" dirty="0"/>
          </a:p>
        </p:txBody>
      </p:sp>
      <p:sp>
        <p:nvSpPr>
          <p:cNvPr id="5" name="Shape 3"/>
          <p:cNvSpPr/>
          <p:nvPr/>
        </p:nvSpPr>
        <p:spPr>
          <a:xfrm>
            <a:off x="530352" y="1572768"/>
            <a:ext cx="1874520" cy="1207008"/>
          </a:xfrm>
          <a:prstGeom prst="roundRect">
            <a:avLst>
              <a:gd name="adj" fmla="val 6818"/>
            </a:avLst>
          </a:prstGeom>
          <a:solidFill>
            <a:srgbClr val="1A3A4A"/>
          </a:solidFill>
          <a:ln w="17780">
            <a:solidFill>
              <a:srgbClr val="4A7A9B"/>
            </a:solidFill>
            <a:prstDash val="solid"/>
          </a:ln>
        </p:spPr>
      </p:sp>
      <p:sp>
        <p:nvSpPr>
          <p:cNvPr id="6" name="Text 4"/>
          <p:cNvSpPr txBox="1"/>
          <p:nvPr/>
        </p:nvSpPr>
        <p:spPr>
          <a:xfrm>
            <a:off x="621792" y="1664208"/>
            <a:ext cx="1691640" cy="651784"/>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Chờ đồng bộ</a:t>
            </a:r>
            <a:endParaRPr lang="en-US" sz="1100" dirty="0"/>
          </a:p>
          <a:p>
            <a:pPr marL="0" indent="0" algn="ctr">
              <a:buNone/>
            </a:pPr>
            <a:r>
              <a:rPr lang="en-US" sz="1100" b="1" dirty="0">
                <a:solidFill>
                  <a:srgbClr val="FFFFFF"/>
                </a:solidFill>
                <a:latin typeface="Calibri" pitchFamily="34" charset="0"/>
                <a:ea typeface="Calibri" pitchFamily="34" charset="-122"/>
                <a:cs typeface="Calibri" pitchFamily="34" charset="-120"/>
              </a:rPr>
              <a:t>(Pending Sync)</a:t>
            </a:r>
            <a:endParaRPr lang="en-US" sz="1100" dirty="0"/>
          </a:p>
        </p:txBody>
      </p:sp>
      <p:sp>
        <p:nvSpPr>
          <p:cNvPr id="7" name="Text 5"/>
          <p:cNvSpPr txBox="1"/>
          <p:nvPr/>
        </p:nvSpPr>
        <p:spPr>
          <a:xfrm>
            <a:off x="621792" y="2236622"/>
            <a:ext cx="1691640" cy="494873"/>
          </a:xfrm>
          <a:prstGeom prst="rect">
            <a:avLst/>
          </a:prstGeom>
          <a:noFill/>
          <a:ln/>
        </p:spPr>
        <p:txBody>
          <a:bodyPr wrap="square" lIns="0" tIns="0" rIns="0" bIns="0" rtlCol="0" anchor="t"/>
          <a:lstStyle/>
          <a:p>
            <a:pPr marL="0" indent="0" algn="ctr">
              <a:lnSpc>
                <a:spcPct val="110000"/>
              </a:lnSpc>
              <a:buNone/>
            </a:pPr>
            <a:r>
              <a:rPr lang="en-US" sz="850" dirty="0">
                <a:solidFill>
                  <a:srgbClr val="A0C8CC"/>
                </a:solidFill>
                <a:latin typeface="Calibri" pitchFamily="34" charset="0"/>
                <a:ea typeface="Calibri" pitchFamily="34" charset="-122"/>
                <a:cs typeface="Calibri" pitchFamily="34" charset="-120"/>
              </a:rPr>
              <a:t>Offline order on device</a:t>
            </a:r>
            <a:endParaRPr lang="en-US" sz="850" dirty="0"/>
          </a:p>
        </p:txBody>
      </p:sp>
      <p:sp>
        <p:nvSpPr>
          <p:cNvPr id="8" name="Shape 6"/>
          <p:cNvSpPr/>
          <p:nvPr/>
        </p:nvSpPr>
        <p:spPr>
          <a:xfrm>
            <a:off x="2697480" y="1572768"/>
            <a:ext cx="1874520" cy="1207008"/>
          </a:xfrm>
          <a:prstGeom prst="roundRect">
            <a:avLst>
              <a:gd name="adj" fmla="val 6818"/>
            </a:avLst>
          </a:prstGeom>
          <a:solidFill>
            <a:srgbClr val="0F3D42"/>
          </a:solidFill>
          <a:ln w="17780">
            <a:solidFill>
              <a:srgbClr val="00A896"/>
            </a:solidFill>
            <a:prstDash val="solid"/>
          </a:ln>
        </p:spPr>
      </p:sp>
      <p:sp>
        <p:nvSpPr>
          <p:cNvPr id="9" name="Text 7"/>
          <p:cNvSpPr txBox="1"/>
          <p:nvPr/>
        </p:nvSpPr>
        <p:spPr>
          <a:xfrm>
            <a:off x="2788920" y="1664208"/>
            <a:ext cx="1691640" cy="651784"/>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Chờ duyệt</a:t>
            </a:r>
            <a:endParaRPr lang="en-US" sz="1100" dirty="0"/>
          </a:p>
          <a:p>
            <a:pPr marL="0" indent="0" algn="ctr">
              <a:buNone/>
            </a:pPr>
            <a:r>
              <a:rPr lang="en-US" sz="1100" b="1" dirty="0">
                <a:solidFill>
                  <a:srgbClr val="FFFFFF"/>
                </a:solidFill>
                <a:latin typeface="Calibri" pitchFamily="34" charset="0"/>
                <a:ea typeface="Calibri" pitchFamily="34" charset="-122"/>
                <a:cs typeface="Calibri" pitchFamily="34" charset="-120"/>
              </a:rPr>
              <a:t>(Pending Approval)</a:t>
            </a:r>
            <a:endParaRPr lang="en-US" sz="1100" dirty="0"/>
          </a:p>
        </p:txBody>
      </p:sp>
      <p:sp>
        <p:nvSpPr>
          <p:cNvPr id="10" name="Text 8"/>
          <p:cNvSpPr txBox="1"/>
          <p:nvPr/>
        </p:nvSpPr>
        <p:spPr>
          <a:xfrm>
            <a:off x="2788920" y="2236622"/>
            <a:ext cx="1691640" cy="494873"/>
          </a:xfrm>
          <a:prstGeom prst="rect">
            <a:avLst/>
          </a:prstGeom>
          <a:noFill/>
          <a:ln/>
        </p:spPr>
        <p:txBody>
          <a:bodyPr wrap="square" lIns="0" tIns="0" rIns="0" bIns="0" rtlCol="0" anchor="t"/>
          <a:lstStyle/>
          <a:p>
            <a:pPr marL="0" indent="0" algn="ctr">
              <a:lnSpc>
                <a:spcPct val="110000"/>
              </a:lnSpc>
              <a:buNone/>
            </a:pPr>
            <a:r>
              <a:rPr lang="en-US" sz="850" dirty="0">
                <a:solidFill>
                  <a:srgbClr val="A0C8CC"/>
                </a:solidFill>
                <a:latin typeface="Calibri" pitchFamily="34" charset="0"/>
                <a:ea typeface="Calibri" pitchFamily="34" charset="-122"/>
                <a:cs typeface="Calibri" pitchFamily="34" charset="-120"/>
              </a:rPr>
              <a:t>Stock held; awaiting review</a:t>
            </a:r>
            <a:endParaRPr lang="en-US" sz="850" dirty="0"/>
          </a:p>
        </p:txBody>
      </p:sp>
      <p:sp>
        <p:nvSpPr>
          <p:cNvPr id="11" name="Shape 9"/>
          <p:cNvSpPr/>
          <p:nvPr/>
        </p:nvSpPr>
        <p:spPr>
          <a:xfrm>
            <a:off x="4864608" y="1572768"/>
            <a:ext cx="1874520" cy="1207008"/>
          </a:xfrm>
          <a:prstGeom prst="roundRect">
            <a:avLst>
              <a:gd name="adj" fmla="val 6818"/>
            </a:avLst>
          </a:prstGeom>
          <a:solidFill>
            <a:srgbClr val="0F3D42"/>
          </a:solidFill>
          <a:ln w="17780">
            <a:solidFill>
              <a:srgbClr val="02C39A"/>
            </a:solidFill>
            <a:prstDash val="solid"/>
          </a:ln>
        </p:spPr>
      </p:sp>
      <p:sp>
        <p:nvSpPr>
          <p:cNvPr id="12" name="Text 10"/>
          <p:cNvSpPr txBox="1"/>
          <p:nvPr/>
        </p:nvSpPr>
        <p:spPr>
          <a:xfrm>
            <a:off x="4956048" y="1664208"/>
            <a:ext cx="1691640" cy="651784"/>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Đã duyệt</a:t>
            </a:r>
            <a:endParaRPr lang="en-US" sz="1100" dirty="0"/>
          </a:p>
          <a:p>
            <a:pPr marL="0" indent="0" algn="ctr">
              <a:buNone/>
            </a:pPr>
            <a:r>
              <a:rPr lang="en-US" sz="1100" b="1" dirty="0">
                <a:solidFill>
                  <a:srgbClr val="FFFFFF"/>
                </a:solidFill>
                <a:latin typeface="Calibri" pitchFamily="34" charset="0"/>
                <a:ea typeface="Calibri" pitchFamily="34" charset="-122"/>
                <a:cs typeface="Calibri" pitchFamily="34" charset="-120"/>
              </a:rPr>
              <a:t>(Approved)</a:t>
            </a:r>
            <a:endParaRPr lang="en-US" sz="1100" dirty="0"/>
          </a:p>
        </p:txBody>
      </p:sp>
      <p:sp>
        <p:nvSpPr>
          <p:cNvPr id="13" name="Text 11"/>
          <p:cNvSpPr txBox="1"/>
          <p:nvPr/>
        </p:nvSpPr>
        <p:spPr>
          <a:xfrm>
            <a:off x="4956048" y="2236622"/>
            <a:ext cx="1691640" cy="494873"/>
          </a:xfrm>
          <a:prstGeom prst="rect">
            <a:avLst/>
          </a:prstGeom>
          <a:noFill/>
          <a:ln/>
        </p:spPr>
        <p:txBody>
          <a:bodyPr wrap="square" lIns="0" tIns="0" rIns="0" bIns="0" rtlCol="0" anchor="t"/>
          <a:lstStyle/>
          <a:p>
            <a:pPr marL="0" indent="0" algn="ctr">
              <a:lnSpc>
                <a:spcPct val="110000"/>
              </a:lnSpc>
              <a:buNone/>
            </a:pPr>
            <a:r>
              <a:rPr lang="en-US" sz="850" dirty="0">
                <a:solidFill>
                  <a:srgbClr val="A0C8CC"/>
                </a:solidFill>
                <a:latin typeface="Calibri" pitchFamily="34" charset="0"/>
                <a:ea typeface="Calibri" pitchFamily="34" charset="-122"/>
                <a:cs typeface="Calibri" pitchFamily="34" charset="-120"/>
              </a:rPr>
              <a:t>Batch → Reserved; picking list sent</a:t>
            </a:r>
            <a:endParaRPr lang="en-US" sz="850" dirty="0"/>
          </a:p>
        </p:txBody>
      </p:sp>
      <p:sp>
        <p:nvSpPr>
          <p:cNvPr id="14" name="Shape 12"/>
          <p:cNvSpPr/>
          <p:nvPr/>
        </p:nvSpPr>
        <p:spPr>
          <a:xfrm>
            <a:off x="7031736" y="1572768"/>
            <a:ext cx="1874520" cy="1207008"/>
          </a:xfrm>
          <a:prstGeom prst="roundRect">
            <a:avLst>
              <a:gd name="adj" fmla="val 6818"/>
            </a:avLst>
          </a:prstGeom>
          <a:solidFill>
            <a:srgbClr val="0F3D42"/>
          </a:solidFill>
          <a:ln w="17780">
            <a:solidFill>
              <a:srgbClr val="02C39A"/>
            </a:solidFill>
            <a:prstDash val="solid"/>
          </a:ln>
        </p:spPr>
      </p:sp>
      <p:sp>
        <p:nvSpPr>
          <p:cNvPr id="15" name="Text 13"/>
          <p:cNvSpPr txBox="1"/>
          <p:nvPr/>
        </p:nvSpPr>
        <p:spPr>
          <a:xfrm>
            <a:off x="7123176" y="1664208"/>
            <a:ext cx="1691640" cy="651784"/>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Đã xuất kho</a:t>
            </a:r>
            <a:endParaRPr lang="en-US" sz="1100" dirty="0"/>
          </a:p>
          <a:p>
            <a:pPr marL="0" indent="0" algn="ctr">
              <a:buNone/>
            </a:pPr>
            <a:r>
              <a:rPr lang="en-US" sz="1100" b="1" dirty="0">
                <a:solidFill>
                  <a:srgbClr val="FFFFFF"/>
                </a:solidFill>
                <a:latin typeface="Calibri" pitchFamily="34" charset="0"/>
                <a:ea typeface="Calibri" pitchFamily="34" charset="-122"/>
                <a:cs typeface="Calibri" pitchFamily="34" charset="-120"/>
              </a:rPr>
              <a:t>(Dispatched)</a:t>
            </a:r>
            <a:endParaRPr lang="en-US" sz="1100" dirty="0"/>
          </a:p>
        </p:txBody>
      </p:sp>
      <p:sp>
        <p:nvSpPr>
          <p:cNvPr id="16" name="Text 14"/>
          <p:cNvSpPr txBox="1"/>
          <p:nvPr/>
        </p:nvSpPr>
        <p:spPr>
          <a:xfrm>
            <a:off x="7123176" y="2236622"/>
            <a:ext cx="1691640" cy="494873"/>
          </a:xfrm>
          <a:prstGeom prst="rect">
            <a:avLst/>
          </a:prstGeom>
          <a:noFill/>
          <a:ln/>
        </p:spPr>
        <p:txBody>
          <a:bodyPr wrap="square" lIns="0" tIns="0" rIns="0" bIns="0" rtlCol="0" anchor="t"/>
          <a:lstStyle/>
          <a:p>
            <a:pPr marL="0" indent="0" algn="ctr">
              <a:lnSpc>
                <a:spcPct val="110000"/>
              </a:lnSpc>
              <a:buNone/>
            </a:pPr>
            <a:r>
              <a:rPr lang="en-US" sz="850" dirty="0">
                <a:solidFill>
                  <a:srgbClr val="A0C8CC"/>
                </a:solidFill>
                <a:latin typeface="Calibri" pitchFamily="34" charset="0"/>
                <a:ea typeface="Calibri" pitchFamily="34" charset="-122"/>
                <a:cs typeface="Calibri" pitchFamily="34" charset="-120"/>
              </a:rPr>
              <a:t>Actual stock deducted</a:t>
            </a:r>
            <a:endParaRPr lang="en-US" sz="850" dirty="0"/>
          </a:p>
        </p:txBody>
      </p:sp>
      <p:sp>
        <p:nvSpPr>
          <p:cNvPr id="17" name="Shape 15"/>
          <p:cNvSpPr/>
          <p:nvPr/>
        </p:nvSpPr>
        <p:spPr>
          <a:xfrm>
            <a:off x="9198864" y="1572768"/>
            <a:ext cx="1874520" cy="1207008"/>
          </a:xfrm>
          <a:prstGeom prst="roundRect">
            <a:avLst>
              <a:gd name="adj" fmla="val 6818"/>
            </a:avLst>
          </a:prstGeom>
          <a:solidFill>
            <a:srgbClr val="0F3D42"/>
          </a:solidFill>
          <a:ln w="17780">
            <a:solidFill>
              <a:srgbClr val="00A896"/>
            </a:solidFill>
            <a:prstDash val="solid"/>
          </a:ln>
        </p:spPr>
      </p:sp>
      <p:sp>
        <p:nvSpPr>
          <p:cNvPr id="18" name="Text 16"/>
          <p:cNvSpPr txBox="1"/>
          <p:nvPr/>
        </p:nvSpPr>
        <p:spPr>
          <a:xfrm>
            <a:off x="9290304" y="1664208"/>
            <a:ext cx="1691640" cy="651784"/>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Đang giao</a:t>
            </a:r>
            <a:endParaRPr lang="en-US" sz="1100" dirty="0"/>
          </a:p>
          <a:p>
            <a:pPr marL="0" indent="0" algn="ctr">
              <a:buNone/>
            </a:pPr>
            <a:r>
              <a:rPr lang="en-US" sz="1100" b="1" dirty="0">
                <a:solidFill>
                  <a:srgbClr val="FFFFFF"/>
                </a:solidFill>
                <a:latin typeface="Calibri" pitchFamily="34" charset="0"/>
                <a:ea typeface="Calibri" pitchFamily="34" charset="-122"/>
                <a:cs typeface="Calibri" pitchFamily="34" charset="-120"/>
              </a:rPr>
              <a:t>(In Delivery)</a:t>
            </a:r>
            <a:endParaRPr lang="en-US" sz="1100" dirty="0"/>
          </a:p>
        </p:txBody>
      </p:sp>
      <p:sp>
        <p:nvSpPr>
          <p:cNvPr id="19" name="Text 17"/>
          <p:cNvSpPr txBox="1"/>
          <p:nvPr/>
        </p:nvSpPr>
        <p:spPr>
          <a:xfrm>
            <a:off x="9290304" y="2236622"/>
            <a:ext cx="1691640" cy="494873"/>
          </a:xfrm>
          <a:prstGeom prst="rect">
            <a:avLst/>
          </a:prstGeom>
          <a:noFill/>
          <a:ln/>
        </p:spPr>
        <p:txBody>
          <a:bodyPr wrap="square" lIns="0" tIns="0" rIns="0" bIns="0" rtlCol="0" anchor="t"/>
          <a:lstStyle/>
          <a:p>
            <a:pPr marL="0" indent="0" algn="ctr">
              <a:lnSpc>
                <a:spcPct val="110000"/>
              </a:lnSpc>
              <a:buNone/>
            </a:pPr>
            <a:r>
              <a:rPr lang="en-US" sz="850" dirty="0">
                <a:solidFill>
                  <a:srgbClr val="A0C8CC"/>
                </a:solidFill>
                <a:latin typeface="Calibri" pitchFamily="34" charset="0"/>
                <a:ea typeface="Calibri" pitchFamily="34" charset="-122"/>
                <a:cs typeface="Calibri" pitchFamily="34" charset="-120"/>
              </a:rPr>
              <a:t>Operator marks in transit</a:t>
            </a:r>
            <a:endParaRPr lang="en-US" sz="850" dirty="0"/>
          </a:p>
        </p:txBody>
      </p:sp>
      <p:sp>
        <p:nvSpPr>
          <p:cNvPr id="20" name="Shape 18"/>
          <p:cNvSpPr/>
          <p:nvPr/>
        </p:nvSpPr>
        <p:spPr>
          <a:xfrm>
            <a:off x="2697480" y="3977640"/>
            <a:ext cx="1874520" cy="1207008"/>
          </a:xfrm>
          <a:prstGeom prst="roundRect">
            <a:avLst>
              <a:gd name="adj" fmla="val 6818"/>
            </a:avLst>
          </a:prstGeom>
          <a:solidFill>
            <a:srgbClr val="3D1515"/>
          </a:solidFill>
          <a:ln w="17780">
            <a:solidFill>
              <a:srgbClr val="E05A5A"/>
            </a:solidFill>
            <a:prstDash val="solid"/>
          </a:ln>
        </p:spPr>
      </p:sp>
      <p:sp>
        <p:nvSpPr>
          <p:cNvPr id="21" name="Text 19"/>
          <p:cNvSpPr txBox="1"/>
          <p:nvPr/>
        </p:nvSpPr>
        <p:spPr>
          <a:xfrm>
            <a:off x="2788920" y="4069080"/>
            <a:ext cx="1691640" cy="651784"/>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Bị từ chối</a:t>
            </a:r>
            <a:endParaRPr lang="en-US" sz="1100" dirty="0"/>
          </a:p>
          <a:p>
            <a:pPr marL="0" indent="0" algn="ctr">
              <a:buNone/>
            </a:pPr>
            <a:r>
              <a:rPr lang="en-US" sz="1100" b="1" dirty="0">
                <a:solidFill>
                  <a:srgbClr val="FFFFFF"/>
                </a:solidFill>
                <a:latin typeface="Calibri" pitchFamily="34" charset="0"/>
                <a:ea typeface="Calibri" pitchFamily="34" charset="-122"/>
                <a:cs typeface="Calibri" pitchFamily="34" charset="-120"/>
              </a:rPr>
              <a:t>(Rejected)</a:t>
            </a:r>
            <a:endParaRPr lang="en-US" sz="1100" dirty="0"/>
          </a:p>
        </p:txBody>
      </p:sp>
      <p:sp>
        <p:nvSpPr>
          <p:cNvPr id="22" name="Text 20"/>
          <p:cNvSpPr txBox="1"/>
          <p:nvPr/>
        </p:nvSpPr>
        <p:spPr>
          <a:xfrm>
            <a:off x="2788920" y="4641494"/>
            <a:ext cx="1691640" cy="494873"/>
          </a:xfrm>
          <a:prstGeom prst="rect">
            <a:avLst/>
          </a:prstGeom>
          <a:noFill/>
          <a:ln/>
        </p:spPr>
        <p:txBody>
          <a:bodyPr wrap="square" lIns="0" tIns="0" rIns="0" bIns="0" rtlCol="0" anchor="t"/>
          <a:lstStyle/>
          <a:p>
            <a:pPr marL="0" indent="0" algn="ctr">
              <a:lnSpc>
                <a:spcPct val="110000"/>
              </a:lnSpc>
              <a:buNone/>
            </a:pPr>
            <a:r>
              <a:rPr lang="en-US" sz="850" dirty="0">
                <a:solidFill>
                  <a:srgbClr val="A0C8CC"/>
                </a:solidFill>
                <a:latin typeface="Calibri" pitchFamily="34" charset="0"/>
                <a:ea typeface="Calibri" pitchFamily="34" charset="-122"/>
                <a:cs typeface="Calibri" pitchFamily="34" charset="-120"/>
              </a:rPr>
              <a:t>System (no stock) or Admin/Op (reason)</a:t>
            </a:r>
            <a:endParaRPr lang="en-US" sz="850" dirty="0"/>
          </a:p>
        </p:txBody>
      </p:sp>
      <p:sp>
        <p:nvSpPr>
          <p:cNvPr id="23" name="Shape 21"/>
          <p:cNvSpPr/>
          <p:nvPr/>
        </p:nvSpPr>
        <p:spPr>
          <a:xfrm>
            <a:off x="4864608" y="3977640"/>
            <a:ext cx="1874520" cy="1207008"/>
          </a:xfrm>
          <a:prstGeom prst="roundRect">
            <a:avLst>
              <a:gd name="adj" fmla="val 6818"/>
            </a:avLst>
          </a:prstGeom>
          <a:solidFill>
            <a:srgbClr val="2E2A10"/>
          </a:solidFill>
          <a:ln w="17780">
            <a:solidFill>
              <a:srgbClr val="C8A800"/>
            </a:solidFill>
            <a:prstDash val="solid"/>
          </a:ln>
        </p:spPr>
      </p:sp>
      <p:sp>
        <p:nvSpPr>
          <p:cNvPr id="24" name="Text 22"/>
          <p:cNvSpPr txBox="1"/>
          <p:nvPr/>
        </p:nvSpPr>
        <p:spPr>
          <a:xfrm>
            <a:off x="4956048" y="4069080"/>
            <a:ext cx="1691640" cy="651784"/>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Đã hủy</a:t>
            </a:r>
            <a:endParaRPr lang="en-US" sz="1100" dirty="0"/>
          </a:p>
          <a:p>
            <a:pPr marL="0" indent="0" algn="ctr">
              <a:buNone/>
            </a:pPr>
            <a:r>
              <a:rPr lang="en-US" sz="1100" b="1" dirty="0">
                <a:solidFill>
                  <a:srgbClr val="FFFFFF"/>
                </a:solidFill>
                <a:latin typeface="Calibri" pitchFamily="34" charset="0"/>
                <a:ea typeface="Calibri" pitchFamily="34" charset="-122"/>
                <a:cs typeface="Calibri" pitchFamily="34" charset="-120"/>
              </a:rPr>
              <a:t>(Cancelled)</a:t>
            </a:r>
            <a:endParaRPr lang="en-US" sz="1100" dirty="0"/>
          </a:p>
        </p:txBody>
      </p:sp>
      <p:sp>
        <p:nvSpPr>
          <p:cNvPr id="25" name="Text 23"/>
          <p:cNvSpPr txBox="1"/>
          <p:nvPr/>
        </p:nvSpPr>
        <p:spPr>
          <a:xfrm>
            <a:off x="4956048" y="4641494"/>
            <a:ext cx="1691640" cy="494873"/>
          </a:xfrm>
          <a:prstGeom prst="rect">
            <a:avLst/>
          </a:prstGeom>
          <a:noFill/>
          <a:ln/>
        </p:spPr>
        <p:txBody>
          <a:bodyPr wrap="square" lIns="0" tIns="0" rIns="0" bIns="0" rtlCol="0" anchor="t"/>
          <a:lstStyle/>
          <a:p>
            <a:pPr marL="0" indent="0" algn="ctr">
              <a:lnSpc>
                <a:spcPct val="110000"/>
              </a:lnSpc>
              <a:buNone/>
            </a:pPr>
            <a:r>
              <a:rPr lang="en-US" sz="850" dirty="0">
                <a:solidFill>
                  <a:srgbClr val="A0C8CC"/>
                </a:solidFill>
                <a:latin typeface="Calibri" pitchFamily="34" charset="0"/>
                <a:ea typeface="Calibri" pitchFamily="34" charset="-122"/>
                <a:cs typeface="Calibri" pitchFamily="34" charset="-120"/>
              </a:rPr>
              <a:t>Sales or Admin before dispatch</a:t>
            </a:r>
            <a:endParaRPr lang="en-US" sz="850" dirty="0"/>
          </a:p>
        </p:txBody>
      </p:sp>
      <p:grpSp>
        <p:nvGrpSpPr>
          <p:cNvPr id="53" name="Group 52">
            <a:extLst>
              <a:ext uri="{FF2B5EF4-FFF2-40B4-BE49-F238E27FC236}">
                <a16:creationId xmlns:a16="http://schemas.microsoft.com/office/drawing/2014/main" id="{9F0793EB-97DD-4E7A-B6DA-AF455E560264}"/>
              </a:ext>
            </a:extLst>
          </p:cNvPr>
          <p:cNvGrpSpPr/>
          <p:nvPr/>
        </p:nvGrpSpPr>
        <p:grpSpPr>
          <a:xfrm>
            <a:off x="9209837" y="3982720"/>
            <a:ext cx="1874520" cy="1207008"/>
            <a:chOff x="8092440" y="3977640"/>
            <a:chExt cx="1874520" cy="1207008"/>
          </a:xfrm>
        </p:grpSpPr>
        <p:sp>
          <p:nvSpPr>
            <p:cNvPr id="26" name="Shape 24"/>
            <p:cNvSpPr/>
            <p:nvPr/>
          </p:nvSpPr>
          <p:spPr>
            <a:xfrm>
              <a:off x="8092440" y="3977640"/>
              <a:ext cx="1874520" cy="1207008"/>
            </a:xfrm>
            <a:prstGeom prst="roundRect">
              <a:avLst>
                <a:gd name="adj" fmla="val 6818"/>
              </a:avLst>
            </a:prstGeom>
            <a:solidFill>
              <a:srgbClr val="0A3020"/>
            </a:solidFill>
            <a:ln w="17780">
              <a:solidFill>
                <a:srgbClr val="02C39A"/>
              </a:solidFill>
              <a:prstDash val="solid"/>
            </a:ln>
          </p:spPr>
        </p:sp>
        <p:sp>
          <p:nvSpPr>
            <p:cNvPr id="27" name="Text 25"/>
            <p:cNvSpPr txBox="1"/>
            <p:nvPr/>
          </p:nvSpPr>
          <p:spPr>
            <a:xfrm>
              <a:off x="8183880" y="4069080"/>
              <a:ext cx="1691640" cy="651784"/>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Đã giao</a:t>
              </a:r>
              <a:endParaRPr lang="en-US" sz="1100" dirty="0"/>
            </a:p>
            <a:p>
              <a:pPr marL="0" indent="0" algn="ctr">
                <a:buNone/>
              </a:pPr>
              <a:r>
                <a:rPr lang="en-US" sz="1100" b="1" dirty="0">
                  <a:solidFill>
                    <a:srgbClr val="FFFFFF"/>
                  </a:solidFill>
                  <a:latin typeface="Calibri" pitchFamily="34" charset="0"/>
                  <a:ea typeface="Calibri" pitchFamily="34" charset="-122"/>
                  <a:cs typeface="Calibri" pitchFamily="34" charset="-120"/>
                </a:rPr>
                <a:t>(Delivered)</a:t>
              </a:r>
              <a:endParaRPr lang="en-US" sz="1100" dirty="0"/>
            </a:p>
          </p:txBody>
        </p:sp>
        <p:sp>
          <p:nvSpPr>
            <p:cNvPr id="28" name="Text 26"/>
            <p:cNvSpPr txBox="1"/>
            <p:nvPr/>
          </p:nvSpPr>
          <p:spPr>
            <a:xfrm>
              <a:off x="8183880" y="4641494"/>
              <a:ext cx="1691640" cy="494873"/>
            </a:xfrm>
            <a:prstGeom prst="rect">
              <a:avLst/>
            </a:prstGeom>
            <a:noFill/>
            <a:ln/>
          </p:spPr>
          <p:txBody>
            <a:bodyPr wrap="square" lIns="0" tIns="0" rIns="0" bIns="0" rtlCol="0" anchor="t"/>
            <a:lstStyle/>
            <a:p>
              <a:pPr marL="0" indent="0" algn="ctr">
                <a:lnSpc>
                  <a:spcPct val="110000"/>
                </a:lnSpc>
                <a:buNone/>
              </a:pPr>
              <a:r>
                <a:rPr lang="en-US" sz="850" dirty="0">
                  <a:solidFill>
                    <a:srgbClr val="A0C8CC"/>
                  </a:solidFill>
                  <a:latin typeface="Calibri" pitchFamily="34" charset="0"/>
                  <a:ea typeface="Calibri" pitchFamily="34" charset="-122"/>
                  <a:cs typeface="Calibri" pitchFamily="34" charset="-120"/>
                </a:rPr>
                <a:t>Retailer scans QR to confirm</a:t>
              </a:r>
              <a:endParaRPr lang="en-US" sz="850" dirty="0"/>
            </a:p>
          </p:txBody>
        </p:sp>
      </p:grpSp>
      <p:sp>
        <p:nvSpPr>
          <p:cNvPr id="29" name="Text 27"/>
          <p:cNvSpPr txBox="1"/>
          <p:nvPr/>
        </p:nvSpPr>
        <p:spPr>
          <a:xfrm>
            <a:off x="2423160" y="2011680"/>
            <a:ext cx="256032" cy="329184"/>
          </a:xfrm>
          <a:prstGeom prst="rect">
            <a:avLst/>
          </a:prstGeom>
          <a:noFill/>
          <a:ln/>
        </p:spPr>
        <p:txBody>
          <a:bodyPr wrap="square" lIns="0" tIns="0" rIns="0" bIns="0" rtlCol="0" anchor="ctr"/>
          <a:lstStyle/>
          <a:p>
            <a:pPr marL="0" indent="0" algn="ctr">
              <a:buNone/>
            </a:pPr>
            <a:r>
              <a:rPr lang="en-US" sz="1000" dirty="0">
                <a:solidFill>
                  <a:srgbClr val="00A896"/>
                </a:solidFill>
                <a:latin typeface="Calibri" pitchFamily="34" charset="0"/>
                <a:ea typeface="Calibri" pitchFamily="34" charset="-122"/>
                <a:cs typeface="Calibri" pitchFamily="34" charset="-120"/>
              </a:rPr>
              <a:t>▶</a:t>
            </a:r>
            <a:endParaRPr lang="en-US" sz="1000" dirty="0"/>
          </a:p>
        </p:txBody>
      </p:sp>
      <p:sp>
        <p:nvSpPr>
          <p:cNvPr id="30" name="Text 28"/>
          <p:cNvSpPr txBox="1"/>
          <p:nvPr/>
        </p:nvSpPr>
        <p:spPr>
          <a:xfrm>
            <a:off x="4590288" y="2011680"/>
            <a:ext cx="256032" cy="329184"/>
          </a:xfrm>
          <a:prstGeom prst="rect">
            <a:avLst/>
          </a:prstGeom>
          <a:noFill/>
          <a:ln/>
        </p:spPr>
        <p:txBody>
          <a:bodyPr wrap="square" lIns="0" tIns="0" rIns="0" bIns="0" rtlCol="0" anchor="ctr"/>
          <a:lstStyle/>
          <a:p>
            <a:pPr marL="0" indent="0" algn="ctr">
              <a:buNone/>
            </a:pPr>
            <a:r>
              <a:rPr lang="en-US" sz="1000" dirty="0">
                <a:solidFill>
                  <a:srgbClr val="00A896"/>
                </a:solidFill>
                <a:latin typeface="Calibri" pitchFamily="34" charset="0"/>
                <a:ea typeface="Calibri" pitchFamily="34" charset="-122"/>
                <a:cs typeface="Calibri" pitchFamily="34" charset="-120"/>
              </a:rPr>
              <a:t>▶</a:t>
            </a:r>
            <a:endParaRPr lang="en-US" sz="1000" dirty="0"/>
          </a:p>
        </p:txBody>
      </p:sp>
      <p:sp>
        <p:nvSpPr>
          <p:cNvPr id="31" name="Text 29"/>
          <p:cNvSpPr txBox="1"/>
          <p:nvPr/>
        </p:nvSpPr>
        <p:spPr>
          <a:xfrm>
            <a:off x="6757416" y="2011680"/>
            <a:ext cx="256032" cy="329184"/>
          </a:xfrm>
          <a:prstGeom prst="rect">
            <a:avLst/>
          </a:prstGeom>
          <a:noFill/>
          <a:ln/>
        </p:spPr>
        <p:txBody>
          <a:bodyPr wrap="square" lIns="0" tIns="0" rIns="0" bIns="0" rtlCol="0" anchor="ctr"/>
          <a:lstStyle/>
          <a:p>
            <a:pPr marL="0" indent="0" algn="ctr">
              <a:buNone/>
            </a:pPr>
            <a:r>
              <a:rPr lang="en-US" sz="1000" dirty="0">
                <a:solidFill>
                  <a:srgbClr val="00A896"/>
                </a:solidFill>
                <a:latin typeface="Calibri" pitchFamily="34" charset="0"/>
                <a:ea typeface="Calibri" pitchFamily="34" charset="-122"/>
                <a:cs typeface="Calibri" pitchFamily="34" charset="-120"/>
              </a:rPr>
              <a:t>▶</a:t>
            </a:r>
            <a:endParaRPr lang="en-US" sz="1000" dirty="0"/>
          </a:p>
        </p:txBody>
      </p:sp>
      <p:sp>
        <p:nvSpPr>
          <p:cNvPr id="32" name="Text 30"/>
          <p:cNvSpPr txBox="1"/>
          <p:nvPr/>
        </p:nvSpPr>
        <p:spPr>
          <a:xfrm>
            <a:off x="8924544" y="2011680"/>
            <a:ext cx="256032" cy="329184"/>
          </a:xfrm>
          <a:prstGeom prst="rect">
            <a:avLst/>
          </a:prstGeom>
          <a:noFill/>
          <a:ln/>
        </p:spPr>
        <p:txBody>
          <a:bodyPr wrap="square" lIns="0" tIns="0" rIns="0" bIns="0" rtlCol="0" anchor="ctr"/>
          <a:lstStyle/>
          <a:p>
            <a:pPr marL="0" indent="0" algn="ctr">
              <a:buNone/>
            </a:pPr>
            <a:r>
              <a:rPr lang="en-US" sz="1000" dirty="0">
                <a:solidFill>
                  <a:srgbClr val="00A896"/>
                </a:solidFill>
                <a:latin typeface="Calibri" pitchFamily="34" charset="0"/>
                <a:ea typeface="Calibri" pitchFamily="34" charset="-122"/>
                <a:cs typeface="Calibri" pitchFamily="34" charset="-120"/>
              </a:rPr>
              <a:t>▶</a:t>
            </a:r>
            <a:endParaRPr lang="en-US" sz="1000" dirty="0"/>
          </a:p>
        </p:txBody>
      </p:sp>
      <p:sp>
        <p:nvSpPr>
          <p:cNvPr id="33" name="Shape 31"/>
          <p:cNvSpPr/>
          <p:nvPr/>
        </p:nvSpPr>
        <p:spPr>
          <a:xfrm>
            <a:off x="3623767" y="2779776"/>
            <a:ext cx="21946" cy="1197864"/>
          </a:xfrm>
          <a:prstGeom prst="rect">
            <a:avLst/>
          </a:prstGeom>
          <a:solidFill>
            <a:srgbClr val="E05A5A"/>
          </a:solidFill>
          <a:ln w="12700">
            <a:solidFill>
              <a:srgbClr val="E05A5A"/>
            </a:solidFill>
            <a:prstDash val="solid"/>
          </a:ln>
        </p:spPr>
      </p:sp>
      <p:sp>
        <p:nvSpPr>
          <p:cNvPr id="34" name="Text 32"/>
          <p:cNvSpPr txBox="1"/>
          <p:nvPr/>
        </p:nvSpPr>
        <p:spPr>
          <a:xfrm>
            <a:off x="3689604" y="3177540"/>
            <a:ext cx="640080" cy="237744"/>
          </a:xfrm>
          <a:prstGeom prst="rect">
            <a:avLst/>
          </a:prstGeom>
          <a:noFill/>
          <a:ln/>
        </p:spPr>
        <p:txBody>
          <a:bodyPr wrap="square" lIns="0" tIns="0" rIns="0" bIns="0" rtlCol="0" anchor="ctr"/>
          <a:lstStyle/>
          <a:p>
            <a:pPr marL="0" indent="0">
              <a:buNone/>
            </a:pPr>
            <a:r>
              <a:rPr lang="en-US" sz="900" dirty="0">
                <a:solidFill>
                  <a:srgbClr val="E05A5A"/>
                </a:solidFill>
                <a:latin typeface="Calibri" pitchFamily="34" charset="0"/>
                <a:ea typeface="Calibri" pitchFamily="34" charset="-122"/>
                <a:cs typeface="Calibri" pitchFamily="34" charset="-120"/>
              </a:rPr>
              <a:t>Reject</a:t>
            </a:r>
            <a:endParaRPr lang="en-US" sz="900" dirty="0"/>
          </a:p>
        </p:txBody>
      </p:sp>
      <p:sp>
        <p:nvSpPr>
          <p:cNvPr id="35" name="Shape 33"/>
          <p:cNvSpPr/>
          <p:nvPr/>
        </p:nvSpPr>
        <p:spPr>
          <a:xfrm>
            <a:off x="5790895" y="2779776"/>
            <a:ext cx="21946" cy="1197864"/>
          </a:xfrm>
          <a:prstGeom prst="rect">
            <a:avLst/>
          </a:prstGeom>
          <a:solidFill>
            <a:srgbClr val="C8A800"/>
          </a:solidFill>
          <a:ln w="12700">
            <a:solidFill>
              <a:srgbClr val="C8A800"/>
            </a:solidFill>
            <a:prstDash val="solid"/>
          </a:ln>
        </p:spPr>
      </p:sp>
      <p:sp>
        <p:nvSpPr>
          <p:cNvPr id="36" name="Text 34"/>
          <p:cNvSpPr txBox="1"/>
          <p:nvPr/>
        </p:nvSpPr>
        <p:spPr>
          <a:xfrm>
            <a:off x="5856732" y="3177540"/>
            <a:ext cx="640080" cy="237744"/>
          </a:xfrm>
          <a:prstGeom prst="rect">
            <a:avLst/>
          </a:prstGeom>
          <a:noFill/>
          <a:ln/>
        </p:spPr>
        <p:txBody>
          <a:bodyPr wrap="square" lIns="0" tIns="0" rIns="0" bIns="0" rtlCol="0" anchor="ctr"/>
          <a:lstStyle/>
          <a:p>
            <a:pPr marL="0" indent="0">
              <a:buNone/>
            </a:pPr>
            <a:r>
              <a:rPr lang="en-US" sz="900" dirty="0">
                <a:solidFill>
                  <a:srgbClr val="C8A800"/>
                </a:solidFill>
                <a:latin typeface="Calibri" pitchFamily="34" charset="0"/>
                <a:ea typeface="Calibri" pitchFamily="34" charset="-122"/>
                <a:cs typeface="Calibri" pitchFamily="34" charset="-120"/>
              </a:rPr>
              <a:t>Cancel</a:t>
            </a:r>
            <a:endParaRPr lang="en-US" sz="900" dirty="0"/>
          </a:p>
        </p:txBody>
      </p:sp>
      <p:sp>
        <p:nvSpPr>
          <p:cNvPr id="37" name="Shape 35"/>
          <p:cNvSpPr/>
          <p:nvPr/>
        </p:nvSpPr>
        <p:spPr>
          <a:xfrm>
            <a:off x="10125150" y="2779776"/>
            <a:ext cx="45719" cy="1184656"/>
          </a:xfrm>
          <a:prstGeom prst="rect">
            <a:avLst/>
          </a:prstGeom>
          <a:solidFill>
            <a:srgbClr val="02C39A"/>
          </a:solidFill>
          <a:ln w="12700">
            <a:solidFill>
              <a:srgbClr val="02C39A"/>
            </a:solidFill>
            <a:prstDash val="solid"/>
          </a:ln>
        </p:spPr>
      </p:sp>
      <p:sp>
        <p:nvSpPr>
          <p:cNvPr id="40" name="Text 38"/>
          <p:cNvSpPr txBox="1"/>
          <p:nvPr/>
        </p:nvSpPr>
        <p:spPr>
          <a:xfrm>
            <a:off x="9737598" y="3172714"/>
            <a:ext cx="640080" cy="237744"/>
          </a:xfrm>
          <a:prstGeom prst="rect">
            <a:avLst/>
          </a:prstGeom>
          <a:noFill/>
          <a:ln/>
        </p:spPr>
        <p:txBody>
          <a:bodyPr wrap="square" lIns="0" tIns="0" rIns="0" bIns="0" rtlCol="0" anchor="ctr"/>
          <a:lstStyle/>
          <a:p>
            <a:pPr marL="0" indent="0">
              <a:buNone/>
            </a:pPr>
            <a:r>
              <a:rPr lang="en-US" sz="900" dirty="0">
                <a:solidFill>
                  <a:srgbClr val="02C39A"/>
                </a:solidFill>
                <a:latin typeface="Calibri" pitchFamily="34" charset="0"/>
                <a:ea typeface="Calibri" pitchFamily="34" charset="-122"/>
                <a:cs typeface="Calibri" pitchFamily="34" charset="-120"/>
              </a:rPr>
              <a:t>Deliver</a:t>
            </a:r>
            <a:endParaRPr lang="en-US" sz="900" dirty="0"/>
          </a:p>
        </p:txBody>
      </p:sp>
      <p:sp>
        <p:nvSpPr>
          <p:cNvPr id="41" name="Shape 39"/>
          <p:cNvSpPr/>
          <p:nvPr/>
        </p:nvSpPr>
        <p:spPr>
          <a:xfrm>
            <a:off x="502920" y="5486400"/>
            <a:ext cx="11201400" cy="777240"/>
          </a:xfrm>
          <a:prstGeom prst="roundRect">
            <a:avLst>
              <a:gd name="adj" fmla="val 8235"/>
            </a:avLst>
          </a:prstGeom>
          <a:solidFill>
            <a:srgbClr val="0F3D42"/>
          </a:solidFill>
          <a:ln w="9525">
            <a:solidFill>
              <a:srgbClr val="028090"/>
            </a:solidFill>
            <a:prstDash val="solid"/>
          </a:ln>
        </p:spPr>
      </p:sp>
      <p:sp>
        <p:nvSpPr>
          <p:cNvPr id="42" name="Text 40"/>
          <p:cNvSpPr txBox="1"/>
          <p:nvPr/>
        </p:nvSpPr>
        <p:spPr>
          <a:xfrm>
            <a:off x="685800" y="5614416"/>
            <a:ext cx="1463040" cy="237744"/>
          </a:xfrm>
          <a:prstGeom prst="rect">
            <a:avLst/>
          </a:prstGeom>
          <a:noFill/>
          <a:ln/>
        </p:spPr>
        <p:txBody>
          <a:bodyPr wrap="square" lIns="0" tIns="0" rIns="0" bIns="0" rtlCol="0" anchor="ctr"/>
          <a:lstStyle/>
          <a:p>
            <a:pPr marL="0" indent="0">
              <a:buNone/>
            </a:pPr>
            <a:r>
              <a:rPr lang="en-US" sz="1100" b="1" dirty="0">
                <a:solidFill>
                  <a:srgbClr val="02C39A"/>
                </a:solidFill>
                <a:latin typeface="Calibri" pitchFamily="34" charset="0"/>
                <a:ea typeface="Calibri" pitchFamily="34" charset="-122"/>
                <a:cs typeface="Calibri" pitchFamily="34" charset="-120"/>
              </a:rPr>
              <a:t>Stock Impact</a:t>
            </a:r>
            <a:endParaRPr lang="en-US" sz="1100" dirty="0"/>
          </a:p>
        </p:txBody>
      </p:sp>
      <p:sp>
        <p:nvSpPr>
          <p:cNvPr id="43" name="Text 41"/>
          <p:cNvSpPr txBox="1"/>
          <p:nvPr/>
        </p:nvSpPr>
        <p:spPr>
          <a:xfrm>
            <a:off x="2286000" y="5577840"/>
            <a:ext cx="2286000" cy="274320"/>
          </a:xfrm>
          <a:prstGeom prst="rect">
            <a:avLst/>
          </a:prstGeom>
          <a:noFill/>
          <a:ln/>
        </p:spPr>
        <p:txBody>
          <a:bodyPr wrap="square" lIns="0" tIns="0" rIns="0" bIns="0" rtlCol="0" anchor="ctr"/>
          <a:lstStyle/>
          <a:p>
            <a:pPr marL="0" indent="0">
              <a:buNone/>
            </a:pPr>
            <a:r>
              <a:rPr lang="en-US" sz="950" b="1" dirty="0">
                <a:solidFill>
                  <a:srgbClr val="00A896"/>
                </a:solidFill>
                <a:latin typeface="Calibri" pitchFamily="34" charset="0"/>
                <a:ea typeface="Calibri" pitchFamily="34" charset="-122"/>
                <a:cs typeface="Calibri" pitchFamily="34" charset="-120"/>
              </a:rPr>
              <a:t>Pending Approval</a:t>
            </a:r>
            <a:endParaRPr lang="en-US" sz="950" dirty="0"/>
          </a:p>
        </p:txBody>
      </p:sp>
      <p:sp>
        <p:nvSpPr>
          <p:cNvPr id="44" name="Text 42"/>
          <p:cNvSpPr txBox="1"/>
          <p:nvPr/>
        </p:nvSpPr>
        <p:spPr>
          <a:xfrm>
            <a:off x="2286000" y="5870448"/>
            <a:ext cx="2286000" cy="274320"/>
          </a:xfrm>
          <a:prstGeom prst="rect">
            <a:avLst/>
          </a:prstGeom>
          <a:noFill/>
          <a:ln/>
        </p:spPr>
        <p:txBody>
          <a:bodyPr wrap="square" lIns="0" tIns="0" rIns="0" bIns="0" rtlCol="0" anchor="ctr"/>
          <a:lstStyle/>
          <a:p>
            <a:pPr marL="0" indent="0">
              <a:buNone/>
            </a:pPr>
            <a:r>
              <a:rPr lang="en-US" sz="900" dirty="0">
                <a:solidFill>
                  <a:srgbClr val="A0C8CC"/>
                </a:solidFill>
                <a:latin typeface="Calibri" pitchFamily="34" charset="0"/>
                <a:ea typeface="Calibri" pitchFamily="34" charset="-122"/>
                <a:cs typeface="Calibri" pitchFamily="34" charset="-120"/>
              </a:rPr>
              <a:t>Qty temporarily held</a:t>
            </a:r>
            <a:endParaRPr lang="en-US" sz="900" dirty="0"/>
          </a:p>
        </p:txBody>
      </p:sp>
      <p:sp>
        <p:nvSpPr>
          <p:cNvPr id="45" name="Text 43"/>
          <p:cNvSpPr txBox="1"/>
          <p:nvPr/>
        </p:nvSpPr>
        <p:spPr>
          <a:xfrm>
            <a:off x="4709160" y="5577840"/>
            <a:ext cx="2286000" cy="274320"/>
          </a:xfrm>
          <a:prstGeom prst="rect">
            <a:avLst/>
          </a:prstGeom>
          <a:noFill/>
          <a:ln/>
        </p:spPr>
        <p:txBody>
          <a:bodyPr wrap="square" lIns="0" tIns="0" rIns="0" bIns="0" rtlCol="0" anchor="ctr"/>
          <a:lstStyle/>
          <a:p>
            <a:pPr marL="0" indent="0">
              <a:buNone/>
            </a:pPr>
            <a:r>
              <a:rPr lang="en-US" sz="950" b="1" dirty="0">
                <a:solidFill>
                  <a:srgbClr val="00A896"/>
                </a:solidFill>
                <a:latin typeface="Calibri" pitchFamily="34" charset="0"/>
                <a:ea typeface="Calibri" pitchFamily="34" charset="-122"/>
                <a:cs typeface="Calibri" pitchFamily="34" charset="-120"/>
              </a:rPr>
              <a:t>Approved</a:t>
            </a:r>
            <a:endParaRPr lang="en-US" sz="950" dirty="0"/>
          </a:p>
        </p:txBody>
      </p:sp>
      <p:sp>
        <p:nvSpPr>
          <p:cNvPr id="46" name="Text 44"/>
          <p:cNvSpPr txBox="1"/>
          <p:nvPr/>
        </p:nvSpPr>
        <p:spPr>
          <a:xfrm>
            <a:off x="4709160" y="5870448"/>
            <a:ext cx="2286000" cy="274320"/>
          </a:xfrm>
          <a:prstGeom prst="rect">
            <a:avLst/>
          </a:prstGeom>
          <a:noFill/>
          <a:ln/>
        </p:spPr>
        <p:txBody>
          <a:bodyPr wrap="square" lIns="0" tIns="0" rIns="0" bIns="0" rtlCol="0" anchor="ctr"/>
          <a:lstStyle/>
          <a:p>
            <a:pPr marL="0" indent="0">
              <a:buNone/>
            </a:pPr>
            <a:r>
              <a:rPr lang="en-US" sz="900" dirty="0">
                <a:solidFill>
                  <a:srgbClr val="A0C8CC"/>
                </a:solidFill>
                <a:latin typeface="Calibri" pitchFamily="34" charset="0"/>
                <a:ea typeface="Calibri" pitchFamily="34" charset="-122"/>
                <a:cs typeface="Calibri" pitchFamily="34" charset="-120"/>
              </a:rPr>
              <a:t>Batch → Reserved status</a:t>
            </a:r>
            <a:endParaRPr lang="en-US" sz="900" dirty="0"/>
          </a:p>
        </p:txBody>
      </p:sp>
      <p:sp>
        <p:nvSpPr>
          <p:cNvPr id="47" name="Text 45"/>
          <p:cNvSpPr txBox="1"/>
          <p:nvPr/>
        </p:nvSpPr>
        <p:spPr>
          <a:xfrm>
            <a:off x="7132320" y="5577840"/>
            <a:ext cx="2286000" cy="274320"/>
          </a:xfrm>
          <a:prstGeom prst="rect">
            <a:avLst/>
          </a:prstGeom>
          <a:noFill/>
          <a:ln/>
        </p:spPr>
        <p:txBody>
          <a:bodyPr wrap="square" lIns="0" tIns="0" rIns="0" bIns="0" rtlCol="0" anchor="ctr"/>
          <a:lstStyle/>
          <a:p>
            <a:pPr marL="0" indent="0">
              <a:buNone/>
            </a:pPr>
            <a:r>
              <a:rPr lang="en-US" sz="950" b="1" dirty="0">
                <a:solidFill>
                  <a:srgbClr val="00A896"/>
                </a:solidFill>
                <a:latin typeface="Calibri" pitchFamily="34" charset="0"/>
                <a:ea typeface="Calibri" pitchFamily="34" charset="-122"/>
                <a:cs typeface="Calibri" pitchFamily="34" charset="-120"/>
              </a:rPr>
              <a:t>Dispatched</a:t>
            </a:r>
            <a:endParaRPr lang="en-US" sz="950" dirty="0"/>
          </a:p>
        </p:txBody>
      </p:sp>
      <p:sp>
        <p:nvSpPr>
          <p:cNvPr id="48" name="Text 46"/>
          <p:cNvSpPr txBox="1"/>
          <p:nvPr/>
        </p:nvSpPr>
        <p:spPr>
          <a:xfrm>
            <a:off x="7132320" y="5870448"/>
            <a:ext cx="2286000" cy="274320"/>
          </a:xfrm>
          <a:prstGeom prst="rect">
            <a:avLst/>
          </a:prstGeom>
          <a:noFill/>
          <a:ln/>
        </p:spPr>
        <p:txBody>
          <a:bodyPr wrap="square" lIns="0" tIns="0" rIns="0" bIns="0" rtlCol="0" anchor="ctr"/>
          <a:lstStyle/>
          <a:p>
            <a:pPr marL="0" indent="0">
              <a:buNone/>
            </a:pPr>
            <a:r>
              <a:rPr lang="en-US" sz="900" dirty="0">
                <a:solidFill>
                  <a:srgbClr val="A0C8CC"/>
                </a:solidFill>
                <a:latin typeface="Calibri" pitchFamily="34" charset="0"/>
                <a:ea typeface="Calibri" pitchFamily="34" charset="-122"/>
                <a:cs typeface="Calibri" pitchFamily="34" charset="-120"/>
              </a:rPr>
              <a:t>Actual stock deducted</a:t>
            </a:r>
            <a:endParaRPr lang="en-US" sz="900" dirty="0"/>
          </a:p>
        </p:txBody>
      </p:sp>
      <p:sp>
        <p:nvSpPr>
          <p:cNvPr id="49" name="Text 47"/>
          <p:cNvSpPr txBox="1"/>
          <p:nvPr/>
        </p:nvSpPr>
        <p:spPr>
          <a:xfrm>
            <a:off x="9555480" y="5577840"/>
            <a:ext cx="2286000" cy="274320"/>
          </a:xfrm>
          <a:prstGeom prst="rect">
            <a:avLst/>
          </a:prstGeom>
          <a:noFill/>
          <a:ln/>
        </p:spPr>
        <p:txBody>
          <a:bodyPr wrap="square" lIns="0" tIns="0" rIns="0" bIns="0" rtlCol="0" anchor="ctr"/>
          <a:lstStyle/>
          <a:p>
            <a:pPr marL="0" indent="0">
              <a:buNone/>
            </a:pPr>
            <a:r>
              <a:rPr lang="en-US" sz="950" b="1" dirty="0">
                <a:solidFill>
                  <a:srgbClr val="00A896"/>
                </a:solidFill>
                <a:latin typeface="Calibri" pitchFamily="34" charset="0"/>
                <a:ea typeface="Calibri" pitchFamily="34" charset="-122"/>
                <a:cs typeface="Calibri" pitchFamily="34" charset="-120"/>
              </a:rPr>
              <a:t>Rejected / Cancelled</a:t>
            </a:r>
            <a:endParaRPr lang="en-US" sz="950" dirty="0"/>
          </a:p>
        </p:txBody>
      </p:sp>
      <p:sp>
        <p:nvSpPr>
          <p:cNvPr id="50" name="Text 48"/>
          <p:cNvSpPr txBox="1"/>
          <p:nvPr/>
        </p:nvSpPr>
        <p:spPr>
          <a:xfrm>
            <a:off x="9555480" y="5870448"/>
            <a:ext cx="2286000" cy="274320"/>
          </a:xfrm>
          <a:prstGeom prst="rect">
            <a:avLst/>
          </a:prstGeom>
          <a:noFill/>
          <a:ln/>
        </p:spPr>
        <p:txBody>
          <a:bodyPr wrap="square" lIns="0" tIns="0" rIns="0" bIns="0" rtlCol="0" anchor="ctr"/>
          <a:lstStyle/>
          <a:p>
            <a:pPr marL="0" indent="0">
              <a:buNone/>
            </a:pPr>
            <a:r>
              <a:rPr lang="en-US" sz="900" dirty="0">
                <a:solidFill>
                  <a:srgbClr val="A0C8CC"/>
                </a:solidFill>
                <a:latin typeface="Calibri" pitchFamily="34" charset="0"/>
                <a:ea typeface="Calibri" pitchFamily="34" charset="-122"/>
                <a:cs typeface="Calibri" pitchFamily="34" charset="-120"/>
              </a:rPr>
              <a:t>Held qty released</a:t>
            </a:r>
            <a:endParaRPr lang="en-US" sz="900" dirty="0"/>
          </a:p>
        </p:txBody>
      </p:sp>
      <p:sp>
        <p:nvSpPr>
          <p:cNvPr id="51" name="Text 49"/>
          <p:cNvSpPr txBox="1"/>
          <p:nvPr/>
        </p:nvSpPr>
        <p:spPr>
          <a:xfrm>
            <a:off x="502920" y="6510528"/>
            <a:ext cx="7315200" cy="201168"/>
          </a:xfrm>
          <a:prstGeom prst="rect">
            <a:avLst/>
          </a:prstGeom>
          <a:noFill/>
          <a:ln/>
        </p:spPr>
        <p:txBody>
          <a:bodyPr wrap="square" lIns="0" tIns="0" rIns="0" bIns="0" rtlCol="0" anchor="ctr"/>
          <a:lstStyle/>
          <a:p>
            <a:pPr marL="0" indent="0">
              <a:buNone/>
            </a:pPr>
            <a:r>
              <a:rPr lang="en-US" sz="850" dirty="0">
                <a:solidFill>
                  <a:srgbClr val="3E6E74"/>
                </a:solidFill>
                <a:latin typeface="Calibri" pitchFamily="34" charset="0"/>
                <a:ea typeface="Calibri" pitchFamily="34" charset="-122"/>
                <a:cs typeface="Calibri" pitchFamily="34" charset="-120"/>
              </a:rPr>
              <a:t>FSCM  ·  Capstone Project Overview  ·  FA26SE083</a:t>
            </a:r>
            <a:endParaRPr lang="en-US" sz="850" dirty="0"/>
          </a:p>
        </p:txBody>
      </p:sp>
      <p:sp>
        <p:nvSpPr>
          <p:cNvPr id="52" name="Text 50"/>
          <p:cNvSpPr txBox="1"/>
          <p:nvPr/>
        </p:nvSpPr>
        <p:spPr>
          <a:xfrm>
            <a:off x="11338560" y="6510528"/>
            <a:ext cx="365760" cy="201168"/>
          </a:xfrm>
          <a:prstGeom prst="rect">
            <a:avLst/>
          </a:prstGeom>
          <a:noFill/>
          <a:ln/>
        </p:spPr>
        <p:txBody>
          <a:bodyPr wrap="square" lIns="0" tIns="0" rIns="0" bIns="0" rtlCol="0" anchor="ctr"/>
          <a:lstStyle/>
          <a:p>
            <a:pPr marL="0" indent="0" algn="r">
              <a:buNone/>
            </a:pPr>
            <a:r>
              <a:rPr lang="en-US" sz="850" dirty="0">
                <a:solidFill>
                  <a:srgbClr val="3E6E74"/>
                </a:solidFill>
                <a:latin typeface="Calibri" pitchFamily="34" charset="0"/>
                <a:ea typeface="Calibri" pitchFamily="34" charset="-122"/>
                <a:cs typeface="Calibri" pitchFamily="34" charset="-120"/>
              </a:rPr>
              <a:t>12</a:t>
            </a:r>
            <a:endParaRPr lang="en-US" sz="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TotalTime>
  <Words>2321</Words>
  <Application>Microsoft Office PowerPoint</Application>
  <PresentationFormat>Widescreen</PresentationFormat>
  <Paragraphs>398</Paragraphs>
  <Slides>12</Slides>
  <Notes>12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FSCM – Capstone Project Overview</dc:title>
  <dc:subject>PptxGenJS Presentation</dc:subject>
  <dc:creator>PptxGenJS</dc:creator>
  <cp:lastModifiedBy>VO MINH SON</cp:lastModifiedBy>
  <cp:revision>7</cp:revision>
  <dcterms:created xsi:type="dcterms:W3CDTF">2026-09-29T13:57:57Z</dcterms:created>
  <dcterms:modified xsi:type="dcterms:W3CDTF">2026-09-29T14:15:09Z</dcterms:modified>
</cp:coreProperties>
</file>