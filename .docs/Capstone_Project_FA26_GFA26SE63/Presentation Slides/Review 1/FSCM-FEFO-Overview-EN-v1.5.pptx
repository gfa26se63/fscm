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iXp+ByHwZoISJO/nRoefxXW2A5C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customschemas.google.com/relationships/presentationmetadata" Target="metadata"/><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 name="Google Shape;33;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4" name="Google Shape;34;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 name="Google Shape;54;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5" name="Google Shape;55;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 name="Google Shape;72;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73" name="Google Shape;73;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 name="Google Shape;118;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19" name="Google Shape;119;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56" name="Google Shape;156;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3" name="Google Shape;193;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94" name="Google Shape;194;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7" name="Google Shape;22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28" name="Google Shape;228;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4" name="Google Shape;29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95" name="Google Shape;295;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2" name="Google Shape;352;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53" name="Google Shape;353;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3" name="Google Shape;43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34" name="Google Shape;434;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6" name="Google Shape;516;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17" name="Google Shape;517;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E33"/>
        </a:solidFill>
      </p:bgPr>
    </p:bg>
    <p:spTree>
      <p:nvGrpSpPr>
        <p:cNvPr id="11" name="Shape 11"/>
        <p:cNvGrpSpPr/>
        <p:nvPr/>
      </p:nvGrpSpPr>
      <p:grpSpPr>
        <a:xfrm>
          <a:off x="0" y="0"/>
          <a:ext cx="0" cy="0"/>
          <a:chOff x="0" y="0"/>
          <a:chExt cx="0" cy="0"/>
        </a:xfrm>
      </p:grpSpPr>
      <p:sp>
        <p:nvSpPr>
          <p:cNvPr id="12" name="Google Shape;12;p1"/>
          <p:cNvSpPr txBox="1"/>
          <p:nvPr/>
        </p:nvSpPr>
        <p:spPr>
          <a:xfrm>
            <a:off x="777240" y="777240"/>
            <a:ext cx="10058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200"/>
              <a:buFont typeface="Calibri"/>
              <a:buNone/>
            </a:pPr>
            <a:r>
              <a:rPr b="1" i="0" lang="en-US" sz="1200" u="none" cap="none" strike="noStrike">
                <a:solidFill>
                  <a:srgbClr val="02C39A"/>
                </a:solidFill>
                <a:latin typeface="Calibri"/>
                <a:ea typeface="Calibri"/>
                <a:cs typeface="Calibri"/>
                <a:sym typeface="Calibri"/>
              </a:rPr>
              <a:t>CAPSTONE PROJECT  ·  SOFTWARE ENGINEERING  ·  FA26SE083</a:t>
            </a:r>
            <a:endParaRPr b="0" i="0" sz="1200" u="none" cap="none" strike="noStrike">
              <a:solidFill>
                <a:schemeClr val="dk1"/>
              </a:solidFill>
              <a:latin typeface="Calibri"/>
              <a:ea typeface="Calibri"/>
              <a:cs typeface="Calibri"/>
              <a:sym typeface="Calibri"/>
            </a:endParaRPr>
          </a:p>
        </p:txBody>
      </p:sp>
      <p:sp>
        <p:nvSpPr>
          <p:cNvPr id="13" name="Google Shape;13;p1"/>
          <p:cNvSpPr txBox="1"/>
          <p:nvPr/>
        </p:nvSpPr>
        <p:spPr>
          <a:xfrm>
            <a:off x="731520" y="1143000"/>
            <a:ext cx="1005840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200"/>
              <a:buFont typeface="Cambria"/>
              <a:buNone/>
            </a:pPr>
            <a:r>
              <a:rPr b="1" i="0" lang="en-US" sz="7200" u="none" cap="none" strike="noStrike">
                <a:solidFill>
                  <a:srgbClr val="FFFFFF"/>
                </a:solidFill>
                <a:latin typeface="Cambria"/>
                <a:ea typeface="Cambria"/>
                <a:cs typeface="Cambria"/>
                <a:sym typeface="Cambria"/>
              </a:rPr>
              <a:t>FSCM</a:t>
            </a:r>
            <a:endParaRPr b="0" i="0" sz="7200" u="none" cap="none" strike="noStrike">
              <a:solidFill>
                <a:schemeClr val="dk1"/>
              </a:solidFill>
              <a:latin typeface="Calibri"/>
              <a:ea typeface="Calibri"/>
              <a:cs typeface="Calibri"/>
              <a:sym typeface="Calibri"/>
            </a:endParaRPr>
          </a:p>
        </p:txBody>
      </p:sp>
      <p:sp>
        <p:nvSpPr>
          <p:cNvPr id="14" name="Google Shape;14;p1"/>
          <p:cNvSpPr txBox="1"/>
          <p:nvPr/>
        </p:nvSpPr>
        <p:spPr>
          <a:xfrm>
            <a:off x="777240" y="2240280"/>
            <a:ext cx="10515600" cy="82296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8E8E2"/>
              </a:buClr>
              <a:buSzPts val="1900"/>
              <a:buFont typeface="Calibri"/>
              <a:buNone/>
            </a:pPr>
            <a:r>
              <a:rPr b="0" i="0" lang="en-US" sz="1900" u="none" cap="none" strike="noStrike">
                <a:solidFill>
                  <a:srgbClr val="C8E8E2"/>
                </a:solidFill>
                <a:latin typeface="Calibri"/>
                <a:ea typeface="Calibri"/>
                <a:cs typeface="Calibri"/>
                <a:sym typeface="Calibri"/>
              </a:rPr>
              <a:t>Short Shelf-Life FMCG Supply Chain Management</a:t>
            </a:r>
            <a:endParaRPr b="0" i="0" sz="1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C8E8E2"/>
              </a:buClr>
              <a:buSzPts val="1900"/>
              <a:buFont typeface="Calibri"/>
              <a:buNone/>
            </a:pPr>
            <a:r>
              <a:rPr b="0" i="0" lang="en-US" sz="1900" u="none" cap="none" strike="noStrike">
                <a:solidFill>
                  <a:srgbClr val="C8E8E2"/>
                </a:solidFill>
                <a:latin typeface="Calibri"/>
                <a:ea typeface="Calibri"/>
                <a:cs typeface="Calibri"/>
                <a:sym typeface="Calibri"/>
              </a:rPr>
              <a:t>and Distribution Coordination System with FEFO Optimization</a:t>
            </a:r>
            <a:endParaRPr b="0" i="0" sz="1900" u="none" cap="none" strike="noStrike">
              <a:solidFill>
                <a:schemeClr val="dk1"/>
              </a:solidFill>
              <a:latin typeface="Calibri"/>
              <a:ea typeface="Calibri"/>
              <a:cs typeface="Calibri"/>
              <a:sym typeface="Calibri"/>
            </a:endParaRPr>
          </a:p>
        </p:txBody>
      </p:sp>
      <p:sp>
        <p:nvSpPr>
          <p:cNvPr id="15" name="Google Shape;15;p1"/>
          <p:cNvSpPr txBox="1"/>
          <p:nvPr/>
        </p:nvSpPr>
        <p:spPr>
          <a:xfrm>
            <a:off x="777240" y="3154680"/>
            <a:ext cx="105156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FAFA6"/>
              </a:buClr>
              <a:buSzPts val="1300"/>
              <a:buFont typeface="Calibri"/>
              <a:buNone/>
            </a:pPr>
            <a:r>
              <a:rPr b="0" i="1" lang="en-US" sz="1300" u="none" cap="none" strike="noStrike">
                <a:solidFill>
                  <a:srgbClr val="6FAFA6"/>
                </a:solidFill>
                <a:latin typeface="Calibri"/>
                <a:ea typeface="Calibri"/>
                <a:cs typeface="Calibri"/>
                <a:sym typeface="Calibri"/>
              </a:rPr>
              <a:t>Hệ thống Quản trị và Điều phối Chuỗi Cung ứng FMCG Ngắn Hạn với Tối ưu hoá FEFO</a:t>
            </a:r>
            <a:endParaRPr b="0" i="0" sz="1300" u="none" cap="none" strike="noStrike">
              <a:solidFill>
                <a:schemeClr val="dk1"/>
              </a:solidFill>
              <a:latin typeface="Calibri"/>
              <a:ea typeface="Calibri"/>
              <a:cs typeface="Calibri"/>
              <a:sym typeface="Calibri"/>
            </a:endParaRPr>
          </a:p>
        </p:txBody>
      </p:sp>
      <p:sp>
        <p:nvSpPr>
          <p:cNvPr id="16" name="Google Shape;16;p1"/>
          <p:cNvSpPr/>
          <p:nvPr/>
        </p:nvSpPr>
        <p:spPr>
          <a:xfrm>
            <a:off x="777240" y="3749040"/>
            <a:ext cx="10607040" cy="9144"/>
          </a:xfrm>
          <a:prstGeom prst="rect">
            <a:avLst/>
          </a:prstGeom>
          <a:solidFill>
            <a:srgbClr val="1C5A60"/>
          </a:solidFill>
          <a:ln cap="flat" cmpd="sng" w="12700">
            <a:solidFill>
              <a:srgbClr val="1C5A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txBox="1"/>
          <p:nvPr/>
        </p:nvSpPr>
        <p:spPr>
          <a:xfrm>
            <a:off x="777240" y="3931920"/>
            <a:ext cx="45720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900"/>
              <a:buFont typeface="Calibri"/>
              <a:buNone/>
            </a:pPr>
            <a:r>
              <a:rPr b="1" i="0" lang="en-US" sz="900" u="none" cap="none" strike="noStrike">
                <a:solidFill>
                  <a:srgbClr val="02C39A"/>
                </a:solidFill>
                <a:latin typeface="Calibri"/>
                <a:ea typeface="Calibri"/>
                <a:cs typeface="Calibri"/>
                <a:sym typeface="Calibri"/>
              </a:rPr>
              <a:t>SUPERVISOR</a:t>
            </a:r>
            <a:endParaRPr b="0" i="0" sz="900" u="none" cap="none" strike="noStrike">
              <a:solidFill>
                <a:schemeClr val="dk1"/>
              </a:solidFill>
              <a:latin typeface="Calibri"/>
              <a:ea typeface="Calibri"/>
              <a:cs typeface="Calibri"/>
              <a:sym typeface="Calibri"/>
            </a:endParaRPr>
          </a:p>
        </p:txBody>
      </p:sp>
      <p:sp>
        <p:nvSpPr>
          <p:cNvPr id="18" name="Google Shape;18;p1"/>
          <p:cNvSpPr/>
          <p:nvPr/>
        </p:nvSpPr>
        <p:spPr>
          <a:xfrm>
            <a:off x="777240" y="4224528"/>
            <a:ext cx="2834640" cy="438912"/>
          </a:xfrm>
          <a:prstGeom prst="roundRect">
            <a:avLst>
              <a:gd fmla="val 50000" name="adj"/>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txBox="1"/>
          <p:nvPr/>
        </p:nvSpPr>
        <p:spPr>
          <a:xfrm>
            <a:off x="777240" y="4224528"/>
            <a:ext cx="283464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E33"/>
              </a:buClr>
              <a:buSzPts val="1300"/>
              <a:buFont typeface="Calibri"/>
              <a:buNone/>
            </a:pPr>
            <a:r>
              <a:rPr b="1" i="0" lang="en-US" sz="1300" u="none" cap="none" strike="noStrike">
                <a:solidFill>
                  <a:srgbClr val="0B2E33"/>
                </a:solidFill>
                <a:latin typeface="Calibri"/>
                <a:ea typeface="Calibri"/>
                <a:cs typeface="Calibri"/>
                <a:sym typeface="Calibri"/>
              </a:rPr>
              <a:t>Le Thi Quynh Chi</a:t>
            </a:r>
            <a:endParaRPr b="0" i="0" sz="1300" u="none" cap="none" strike="noStrike">
              <a:solidFill>
                <a:schemeClr val="dk1"/>
              </a:solidFill>
              <a:latin typeface="Calibri"/>
              <a:ea typeface="Calibri"/>
              <a:cs typeface="Calibri"/>
              <a:sym typeface="Calibri"/>
            </a:endParaRPr>
          </a:p>
        </p:txBody>
      </p:sp>
      <p:sp>
        <p:nvSpPr>
          <p:cNvPr id="20" name="Google Shape;20;p1"/>
          <p:cNvSpPr txBox="1"/>
          <p:nvPr/>
        </p:nvSpPr>
        <p:spPr>
          <a:xfrm>
            <a:off x="777240" y="4864608"/>
            <a:ext cx="5486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900"/>
              <a:buFont typeface="Calibri"/>
              <a:buNone/>
            </a:pPr>
            <a:r>
              <a:rPr b="1" i="0" lang="en-US" sz="900" u="none" cap="none" strike="noStrike">
                <a:solidFill>
                  <a:srgbClr val="02C39A"/>
                </a:solidFill>
                <a:latin typeface="Calibri"/>
                <a:ea typeface="Calibri"/>
                <a:cs typeface="Calibri"/>
                <a:sym typeface="Calibri"/>
              </a:rPr>
              <a:t>TEAM MEMBERS</a:t>
            </a:r>
            <a:endParaRPr b="0" i="0" sz="900" u="none" cap="none" strike="noStrike">
              <a:solidFill>
                <a:schemeClr val="dk1"/>
              </a:solidFill>
              <a:latin typeface="Calibri"/>
              <a:ea typeface="Calibri"/>
              <a:cs typeface="Calibri"/>
              <a:sym typeface="Calibri"/>
            </a:endParaRPr>
          </a:p>
        </p:txBody>
      </p:sp>
      <p:sp>
        <p:nvSpPr>
          <p:cNvPr id="21" name="Google Shape;21;p1"/>
          <p:cNvSpPr/>
          <p:nvPr/>
        </p:nvSpPr>
        <p:spPr>
          <a:xfrm>
            <a:off x="777240" y="5157216"/>
            <a:ext cx="1938528" cy="438912"/>
          </a:xfrm>
          <a:prstGeom prst="roundRect">
            <a:avLst>
              <a:gd fmla="val 50000" name="adj"/>
            </a:avLst>
          </a:prstGeom>
          <a:solidFill>
            <a:srgbClr val="0F3D42"/>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
          <p:cNvSpPr txBox="1"/>
          <p:nvPr/>
        </p:nvSpPr>
        <p:spPr>
          <a:xfrm>
            <a:off x="777240" y="5157216"/>
            <a:ext cx="1938528"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Nguyen Thien Nhan (Leader)</a:t>
            </a:r>
            <a:endParaRPr b="0" i="0" sz="1100" u="none" cap="none" strike="noStrike">
              <a:solidFill>
                <a:schemeClr val="dk1"/>
              </a:solidFill>
              <a:latin typeface="Calibri"/>
              <a:ea typeface="Calibri"/>
              <a:cs typeface="Calibri"/>
              <a:sym typeface="Calibri"/>
            </a:endParaRPr>
          </a:p>
        </p:txBody>
      </p:sp>
      <p:sp>
        <p:nvSpPr>
          <p:cNvPr id="23" name="Google Shape;23;p1"/>
          <p:cNvSpPr/>
          <p:nvPr/>
        </p:nvSpPr>
        <p:spPr>
          <a:xfrm>
            <a:off x="2788920" y="5157216"/>
            <a:ext cx="1938528" cy="438912"/>
          </a:xfrm>
          <a:prstGeom prst="roundRect">
            <a:avLst>
              <a:gd fmla="val 50000" name="adj"/>
            </a:avLst>
          </a:prstGeom>
          <a:solidFill>
            <a:srgbClr val="0F3D42"/>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
          <p:cNvSpPr txBox="1"/>
          <p:nvPr/>
        </p:nvSpPr>
        <p:spPr>
          <a:xfrm>
            <a:off x="2788920" y="5157216"/>
            <a:ext cx="1938528"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Tran Ngoc Khiet</a:t>
            </a:r>
            <a:endParaRPr b="0" i="0" sz="1100" u="none" cap="none" strike="noStrike">
              <a:solidFill>
                <a:schemeClr val="dk1"/>
              </a:solidFill>
              <a:latin typeface="Calibri"/>
              <a:ea typeface="Calibri"/>
              <a:cs typeface="Calibri"/>
              <a:sym typeface="Calibri"/>
            </a:endParaRPr>
          </a:p>
        </p:txBody>
      </p:sp>
      <p:sp>
        <p:nvSpPr>
          <p:cNvPr id="25" name="Google Shape;25;p1"/>
          <p:cNvSpPr/>
          <p:nvPr/>
        </p:nvSpPr>
        <p:spPr>
          <a:xfrm>
            <a:off x="4800600" y="5157216"/>
            <a:ext cx="1938528" cy="438912"/>
          </a:xfrm>
          <a:prstGeom prst="roundRect">
            <a:avLst>
              <a:gd fmla="val 50000" name="adj"/>
            </a:avLst>
          </a:prstGeom>
          <a:solidFill>
            <a:srgbClr val="0F3D42"/>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1"/>
          <p:cNvSpPr txBox="1"/>
          <p:nvPr/>
        </p:nvSpPr>
        <p:spPr>
          <a:xfrm>
            <a:off x="4800600" y="5157216"/>
            <a:ext cx="1938528"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Doan Duc Hai</a:t>
            </a:r>
            <a:endParaRPr b="0" i="0" sz="1100" u="none" cap="none" strike="noStrike">
              <a:solidFill>
                <a:schemeClr val="dk1"/>
              </a:solidFill>
              <a:latin typeface="Calibri"/>
              <a:ea typeface="Calibri"/>
              <a:cs typeface="Calibri"/>
              <a:sym typeface="Calibri"/>
            </a:endParaRPr>
          </a:p>
        </p:txBody>
      </p:sp>
      <p:sp>
        <p:nvSpPr>
          <p:cNvPr id="27" name="Google Shape;27;p1"/>
          <p:cNvSpPr/>
          <p:nvPr/>
        </p:nvSpPr>
        <p:spPr>
          <a:xfrm>
            <a:off x="6812280" y="5157216"/>
            <a:ext cx="1938528" cy="438912"/>
          </a:xfrm>
          <a:prstGeom prst="roundRect">
            <a:avLst>
              <a:gd fmla="val 50000" name="adj"/>
            </a:avLst>
          </a:prstGeom>
          <a:solidFill>
            <a:srgbClr val="0F3D42"/>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1"/>
          <p:cNvSpPr txBox="1"/>
          <p:nvPr/>
        </p:nvSpPr>
        <p:spPr>
          <a:xfrm>
            <a:off x="6812280" y="5157216"/>
            <a:ext cx="1938528"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Vo Minh Son</a:t>
            </a:r>
            <a:endParaRPr b="0" i="0" sz="1100" u="none" cap="none" strike="noStrike">
              <a:solidFill>
                <a:schemeClr val="dk1"/>
              </a:solidFill>
              <a:latin typeface="Calibri"/>
              <a:ea typeface="Calibri"/>
              <a:cs typeface="Calibri"/>
              <a:sym typeface="Calibri"/>
            </a:endParaRPr>
          </a:p>
        </p:txBody>
      </p:sp>
      <p:sp>
        <p:nvSpPr>
          <p:cNvPr id="29" name="Google Shape;29;p1"/>
          <p:cNvSpPr/>
          <p:nvPr/>
        </p:nvSpPr>
        <p:spPr>
          <a:xfrm>
            <a:off x="8823960" y="5157216"/>
            <a:ext cx="1938528" cy="438912"/>
          </a:xfrm>
          <a:prstGeom prst="roundRect">
            <a:avLst>
              <a:gd fmla="val 50000" name="adj"/>
            </a:avLst>
          </a:prstGeom>
          <a:solidFill>
            <a:srgbClr val="0F3D42"/>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1"/>
          <p:cNvSpPr txBox="1"/>
          <p:nvPr/>
        </p:nvSpPr>
        <p:spPr>
          <a:xfrm>
            <a:off x="8823960" y="5157216"/>
            <a:ext cx="1938528"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Truong Le Huy Hoang</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AF9"/>
        </a:solidFill>
      </p:bgPr>
    </p:bg>
    <p:spTree>
      <p:nvGrpSpPr>
        <p:cNvPr id="35" name="Shape 35"/>
        <p:cNvGrpSpPr/>
        <p:nvPr/>
      </p:nvGrpSpPr>
      <p:grpSpPr>
        <a:xfrm>
          <a:off x="0" y="0"/>
          <a:ext cx="0" cy="0"/>
          <a:chOff x="0" y="0"/>
          <a:chExt cx="0" cy="0"/>
        </a:xfrm>
      </p:grpSpPr>
      <p:sp>
        <p:nvSpPr>
          <p:cNvPr id="36" name="Google Shape;36;p2"/>
          <p:cNvSpPr txBox="1"/>
          <p:nvPr/>
        </p:nvSpPr>
        <p:spPr>
          <a:xfrm>
            <a:off x="502920" y="402336"/>
            <a:ext cx="10058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100"/>
              <a:buFont typeface="Calibri"/>
              <a:buNone/>
            </a:pPr>
            <a:r>
              <a:rPr b="1" lang="en-US" sz="1100">
                <a:solidFill>
                  <a:srgbClr val="028090"/>
                </a:solidFill>
                <a:latin typeface="Calibri"/>
                <a:ea typeface="Calibri"/>
                <a:cs typeface="Calibri"/>
                <a:sym typeface="Calibri"/>
              </a:rPr>
              <a:t>01 · PROJECT BACKGROUND</a:t>
            </a:r>
            <a:endParaRPr sz="1100">
              <a:solidFill>
                <a:schemeClr val="dk1"/>
              </a:solidFill>
              <a:latin typeface="Calibri"/>
              <a:ea typeface="Calibri"/>
              <a:cs typeface="Calibri"/>
              <a:sym typeface="Calibri"/>
            </a:endParaRPr>
          </a:p>
        </p:txBody>
      </p:sp>
      <p:sp>
        <p:nvSpPr>
          <p:cNvPr id="37" name="Google Shape;37;p2"/>
          <p:cNvSpPr/>
          <p:nvPr/>
        </p:nvSpPr>
        <p:spPr>
          <a:xfrm>
            <a:off x="502920" y="731520"/>
            <a:ext cx="11201400" cy="13716"/>
          </a:xfrm>
          <a:prstGeom prst="rect">
            <a:avLst/>
          </a:prstGeom>
          <a:solidFill>
            <a:srgbClr val="BFE8DC"/>
          </a:solidFill>
          <a:ln cap="flat" cmpd="sng" w="12700">
            <a:solidFill>
              <a:srgbClr val="BFE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txBox="1"/>
          <p:nvPr/>
        </p:nvSpPr>
        <p:spPr>
          <a:xfrm>
            <a:off x="502920" y="777240"/>
            <a:ext cx="11201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2C"/>
              </a:buClr>
              <a:buSzPts val="3000"/>
              <a:buFont typeface="Cambria"/>
              <a:buNone/>
            </a:pPr>
            <a:r>
              <a:rPr b="1" lang="en-US" sz="3000">
                <a:solidFill>
                  <a:srgbClr val="13292C"/>
                </a:solidFill>
                <a:latin typeface="Cambria"/>
                <a:ea typeface="Cambria"/>
                <a:cs typeface="Cambria"/>
                <a:sym typeface="Cambria"/>
              </a:rPr>
              <a:t>Product Background</a:t>
            </a:r>
            <a:endParaRPr sz="3000">
              <a:solidFill>
                <a:schemeClr val="dk1"/>
              </a:solidFill>
              <a:latin typeface="Calibri"/>
              <a:ea typeface="Calibri"/>
              <a:cs typeface="Calibri"/>
              <a:sym typeface="Calibri"/>
            </a:endParaRPr>
          </a:p>
        </p:txBody>
      </p:sp>
      <p:sp>
        <p:nvSpPr>
          <p:cNvPr id="39" name="Google Shape;39;p2"/>
          <p:cNvSpPr txBox="1"/>
          <p:nvPr/>
        </p:nvSpPr>
        <p:spPr>
          <a:xfrm>
            <a:off x="502920" y="1508760"/>
            <a:ext cx="56692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400"/>
              <a:buFont typeface="Calibri"/>
              <a:buNone/>
            </a:pPr>
            <a:r>
              <a:rPr b="1" lang="en-US" sz="1400">
                <a:solidFill>
                  <a:srgbClr val="028090"/>
                </a:solidFill>
                <a:latin typeface="Calibri"/>
                <a:ea typeface="Calibri"/>
                <a:cs typeface="Calibri"/>
                <a:sym typeface="Calibri"/>
              </a:rPr>
              <a:t>The Problem</a:t>
            </a:r>
            <a:endParaRPr sz="1400">
              <a:solidFill>
                <a:schemeClr val="dk1"/>
              </a:solidFill>
              <a:latin typeface="Calibri"/>
              <a:ea typeface="Calibri"/>
              <a:cs typeface="Calibri"/>
              <a:sym typeface="Calibri"/>
            </a:endParaRPr>
          </a:p>
        </p:txBody>
      </p:sp>
      <p:sp>
        <p:nvSpPr>
          <p:cNvPr id="40" name="Google Shape;40;p2"/>
          <p:cNvSpPr txBox="1"/>
          <p:nvPr/>
        </p:nvSpPr>
        <p:spPr>
          <a:xfrm>
            <a:off x="502920" y="1874520"/>
            <a:ext cx="5577840" cy="118872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3292C"/>
              </a:buClr>
              <a:buSzPts val="1250"/>
              <a:buFont typeface="Calibri"/>
              <a:buNone/>
            </a:pPr>
            <a:r>
              <a:rPr lang="en-US" sz="1250">
                <a:solidFill>
                  <a:srgbClr val="13292C"/>
                </a:solidFill>
                <a:latin typeface="Calibri"/>
                <a:ea typeface="Calibri"/>
                <a:cs typeface="Calibri"/>
                <a:sym typeface="Calibri"/>
              </a:rPr>
              <a:t>Short shelf-life FMCG products — dairy, fresh bakery, chilled goods — must be tracked by Batch/Lot and expiration date. FIFO alone is insufficient because a later receipt may expire sooner.</a:t>
            </a:r>
            <a:endParaRPr sz="1250">
              <a:solidFill>
                <a:schemeClr val="dk1"/>
              </a:solidFill>
              <a:latin typeface="Calibri"/>
              <a:ea typeface="Calibri"/>
              <a:cs typeface="Calibri"/>
              <a:sym typeface="Calibri"/>
            </a:endParaRPr>
          </a:p>
        </p:txBody>
      </p:sp>
      <p:sp>
        <p:nvSpPr>
          <p:cNvPr id="41" name="Google Shape;41;p2"/>
          <p:cNvSpPr txBox="1"/>
          <p:nvPr/>
        </p:nvSpPr>
        <p:spPr>
          <a:xfrm>
            <a:off x="502920" y="3172968"/>
            <a:ext cx="5577840" cy="118872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3292C"/>
              </a:buClr>
              <a:buSzPts val="1250"/>
              <a:buFont typeface="Calibri"/>
              <a:buNone/>
            </a:pPr>
            <a:r>
              <a:rPr lang="en-US" sz="1250">
                <a:solidFill>
                  <a:srgbClr val="13292C"/>
                </a:solidFill>
                <a:latin typeface="Calibri"/>
                <a:ea typeface="Calibri"/>
                <a:cs typeface="Calibri"/>
                <a:sym typeface="Calibri"/>
              </a:rPr>
              <a:t>One FMCG distributor operates a network of peer warehouses. Field Sales Representatives visit retailers and place orders on behalf of them; the Retailer later confirms delivery by scanning batch QR labels.</a:t>
            </a:r>
            <a:endParaRPr sz="1250">
              <a:solidFill>
                <a:schemeClr val="dk1"/>
              </a:solidFill>
              <a:latin typeface="Calibri"/>
              <a:ea typeface="Calibri"/>
              <a:cs typeface="Calibri"/>
              <a:sym typeface="Calibri"/>
            </a:endParaRPr>
          </a:p>
        </p:txBody>
      </p:sp>
      <p:sp>
        <p:nvSpPr>
          <p:cNvPr id="42" name="Google Shape;42;p2"/>
          <p:cNvSpPr txBox="1"/>
          <p:nvPr/>
        </p:nvSpPr>
        <p:spPr>
          <a:xfrm>
            <a:off x="502920" y="4471416"/>
            <a:ext cx="5577840" cy="118872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3292C"/>
              </a:buClr>
              <a:buSzPts val="1250"/>
              <a:buFont typeface="Calibri"/>
              <a:buNone/>
            </a:pPr>
            <a:r>
              <a:rPr lang="en-US" sz="1250">
                <a:solidFill>
                  <a:srgbClr val="13292C"/>
                </a:solidFill>
                <a:latin typeface="Calibri"/>
                <a:ea typeface="Calibri"/>
                <a:cs typeface="Calibri"/>
                <a:sym typeface="Calibri"/>
              </a:rPr>
              <a:t>Most SME distributors rely on spreadsheets or basic inventory tools that lack batch visibility, FEFO picking, and offline mobile ordering — yet large ERP suites like SAP EWM or MS Dynamics 365 SCM are too expensive and complex for this scale.</a:t>
            </a:r>
            <a:endParaRPr sz="1250">
              <a:solidFill>
                <a:schemeClr val="dk1"/>
              </a:solidFill>
              <a:latin typeface="Calibri"/>
              <a:ea typeface="Calibri"/>
              <a:cs typeface="Calibri"/>
              <a:sym typeface="Calibri"/>
            </a:endParaRPr>
          </a:p>
        </p:txBody>
      </p:sp>
      <p:sp>
        <p:nvSpPr>
          <p:cNvPr id="43" name="Google Shape;43;p2"/>
          <p:cNvSpPr/>
          <p:nvPr/>
        </p:nvSpPr>
        <p:spPr>
          <a:xfrm>
            <a:off x="6492240" y="1481328"/>
            <a:ext cx="5212080" cy="5138928"/>
          </a:xfrm>
          <a:prstGeom prst="roundRect">
            <a:avLst>
              <a:gd fmla="val 1779" name="adj"/>
            </a:avLst>
          </a:prstGeom>
          <a:solidFill>
            <a:srgbClr val="0B2E33"/>
          </a:solidFill>
          <a:ln cap="flat" cmpd="sng" w="12700">
            <a:solidFill>
              <a:srgbClr val="0B2E33"/>
            </a:solidFill>
            <a:prstDash val="solid"/>
            <a:round/>
            <a:headEnd len="sm" w="sm" type="none"/>
            <a:tailEnd len="sm" w="sm" type="none"/>
          </a:ln>
          <a:effectLst>
            <a:outerShdw blurRad="63500" rotWithShape="0" algn="bl" dir="5400000" dist="25400">
              <a:srgbClr val="1B3B3B">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txBox="1"/>
          <p:nvPr/>
        </p:nvSpPr>
        <p:spPr>
          <a:xfrm>
            <a:off x="6858000" y="1773936"/>
            <a:ext cx="44805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000"/>
              <a:buFont typeface="Calibri"/>
              <a:buNone/>
            </a:pPr>
            <a:r>
              <a:rPr b="1" lang="en-US" sz="1000">
                <a:solidFill>
                  <a:srgbClr val="02C39A"/>
                </a:solidFill>
                <a:latin typeface="Calibri"/>
                <a:ea typeface="Calibri"/>
                <a:cs typeface="Calibri"/>
                <a:sym typeface="Calibri"/>
              </a:rPr>
              <a:t>SOLUTION — FSCM</a:t>
            </a:r>
            <a:endParaRPr sz="1000">
              <a:solidFill>
                <a:schemeClr val="dk1"/>
              </a:solidFill>
              <a:latin typeface="Calibri"/>
              <a:ea typeface="Calibri"/>
              <a:cs typeface="Calibri"/>
              <a:sym typeface="Calibri"/>
            </a:endParaRPr>
          </a:p>
        </p:txBody>
      </p:sp>
      <p:sp>
        <p:nvSpPr>
          <p:cNvPr id="45" name="Google Shape;45;p2"/>
          <p:cNvSpPr txBox="1"/>
          <p:nvPr/>
        </p:nvSpPr>
        <p:spPr>
          <a:xfrm>
            <a:off x="6858000" y="2103120"/>
            <a:ext cx="4480560" cy="82296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FFFFF"/>
              </a:buClr>
              <a:buSzPts val="1800"/>
              <a:buFont typeface="Cambria"/>
              <a:buNone/>
            </a:pPr>
            <a:r>
              <a:rPr b="1" lang="en-US" sz="1800">
                <a:solidFill>
                  <a:srgbClr val="FFFFFF"/>
                </a:solidFill>
                <a:latin typeface="Cambria"/>
                <a:ea typeface="Cambria"/>
                <a:cs typeface="Cambria"/>
                <a:sym typeface="Cambria"/>
              </a:rPr>
              <a:t>Batch/Lot · FEFO · Offline Mobile · Multi-warehouse</a:t>
            </a:r>
            <a:endParaRPr sz="1800">
              <a:solidFill>
                <a:schemeClr val="dk1"/>
              </a:solidFill>
              <a:latin typeface="Calibri"/>
              <a:ea typeface="Calibri"/>
              <a:cs typeface="Calibri"/>
              <a:sym typeface="Calibri"/>
            </a:endParaRPr>
          </a:p>
        </p:txBody>
      </p:sp>
      <p:sp>
        <p:nvSpPr>
          <p:cNvPr id="46" name="Google Shape;46;p2"/>
          <p:cNvSpPr/>
          <p:nvPr/>
        </p:nvSpPr>
        <p:spPr>
          <a:xfrm>
            <a:off x="6858000" y="3017520"/>
            <a:ext cx="4480560" cy="9144"/>
          </a:xfrm>
          <a:prstGeom prst="rect">
            <a:avLst/>
          </a:prstGeom>
          <a:solidFill>
            <a:srgbClr val="1C5A60"/>
          </a:solidFill>
          <a:ln cap="flat" cmpd="sng" w="12700">
            <a:solidFill>
              <a:srgbClr val="1C5A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txBox="1"/>
          <p:nvPr/>
        </p:nvSpPr>
        <p:spPr>
          <a:xfrm>
            <a:off x="6858000" y="3145536"/>
            <a:ext cx="4480560" cy="3017520"/>
          </a:xfrm>
          <a:prstGeom prst="rect">
            <a:avLst/>
          </a:prstGeom>
          <a:noFill/>
          <a:ln>
            <a:noFill/>
          </a:ln>
        </p:spPr>
        <p:txBody>
          <a:bodyPr anchorCtr="0" anchor="t" bIns="0" lIns="0" spcFirstLastPara="1" rIns="0" wrap="square" tIns="0">
            <a:noAutofit/>
          </a:bodyPr>
          <a:lstStyle/>
          <a:p>
            <a:pPr indent="-127000" lvl="0" marL="127000" marR="0" rtl="0" algn="l">
              <a:lnSpc>
                <a:spcPct val="115000"/>
              </a:lnSpc>
              <a:spcBef>
                <a:spcPts val="0"/>
              </a:spcBef>
              <a:spcAft>
                <a:spcPts val="0"/>
              </a:spcAft>
              <a:buClr>
                <a:srgbClr val="C8E8E2"/>
              </a:buClr>
              <a:buSzPts val="1200"/>
              <a:buFont typeface="Calibri"/>
              <a:buChar char="•"/>
            </a:pPr>
            <a:r>
              <a:rPr lang="en-US" sz="1200">
                <a:solidFill>
                  <a:srgbClr val="C8E8E2"/>
                </a:solidFill>
                <a:latin typeface="Calibri"/>
                <a:ea typeface="Calibri"/>
                <a:cs typeface="Calibri"/>
                <a:sym typeface="Calibri"/>
              </a:rPr>
              <a:t>Links Batch/Lot goods receipt with QR labels and FEFO-based picking</a:t>
            </a:r>
            <a:endParaRPr sz="1200">
              <a:solidFill>
                <a:schemeClr val="dk1"/>
              </a:solidFill>
              <a:latin typeface="Calibri"/>
              <a:ea typeface="Calibri"/>
              <a:cs typeface="Calibri"/>
              <a:sym typeface="Calibri"/>
            </a:endParaRPr>
          </a:p>
          <a:p>
            <a:pPr indent="-127000" lvl="0" marL="127000" marR="0" rtl="0" algn="l">
              <a:lnSpc>
                <a:spcPct val="115000"/>
              </a:lnSpc>
              <a:spcBef>
                <a:spcPts val="800"/>
              </a:spcBef>
              <a:spcAft>
                <a:spcPts val="0"/>
              </a:spcAft>
              <a:buClr>
                <a:srgbClr val="C8E8E2"/>
              </a:buClr>
              <a:buSzPts val="1200"/>
              <a:buFont typeface="Calibri"/>
              <a:buChar char="•"/>
            </a:pPr>
            <a:r>
              <a:rPr lang="en-US" sz="1200">
                <a:solidFill>
                  <a:srgbClr val="C8E8E2"/>
                </a:solidFill>
                <a:latin typeface="Calibri"/>
                <a:ea typeface="Calibri"/>
                <a:cs typeface="Calibri"/>
                <a:sym typeface="Calibri"/>
              </a:rPr>
              <a:t>Mobile sales ordering with offline capture and auto-sync</a:t>
            </a:r>
            <a:endParaRPr sz="1200">
              <a:solidFill>
                <a:schemeClr val="dk1"/>
              </a:solidFill>
              <a:latin typeface="Calibri"/>
              <a:ea typeface="Calibri"/>
              <a:cs typeface="Calibri"/>
              <a:sym typeface="Calibri"/>
            </a:endParaRPr>
          </a:p>
          <a:p>
            <a:pPr indent="-127000" lvl="0" marL="127000" marR="0" rtl="0" algn="l">
              <a:lnSpc>
                <a:spcPct val="115000"/>
              </a:lnSpc>
              <a:spcBef>
                <a:spcPts val="800"/>
              </a:spcBef>
              <a:spcAft>
                <a:spcPts val="0"/>
              </a:spcAft>
              <a:buClr>
                <a:srgbClr val="C8E8E2"/>
              </a:buClr>
              <a:buSzPts val="1200"/>
              <a:buFont typeface="Calibri"/>
              <a:buChar char="•"/>
            </a:pPr>
            <a:r>
              <a:rPr lang="en-US" sz="1200">
                <a:solidFill>
                  <a:srgbClr val="C8E8E2"/>
                </a:solidFill>
                <a:latin typeface="Calibri"/>
                <a:ea typeface="Calibri"/>
                <a:cs typeface="Calibri"/>
                <a:sym typeface="Calibri"/>
              </a:rPr>
              <a:t>Multi-warehouse FEFO allocation: excludes expired batches and batches that fail retailer-SKU MLOR at ETA</a:t>
            </a:r>
            <a:endParaRPr sz="1200">
              <a:solidFill>
                <a:schemeClr val="dk1"/>
              </a:solidFill>
              <a:latin typeface="Calibri"/>
              <a:ea typeface="Calibri"/>
              <a:cs typeface="Calibri"/>
              <a:sym typeface="Calibri"/>
            </a:endParaRPr>
          </a:p>
          <a:p>
            <a:pPr indent="-127000" lvl="0" marL="127000" marR="0" rtl="0" algn="l">
              <a:lnSpc>
                <a:spcPct val="115000"/>
              </a:lnSpc>
              <a:spcBef>
                <a:spcPts val="800"/>
              </a:spcBef>
              <a:spcAft>
                <a:spcPts val="0"/>
              </a:spcAft>
              <a:buClr>
                <a:srgbClr val="C8E8E2"/>
              </a:buClr>
              <a:buSzPts val="1200"/>
              <a:buFont typeface="Calibri"/>
              <a:buChar char="•"/>
            </a:pPr>
            <a:r>
              <a:rPr lang="en-US" sz="1200">
                <a:solidFill>
                  <a:srgbClr val="C8E8E2"/>
                </a:solidFill>
                <a:latin typeface="Calibri"/>
                <a:ea typeface="Calibri"/>
                <a:cs typeface="Calibri"/>
                <a:sym typeface="Calibri"/>
              </a:rPr>
              <a:t>Web portal (React + Chart.js) and mobile app (Flutter) backed by ASP.NET Core REST API on Azure PostgreSQL</a:t>
            </a:r>
            <a:endParaRPr sz="1200">
              <a:solidFill>
                <a:schemeClr val="dk1"/>
              </a:solidFill>
              <a:latin typeface="Calibri"/>
              <a:ea typeface="Calibri"/>
              <a:cs typeface="Calibri"/>
              <a:sym typeface="Calibri"/>
            </a:endParaRPr>
          </a:p>
        </p:txBody>
      </p:sp>
      <p:sp>
        <p:nvSpPr>
          <p:cNvPr id="48" name="Google Shape;48;p2"/>
          <p:cNvSpPr/>
          <p:nvPr/>
        </p:nvSpPr>
        <p:spPr>
          <a:xfrm>
            <a:off x="6858000" y="6163056"/>
            <a:ext cx="4480560" cy="9144"/>
          </a:xfrm>
          <a:prstGeom prst="rect">
            <a:avLst/>
          </a:prstGeom>
          <a:solidFill>
            <a:srgbClr val="1C5A60"/>
          </a:solidFill>
          <a:ln cap="flat" cmpd="sng" w="12700">
            <a:solidFill>
              <a:srgbClr val="1C5A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txBox="1"/>
          <p:nvPr/>
        </p:nvSpPr>
        <p:spPr>
          <a:xfrm>
            <a:off x="6858000" y="6236208"/>
            <a:ext cx="44805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100"/>
              <a:buFont typeface="Calibri"/>
              <a:buNone/>
            </a:pPr>
            <a:r>
              <a:rPr b="1" i="1" lang="en-US" sz="1100">
                <a:solidFill>
                  <a:srgbClr val="02C39A"/>
                </a:solidFill>
                <a:latin typeface="Calibri"/>
                <a:ea typeface="Calibri"/>
                <a:cs typeface="Calibri"/>
                <a:sym typeface="Calibri"/>
              </a:rPr>
              <a:t>EXP − ETA ≥ MLOR   →   FEFO rank   →   pick nearest warehouse</a:t>
            </a:r>
            <a:endParaRPr sz="1100">
              <a:solidFill>
                <a:schemeClr val="dk1"/>
              </a:solidFill>
              <a:latin typeface="Calibri"/>
              <a:ea typeface="Calibri"/>
              <a:cs typeface="Calibri"/>
              <a:sym typeface="Calibri"/>
            </a:endParaRPr>
          </a:p>
        </p:txBody>
      </p:sp>
      <p:sp>
        <p:nvSpPr>
          <p:cNvPr id="50" name="Google Shape;50;p2"/>
          <p:cNvSpPr txBox="1"/>
          <p:nvPr/>
        </p:nvSpPr>
        <p:spPr>
          <a:xfrm>
            <a:off x="502920" y="6510528"/>
            <a:ext cx="73152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C5C0"/>
              </a:buClr>
              <a:buSzPts val="850"/>
              <a:buFont typeface="Calibri"/>
              <a:buNone/>
            </a:pPr>
            <a:r>
              <a:rPr lang="en-US" sz="850">
                <a:solidFill>
                  <a:srgbClr val="A8C5C0"/>
                </a:solidFill>
                <a:latin typeface="Calibri"/>
                <a:ea typeface="Calibri"/>
                <a:cs typeface="Calibri"/>
                <a:sym typeface="Calibri"/>
              </a:rPr>
              <a:t>FSCM  ·  Capstone Project Overview  ·  FA26SE083</a:t>
            </a:r>
            <a:endParaRPr sz="850">
              <a:solidFill>
                <a:schemeClr val="dk1"/>
              </a:solidFill>
              <a:latin typeface="Calibri"/>
              <a:ea typeface="Calibri"/>
              <a:cs typeface="Calibri"/>
              <a:sym typeface="Calibri"/>
            </a:endParaRPr>
          </a:p>
        </p:txBody>
      </p:sp>
      <p:sp>
        <p:nvSpPr>
          <p:cNvPr id="51" name="Google Shape;51;p2"/>
          <p:cNvSpPr txBox="1"/>
          <p:nvPr/>
        </p:nvSpPr>
        <p:spPr>
          <a:xfrm>
            <a:off x="11338560"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8C5C0"/>
              </a:buClr>
              <a:buSzPts val="850"/>
              <a:buFont typeface="Calibri"/>
              <a:buNone/>
            </a:pPr>
            <a:r>
              <a:rPr lang="en-US" sz="850">
                <a:solidFill>
                  <a:srgbClr val="A8C5C0"/>
                </a:solidFill>
                <a:latin typeface="Calibri"/>
                <a:ea typeface="Calibri"/>
                <a:cs typeface="Calibri"/>
                <a:sym typeface="Calibri"/>
              </a:rPr>
              <a:t>2</a:t>
            </a:r>
            <a:endParaRPr sz="85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AF9"/>
        </a:solidFill>
      </p:bgPr>
    </p:bg>
    <p:spTree>
      <p:nvGrpSpPr>
        <p:cNvPr id="56" name="Shape 56"/>
        <p:cNvGrpSpPr/>
        <p:nvPr/>
      </p:nvGrpSpPr>
      <p:grpSpPr>
        <a:xfrm>
          <a:off x="0" y="0"/>
          <a:ext cx="0" cy="0"/>
          <a:chOff x="0" y="0"/>
          <a:chExt cx="0" cy="0"/>
        </a:xfrm>
      </p:grpSpPr>
      <p:sp>
        <p:nvSpPr>
          <p:cNvPr id="57" name="Google Shape;57;p3"/>
          <p:cNvSpPr txBox="1"/>
          <p:nvPr/>
        </p:nvSpPr>
        <p:spPr>
          <a:xfrm>
            <a:off x="502920" y="402336"/>
            <a:ext cx="10058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100"/>
              <a:buFont typeface="Calibri"/>
              <a:buNone/>
            </a:pPr>
            <a:r>
              <a:rPr b="1" lang="en-US" sz="1100">
                <a:solidFill>
                  <a:srgbClr val="028090"/>
                </a:solidFill>
                <a:latin typeface="Calibri"/>
                <a:ea typeface="Calibri"/>
                <a:cs typeface="Calibri"/>
                <a:sym typeface="Calibri"/>
              </a:rPr>
              <a:t>01 · PROJECT BACKGROUND</a:t>
            </a:r>
            <a:endParaRPr sz="1100">
              <a:solidFill>
                <a:schemeClr val="dk1"/>
              </a:solidFill>
              <a:latin typeface="Calibri"/>
              <a:ea typeface="Calibri"/>
              <a:cs typeface="Calibri"/>
              <a:sym typeface="Calibri"/>
            </a:endParaRPr>
          </a:p>
        </p:txBody>
      </p:sp>
      <p:sp>
        <p:nvSpPr>
          <p:cNvPr id="58" name="Google Shape;58;p3"/>
          <p:cNvSpPr/>
          <p:nvPr/>
        </p:nvSpPr>
        <p:spPr>
          <a:xfrm>
            <a:off x="502920" y="731520"/>
            <a:ext cx="11201400" cy="13716"/>
          </a:xfrm>
          <a:prstGeom prst="rect">
            <a:avLst/>
          </a:prstGeom>
          <a:solidFill>
            <a:srgbClr val="BFE8DC"/>
          </a:solidFill>
          <a:ln cap="flat" cmpd="sng" w="12700">
            <a:solidFill>
              <a:srgbClr val="BFE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
          <p:cNvSpPr txBox="1"/>
          <p:nvPr/>
        </p:nvSpPr>
        <p:spPr>
          <a:xfrm>
            <a:off x="502920" y="777240"/>
            <a:ext cx="11201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2C"/>
              </a:buClr>
              <a:buSzPts val="3000"/>
              <a:buFont typeface="Cambria"/>
              <a:buNone/>
            </a:pPr>
            <a:r>
              <a:rPr b="1" lang="en-US" sz="3000">
                <a:solidFill>
                  <a:srgbClr val="13292C"/>
                </a:solidFill>
                <a:latin typeface="Cambria"/>
                <a:ea typeface="Cambria"/>
                <a:cs typeface="Cambria"/>
                <a:sym typeface="Cambria"/>
              </a:rPr>
              <a:t>Project Scope &amp; Boundaries</a:t>
            </a:r>
            <a:endParaRPr sz="3000">
              <a:solidFill>
                <a:schemeClr val="dk1"/>
              </a:solidFill>
              <a:latin typeface="Calibri"/>
              <a:ea typeface="Calibri"/>
              <a:cs typeface="Calibri"/>
              <a:sym typeface="Calibri"/>
            </a:endParaRPr>
          </a:p>
        </p:txBody>
      </p:sp>
      <p:sp>
        <p:nvSpPr>
          <p:cNvPr id="60" name="Google Shape;60;p3"/>
          <p:cNvSpPr/>
          <p:nvPr/>
        </p:nvSpPr>
        <p:spPr>
          <a:xfrm>
            <a:off x="502920" y="1481328"/>
            <a:ext cx="5349240" cy="5120640"/>
          </a:xfrm>
          <a:prstGeom prst="roundRect">
            <a:avLst>
              <a:gd fmla="val 1786" name="adj"/>
            </a:avLst>
          </a:prstGeom>
          <a:solidFill>
            <a:srgbClr val="FFFFFF"/>
          </a:solidFill>
          <a:ln cap="flat" cmpd="sng" w="9525">
            <a:solidFill>
              <a:srgbClr val="BFE8DC"/>
            </a:solidFill>
            <a:prstDash val="solid"/>
            <a:round/>
            <a:headEnd len="sm" w="sm" type="none"/>
            <a:tailEnd len="sm" w="sm" type="none"/>
          </a:ln>
          <a:effectLst>
            <a:outerShdw blurRad="63500" rotWithShape="0" algn="bl" dir="5400000" dist="25400">
              <a:srgbClr val="1B3B3B">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a:off x="502920" y="1481328"/>
            <a:ext cx="5349240" cy="384048"/>
          </a:xfrm>
          <a:prstGeom prst="roundRect">
            <a:avLst>
              <a:gd fmla="val 19048" name="adj"/>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txBox="1"/>
          <p:nvPr/>
        </p:nvSpPr>
        <p:spPr>
          <a:xfrm>
            <a:off x="640080" y="1481328"/>
            <a:ext cx="51206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  IN SCOPE</a:t>
            </a:r>
            <a:endParaRPr sz="1200">
              <a:solidFill>
                <a:schemeClr val="dk1"/>
              </a:solidFill>
              <a:latin typeface="Calibri"/>
              <a:ea typeface="Calibri"/>
              <a:cs typeface="Calibri"/>
              <a:sym typeface="Calibri"/>
            </a:endParaRPr>
          </a:p>
        </p:txBody>
      </p:sp>
      <p:sp>
        <p:nvSpPr>
          <p:cNvPr id="63" name="Google Shape;63;p3"/>
          <p:cNvSpPr txBox="1"/>
          <p:nvPr/>
        </p:nvSpPr>
        <p:spPr>
          <a:xfrm>
            <a:off x="640080" y="1956816"/>
            <a:ext cx="5074920" cy="4572000"/>
          </a:xfrm>
          <a:prstGeom prst="rect">
            <a:avLst/>
          </a:prstGeom>
          <a:noFill/>
          <a:ln>
            <a:noFill/>
          </a:ln>
        </p:spPr>
        <p:txBody>
          <a:bodyPr anchorCtr="0" anchor="t" bIns="0" lIns="0" spcFirstLastPara="1" rIns="0" wrap="square" tIns="0">
            <a:noAutofit/>
          </a:bodyPr>
          <a:lstStyle/>
          <a:p>
            <a:pPr indent="-127000" lvl="0" marL="127000" marR="0" rtl="0" algn="l">
              <a:lnSpc>
                <a:spcPct val="110000"/>
              </a:lnSpc>
              <a:spcBef>
                <a:spcPts val="0"/>
              </a:spcBef>
              <a:spcAft>
                <a:spcPts val="0"/>
              </a:spcAft>
              <a:buClr>
                <a:srgbClr val="13292C"/>
              </a:buClr>
              <a:buSzPts val="1150"/>
              <a:buFont typeface="Calibri"/>
              <a:buChar char="•"/>
            </a:pPr>
            <a:r>
              <a:rPr lang="en-US" sz="1150">
                <a:solidFill>
                  <a:srgbClr val="13292C"/>
                </a:solidFill>
                <a:latin typeface="Calibri"/>
                <a:ea typeface="Calibri"/>
                <a:cs typeface="Calibri"/>
                <a:sym typeface="Calibri"/>
              </a:rPr>
              <a:t>One FMCG distributor, multiple peer warehouses</a:t>
            </a:r>
            <a:endParaRPr sz="1150">
              <a:solidFill>
                <a:schemeClr val="dk1"/>
              </a:solidFill>
              <a:latin typeface="Calibri"/>
              <a:ea typeface="Calibri"/>
              <a:cs typeface="Calibri"/>
              <a:sym typeface="Calibri"/>
            </a:endParaRPr>
          </a:p>
          <a:p>
            <a:pPr indent="-127000" lvl="0" marL="127000" marR="0" rtl="0" algn="l">
              <a:lnSpc>
                <a:spcPct val="110000"/>
              </a:lnSpc>
              <a:spcBef>
                <a:spcPts val="600"/>
              </a:spcBef>
              <a:spcAft>
                <a:spcPts val="0"/>
              </a:spcAft>
              <a:buClr>
                <a:srgbClr val="13292C"/>
              </a:buClr>
              <a:buSzPts val="1150"/>
              <a:buFont typeface="Calibri"/>
              <a:buChar char="•"/>
            </a:pPr>
            <a:r>
              <a:rPr lang="en-US" sz="1150">
                <a:solidFill>
                  <a:srgbClr val="13292C"/>
                </a:solidFill>
                <a:latin typeface="Calibri"/>
                <a:ea typeface="Calibri"/>
                <a:cs typeface="Calibri"/>
                <a:sym typeface="Calibri"/>
              </a:rPr>
              <a:t>Batch/Lot goods receipt with QR label generation</a:t>
            </a:r>
            <a:endParaRPr sz="1150">
              <a:solidFill>
                <a:schemeClr val="dk1"/>
              </a:solidFill>
              <a:latin typeface="Calibri"/>
              <a:ea typeface="Calibri"/>
              <a:cs typeface="Calibri"/>
              <a:sym typeface="Calibri"/>
            </a:endParaRPr>
          </a:p>
          <a:p>
            <a:pPr indent="-127000" lvl="0" marL="127000" marR="0" rtl="0" algn="l">
              <a:lnSpc>
                <a:spcPct val="110000"/>
              </a:lnSpc>
              <a:spcBef>
                <a:spcPts val="600"/>
              </a:spcBef>
              <a:spcAft>
                <a:spcPts val="0"/>
              </a:spcAft>
              <a:buClr>
                <a:srgbClr val="13292C"/>
              </a:buClr>
              <a:buSzPts val="1150"/>
              <a:buFont typeface="Calibri"/>
              <a:buChar char="•"/>
            </a:pPr>
            <a:r>
              <a:rPr lang="en-US" sz="1150">
                <a:solidFill>
                  <a:srgbClr val="13292C"/>
                </a:solidFill>
                <a:latin typeface="Calibri"/>
                <a:ea typeface="Calibri"/>
                <a:cs typeface="Calibri"/>
                <a:sym typeface="Calibri"/>
              </a:rPr>
              <a:t>Retailer &amp; sales-territory management</a:t>
            </a:r>
            <a:endParaRPr sz="1150">
              <a:solidFill>
                <a:schemeClr val="dk1"/>
              </a:solidFill>
              <a:latin typeface="Calibri"/>
              <a:ea typeface="Calibri"/>
              <a:cs typeface="Calibri"/>
              <a:sym typeface="Calibri"/>
            </a:endParaRPr>
          </a:p>
          <a:p>
            <a:pPr indent="-127000" lvl="0" marL="127000" marR="0" rtl="0" algn="l">
              <a:lnSpc>
                <a:spcPct val="110000"/>
              </a:lnSpc>
              <a:spcBef>
                <a:spcPts val="600"/>
              </a:spcBef>
              <a:spcAft>
                <a:spcPts val="0"/>
              </a:spcAft>
              <a:buClr>
                <a:srgbClr val="13292C"/>
              </a:buClr>
              <a:buSzPts val="1150"/>
              <a:buFont typeface="Calibri"/>
              <a:buChar char="•"/>
            </a:pPr>
            <a:r>
              <a:rPr lang="en-US" sz="1150">
                <a:solidFill>
                  <a:srgbClr val="13292C"/>
                </a:solidFill>
                <a:latin typeface="Calibri"/>
                <a:ea typeface="Calibri"/>
                <a:cs typeface="Calibri"/>
                <a:sym typeface="Calibri"/>
              </a:rPr>
              <a:t>Promotion management (per-SKU and product-group)</a:t>
            </a:r>
            <a:endParaRPr sz="1150">
              <a:solidFill>
                <a:schemeClr val="dk1"/>
              </a:solidFill>
              <a:latin typeface="Calibri"/>
              <a:ea typeface="Calibri"/>
              <a:cs typeface="Calibri"/>
              <a:sym typeface="Calibri"/>
            </a:endParaRPr>
          </a:p>
          <a:p>
            <a:pPr indent="-127000" lvl="0" marL="127000" marR="0" rtl="0" algn="l">
              <a:lnSpc>
                <a:spcPct val="110000"/>
              </a:lnSpc>
              <a:spcBef>
                <a:spcPts val="600"/>
              </a:spcBef>
              <a:spcAft>
                <a:spcPts val="0"/>
              </a:spcAft>
              <a:buClr>
                <a:srgbClr val="13292C"/>
              </a:buClr>
              <a:buSzPts val="1150"/>
              <a:buFont typeface="Calibri"/>
              <a:buChar char="•"/>
            </a:pPr>
            <a:r>
              <a:rPr lang="en-US" sz="1150">
                <a:solidFill>
                  <a:srgbClr val="13292C"/>
                </a:solidFill>
                <a:latin typeface="Calibri"/>
                <a:ea typeface="Calibri"/>
                <a:cs typeface="Calibri"/>
                <a:sym typeface="Calibri"/>
              </a:rPr>
              <a:t>Mobile sales ordering — online &amp; offline (SQLite + sync)</a:t>
            </a:r>
            <a:endParaRPr sz="1150">
              <a:solidFill>
                <a:schemeClr val="dk1"/>
              </a:solidFill>
              <a:latin typeface="Calibri"/>
              <a:ea typeface="Calibri"/>
              <a:cs typeface="Calibri"/>
              <a:sym typeface="Calibri"/>
            </a:endParaRPr>
          </a:p>
          <a:p>
            <a:pPr indent="-127000" lvl="0" marL="127000" marR="0" rtl="0" algn="l">
              <a:lnSpc>
                <a:spcPct val="110000"/>
              </a:lnSpc>
              <a:spcBef>
                <a:spcPts val="600"/>
              </a:spcBef>
              <a:spcAft>
                <a:spcPts val="0"/>
              </a:spcAft>
              <a:buClr>
                <a:srgbClr val="13292C"/>
              </a:buClr>
              <a:buSzPts val="1150"/>
              <a:buFont typeface="Calibri"/>
              <a:buChar char="•"/>
            </a:pPr>
            <a:r>
              <a:rPr lang="en-US" sz="1150">
                <a:solidFill>
                  <a:srgbClr val="13292C"/>
                </a:solidFill>
                <a:latin typeface="Calibri"/>
                <a:ea typeface="Calibri"/>
                <a:cs typeface="Calibri"/>
                <a:sym typeface="Calibri"/>
              </a:rPr>
              <a:t>FEFO + MLOR multi-warehouse allocation</a:t>
            </a:r>
            <a:endParaRPr sz="1150">
              <a:solidFill>
                <a:schemeClr val="dk1"/>
              </a:solidFill>
              <a:latin typeface="Calibri"/>
              <a:ea typeface="Calibri"/>
              <a:cs typeface="Calibri"/>
              <a:sym typeface="Calibri"/>
            </a:endParaRPr>
          </a:p>
          <a:p>
            <a:pPr indent="-127000" lvl="0" marL="127000" marR="0" rtl="0" algn="l">
              <a:lnSpc>
                <a:spcPct val="110000"/>
              </a:lnSpc>
              <a:spcBef>
                <a:spcPts val="600"/>
              </a:spcBef>
              <a:spcAft>
                <a:spcPts val="0"/>
              </a:spcAft>
              <a:buClr>
                <a:srgbClr val="13292C"/>
              </a:buClr>
              <a:buSzPts val="1150"/>
              <a:buFont typeface="Calibri"/>
              <a:buChar char="•"/>
            </a:pPr>
            <a:r>
              <a:rPr lang="en-US" sz="1150">
                <a:solidFill>
                  <a:srgbClr val="13292C"/>
                </a:solidFill>
                <a:latin typeface="Calibri"/>
                <a:ea typeface="Calibri"/>
                <a:cs typeface="Calibri"/>
                <a:sym typeface="Calibri"/>
              </a:rPr>
              <a:t>Order approval, picking, goods issue with QR scan</a:t>
            </a:r>
            <a:endParaRPr sz="1150">
              <a:solidFill>
                <a:schemeClr val="dk1"/>
              </a:solidFill>
              <a:latin typeface="Calibri"/>
              <a:ea typeface="Calibri"/>
              <a:cs typeface="Calibri"/>
              <a:sym typeface="Calibri"/>
            </a:endParaRPr>
          </a:p>
          <a:p>
            <a:pPr indent="-127000" lvl="0" marL="127000" marR="0" rtl="0" algn="l">
              <a:lnSpc>
                <a:spcPct val="110000"/>
              </a:lnSpc>
              <a:spcBef>
                <a:spcPts val="600"/>
              </a:spcBef>
              <a:spcAft>
                <a:spcPts val="0"/>
              </a:spcAft>
              <a:buClr>
                <a:srgbClr val="13292C"/>
              </a:buClr>
              <a:buSzPts val="1150"/>
              <a:buFont typeface="Calibri"/>
              <a:buChar char="•"/>
            </a:pPr>
            <a:r>
              <a:rPr lang="en-US" sz="1150">
                <a:solidFill>
                  <a:srgbClr val="13292C"/>
                </a:solidFill>
                <a:latin typeface="Calibri"/>
                <a:ea typeface="Calibri"/>
                <a:cs typeface="Calibri"/>
                <a:sym typeface="Calibri"/>
              </a:rPr>
              <a:t>Delivery confirmation by Retailer QR scan</a:t>
            </a:r>
            <a:endParaRPr sz="1150">
              <a:solidFill>
                <a:schemeClr val="dk1"/>
              </a:solidFill>
              <a:latin typeface="Calibri"/>
              <a:ea typeface="Calibri"/>
              <a:cs typeface="Calibri"/>
              <a:sym typeface="Calibri"/>
            </a:endParaRPr>
          </a:p>
          <a:p>
            <a:pPr indent="-127000" lvl="0" marL="127000" marR="0" rtl="0" algn="l">
              <a:lnSpc>
                <a:spcPct val="110000"/>
              </a:lnSpc>
              <a:spcBef>
                <a:spcPts val="600"/>
              </a:spcBef>
              <a:spcAft>
                <a:spcPts val="0"/>
              </a:spcAft>
              <a:buClr>
                <a:srgbClr val="13292C"/>
              </a:buClr>
              <a:buSzPts val="1150"/>
              <a:buFont typeface="Calibri"/>
              <a:buChar char="•"/>
            </a:pPr>
            <a:r>
              <a:rPr lang="en-US" sz="1150">
                <a:solidFill>
                  <a:srgbClr val="13292C"/>
                </a:solidFill>
                <a:latin typeface="Calibri"/>
                <a:ea typeface="Calibri"/>
                <a:cs typeface="Calibri"/>
                <a:sym typeface="Calibri"/>
              </a:rPr>
              <a:t>Payment tracking (COD / prepaid QR); manual confirmation</a:t>
            </a:r>
            <a:endParaRPr sz="1150">
              <a:solidFill>
                <a:schemeClr val="dk1"/>
              </a:solidFill>
              <a:latin typeface="Calibri"/>
              <a:ea typeface="Calibri"/>
              <a:cs typeface="Calibri"/>
              <a:sym typeface="Calibri"/>
            </a:endParaRPr>
          </a:p>
          <a:p>
            <a:pPr indent="-127000" lvl="0" marL="127000" marR="0" rtl="0" algn="l">
              <a:lnSpc>
                <a:spcPct val="110000"/>
              </a:lnSpc>
              <a:spcBef>
                <a:spcPts val="600"/>
              </a:spcBef>
              <a:spcAft>
                <a:spcPts val="0"/>
              </a:spcAft>
              <a:buClr>
                <a:srgbClr val="13292C"/>
              </a:buClr>
              <a:buSzPts val="1150"/>
              <a:buFont typeface="Calibri"/>
              <a:buChar char="•"/>
            </a:pPr>
            <a:r>
              <a:rPr lang="en-US" sz="1150">
                <a:solidFill>
                  <a:srgbClr val="13292C"/>
                </a:solidFill>
                <a:latin typeface="Calibri"/>
                <a:ea typeface="Calibri"/>
                <a:cs typeface="Calibri"/>
                <a:sym typeface="Calibri"/>
              </a:rPr>
              <a:t>Dashboards, sales leaderboard, push notifications</a:t>
            </a:r>
            <a:endParaRPr sz="1150">
              <a:solidFill>
                <a:schemeClr val="dk1"/>
              </a:solidFill>
              <a:latin typeface="Calibri"/>
              <a:ea typeface="Calibri"/>
              <a:cs typeface="Calibri"/>
              <a:sym typeface="Calibri"/>
            </a:endParaRPr>
          </a:p>
        </p:txBody>
      </p:sp>
      <p:sp>
        <p:nvSpPr>
          <p:cNvPr id="64" name="Google Shape;64;p3"/>
          <p:cNvSpPr/>
          <p:nvPr/>
        </p:nvSpPr>
        <p:spPr>
          <a:xfrm>
            <a:off x="6309360" y="1481328"/>
            <a:ext cx="5394960" cy="5120640"/>
          </a:xfrm>
          <a:prstGeom prst="roundRect">
            <a:avLst>
              <a:gd fmla="val 1786" name="adj"/>
            </a:avLst>
          </a:prstGeom>
          <a:solidFill>
            <a:srgbClr val="FFFFFF"/>
          </a:solidFill>
          <a:ln cap="flat" cmpd="sng" w="9525">
            <a:solidFill>
              <a:srgbClr val="BFE8DC"/>
            </a:solidFill>
            <a:prstDash val="solid"/>
            <a:round/>
            <a:headEnd len="sm" w="sm" type="none"/>
            <a:tailEnd len="sm" w="sm" type="none"/>
          </a:ln>
          <a:effectLst>
            <a:outerShdw blurRad="63500" rotWithShape="0" algn="bl" dir="5400000" dist="25400">
              <a:srgbClr val="1B3B3B">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3"/>
          <p:cNvSpPr/>
          <p:nvPr/>
        </p:nvSpPr>
        <p:spPr>
          <a:xfrm>
            <a:off x="6309360" y="1481328"/>
            <a:ext cx="5394960" cy="384048"/>
          </a:xfrm>
          <a:prstGeom prst="roundRect">
            <a:avLst>
              <a:gd fmla="val 19048" name="adj"/>
            </a:avLst>
          </a:prstGeom>
          <a:solidFill>
            <a:srgbClr val="6FAFA6"/>
          </a:solidFill>
          <a:ln cap="flat" cmpd="sng" w="12700">
            <a:solidFill>
              <a:srgbClr val="6FAF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txBox="1"/>
          <p:nvPr/>
        </p:nvSpPr>
        <p:spPr>
          <a:xfrm>
            <a:off x="6446520" y="1481328"/>
            <a:ext cx="51663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  OUT OF SCOPE / DEFERRED</a:t>
            </a:r>
            <a:endParaRPr sz="1200">
              <a:solidFill>
                <a:schemeClr val="dk1"/>
              </a:solidFill>
              <a:latin typeface="Calibri"/>
              <a:ea typeface="Calibri"/>
              <a:cs typeface="Calibri"/>
              <a:sym typeface="Calibri"/>
            </a:endParaRPr>
          </a:p>
        </p:txBody>
      </p:sp>
      <p:sp>
        <p:nvSpPr>
          <p:cNvPr id="67" name="Google Shape;67;p3"/>
          <p:cNvSpPr txBox="1"/>
          <p:nvPr/>
        </p:nvSpPr>
        <p:spPr>
          <a:xfrm>
            <a:off x="6446520" y="1956816"/>
            <a:ext cx="5166360" cy="4572000"/>
          </a:xfrm>
          <a:prstGeom prst="rect">
            <a:avLst/>
          </a:prstGeom>
          <a:noFill/>
          <a:ln>
            <a:noFill/>
          </a:ln>
        </p:spPr>
        <p:txBody>
          <a:bodyPr anchorCtr="0" anchor="t" bIns="0" lIns="0" spcFirstLastPara="1" rIns="0" wrap="square" tIns="0">
            <a:noAutofit/>
          </a:bodyPr>
          <a:lstStyle/>
          <a:p>
            <a:pPr indent="-127000" lvl="0" marL="127000" marR="0" rtl="0" algn="l">
              <a:lnSpc>
                <a:spcPct val="110000"/>
              </a:lnSpc>
              <a:spcBef>
                <a:spcPts val="0"/>
              </a:spcBef>
              <a:spcAft>
                <a:spcPts val="0"/>
              </a:spcAft>
              <a:buClr>
                <a:srgbClr val="13292C"/>
              </a:buClr>
              <a:buSzPts val="1150"/>
              <a:buFont typeface="Calibri"/>
              <a:buChar char="•"/>
            </a:pPr>
            <a:r>
              <a:rPr lang="en-US" sz="1150">
                <a:solidFill>
                  <a:srgbClr val="13292C"/>
                </a:solidFill>
                <a:latin typeface="Calibri"/>
                <a:ea typeface="Calibri"/>
                <a:cs typeface="Calibri"/>
                <a:sym typeface="Calibri"/>
              </a:rPr>
              <a:t>Retail-store inventory management</a:t>
            </a:r>
            <a:endParaRPr sz="1150">
              <a:solidFill>
                <a:schemeClr val="dk1"/>
              </a:solidFill>
              <a:latin typeface="Calibri"/>
              <a:ea typeface="Calibri"/>
              <a:cs typeface="Calibri"/>
              <a:sym typeface="Calibri"/>
            </a:endParaRPr>
          </a:p>
          <a:p>
            <a:pPr indent="-127000" lvl="0" marL="127000" marR="0" rtl="0" algn="l">
              <a:lnSpc>
                <a:spcPct val="110000"/>
              </a:lnSpc>
              <a:spcBef>
                <a:spcPts val="600"/>
              </a:spcBef>
              <a:spcAft>
                <a:spcPts val="0"/>
              </a:spcAft>
              <a:buClr>
                <a:srgbClr val="13292C"/>
              </a:buClr>
              <a:buSzPts val="1150"/>
              <a:buFont typeface="Calibri"/>
              <a:buChar char="•"/>
            </a:pPr>
            <a:r>
              <a:rPr lang="en-US" sz="1150">
                <a:solidFill>
                  <a:srgbClr val="13292C"/>
                </a:solidFill>
                <a:latin typeface="Calibri"/>
                <a:ea typeface="Calibri"/>
                <a:cs typeface="Calibri"/>
                <a:sym typeface="Calibri"/>
              </a:rPr>
              <a:t>Self-registration by retailers; retailers cannot place orders</a:t>
            </a:r>
            <a:endParaRPr sz="1150">
              <a:solidFill>
                <a:schemeClr val="dk1"/>
              </a:solidFill>
              <a:latin typeface="Calibri"/>
              <a:ea typeface="Calibri"/>
              <a:cs typeface="Calibri"/>
              <a:sym typeface="Calibri"/>
            </a:endParaRPr>
          </a:p>
          <a:p>
            <a:pPr indent="-127000" lvl="0" marL="127000" marR="0" rtl="0" algn="l">
              <a:lnSpc>
                <a:spcPct val="110000"/>
              </a:lnSpc>
              <a:spcBef>
                <a:spcPts val="600"/>
              </a:spcBef>
              <a:spcAft>
                <a:spcPts val="0"/>
              </a:spcAft>
              <a:buClr>
                <a:srgbClr val="13292C"/>
              </a:buClr>
              <a:buSzPts val="1150"/>
              <a:buFont typeface="Calibri"/>
              <a:buChar char="•"/>
            </a:pPr>
            <a:r>
              <a:rPr lang="en-US" sz="1150">
                <a:solidFill>
                  <a:srgbClr val="13292C"/>
                </a:solidFill>
                <a:latin typeface="Calibri"/>
                <a:ea typeface="Calibri"/>
                <a:cs typeface="Calibri"/>
                <a:sym typeface="Calibri"/>
              </a:rPr>
              <a:t>Partial order fulfillment or backorders</a:t>
            </a:r>
            <a:endParaRPr sz="1150">
              <a:solidFill>
                <a:schemeClr val="dk1"/>
              </a:solidFill>
              <a:latin typeface="Calibri"/>
              <a:ea typeface="Calibri"/>
              <a:cs typeface="Calibri"/>
              <a:sym typeface="Calibri"/>
            </a:endParaRPr>
          </a:p>
          <a:p>
            <a:pPr indent="-127000" lvl="0" marL="127000" marR="0" rtl="0" algn="l">
              <a:lnSpc>
                <a:spcPct val="110000"/>
              </a:lnSpc>
              <a:spcBef>
                <a:spcPts val="600"/>
              </a:spcBef>
              <a:spcAft>
                <a:spcPts val="0"/>
              </a:spcAft>
              <a:buClr>
                <a:srgbClr val="13292C"/>
              </a:buClr>
              <a:buSzPts val="1150"/>
              <a:buFont typeface="Calibri"/>
              <a:buChar char="•"/>
            </a:pPr>
            <a:r>
              <a:rPr lang="en-US" sz="1150">
                <a:solidFill>
                  <a:srgbClr val="13292C"/>
                </a:solidFill>
                <a:latin typeface="Calibri"/>
                <a:ea typeface="Calibri"/>
                <a:cs typeface="Calibri"/>
                <a:sym typeface="Calibri"/>
              </a:rPr>
              <a:t>Vehicle/driver assignment and real route optimization</a:t>
            </a:r>
            <a:endParaRPr sz="1150">
              <a:solidFill>
                <a:schemeClr val="dk1"/>
              </a:solidFill>
              <a:latin typeface="Calibri"/>
              <a:ea typeface="Calibri"/>
              <a:cs typeface="Calibri"/>
              <a:sym typeface="Calibri"/>
            </a:endParaRPr>
          </a:p>
          <a:p>
            <a:pPr indent="-127000" lvl="0" marL="127000" marR="0" rtl="0" algn="l">
              <a:lnSpc>
                <a:spcPct val="110000"/>
              </a:lnSpc>
              <a:spcBef>
                <a:spcPts val="600"/>
              </a:spcBef>
              <a:spcAft>
                <a:spcPts val="0"/>
              </a:spcAft>
              <a:buClr>
                <a:srgbClr val="13292C"/>
              </a:buClr>
              <a:buSzPts val="1150"/>
              <a:buFont typeface="Calibri"/>
              <a:buChar char="•"/>
            </a:pPr>
            <a:r>
              <a:rPr lang="en-US" sz="1150">
                <a:solidFill>
                  <a:srgbClr val="13292C"/>
                </a:solidFill>
                <a:latin typeface="Calibri"/>
                <a:ea typeface="Calibri"/>
                <a:cs typeface="Calibri"/>
                <a:sym typeface="Calibri"/>
              </a:rPr>
              <a:t>Payment gateway integration (only method &amp; status recorded)</a:t>
            </a:r>
            <a:endParaRPr sz="1150">
              <a:solidFill>
                <a:schemeClr val="dk1"/>
              </a:solidFill>
              <a:latin typeface="Calibri"/>
              <a:ea typeface="Calibri"/>
              <a:cs typeface="Calibri"/>
              <a:sym typeface="Calibri"/>
            </a:endParaRPr>
          </a:p>
          <a:p>
            <a:pPr indent="-127000" lvl="0" marL="127000" marR="0" rtl="0" algn="l">
              <a:lnSpc>
                <a:spcPct val="110000"/>
              </a:lnSpc>
              <a:spcBef>
                <a:spcPts val="600"/>
              </a:spcBef>
              <a:spcAft>
                <a:spcPts val="0"/>
              </a:spcAft>
              <a:buClr>
                <a:srgbClr val="13292C"/>
              </a:buClr>
              <a:buSzPts val="1150"/>
              <a:buFont typeface="Calibri"/>
              <a:buChar char="•"/>
            </a:pPr>
            <a:r>
              <a:rPr lang="en-US" sz="1150">
                <a:solidFill>
                  <a:srgbClr val="13292C"/>
                </a:solidFill>
                <a:latin typeface="Calibri"/>
                <a:ea typeface="Calibri"/>
                <a:cs typeface="Calibri"/>
                <a:sym typeface="Calibri"/>
              </a:rPr>
              <a:t>Demand forecasting and safety-stock suggestions (OP-02)</a:t>
            </a:r>
            <a:endParaRPr sz="1150">
              <a:solidFill>
                <a:schemeClr val="dk1"/>
              </a:solidFill>
              <a:latin typeface="Calibri"/>
              <a:ea typeface="Calibri"/>
              <a:cs typeface="Calibri"/>
              <a:sym typeface="Calibri"/>
            </a:endParaRPr>
          </a:p>
          <a:p>
            <a:pPr indent="-127000" lvl="0" marL="127000" marR="0" rtl="0" algn="l">
              <a:lnSpc>
                <a:spcPct val="110000"/>
              </a:lnSpc>
              <a:spcBef>
                <a:spcPts val="600"/>
              </a:spcBef>
              <a:spcAft>
                <a:spcPts val="0"/>
              </a:spcAft>
              <a:buClr>
                <a:srgbClr val="13292C"/>
              </a:buClr>
              <a:buSzPts val="1150"/>
              <a:buFont typeface="Calibri"/>
              <a:buChar char="•"/>
            </a:pPr>
            <a:r>
              <a:rPr lang="en-US" sz="1150">
                <a:solidFill>
                  <a:srgbClr val="13292C"/>
                </a:solidFill>
                <a:latin typeface="Calibri"/>
                <a:ea typeface="Calibri"/>
                <a:cs typeface="Calibri"/>
                <a:sym typeface="Calibri"/>
              </a:rPr>
              <a:t>Transportation coordination module (OP-01)</a:t>
            </a:r>
            <a:endParaRPr sz="1150">
              <a:solidFill>
                <a:schemeClr val="dk1"/>
              </a:solidFill>
              <a:latin typeface="Calibri"/>
              <a:ea typeface="Calibri"/>
              <a:cs typeface="Calibri"/>
              <a:sym typeface="Calibri"/>
            </a:endParaRPr>
          </a:p>
          <a:p>
            <a:pPr indent="-127000" lvl="0" marL="127000" marR="0" rtl="0" algn="l">
              <a:lnSpc>
                <a:spcPct val="110000"/>
              </a:lnSpc>
              <a:spcBef>
                <a:spcPts val="600"/>
              </a:spcBef>
              <a:spcAft>
                <a:spcPts val="0"/>
              </a:spcAft>
              <a:buClr>
                <a:srgbClr val="13292C"/>
              </a:buClr>
              <a:buSzPts val="1150"/>
              <a:buFont typeface="Calibri"/>
              <a:buChar char="•"/>
            </a:pPr>
            <a:r>
              <a:rPr lang="en-US" sz="1150">
                <a:solidFill>
                  <a:srgbClr val="13292C"/>
                </a:solidFill>
                <a:latin typeface="Calibri"/>
                <a:ea typeface="Calibri"/>
                <a:cs typeface="Calibri"/>
                <a:sym typeface="Calibri"/>
              </a:rPr>
              <a:t>Damage / write-off workflows (OP-03)</a:t>
            </a:r>
            <a:endParaRPr sz="1150">
              <a:solidFill>
                <a:schemeClr val="dk1"/>
              </a:solidFill>
              <a:latin typeface="Calibri"/>
              <a:ea typeface="Calibri"/>
              <a:cs typeface="Calibri"/>
              <a:sym typeface="Calibri"/>
            </a:endParaRPr>
          </a:p>
          <a:p>
            <a:pPr indent="-127000" lvl="0" marL="127000" marR="0" rtl="0" algn="l">
              <a:lnSpc>
                <a:spcPct val="110000"/>
              </a:lnSpc>
              <a:spcBef>
                <a:spcPts val="600"/>
              </a:spcBef>
              <a:spcAft>
                <a:spcPts val="0"/>
              </a:spcAft>
              <a:buClr>
                <a:srgbClr val="13292C"/>
              </a:buClr>
              <a:buSzPts val="1150"/>
              <a:buFont typeface="Calibri"/>
              <a:buChar char="•"/>
            </a:pPr>
            <a:r>
              <a:rPr lang="en-US" sz="1150">
                <a:solidFill>
                  <a:srgbClr val="13292C"/>
                </a:solidFill>
                <a:latin typeface="Calibri"/>
                <a:ea typeface="Calibri"/>
                <a:cs typeface="Calibri"/>
                <a:sym typeface="Calibri"/>
              </a:rPr>
              <a:t>OCR/LLM label assist and shelf-image analysis (OP-04)</a:t>
            </a:r>
            <a:endParaRPr sz="1150">
              <a:solidFill>
                <a:schemeClr val="dk1"/>
              </a:solidFill>
              <a:latin typeface="Calibri"/>
              <a:ea typeface="Calibri"/>
              <a:cs typeface="Calibri"/>
              <a:sym typeface="Calibri"/>
            </a:endParaRPr>
          </a:p>
          <a:p>
            <a:pPr indent="-127000" lvl="0" marL="127000" marR="0" rtl="0" algn="l">
              <a:lnSpc>
                <a:spcPct val="110000"/>
              </a:lnSpc>
              <a:spcBef>
                <a:spcPts val="600"/>
              </a:spcBef>
              <a:spcAft>
                <a:spcPts val="0"/>
              </a:spcAft>
              <a:buClr>
                <a:srgbClr val="13292C"/>
              </a:buClr>
              <a:buSzPts val="1150"/>
              <a:buFont typeface="Calibri"/>
              <a:buChar char="•"/>
            </a:pPr>
            <a:r>
              <a:rPr lang="en-US" sz="1150">
                <a:solidFill>
                  <a:srgbClr val="13292C"/>
                </a:solidFill>
                <a:latin typeface="Calibri"/>
                <a:ea typeface="Calibri"/>
                <a:cs typeface="Calibri"/>
                <a:sym typeface="Calibri"/>
              </a:rPr>
              <a:t>Multi-tenant / multi-distributor support</a:t>
            </a:r>
            <a:endParaRPr sz="1150">
              <a:solidFill>
                <a:schemeClr val="dk1"/>
              </a:solidFill>
              <a:latin typeface="Calibri"/>
              <a:ea typeface="Calibri"/>
              <a:cs typeface="Calibri"/>
              <a:sym typeface="Calibri"/>
            </a:endParaRPr>
          </a:p>
        </p:txBody>
      </p:sp>
      <p:sp>
        <p:nvSpPr>
          <p:cNvPr id="68" name="Google Shape;68;p3"/>
          <p:cNvSpPr txBox="1"/>
          <p:nvPr/>
        </p:nvSpPr>
        <p:spPr>
          <a:xfrm>
            <a:off x="502920" y="6510528"/>
            <a:ext cx="73152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C5C0"/>
              </a:buClr>
              <a:buSzPts val="850"/>
              <a:buFont typeface="Calibri"/>
              <a:buNone/>
            </a:pPr>
            <a:r>
              <a:rPr lang="en-US" sz="850">
                <a:solidFill>
                  <a:srgbClr val="A8C5C0"/>
                </a:solidFill>
                <a:latin typeface="Calibri"/>
                <a:ea typeface="Calibri"/>
                <a:cs typeface="Calibri"/>
                <a:sym typeface="Calibri"/>
              </a:rPr>
              <a:t>FSCM  ·  Capstone Project Overview  ·  FA26SE083</a:t>
            </a:r>
            <a:endParaRPr sz="850">
              <a:solidFill>
                <a:schemeClr val="dk1"/>
              </a:solidFill>
              <a:latin typeface="Calibri"/>
              <a:ea typeface="Calibri"/>
              <a:cs typeface="Calibri"/>
              <a:sym typeface="Calibri"/>
            </a:endParaRPr>
          </a:p>
        </p:txBody>
      </p:sp>
      <p:sp>
        <p:nvSpPr>
          <p:cNvPr id="69" name="Google Shape;69;p3"/>
          <p:cNvSpPr txBox="1"/>
          <p:nvPr/>
        </p:nvSpPr>
        <p:spPr>
          <a:xfrm>
            <a:off x="11338560"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8C5C0"/>
              </a:buClr>
              <a:buSzPts val="850"/>
              <a:buFont typeface="Calibri"/>
              <a:buNone/>
            </a:pPr>
            <a:r>
              <a:rPr lang="en-US" sz="850">
                <a:solidFill>
                  <a:srgbClr val="A8C5C0"/>
                </a:solidFill>
                <a:latin typeface="Calibri"/>
                <a:ea typeface="Calibri"/>
                <a:cs typeface="Calibri"/>
                <a:sym typeface="Calibri"/>
              </a:rPr>
              <a:t>3</a:t>
            </a:r>
            <a:endParaRPr sz="85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AF9"/>
        </a:solidFill>
      </p:bgPr>
    </p:bg>
    <p:spTree>
      <p:nvGrpSpPr>
        <p:cNvPr id="74" name="Shape 74"/>
        <p:cNvGrpSpPr/>
        <p:nvPr/>
      </p:nvGrpSpPr>
      <p:grpSpPr>
        <a:xfrm>
          <a:off x="0" y="0"/>
          <a:ext cx="0" cy="0"/>
          <a:chOff x="0" y="0"/>
          <a:chExt cx="0" cy="0"/>
        </a:xfrm>
      </p:grpSpPr>
      <p:sp>
        <p:nvSpPr>
          <p:cNvPr id="75" name="Google Shape;75;p4"/>
          <p:cNvSpPr txBox="1"/>
          <p:nvPr/>
        </p:nvSpPr>
        <p:spPr>
          <a:xfrm>
            <a:off x="502920" y="402336"/>
            <a:ext cx="10058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100"/>
              <a:buFont typeface="Calibri"/>
              <a:buNone/>
            </a:pPr>
            <a:r>
              <a:rPr b="1" lang="en-US" sz="1100">
                <a:solidFill>
                  <a:srgbClr val="028090"/>
                </a:solidFill>
                <a:latin typeface="Calibri"/>
                <a:ea typeface="Calibri"/>
                <a:cs typeface="Calibri"/>
                <a:sym typeface="Calibri"/>
              </a:rPr>
              <a:t>02 · ACTORS &amp; ROLES</a:t>
            </a:r>
            <a:endParaRPr sz="1100">
              <a:solidFill>
                <a:schemeClr val="dk1"/>
              </a:solidFill>
              <a:latin typeface="Calibri"/>
              <a:ea typeface="Calibri"/>
              <a:cs typeface="Calibri"/>
              <a:sym typeface="Calibri"/>
            </a:endParaRPr>
          </a:p>
        </p:txBody>
      </p:sp>
      <p:sp>
        <p:nvSpPr>
          <p:cNvPr id="76" name="Google Shape;76;p4"/>
          <p:cNvSpPr/>
          <p:nvPr/>
        </p:nvSpPr>
        <p:spPr>
          <a:xfrm>
            <a:off x="502920" y="731520"/>
            <a:ext cx="11201400" cy="13716"/>
          </a:xfrm>
          <a:prstGeom prst="rect">
            <a:avLst/>
          </a:prstGeom>
          <a:solidFill>
            <a:srgbClr val="BFE8DC"/>
          </a:solidFill>
          <a:ln cap="flat" cmpd="sng" w="12700">
            <a:solidFill>
              <a:srgbClr val="BFE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4"/>
          <p:cNvSpPr txBox="1"/>
          <p:nvPr/>
        </p:nvSpPr>
        <p:spPr>
          <a:xfrm>
            <a:off x="502920" y="777240"/>
            <a:ext cx="11201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2C"/>
              </a:buClr>
              <a:buSzPts val="3000"/>
              <a:buFont typeface="Cambria"/>
              <a:buNone/>
            </a:pPr>
            <a:r>
              <a:rPr b="1" lang="en-US" sz="3000">
                <a:solidFill>
                  <a:srgbClr val="13292C"/>
                </a:solidFill>
                <a:latin typeface="Cambria"/>
                <a:ea typeface="Cambria"/>
                <a:cs typeface="Cambria"/>
                <a:sym typeface="Cambria"/>
              </a:rPr>
              <a:t>System Actors  ①  Portal</a:t>
            </a:r>
            <a:endParaRPr sz="3000">
              <a:solidFill>
                <a:schemeClr val="dk1"/>
              </a:solidFill>
              <a:latin typeface="Calibri"/>
              <a:ea typeface="Calibri"/>
              <a:cs typeface="Calibri"/>
              <a:sym typeface="Calibri"/>
            </a:endParaRPr>
          </a:p>
        </p:txBody>
      </p:sp>
      <p:sp>
        <p:nvSpPr>
          <p:cNvPr id="78" name="Google Shape;78;p4"/>
          <p:cNvSpPr/>
          <p:nvPr/>
        </p:nvSpPr>
        <p:spPr>
          <a:xfrm>
            <a:off x="554584" y="1481328"/>
            <a:ext cx="2606040" cy="4754880"/>
          </a:xfrm>
          <a:prstGeom prst="roundRect">
            <a:avLst>
              <a:gd fmla="val 2807" name="adj"/>
            </a:avLst>
          </a:prstGeom>
          <a:solidFill>
            <a:srgbClr val="FFFFFF"/>
          </a:solidFill>
          <a:ln cap="flat" cmpd="sng" w="9525">
            <a:solidFill>
              <a:srgbClr val="BFE8DC"/>
            </a:solidFill>
            <a:prstDash val="solid"/>
            <a:round/>
            <a:headEnd len="sm" w="sm" type="none"/>
            <a:tailEnd len="sm" w="sm" type="none"/>
          </a:ln>
          <a:effectLst>
            <a:outerShdw blurRad="63500" rotWithShape="0" algn="bl" dir="5400000" dist="25400">
              <a:srgbClr val="1B3B3B">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4"/>
          <p:cNvSpPr/>
          <p:nvPr/>
        </p:nvSpPr>
        <p:spPr>
          <a:xfrm>
            <a:off x="554584" y="1481328"/>
            <a:ext cx="2606040" cy="54864"/>
          </a:xfrm>
          <a:prstGeom prst="roundRect">
            <a:avLst>
              <a:gd fmla="val 66667" name="adj"/>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4"/>
          <p:cNvSpPr/>
          <p:nvPr/>
        </p:nvSpPr>
        <p:spPr>
          <a:xfrm>
            <a:off x="719176" y="1627632"/>
            <a:ext cx="347472" cy="347472"/>
          </a:xfrm>
          <a:prstGeom prst="ellipse">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4"/>
          <p:cNvSpPr txBox="1"/>
          <p:nvPr/>
        </p:nvSpPr>
        <p:spPr>
          <a:xfrm>
            <a:off x="719176" y="162763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1</a:t>
            </a:r>
            <a:endParaRPr sz="1200">
              <a:solidFill>
                <a:schemeClr val="dk1"/>
              </a:solidFill>
              <a:latin typeface="Calibri"/>
              <a:ea typeface="Calibri"/>
              <a:cs typeface="Calibri"/>
              <a:sym typeface="Calibri"/>
            </a:endParaRPr>
          </a:p>
        </p:txBody>
      </p:sp>
      <p:sp>
        <p:nvSpPr>
          <p:cNvPr id="82" name="Google Shape;82;p4"/>
          <p:cNvSpPr txBox="1"/>
          <p:nvPr/>
        </p:nvSpPr>
        <p:spPr>
          <a:xfrm>
            <a:off x="1176376" y="1664208"/>
            <a:ext cx="185623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700"/>
              <a:buFont typeface="Calibri"/>
              <a:buNone/>
            </a:pPr>
            <a:r>
              <a:rPr b="1" lang="en-US" sz="700">
                <a:solidFill>
                  <a:srgbClr val="028090"/>
                </a:solidFill>
                <a:latin typeface="Calibri"/>
                <a:ea typeface="Calibri"/>
                <a:cs typeface="Calibri"/>
                <a:sym typeface="Calibri"/>
              </a:rPr>
              <a:t>PORTAL (WEB)</a:t>
            </a:r>
            <a:endParaRPr sz="700">
              <a:solidFill>
                <a:schemeClr val="dk1"/>
              </a:solidFill>
              <a:latin typeface="Calibri"/>
              <a:ea typeface="Calibri"/>
              <a:cs typeface="Calibri"/>
              <a:sym typeface="Calibri"/>
            </a:endParaRPr>
          </a:p>
        </p:txBody>
      </p:sp>
      <p:sp>
        <p:nvSpPr>
          <p:cNvPr id="83" name="Google Shape;83;p4"/>
          <p:cNvSpPr txBox="1"/>
          <p:nvPr/>
        </p:nvSpPr>
        <p:spPr>
          <a:xfrm>
            <a:off x="719176" y="2011680"/>
            <a:ext cx="2350008" cy="3474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292C"/>
              </a:buClr>
              <a:buSzPts val="1250"/>
              <a:buFont typeface="Calibri"/>
              <a:buNone/>
            </a:pPr>
            <a:r>
              <a:rPr b="1" lang="en-US" sz="1250">
                <a:solidFill>
                  <a:srgbClr val="13292C"/>
                </a:solidFill>
                <a:latin typeface="Calibri"/>
                <a:ea typeface="Calibri"/>
                <a:cs typeface="Calibri"/>
                <a:sym typeface="Calibri"/>
              </a:rPr>
              <a:t>Administrator</a:t>
            </a:r>
            <a:endParaRPr sz="1250">
              <a:solidFill>
                <a:schemeClr val="dk1"/>
              </a:solidFill>
              <a:latin typeface="Calibri"/>
              <a:ea typeface="Calibri"/>
              <a:cs typeface="Calibri"/>
              <a:sym typeface="Calibri"/>
            </a:endParaRPr>
          </a:p>
        </p:txBody>
      </p:sp>
      <p:sp>
        <p:nvSpPr>
          <p:cNvPr id="84" name="Google Shape;84;p4"/>
          <p:cNvSpPr txBox="1"/>
          <p:nvPr/>
        </p:nvSpPr>
        <p:spPr>
          <a:xfrm>
            <a:off x="719176" y="2359152"/>
            <a:ext cx="2350008"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C6764"/>
              </a:buClr>
              <a:buSzPts val="900"/>
              <a:buFont typeface="Calibri"/>
              <a:buNone/>
            </a:pPr>
            <a:r>
              <a:rPr i="1" lang="en-US" sz="900">
                <a:solidFill>
                  <a:srgbClr val="4C6764"/>
                </a:solidFill>
                <a:latin typeface="Calibri"/>
                <a:ea typeface="Calibri"/>
                <a:cs typeface="Calibri"/>
                <a:sym typeface="Calibri"/>
              </a:rPr>
              <a:t>Highest authority on Portal</a:t>
            </a:r>
            <a:endParaRPr sz="900">
              <a:solidFill>
                <a:schemeClr val="dk1"/>
              </a:solidFill>
              <a:latin typeface="Calibri"/>
              <a:ea typeface="Calibri"/>
              <a:cs typeface="Calibri"/>
              <a:sym typeface="Calibri"/>
            </a:endParaRPr>
          </a:p>
        </p:txBody>
      </p:sp>
      <p:sp>
        <p:nvSpPr>
          <p:cNvPr id="85" name="Google Shape;85;p4"/>
          <p:cNvSpPr/>
          <p:nvPr/>
        </p:nvSpPr>
        <p:spPr>
          <a:xfrm>
            <a:off x="719176" y="2633472"/>
            <a:ext cx="2276856" cy="6401"/>
          </a:xfrm>
          <a:prstGeom prst="rect">
            <a:avLst/>
          </a:prstGeom>
          <a:solidFill>
            <a:srgbClr val="BFE8DC"/>
          </a:solidFill>
          <a:ln cap="flat" cmpd="sng" w="12700">
            <a:solidFill>
              <a:srgbClr val="BFE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4"/>
          <p:cNvSpPr txBox="1"/>
          <p:nvPr/>
        </p:nvSpPr>
        <p:spPr>
          <a:xfrm>
            <a:off x="719176" y="2706624"/>
            <a:ext cx="2350008" cy="3429000"/>
          </a:xfrm>
          <a:prstGeom prst="rect">
            <a:avLst/>
          </a:prstGeom>
          <a:noFill/>
          <a:ln>
            <a:noFill/>
          </a:ln>
        </p:spPr>
        <p:txBody>
          <a:bodyPr anchorCtr="0" anchor="t" bIns="0" lIns="0" spcFirstLastPara="1" rIns="0" wrap="square" tIns="0">
            <a:noAutofit/>
          </a:bodyPr>
          <a:lstStyle/>
          <a:p>
            <a:pPr indent="-101600" lvl="0" marL="101600" marR="0" rtl="0" algn="l">
              <a:spcBef>
                <a:spcPts val="0"/>
              </a:spcBef>
              <a:spcAft>
                <a:spcPts val="0"/>
              </a:spcAft>
              <a:buClr>
                <a:srgbClr val="13292C"/>
              </a:buClr>
              <a:buSzPts val="900"/>
              <a:buFont typeface="Calibri"/>
              <a:buChar char="•"/>
            </a:pPr>
            <a:r>
              <a:rPr lang="en-US" sz="900">
                <a:solidFill>
                  <a:srgbClr val="13292C"/>
                </a:solidFill>
                <a:latin typeface="Calibri"/>
                <a:ea typeface="Calibri"/>
                <a:cs typeface="Calibri"/>
                <a:sym typeface="Calibri"/>
              </a:rPr>
              <a:t>Manage portal accounts (Admin, Operator, Sales Manager, Warehouse Keeper) and mobile accounts (Sales Rep, Retailer)</a:t>
            </a:r>
            <a:endParaRPr sz="900">
              <a:solidFill>
                <a:schemeClr val="dk1"/>
              </a:solidFill>
              <a:latin typeface="Calibri"/>
              <a:ea typeface="Calibri"/>
              <a:cs typeface="Calibri"/>
              <a:sym typeface="Calibri"/>
            </a:endParaRPr>
          </a:p>
          <a:p>
            <a:pPr indent="-101600" lvl="0" marL="101600" marR="0" rtl="0" algn="l">
              <a:spcBef>
                <a:spcPts val="250"/>
              </a:spcBef>
              <a:spcAft>
                <a:spcPts val="0"/>
              </a:spcAft>
              <a:buClr>
                <a:srgbClr val="13292C"/>
              </a:buClr>
              <a:buSzPts val="900"/>
              <a:buFont typeface="Calibri"/>
              <a:buChar char="•"/>
            </a:pPr>
            <a:r>
              <a:rPr lang="en-US" sz="900">
                <a:solidFill>
                  <a:srgbClr val="13292C"/>
                </a:solidFill>
                <a:latin typeface="Calibri"/>
                <a:ea typeface="Calibri"/>
                <a:cs typeface="Calibri"/>
                <a:sym typeface="Calibri"/>
              </a:rPr>
              <a:t>Manage master data: SKUs, prices, shelf-life, warehouses, MLOR, transit-time rules</a:t>
            </a:r>
            <a:endParaRPr sz="900">
              <a:solidFill>
                <a:schemeClr val="dk1"/>
              </a:solidFill>
              <a:latin typeface="Calibri"/>
              <a:ea typeface="Calibri"/>
              <a:cs typeface="Calibri"/>
              <a:sym typeface="Calibri"/>
            </a:endParaRPr>
          </a:p>
          <a:p>
            <a:pPr indent="-101600" lvl="0" marL="101600" marR="0" rtl="0" algn="l">
              <a:spcBef>
                <a:spcPts val="250"/>
              </a:spcBef>
              <a:spcAft>
                <a:spcPts val="0"/>
              </a:spcAft>
              <a:buClr>
                <a:srgbClr val="13292C"/>
              </a:buClr>
              <a:buSzPts val="900"/>
              <a:buFont typeface="Calibri"/>
              <a:buChar char="•"/>
            </a:pPr>
            <a:r>
              <a:rPr lang="en-US" sz="900">
                <a:solidFill>
                  <a:srgbClr val="13292C"/>
                </a:solidFill>
                <a:latin typeface="Calibri"/>
                <a:ea typeface="Calibri"/>
                <a:cs typeface="Calibri"/>
                <a:sym typeface="Calibri"/>
              </a:rPr>
              <a:t>Record goods receipts at any warehouse; manage promotions</a:t>
            </a:r>
            <a:endParaRPr sz="900">
              <a:solidFill>
                <a:schemeClr val="dk1"/>
              </a:solidFill>
              <a:latin typeface="Calibri"/>
              <a:ea typeface="Calibri"/>
              <a:cs typeface="Calibri"/>
              <a:sym typeface="Calibri"/>
            </a:endParaRPr>
          </a:p>
          <a:p>
            <a:pPr indent="-101600" lvl="0" marL="101600" marR="0" rtl="0" algn="l">
              <a:spcBef>
                <a:spcPts val="250"/>
              </a:spcBef>
              <a:spcAft>
                <a:spcPts val="0"/>
              </a:spcAft>
              <a:buClr>
                <a:srgbClr val="13292C"/>
              </a:buClr>
              <a:buSzPts val="900"/>
              <a:buFont typeface="Calibri"/>
              <a:buChar char="•"/>
            </a:pPr>
            <a:r>
              <a:rPr lang="en-US" sz="900">
                <a:solidFill>
                  <a:srgbClr val="13292C"/>
                </a:solidFill>
                <a:latin typeface="Calibri"/>
                <a:ea typeface="Calibri"/>
                <a:cs typeface="Calibri"/>
                <a:sym typeface="Calibri"/>
              </a:rPr>
              <a:t>Approve / reject orders; view allocation and promotion details</a:t>
            </a:r>
            <a:endParaRPr sz="900">
              <a:solidFill>
                <a:schemeClr val="dk1"/>
              </a:solidFill>
              <a:latin typeface="Calibri"/>
              <a:ea typeface="Calibri"/>
              <a:cs typeface="Calibri"/>
              <a:sym typeface="Calibri"/>
            </a:endParaRPr>
          </a:p>
          <a:p>
            <a:pPr indent="-101600" lvl="0" marL="101600" marR="0" rtl="0" algn="l">
              <a:spcBef>
                <a:spcPts val="250"/>
              </a:spcBef>
              <a:spcAft>
                <a:spcPts val="0"/>
              </a:spcAft>
              <a:buClr>
                <a:srgbClr val="13292C"/>
              </a:buClr>
              <a:buSzPts val="900"/>
              <a:buFont typeface="Calibri"/>
              <a:buChar char="•"/>
            </a:pPr>
            <a:r>
              <a:rPr lang="en-US" sz="900">
                <a:solidFill>
                  <a:srgbClr val="13292C"/>
                </a:solidFill>
                <a:latin typeface="Calibri"/>
                <a:ea typeface="Calibri"/>
                <a:cs typeface="Calibri"/>
                <a:sym typeface="Calibri"/>
              </a:rPr>
              <a:t>Dashboard: order totals, revenue; sales leaderboard and rep rewards</a:t>
            </a:r>
            <a:endParaRPr sz="900">
              <a:solidFill>
                <a:schemeClr val="dk1"/>
              </a:solidFill>
              <a:latin typeface="Calibri"/>
              <a:ea typeface="Calibri"/>
              <a:cs typeface="Calibri"/>
              <a:sym typeface="Calibri"/>
            </a:endParaRPr>
          </a:p>
        </p:txBody>
      </p:sp>
      <p:sp>
        <p:nvSpPr>
          <p:cNvPr id="87" name="Google Shape;87;p4"/>
          <p:cNvSpPr/>
          <p:nvPr/>
        </p:nvSpPr>
        <p:spPr>
          <a:xfrm>
            <a:off x="3380080" y="1481328"/>
            <a:ext cx="2606040" cy="4754880"/>
          </a:xfrm>
          <a:prstGeom prst="roundRect">
            <a:avLst>
              <a:gd fmla="val 2807" name="adj"/>
            </a:avLst>
          </a:prstGeom>
          <a:solidFill>
            <a:srgbClr val="FFFFFF"/>
          </a:solidFill>
          <a:ln cap="flat" cmpd="sng" w="9525">
            <a:solidFill>
              <a:srgbClr val="BFE8DC"/>
            </a:solidFill>
            <a:prstDash val="solid"/>
            <a:round/>
            <a:headEnd len="sm" w="sm" type="none"/>
            <a:tailEnd len="sm" w="sm" type="none"/>
          </a:ln>
          <a:effectLst>
            <a:outerShdw blurRad="63500" rotWithShape="0" algn="bl" dir="5400000" dist="25400">
              <a:srgbClr val="1B3B3B">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4"/>
          <p:cNvSpPr/>
          <p:nvPr/>
        </p:nvSpPr>
        <p:spPr>
          <a:xfrm>
            <a:off x="3380080" y="1481328"/>
            <a:ext cx="2606040" cy="54864"/>
          </a:xfrm>
          <a:prstGeom prst="roundRect">
            <a:avLst>
              <a:gd fmla="val 66667" name="adj"/>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4"/>
          <p:cNvSpPr/>
          <p:nvPr/>
        </p:nvSpPr>
        <p:spPr>
          <a:xfrm>
            <a:off x="3544672" y="1627632"/>
            <a:ext cx="347472" cy="347472"/>
          </a:xfrm>
          <a:prstGeom prst="ellipse">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4"/>
          <p:cNvSpPr txBox="1"/>
          <p:nvPr/>
        </p:nvSpPr>
        <p:spPr>
          <a:xfrm>
            <a:off x="3544672" y="162763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2</a:t>
            </a:r>
            <a:endParaRPr sz="1200">
              <a:solidFill>
                <a:schemeClr val="dk1"/>
              </a:solidFill>
              <a:latin typeface="Calibri"/>
              <a:ea typeface="Calibri"/>
              <a:cs typeface="Calibri"/>
              <a:sym typeface="Calibri"/>
            </a:endParaRPr>
          </a:p>
        </p:txBody>
      </p:sp>
      <p:sp>
        <p:nvSpPr>
          <p:cNvPr id="91" name="Google Shape;91;p4"/>
          <p:cNvSpPr txBox="1"/>
          <p:nvPr/>
        </p:nvSpPr>
        <p:spPr>
          <a:xfrm>
            <a:off x="4001872" y="1664208"/>
            <a:ext cx="185623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896"/>
              </a:buClr>
              <a:buSzPts val="700"/>
              <a:buFont typeface="Calibri"/>
              <a:buNone/>
            </a:pPr>
            <a:r>
              <a:rPr b="1" lang="en-US" sz="700">
                <a:solidFill>
                  <a:srgbClr val="00A896"/>
                </a:solidFill>
                <a:latin typeface="Calibri"/>
                <a:ea typeface="Calibri"/>
                <a:cs typeface="Calibri"/>
                <a:sym typeface="Calibri"/>
              </a:rPr>
              <a:t>PORTAL (WEB)</a:t>
            </a:r>
            <a:endParaRPr sz="700">
              <a:solidFill>
                <a:schemeClr val="dk1"/>
              </a:solidFill>
              <a:latin typeface="Calibri"/>
              <a:ea typeface="Calibri"/>
              <a:cs typeface="Calibri"/>
              <a:sym typeface="Calibri"/>
            </a:endParaRPr>
          </a:p>
        </p:txBody>
      </p:sp>
      <p:sp>
        <p:nvSpPr>
          <p:cNvPr id="92" name="Google Shape;92;p4"/>
          <p:cNvSpPr txBox="1"/>
          <p:nvPr/>
        </p:nvSpPr>
        <p:spPr>
          <a:xfrm>
            <a:off x="3544672" y="2011680"/>
            <a:ext cx="2350008" cy="3474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292C"/>
              </a:buClr>
              <a:buSzPts val="1250"/>
              <a:buFont typeface="Calibri"/>
              <a:buNone/>
            </a:pPr>
            <a:r>
              <a:rPr b="1" lang="en-US" sz="1250">
                <a:solidFill>
                  <a:srgbClr val="13292C"/>
                </a:solidFill>
                <a:latin typeface="Calibri"/>
                <a:ea typeface="Calibri"/>
                <a:cs typeface="Calibri"/>
                <a:sym typeface="Calibri"/>
              </a:rPr>
              <a:t>Operator</a:t>
            </a:r>
            <a:endParaRPr sz="1250">
              <a:solidFill>
                <a:schemeClr val="dk1"/>
              </a:solidFill>
              <a:latin typeface="Calibri"/>
              <a:ea typeface="Calibri"/>
              <a:cs typeface="Calibri"/>
              <a:sym typeface="Calibri"/>
            </a:endParaRPr>
          </a:p>
        </p:txBody>
      </p:sp>
      <p:sp>
        <p:nvSpPr>
          <p:cNvPr id="93" name="Google Shape;93;p4"/>
          <p:cNvSpPr txBox="1"/>
          <p:nvPr/>
        </p:nvSpPr>
        <p:spPr>
          <a:xfrm>
            <a:off x="3544672" y="2359152"/>
            <a:ext cx="2350008"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C6764"/>
              </a:buClr>
              <a:buSzPts val="900"/>
              <a:buFont typeface="Calibri"/>
              <a:buNone/>
            </a:pPr>
            <a:r>
              <a:rPr i="1" lang="en-US" sz="900">
                <a:solidFill>
                  <a:srgbClr val="4C6764"/>
                </a:solidFill>
                <a:latin typeface="Calibri"/>
                <a:ea typeface="Calibri"/>
                <a:cs typeface="Calibri"/>
                <a:sym typeface="Calibri"/>
              </a:rPr>
              <a:t>Order approval &amp; operational follow-up</a:t>
            </a:r>
            <a:endParaRPr sz="900">
              <a:solidFill>
                <a:schemeClr val="dk1"/>
              </a:solidFill>
              <a:latin typeface="Calibri"/>
              <a:ea typeface="Calibri"/>
              <a:cs typeface="Calibri"/>
              <a:sym typeface="Calibri"/>
            </a:endParaRPr>
          </a:p>
        </p:txBody>
      </p:sp>
      <p:sp>
        <p:nvSpPr>
          <p:cNvPr id="94" name="Google Shape;94;p4"/>
          <p:cNvSpPr/>
          <p:nvPr/>
        </p:nvSpPr>
        <p:spPr>
          <a:xfrm>
            <a:off x="3544672" y="2633472"/>
            <a:ext cx="2276856" cy="6401"/>
          </a:xfrm>
          <a:prstGeom prst="rect">
            <a:avLst/>
          </a:prstGeom>
          <a:solidFill>
            <a:srgbClr val="BFE8DC"/>
          </a:solidFill>
          <a:ln cap="flat" cmpd="sng" w="12700">
            <a:solidFill>
              <a:srgbClr val="BFE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4"/>
          <p:cNvSpPr txBox="1"/>
          <p:nvPr/>
        </p:nvSpPr>
        <p:spPr>
          <a:xfrm>
            <a:off x="3544672" y="2706624"/>
            <a:ext cx="2350008" cy="3429000"/>
          </a:xfrm>
          <a:prstGeom prst="rect">
            <a:avLst/>
          </a:prstGeom>
          <a:noFill/>
          <a:ln>
            <a:noFill/>
          </a:ln>
        </p:spPr>
        <p:txBody>
          <a:bodyPr anchorCtr="0" anchor="t" bIns="0" lIns="0" spcFirstLastPara="1" rIns="0" wrap="square" tIns="0">
            <a:noAutofit/>
          </a:bodyPr>
          <a:lstStyle/>
          <a:p>
            <a:pPr indent="-101600" lvl="0" marL="101600" marR="0" rtl="0" algn="l">
              <a:spcBef>
                <a:spcPts val="0"/>
              </a:spcBef>
              <a:spcAft>
                <a:spcPts val="0"/>
              </a:spcAft>
              <a:buClr>
                <a:srgbClr val="13292C"/>
              </a:buClr>
              <a:buSzPts val="900"/>
              <a:buFont typeface="Calibri"/>
              <a:buChar char="•"/>
            </a:pPr>
            <a:r>
              <a:rPr lang="en-US" sz="900">
                <a:solidFill>
                  <a:srgbClr val="13292C"/>
                </a:solidFill>
                <a:latin typeface="Calibri"/>
                <a:ea typeface="Calibri"/>
                <a:cs typeface="Calibri"/>
                <a:sym typeface="Calibri"/>
              </a:rPr>
              <a:t>Approve or reject Pending Approval orders (rejection reason required)</a:t>
            </a:r>
            <a:endParaRPr sz="900">
              <a:solidFill>
                <a:schemeClr val="dk1"/>
              </a:solidFill>
              <a:latin typeface="Calibri"/>
              <a:ea typeface="Calibri"/>
              <a:cs typeface="Calibri"/>
              <a:sym typeface="Calibri"/>
            </a:endParaRPr>
          </a:p>
          <a:p>
            <a:pPr indent="-101600" lvl="0" marL="101600" marR="0" rtl="0" algn="l">
              <a:spcBef>
                <a:spcPts val="250"/>
              </a:spcBef>
              <a:spcAft>
                <a:spcPts val="0"/>
              </a:spcAft>
              <a:buClr>
                <a:srgbClr val="13292C"/>
              </a:buClr>
              <a:buSzPts val="900"/>
              <a:buFont typeface="Calibri"/>
              <a:buChar char="•"/>
            </a:pPr>
            <a:r>
              <a:rPr lang="en-US" sz="900">
                <a:solidFill>
                  <a:srgbClr val="13292C"/>
                </a:solidFill>
                <a:latin typeface="Calibri"/>
                <a:ea typeface="Calibri"/>
                <a:cs typeface="Calibri"/>
                <a:sym typeface="Calibri"/>
              </a:rPr>
              <a:t>Create / import retailers; approve retailer declarations from Sales Reps</a:t>
            </a:r>
            <a:endParaRPr sz="900">
              <a:solidFill>
                <a:schemeClr val="dk1"/>
              </a:solidFill>
              <a:latin typeface="Calibri"/>
              <a:ea typeface="Calibri"/>
              <a:cs typeface="Calibri"/>
              <a:sym typeface="Calibri"/>
            </a:endParaRPr>
          </a:p>
          <a:p>
            <a:pPr indent="-101600" lvl="0" marL="101600" marR="0" rtl="0" algn="l">
              <a:spcBef>
                <a:spcPts val="250"/>
              </a:spcBef>
              <a:spcAft>
                <a:spcPts val="0"/>
              </a:spcAft>
              <a:buClr>
                <a:srgbClr val="13292C"/>
              </a:buClr>
              <a:buSzPts val="900"/>
              <a:buFont typeface="Calibri"/>
              <a:buChar char="•"/>
            </a:pPr>
            <a:r>
              <a:rPr lang="en-US" sz="900">
                <a:solidFill>
                  <a:srgbClr val="13292C"/>
                </a:solidFill>
                <a:latin typeface="Calibri"/>
                <a:ea typeface="Calibri"/>
                <a:cs typeface="Calibri"/>
                <a:sym typeface="Calibri"/>
              </a:rPr>
              <a:t>Mark issued orders as Delivering; confirm prepaid payments (QR / transfer)</a:t>
            </a:r>
            <a:endParaRPr sz="900">
              <a:solidFill>
                <a:schemeClr val="dk1"/>
              </a:solidFill>
              <a:latin typeface="Calibri"/>
              <a:ea typeface="Calibri"/>
              <a:cs typeface="Calibri"/>
              <a:sym typeface="Calibri"/>
            </a:endParaRPr>
          </a:p>
          <a:p>
            <a:pPr indent="-101600" lvl="0" marL="101600" marR="0" rtl="0" algn="l">
              <a:spcBef>
                <a:spcPts val="250"/>
              </a:spcBef>
              <a:spcAft>
                <a:spcPts val="0"/>
              </a:spcAft>
              <a:buClr>
                <a:srgbClr val="13292C"/>
              </a:buClr>
              <a:buSzPts val="900"/>
              <a:buFont typeface="Calibri"/>
              <a:buChar char="•"/>
            </a:pPr>
            <a:r>
              <a:rPr lang="en-US" sz="900">
                <a:solidFill>
                  <a:srgbClr val="13292C"/>
                </a:solidFill>
                <a:latin typeface="Calibri"/>
                <a:ea typeface="Calibri"/>
                <a:cs typeface="Calibri"/>
                <a:sym typeface="Calibri"/>
              </a:rPr>
              <a:t>Handle receipt discrepancies reported by Retailers</a:t>
            </a:r>
            <a:endParaRPr sz="900">
              <a:solidFill>
                <a:schemeClr val="dk1"/>
              </a:solidFill>
              <a:latin typeface="Calibri"/>
              <a:ea typeface="Calibri"/>
              <a:cs typeface="Calibri"/>
              <a:sym typeface="Calibri"/>
            </a:endParaRPr>
          </a:p>
        </p:txBody>
      </p:sp>
      <p:sp>
        <p:nvSpPr>
          <p:cNvPr id="96" name="Google Shape;96;p4"/>
          <p:cNvSpPr/>
          <p:nvPr/>
        </p:nvSpPr>
        <p:spPr>
          <a:xfrm>
            <a:off x="6205576" y="1481328"/>
            <a:ext cx="2606040" cy="4754880"/>
          </a:xfrm>
          <a:prstGeom prst="roundRect">
            <a:avLst>
              <a:gd fmla="val 2807" name="adj"/>
            </a:avLst>
          </a:prstGeom>
          <a:solidFill>
            <a:srgbClr val="FFFFFF"/>
          </a:solidFill>
          <a:ln cap="flat" cmpd="sng" w="9525">
            <a:solidFill>
              <a:srgbClr val="BFE8DC"/>
            </a:solidFill>
            <a:prstDash val="solid"/>
            <a:round/>
            <a:headEnd len="sm" w="sm" type="none"/>
            <a:tailEnd len="sm" w="sm" type="none"/>
          </a:ln>
          <a:effectLst>
            <a:outerShdw blurRad="63500" rotWithShape="0" algn="bl" dir="5400000" dist="25400">
              <a:srgbClr val="1B3B3B">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4"/>
          <p:cNvSpPr/>
          <p:nvPr/>
        </p:nvSpPr>
        <p:spPr>
          <a:xfrm>
            <a:off x="6205576" y="1481328"/>
            <a:ext cx="2606040" cy="54864"/>
          </a:xfrm>
          <a:prstGeom prst="roundRect">
            <a:avLst>
              <a:gd fmla="val 66667" name="adj"/>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
          <p:cNvSpPr/>
          <p:nvPr/>
        </p:nvSpPr>
        <p:spPr>
          <a:xfrm>
            <a:off x="6370168" y="1627632"/>
            <a:ext cx="347472" cy="347472"/>
          </a:xfrm>
          <a:prstGeom prst="ellipse">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
          <p:cNvSpPr txBox="1"/>
          <p:nvPr/>
        </p:nvSpPr>
        <p:spPr>
          <a:xfrm>
            <a:off x="6370168" y="162763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3</a:t>
            </a:r>
            <a:endParaRPr sz="1200">
              <a:solidFill>
                <a:schemeClr val="dk1"/>
              </a:solidFill>
              <a:latin typeface="Calibri"/>
              <a:ea typeface="Calibri"/>
              <a:cs typeface="Calibri"/>
              <a:sym typeface="Calibri"/>
            </a:endParaRPr>
          </a:p>
        </p:txBody>
      </p:sp>
      <p:sp>
        <p:nvSpPr>
          <p:cNvPr id="100" name="Google Shape;100;p4"/>
          <p:cNvSpPr txBox="1"/>
          <p:nvPr/>
        </p:nvSpPr>
        <p:spPr>
          <a:xfrm>
            <a:off x="6827368" y="1664208"/>
            <a:ext cx="185623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700"/>
              <a:buFont typeface="Calibri"/>
              <a:buNone/>
            </a:pPr>
            <a:r>
              <a:rPr b="1" lang="en-US" sz="700">
                <a:solidFill>
                  <a:srgbClr val="028090"/>
                </a:solidFill>
                <a:latin typeface="Calibri"/>
                <a:ea typeface="Calibri"/>
                <a:cs typeface="Calibri"/>
                <a:sym typeface="Calibri"/>
              </a:rPr>
              <a:t>PORTAL (WEB)</a:t>
            </a:r>
            <a:endParaRPr sz="700">
              <a:solidFill>
                <a:schemeClr val="dk1"/>
              </a:solidFill>
              <a:latin typeface="Calibri"/>
              <a:ea typeface="Calibri"/>
              <a:cs typeface="Calibri"/>
              <a:sym typeface="Calibri"/>
            </a:endParaRPr>
          </a:p>
        </p:txBody>
      </p:sp>
      <p:sp>
        <p:nvSpPr>
          <p:cNvPr id="101" name="Google Shape;101;p4"/>
          <p:cNvSpPr txBox="1"/>
          <p:nvPr/>
        </p:nvSpPr>
        <p:spPr>
          <a:xfrm>
            <a:off x="6370168" y="2011680"/>
            <a:ext cx="2350008" cy="3474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292C"/>
              </a:buClr>
              <a:buSzPts val="1250"/>
              <a:buFont typeface="Calibri"/>
              <a:buNone/>
            </a:pPr>
            <a:r>
              <a:rPr b="1" lang="en-US" sz="1250">
                <a:solidFill>
                  <a:srgbClr val="13292C"/>
                </a:solidFill>
                <a:latin typeface="Calibri"/>
                <a:ea typeface="Calibri"/>
                <a:cs typeface="Calibri"/>
                <a:sym typeface="Calibri"/>
              </a:rPr>
              <a:t>Sales Manager</a:t>
            </a:r>
            <a:endParaRPr sz="1250">
              <a:solidFill>
                <a:schemeClr val="dk1"/>
              </a:solidFill>
              <a:latin typeface="Calibri"/>
              <a:ea typeface="Calibri"/>
              <a:cs typeface="Calibri"/>
              <a:sym typeface="Calibri"/>
            </a:endParaRPr>
          </a:p>
        </p:txBody>
      </p:sp>
      <p:sp>
        <p:nvSpPr>
          <p:cNvPr id="102" name="Google Shape;102;p4"/>
          <p:cNvSpPr txBox="1"/>
          <p:nvPr/>
        </p:nvSpPr>
        <p:spPr>
          <a:xfrm>
            <a:off x="6370168" y="2359152"/>
            <a:ext cx="2350008"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C6764"/>
              </a:buClr>
              <a:buSzPts val="900"/>
              <a:buFont typeface="Calibri"/>
              <a:buNone/>
            </a:pPr>
            <a:r>
              <a:rPr i="1" lang="en-US" sz="900">
                <a:solidFill>
                  <a:srgbClr val="4C6764"/>
                </a:solidFill>
                <a:latin typeface="Calibri"/>
                <a:ea typeface="Calibri"/>
                <a:cs typeface="Calibri"/>
                <a:sym typeface="Calibri"/>
              </a:rPr>
              <a:t>Regional sales team management</a:t>
            </a:r>
            <a:endParaRPr sz="900">
              <a:solidFill>
                <a:schemeClr val="dk1"/>
              </a:solidFill>
              <a:latin typeface="Calibri"/>
              <a:ea typeface="Calibri"/>
              <a:cs typeface="Calibri"/>
              <a:sym typeface="Calibri"/>
            </a:endParaRPr>
          </a:p>
        </p:txBody>
      </p:sp>
      <p:sp>
        <p:nvSpPr>
          <p:cNvPr id="103" name="Google Shape;103;p4"/>
          <p:cNvSpPr/>
          <p:nvPr/>
        </p:nvSpPr>
        <p:spPr>
          <a:xfrm>
            <a:off x="6370168" y="2633472"/>
            <a:ext cx="2276856" cy="6401"/>
          </a:xfrm>
          <a:prstGeom prst="rect">
            <a:avLst/>
          </a:prstGeom>
          <a:solidFill>
            <a:srgbClr val="BFE8DC"/>
          </a:solidFill>
          <a:ln cap="flat" cmpd="sng" w="12700">
            <a:solidFill>
              <a:srgbClr val="BFE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4"/>
          <p:cNvSpPr txBox="1"/>
          <p:nvPr/>
        </p:nvSpPr>
        <p:spPr>
          <a:xfrm>
            <a:off x="6370168" y="2706624"/>
            <a:ext cx="2350008" cy="3429000"/>
          </a:xfrm>
          <a:prstGeom prst="rect">
            <a:avLst/>
          </a:prstGeom>
          <a:noFill/>
          <a:ln>
            <a:noFill/>
          </a:ln>
        </p:spPr>
        <p:txBody>
          <a:bodyPr anchorCtr="0" anchor="t" bIns="0" lIns="0" spcFirstLastPara="1" rIns="0" wrap="square" tIns="0">
            <a:noAutofit/>
          </a:bodyPr>
          <a:lstStyle/>
          <a:p>
            <a:pPr indent="-101600" lvl="0" marL="101600" marR="0" rtl="0" algn="l">
              <a:spcBef>
                <a:spcPts val="0"/>
              </a:spcBef>
              <a:spcAft>
                <a:spcPts val="0"/>
              </a:spcAft>
              <a:buClr>
                <a:srgbClr val="13292C"/>
              </a:buClr>
              <a:buSzPts val="900"/>
              <a:buFont typeface="Calibri"/>
              <a:buChar char="•"/>
            </a:pPr>
            <a:r>
              <a:rPr lang="en-US" sz="900">
                <a:solidFill>
                  <a:srgbClr val="13292C"/>
                </a:solidFill>
                <a:latin typeface="Calibri"/>
                <a:ea typeface="Calibri"/>
                <a:cs typeface="Calibri"/>
                <a:sym typeface="Calibri"/>
              </a:rPr>
              <a:t>Create sales regions and sales groups</a:t>
            </a:r>
            <a:endParaRPr sz="900">
              <a:solidFill>
                <a:schemeClr val="dk1"/>
              </a:solidFill>
              <a:latin typeface="Calibri"/>
              <a:ea typeface="Calibri"/>
              <a:cs typeface="Calibri"/>
              <a:sym typeface="Calibri"/>
            </a:endParaRPr>
          </a:p>
          <a:p>
            <a:pPr indent="-101600" lvl="0" marL="101600" marR="0" rtl="0" algn="l">
              <a:spcBef>
                <a:spcPts val="250"/>
              </a:spcBef>
              <a:spcAft>
                <a:spcPts val="0"/>
              </a:spcAft>
              <a:buClr>
                <a:srgbClr val="13292C"/>
              </a:buClr>
              <a:buSzPts val="900"/>
              <a:buFont typeface="Calibri"/>
              <a:buChar char="•"/>
            </a:pPr>
            <a:r>
              <a:rPr lang="en-US" sz="900">
                <a:solidFill>
                  <a:srgbClr val="13292C"/>
                </a:solidFill>
                <a:latin typeface="Calibri"/>
                <a:ea typeface="Calibri"/>
                <a:cs typeface="Calibri"/>
                <a:sym typeface="Calibri"/>
              </a:rPr>
              <a:t>Assign or rotate Sales Reps between groups and regions</a:t>
            </a:r>
            <a:endParaRPr sz="900">
              <a:solidFill>
                <a:schemeClr val="dk1"/>
              </a:solidFill>
              <a:latin typeface="Calibri"/>
              <a:ea typeface="Calibri"/>
              <a:cs typeface="Calibri"/>
              <a:sym typeface="Calibri"/>
            </a:endParaRPr>
          </a:p>
          <a:p>
            <a:pPr indent="-101600" lvl="0" marL="101600" marR="0" rtl="0" algn="l">
              <a:spcBef>
                <a:spcPts val="250"/>
              </a:spcBef>
              <a:spcAft>
                <a:spcPts val="0"/>
              </a:spcAft>
              <a:buClr>
                <a:srgbClr val="13292C"/>
              </a:buClr>
              <a:buSzPts val="900"/>
              <a:buFont typeface="Calibri"/>
              <a:buChar char="•"/>
            </a:pPr>
            <a:r>
              <a:rPr lang="en-US" sz="900">
                <a:solidFill>
                  <a:srgbClr val="13292C"/>
                </a:solidFill>
                <a:latin typeface="Calibri"/>
                <a:ea typeface="Calibri"/>
                <a:cs typeface="Calibri"/>
                <a:sym typeface="Calibri"/>
              </a:rPr>
              <a:t>View orders, retailers and sales performance across managed groups</a:t>
            </a:r>
            <a:endParaRPr sz="900">
              <a:solidFill>
                <a:schemeClr val="dk1"/>
              </a:solidFill>
              <a:latin typeface="Calibri"/>
              <a:ea typeface="Calibri"/>
              <a:cs typeface="Calibri"/>
              <a:sym typeface="Calibri"/>
            </a:endParaRPr>
          </a:p>
        </p:txBody>
      </p:sp>
      <p:sp>
        <p:nvSpPr>
          <p:cNvPr id="105" name="Google Shape;105;p4"/>
          <p:cNvSpPr/>
          <p:nvPr/>
        </p:nvSpPr>
        <p:spPr>
          <a:xfrm>
            <a:off x="9031072" y="1481328"/>
            <a:ext cx="2606040" cy="4754880"/>
          </a:xfrm>
          <a:prstGeom prst="roundRect">
            <a:avLst>
              <a:gd fmla="val 2807" name="adj"/>
            </a:avLst>
          </a:prstGeom>
          <a:solidFill>
            <a:srgbClr val="FFFFFF"/>
          </a:solidFill>
          <a:ln cap="flat" cmpd="sng" w="9525">
            <a:solidFill>
              <a:srgbClr val="BFE8DC"/>
            </a:solidFill>
            <a:prstDash val="solid"/>
            <a:round/>
            <a:headEnd len="sm" w="sm" type="none"/>
            <a:tailEnd len="sm" w="sm" type="none"/>
          </a:ln>
          <a:effectLst>
            <a:outerShdw blurRad="63500" rotWithShape="0" algn="bl" dir="5400000" dist="25400">
              <a:srgbClr val="1B3B3B">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
          <p:cNvSpPr/>
          <p:nvPr/>
        </p:nvSpPr>
        <p:spPr>
          <a:xfrm>
            <a:off x="9031072" y="1481328"/>
            <a:ext cx="2606040" cy="54864"/>
          </a:xfrm>
          <a:prstGeom prst="roundRect">
            <a:avLst>
              <a:gd fmla="val 66667" name="adj"/>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4"/>
          <p:cNvSpPr/>
          <p:nvPr/>
        </p:nvSpPr>
        <p:spPr>
          <a:xfrm>
            <a:off x="9195664" y="1627632"/>
            <a:ext cx="347472" cy="347472"/>
          </a:xfrm>
          <a:prstGeom prst="ellipse">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4"/>
          <p:cNvSpPr txBox="1"/>
          <p:nvPr/>
        </p:nvSpPr>
        <p:spPr>
          <a:xfrm>
            <a:off x="9195664" y="162763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4</a:t>
            </a:r>
            <a:endParaRPr sz="1200">
              <a:solidFill>
                <a:schemeClr val="dk1"/>
              </a:solidFill>
              <a:latin typeface="Calibri"/>
              <a:ea typeface="Calibri"/>
              <a:cs typeface="Calibri"/>
              <a:sym typeface="Calibri"/>
            </a:endParaRPr>
          </a:p>
        </p:txBody>
      </p:sp>
      <p:sp>
        <p:nvSpPr>
          <p:cNvPr id="109" name="Google Shape;109;p4"/>
          <p:cNvSpPr txBox="1"/>
          <p:nvPr/>
        </p:nvSpPr>
        <p:spPr>
          <a:xfrm>
            <a:off x="9652864" y="1664208"/>
            <a:ext cx="185623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896"/>
              </a:buClr>
              <a:buSzPts val="700"/>
              <a:buFont typeface="Calibri"/>
              <a:buNone/>
            </a:pPr>
            <a:r>
              <a:rPr b="1" lang="en-US" sz="700">
                <a:solidFill>
                  <a:srgbClr val="00A896"/>
                </a:solidFill>
                <a:latin typeface="Calibri"/>
                <a:ea typeface="Calibri"/>
                <a:cs typeface="Calibri"/>
                <a:sym typeface="Calibri"/>
              </a:rPr>
              <a:t>PORTAL (WEB)</a:t>
            </a:r>
            <a:endParaRPr sz="700">
              <a:solidFill>
                <a:schemeClr val="dk1"/>
              </a:solidFill>
              <a:latin typeface="Calibri"/>
              <a:ea typeface="Calibri"/>
              <a:cs typeface="Calibri"/>
              <a:sym typeface="Calibri"/>
            </a:endParaRPr>
          </a:p>
        </p:txBody>
      </p:sp>
      <p:sp>
        <p:nvSpPr>
          <p:cNvPr id="110" name="Google Shape;110;p4"/>
          <p:cNvSpPr txBox="1"/>
          <p:nvPr/>
        </p:nvSpPr>
        <p:spPr>
          <a:xfrm>
            <a:off x="9195664" y="2011680"/>
            <a:ext cx="2350008" cy="3474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292C"/>
              </a:buClr>
              <a:buSzPts val="1250"/>
              <a:buFont typeface="Calibri"/>
              <a:buNone/>
            </a:pPr>
            <a:r>
              <a:rPr b="1" lang="en-US" sz="1250">
                <a:solidFill>
                  <a:srgbClr val="13292C"/>
                </a:solidFill>
                <a:latin typeface="Calibri"/>
                <a:ea typeface="Calibri"/>
                <a:cs typeface="Calibri"/>
                <a:sym typeface="Calibri"/>
              </a:rPr>
              <a:t>Warehouse Keeper</a:t>
            </a:r>
            <a:endParaRPr sz="1250">
              <a:solidFill>
                <a:schemeClr val="dk1"/>
              </a:solidFill>
              <a:latin typeface="Calibri"/>
              <a:ea typeface="Calibri"/>
              <a:cs typeface="Calibri"/>
              <a:sym typeface="Calibri"/>
            </a:endParaRPr>
          </a:p>
        </p:txBody>
      </p:sp>
      <p:sp>
        <p:nvSpPr>
          <p:cNvPr id="111" name="Google Shape;111;p4"/>
          <p:cNvSpPr txBox="1"/>
          <p:nvPr/>
        </p:nvSpPr>
        <p:spPr>
          <a:xfrm>
            <a:off x="9195664" y="2359152"/>
            <a:ext cx="2350008"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C6764"/>
              </a:buClr>
              <a:buSzPts val="900"/>
              <a:buFont typeface="Calibri"/>
              <a:buNone/>
            </a:pPr>
            <a:r>
              <a:rPr i="1" lang="en-US" sz="900">
                <a:solidFill>
                  <a:srgbClr val="4C6764"/>
                </a:solidFill>
                <a:latin typeface="Calibri"/>
                <a:ea typeface="Calibri"/>
                <a:cs typeface="Calibri"/>
                <a:sym typeface="Calibri"/>
              </a:rPr>
              <a:t>Goods receipt, picking &amp; issue at assigned warehouse</a:t>
            </a:r>
            <a:endParaRPr sz="900">
              <a:solidFill>
                <a:schemeClr val="dk1"/>
              </a:solidFill>
              <a:latin typeface="Calibri"/>
              <a:ea typeface="Calibri"/>
              <a:cs typeface="Calibri"/>
              <a:sym typeface="Calibri"/>
            </a:endParaRPr>
          </a:p>
        </p:txBody>
      </p:sp>
      <p:sp>
        <p:nvSpPr>
          <p:cNvPr id="112" name="Google Shape;112;p4"/>
          <p:cNvSpPr/>
          <p:nvPr/>
        </p:nvSpPr>
        <p:spPr>
          <a:xfrm>
            <a:off x="9195664" y="2633472"/>
            <a:ext cx="2276856" cy="6401"/>
          </a:xfrm>
          <a:prstGeom prst="rect">
            <a:avLst/>
          </a:prstGeom>
          <a:solidFill>
            <a:srgbClr val="BFE8DC"/>
          </a:solidFill>
          <a:ln cap="flat" cmpd="sng" w="12700">
            <a:solidFill>
              <a:srgbClr val="BFE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4"/>
          <p:cNvSpPr txBox="1"/>
          <p:nvPr/>
        </p:nvSpPr>
        <p:spPr>
          <a:xfrm>
            <a:off x="9195664" y="2706624"/>
            <a:ext cx="2350008" cy="3429000"/>
          </a:xfrm>
          <a:prstGeom prst="rect">
            <a:avLst/>
          </a:prstGeom>
          <a:noFill/>
          <a:ln>
            <a:noFill/>
          </a:ln>
        </p:spPr>
        <p:txBody>
          <a:bodyPr anchorCtr="0" anchor="t" bIns="0" lIns="0" spcFirstLastPara="1" rIns="0" wrap="square" tIns="0">
            <a:noAutofit/>
          </a:bodyPr>
          <a:lstStyle/>
          <a:p>
            <a:pPr indent="-101600" lvl="0" marL="101600" marR="0" rtl="0" algn="l">
              <a:spcBef>
                <a:spcPts val="0"/>
              </a:spcBef>
              <a:spcAft>
                <a:spcPts val="0"/>
              </a:spcAft>
              <a:buClr>
                <a:srgbClr val="13292C"/>
              </a:buClr>
              <a:buSzPts val="900"/>
              <a:buFont typeface="Calibri"/>
              <a:buChar char="•"/>
            </a:pPr>
            <a:r>
              <a:rPr lang="en-US" sz="900">
                <a:solidFill>
                  <a:srgbClr val="13292C"/>
                </a:solidFill>
                <a:latin typeface="Calibri"/>
                <a:ea typeface="Calibri"/>
                <a:cs typeface="Calibri"/>
                <a:sym typeface="Calibri"/>
              </a:rPr>
              <a:t>Record stock-in: SKU, Batch ID, expiry date, quantity → QR label generated</a:t>
            </a:r>
            <a:endParaRPr sz="900">
              <a:solidFill>
                <a:schemeClr val="dk1"/>
              </a:solidFill>
              <a:latin typeface="Calibri"/>
              <a:ea typeface="Calibri"/>
              <a:cs typeface="Calibri"/>
              <a:sym typeface="Calibri"/>
            </a:endParaRPr>
          </a:p>
          <a:p>
            <a:pPr indent="-101600" lvl="0" marL="101600" marR="0" rtl="0" algn="l">
              <a:spcBef>
                <a:spcPts val="250"/>
              </a:spcBef>
              <a:spcAft>
                <a:spcPts val="0"/>
              </a:spcAft>
              <a:buClr>
                <a:srgbClr val="13292C"/>
              </a:buClr>
              <a:buSzPts val="900"/>
              <a:buFont typeface="Calibri"/>
              <a:buChar char="•"/>
            </a:pPr>
            <a:r>
              <a:rPr lang="en-US" sz="900">
                <a:solidFill>
                  <a:srgbClr val="13292C"/>
                </a:solidFill>
                <a:latin typeface="Calibri"/>
                <a:ea typeface="Calibri"/>
                <a:cs typeface="Calibri"/>
                <a:sym typeface="Calibri"/>
              </a:rPr>
              <a:t>View batch inventory and receipt history at assigned warehouse</a:t>
            </a:r>
            <a:endParaRPr sz="900">
              <a:solidFill>
                <a:schemeClr val="dk1"/>
              </a:solidFill>
              <a:latin typeface="Calibri"/>
              <a:ea typeface="Calibri"/>
              <a:cs typeface="Calibri"/>
              <a:sym typeface="Calibri"/>
            </a:endParaRPr>
          </a:p>
          <a:p>
            <a:pPr indent="-101600" lvl="0" marL="101600" marR="0" rtl="0" algn="l">
              <a:spcBef>
                <a:spcPts val="250"/>
              </a:spcBef>
              <a:spcAft>
                <a:spcPts val="0"/>
              </a:spcAft>
              <a:buClr>
                <a:srgbClr val="13292C"/>
              </a:buClr>
              <a:buSzPts val="900"/>
              <a:buFont typeface="Calibri"/>
              <a:buChar char="•"/>
            </a:pPr>
            <a:r>
              <a:rPr lang="en-US" sz="900">
                <a:solidFill>
                  <a:srgbClr val="13292C"/>
                </a:solidFill>
                <a:latin typeface="Calibri"/>
                <a:ea typeface="Calibri"/>
                <a:cs typeface="Calibri"/>
                <a:sym typeface="Calibri"/>
              </a:rPr>
              <a:t>Receive picking list after order approval; pick specified batches</a:t>
            </a:r>
            <a:endParaRPr sz="900">
              <a:solidFill>
                <a:schemeClr val="dk1"/>
              </a:solidFill>
              <a:latin typeface="Calibri"/>
              <a:ea typeface="Calibri"/>
              <a:cs typeface="Calibri"/>
              <a:sym typeface="Calibri"/>
            </a:endParaRPr>
          </a:p>
          <a:p>
            <a:pPr indent="-101600" lvl="0" marL="101600" marR="0" rtl="0" algn="l">
              <a:spcBef>
                <a:spcPts val="250"/>
              </a:spcBef>
              <a:spcAft>
                <a:spcPts val="0"/>
              </a:spcAft>
              <a:buClr>
                <a:srgbClr val="13292C"/>
              </a:buClr>
              <a:buSzPts val="900"/>
              <a:buFont typeface="Calibri"/>
              <a:buChar char="•"/>
            </a:pPr>
            <a:r>
              <a:rPr lang="en-US" sz="900">
                <a:solidFill>
                  <a:srgbClr val="13292C"/>
                </a:solidFill>
                <a:latin typeface="Calibri"/>
                <a:ea typeface="Calibri"/>
                <a:cs typeface="Calibri"/>
                <a:sym typeface="Calibri"/>
              </a:rPr>
              <a:t>Scan batch QR on dispatch; system generates split QR for issued and remaining qty</a:t>
            </a:r>
            <a:endParaRPr sz="900">
              <a:solidFill>
                <a:schemeClr val="dk1"/>
              </a:solidFill>
              <a:latin typeface="Calibri"/>
              <a:ea typeface="Calibri"/>
              <a:cs typeface="Calibri"/>
              <a:sym typeface="Calibri"/>
            </a:endParaRPr>
          </a:p>
          <a:p>
            <a:pPr indent="-101600" lvl="0" marL="101600" marR="0" rtl="0" algn="l">
              <a:spcBef>
                <a:spcPts val="250"/>
              </a:spcBef>
              <a:spcAft>
                <a:spcPts val="0"/>
              </a:spcAft>
              <a:buClr>
                <a:srgbClr val="13292C"/>
              </a:buClr>
              <a:buSzPts val="900"/>
              <a:buFont typeface="Calibri"/>
              <a:buChar char="•"/>
            </a:pPr>
            <a:r>
              <a:rPr lang="en-US" sz="900">
                <a:solidFill>
                  <a:srgbClr val="13292C"/>
                </a:solidFill>
                <a:latin typeface="Calibri"/>
                <a:ea typeface="Calibri"/>
                <a:cs typeface="Calibri"/>
                <a:sym typeface="Calibri"/>
              </a:rPr>
              <a:t>Confirm goods issue → physical stock deducted, order moves to Dispatched</a:t>
            </a:r>
            <a:endParaRPr sz="900">
              <a:solidFill>
                <a:schemeClr val="dk1"/>
              </a:solidFill>
              <a:latin typeface="Calibri"/>
              <a:ea typeface="Calibri"/>
              <a:cs typeface="Calibri"/>
              <a:sym typeface="Calibri"/>
            </a:endParaRPr>
          </a:p>
        </p:txBody>
      </p:sp>
      <p:sp>
        <p:nvSpPr>
          <p:cNvPr id="114" name="Google Shape;114;p4"/>
          <p:cNvSpPr txBox="1"/>
          <p:nvPr/>
        </p:nvSpPr>
        <p:spPr>
          <a:xfrm>
            <a:off x="502920" y="6510528"/>
            <a:ext cx="73152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C5C0"/>
              </a:buClr>
              <a:buSzPts val="850"/>
              <a:buFont typeface="Calibri"/>
              <a:buNone/>
            </a:pPr>
            <a:r>
              <a:rPr lang="en-US" sz="850">
                <a:solidFill>
                  <a:srgbClr val="A8C5C0"/>
                </a:solidFill>
                <a:latin typeface="Calibri"/>
                <a:ea typeface="Calibri"/>
                <a:cs typeface="Calibri"/>
                <a:sym typeface="Calibri"/>
              </a:rPr>
              <a:t>FSCM  ·  Capstone Project Overview  ·  FA26SE083</a:t>
            </a:r>
            <a:endParaRPr sz="850">
              <a:solidFill>
                <a:schemeClr val="dk1"/>
              </a:solidFill>
              <a:latin typeface="Calibri"/>
              <a:ea typeface="Calibri"/>
              <a:cs typeface="Calibri"/>
              <a:sym typeface="Calibri"/>
            </a:endParaRPr>
          </a:p>
        </p:txBody>
      </p:sp>
      <p:sp>
        <p:nvSpPr>
          <p:cNvPr id="115" name="Google Shape;115;p4"/>
          <p:cNvSpPr txBox="1"/>
          <p:nvPr/>
        </p:nvSpPr>
        <p:spPr>
          <a:xfrm>
            <a:off x="11338560"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8C5C0"/>
              </a:buClr>
              <a:buSzPts val="850"/>
              <a:buFont typeface="Calibri"/>
              <a:buNone/>
            </a:pPr>
            <a:r>
              <a:rPr lang="en-US" sz="850">
                <a:solidFill>
                  <a:srgbClr val="A8C5C0"/>
                </a:solidFill>
                <a:latin typeface="Calibri"/>
                <a:ea typeface="Calibri"/>
                <a:cs typeface="Calibri"/>
                <a:sym typeface="Calibri"/>
              </a:rPr>
              <a:t>4</a:t>
            </a:r>
            <a:endParaRPr sz="85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AF9"/>
        </a:solidFill>
      </p:bgPr>
    </p:bg>
    <p:spTree>
      <p:nvGrpSpPr>
        <p:cNvPr id="120" name="Shape 120"/>
        <p:cNvGrpSpPr/>
        <p:nvPr/>
      </p:nvGrpSpPr>
      <p:grpSpPr>
        <a:xfrm>
          <a:off x="0" y="0"/>
          <a:ext cx="0" cy="0"/>
          <a:chOff x="0" y="0"/>
          <a:chExt cx="0" cy="0"/>
        </a:xfrm>
      </p:grpSpPr>
      <p:sp>
        <p:nvSpPr>
          <p:cNvPr id="121" name="Google Shape;121;p5"/>
          <p:cNvSpPr txBox="1"/>
          <p:nvPr/>
        </p:nvSpPr>
        <p:spPr>
          <a:xfrm>
            <a:off x="502920" y="402336"/>
            <a:ext cx="10058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100"/>
              <a:buFont typeface="Calibri"/>
              <a:buNone/>
            </a:pPr>
            <a:r>
              <a:rPr b="1" lang="en-US" sz="1100">
                <a:solidFill>
                  <a:srgbClr val="028090"/>
                </a:solidFill>
                <a:latin typeface="Calibri"/>
                <a:ea typeface="Calibri"/>
                <a:cs typeface="Calibri"/>
                <a:sym typeface="Calibri"/>
              </a:rPr>
              <a:t>02 · ACTORS &amp; ROLES</a:t>
            </a:r>
            <a:endParaRPr sz="1100">
              <a:solidFill>
                <a:schemeClr val="dk1"/>
              </a:solidFill>
              <a:latin typeface="Calibri"/>
              <a:ea typeface="Calibri"/>
              <a:cs typeface="Calibri"/>
              <a:sym typeface="Calibri"/>
            </a:endParaRPr>
          </a:p>
        </p:txBody>
      </p:sp>
      <p:sp>
        <p:nvSpPr>
          <p:cNvPr id="122" name="Google Shape;122;p5"/>
          <p:cNvSpPr/>
          <p:nvPr/>
        </p:nvSpPr>
        <p:spPr>
          <a:xfrm>
            <a:off x="502920" y="731520"/>
            <a:ext cx="11201400" cy="13716"/>
          </a:xfrm>
          <a:prstGeom prst="rect">
            <a:avLst/>
          </a:prstGeom>
          <a:solidFill>
            <a:srgbClr val="BFE8DC"/>
          </a:solidFill>
          <a:ln cap="flat" cmpd="sng" w="12700">
            <a:solidFill>
              <a:srgbClr val="BFE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5"/>
          <p:cNvSpPr txBox="1"/>
          <p:nvPr/>
        </p:nvSpPr>
        <p:spPr>
          <a:xfrm>
            <a:off x="502920" y="777240"/>
            <a:ext cx="11201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2C"/>
              </a:buClr>
              <a:buSzPts val="3000"/>
              <a:buFont typeface="Cambria"/>
              <a:buNone/>
            </a:pPr>
            <a:r>
              <a:rPr b="1" lang="en-US" sz="3000">
                <a:solidFill>
                  <a:srgbClr val="13292C"/>
                </a:solidFill>
                <a:latin typeface="Cambria"/>
                <a:ea typeface="Cambria"/>
                <a:cs typeface="Cambria"/>
                <a:sym typeface="Cambria"/>
              </a:rPr>
              <a:t>System Actors  ②  Mobile &amp; Background</a:t>
            </a:r>
            <a:endParaRPr sz="3000">
              <a:solidFill>
                <a:schemeClr val="dk1"/>
              </a:solidFill>
              <a:latin typeface="Calibri"/>
              <a:ea typeface="Calibri"/>
              <a:cs typeface="Calibri"/>
              <a:sym typeface="Calibri"/>
            </a:endParaRPr>
          </a:p>
        </p:txBody>
      </p:sp>
      <p:sp>
        <p:nvSpPr>
          <p:cNvPr id="124" name="Google Shape;124;p5"/>
          <p:cNvSpPr/>
          <p:nvPr/>
        </p:nvSpPr>
        <p:spPr>
          <a:xfrm>
            <a:off x="518008" y="1481328"/>
            <a:ext cx="3383280" cy="4754880"/>
          </a:xfrm>
          <a:prstGeom prst="roundRect">
            <a:avLst>
              <a:gd fmla="val 2162" name="adj"/>
            </a:avLst>
          </a:prstGeom>
          <a:solidFill>
            <a:srgbClr val="FFFFFF"/>
          </a:solidFill>
          <a:ln cap="flat" cmpd="sng" w="9525">
            <a:solidFill>
              <a:srgbClr val="BFE8DC"/>
            </a:solidFill>
            <a:prstDash val="solid"/>
            <a:round/>
            <a:headEnd len="sm" w="sm" type="none"/>
            <a:tailEnd len="sm" w="sm" type="none"/>
          </a:ln>
          <a:effectLst>
            <a:outerShdw blurRad="63500" rotWithShape="0" algn="bl" dir="5400000" dist="25400">
              <a:srgbClr val="1B3B3B">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5"/>
          <p:cNvSpPr/>
          <p:nvPr/>
        </p:nvSpPr>
        <p:spPr>
          <a:xfrm>
            <a:off x="518008" y="1481328"/>
            <a:ext cx="3383280" cy="54864"/>
          </a:xfrm>
          <a:prstGeom prst="roundRect">
            <a:avLst>
              <a:gd fmla="val 66667" name="adj"/>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5"/>
          <p:cNvSpPr/>
          <p:nvPr/>
        </p:nvSpPr>
        <p:spPr>
          <a:xfrm>
            <a:off x="682600" y="1627632"/>
            <a:ext cx="347472" cy="347472"/>
          </a:xfrm>
          <a:prstGeom prst="ellipse">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5"/>
          <p:cNvSpPr txBox="1"/>
          <p:nvPr/>
        </p:nvSpPr>
        <p:spPr>
          <a:xfrm>
            <a:off x="682600" y="162763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5</a:t>
            </a:r>
            <a:endParaRPr sz="1200">
              <a:solidFill>
                <a:schemeClr val="dk1"/>
              </a:solidFill>
              <a:latin typeface="Calibri"/>
              <a:ea typeface="Calibri"/>
              <a:cs typeface="Calibri"/>
              <a:sym typeface="Calibri"/>
            </a:endParaRPr>
          </a:p>
        </p:txBody>
      </p:sp>
      <p:sp>
        <p:nvSpPr>
          <p:cNvPr id="128" name="Google Shape;128;p5"/>
          <p:cNvSpPr txBox="1"/>
          <p:nvPr/>
        </p:nvSpPr>
        <p:spPr>
          <a:xfrm>
            <a:off x="1139800" y="1664208"/>
            <a:ext cx="263347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700"/>
              <a:buFont typeface="Calibri"/>
              <a:buNone/>
            </a:pPr>
            <a:r>
              <a:rPr b="1" lang="en-US" sz="700">
                <a:solidFill>
                  <a:srgbClr val="028090"/>
                </a:solidFill>
                <a:latin typeface="Calibri"/>
                <a:ea typeface="Calibri"/>
                <a:cs typeface="Calibri"/>
                <a:sym typeface="Calibri"/>
              </a:rPr>
              <a:t>SALES APP (MOBILE)</a:t>
            </a:r>
            <a:endParaRPr sz="700">
              <a:solidFill>
                <a:schemeClr val="dk1"/>
              </a:solidFill>
              <a:latin typeface="Calibri"/>
              <a:ea typeface="Calibri"/>
              <a:cs typeface="Calibri"/>
              <a:sym typeface="Calibri"/>
            </a:endParaRPr>
          </a:p>
        </p:txBody>
      </p:sp>
      <p:sp>
        <p:nvSpPr>
          <p:cNvPr id="129" name="Google Shape;129;p5"/>
          <p:cNvSpPr txBox="1"/>
          <p:nvPr/>
        </p:nvSpPr>
        <p:spPr>
          <a:xfrm>
            <a:off x="682600" y="2011680"/>
            <a:ext cx="3127248" cy="3474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292C"/>
              </a:buClr>
              <a:buSzPts val="1250"/>
              <a:buFont typeface="Calibri"/>
              <a:buNone/>
            </a:pPr>
            <a:r>
              <a:rPr b="1" lang="en-US" sz="1250">
                <a:solidFill>
                  <a:srgbClr val="13292C"/>
                </a:solidFill>
                <a:latin typeface="Calibri"/>
                <a:ea typeface="Calibri"/>
                <a:cs typeface="Calibri"/>
                <a:sym typeface="Calibri"/>
              </a:rPr>
              <a:t>Sales Representative</a:t>
            </a:r>
            <a:endParaRPr sz="1250">
              <a:solidFill>
                <a:schemeClr val="dk1"/>
              </a:solidFill>
              <a:latin typeface="Calibri"/>
              <a:ea typeface="Calibri"/>
              <a:cs typeface="Calibri"/>
              <a:sym typeface="Calibri"/>
            </a:endParaRPr>
          </a:p>
        </p:txBody>
      </p:sp>
      <p:sp>
        <p:nvSpPr>
          <p:cNvPr id="130" name="Google Shape;130;p5"/>
          <p:cNvSpPr txBox="1"/>
          <p:nvPr/>
        </p:nvSpPr>
        <p:spPr>
          <a:xfrm>
            <a:off x="682600" y="2359152"/>
            <a:ext cx="3127248"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C6764"/>
              </a:buClr>
              <a:buSzPts val="900"/>
              <a:buFont typeface="Calibri"/>
              <a:buNone/>
            </a:pPr>
            <a:r>
              <a:rPr i="1" lang="en-US" sz="900">
                <a:solidFill>
                  <a:srgbClr val="4C6764"/>
                </a:solidFill>
                <a:latin typeface="Calibri"/>
                <a:ea typeface="Calibri"/>
                <a:cs typeface="Calibri"/>
                <a:sym typeface="Calibri"/>
              </a:rPr>
              <a:t>Places orders for assigned retailers</a:t>
            </a:r>
            <a:endParaRPr sz="900">
              <a:solidFill>
                <a:schemeClr val="dk1"/>
              </a:solidFill>
              <a:latin typeface="Calibri"/>
              <a:ea typeface="Calibri"/>
              <a:cs typeface="Calibri"/>
              <a:sym typeface="Calibri"/>
            </a:endParaRPr>
          </a:p>
        </p:txBody>
      </p:sp>
      <p:sp>
        <p:nvSpPr>
          <p:cNvPr id="131" name="Google Shape;131;p5"/>
          <p:cNvSpPr/>
          <p:nvPr/>
        </p:nvSpPr>
        <p:spPr>
          <a:xfrm>
            <a:off x="682600" y="2633472"/>
            <a:ext cx="3054096" cy="6401"/>
          </a:xfrm>
          <a:prstGeom prst="rect">
            <a:avLst/>
          </a:prstGeom>
          <a:solidFill>
            <a:srgbClr val="BFE8DC"/>
          </a:solidFill>
          <a:ln cap="flat" cmpd="sng" w="12700">
            <a:solidFill>
              <a:srgbClr val="BFE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5"/>
          <p:cNvSpPr txBox="1"/>
          <p:nvPr/>
        </p:nvSpPr>
        <p:spPr>
          <a:xfrm>
            <a:off x="682600" y="2706624"/>
            <a:ext cx="3127248" cy="3429000"/>
          </a:xfrm>
          <a:prstGeom prst="rect">
            <a:avLst/>
          </a:prstGeom>
          <a:noFill/>
          <a:ln>
            <a:noFill/>
          </a:ln>
        </p:spPr>
        <p:txBody>
          <a:bodyPr anchorCtr="0" anchor="t" bIns="0" lIns="0" spcFirstLastPara="1" rIns="0" wrap="square" tIns="0">
            <a:noAutofit/>
          </a:bodyPr>
          <a:lstStyle/>
          <a:p>
            <a:pPr indent="-101600" lvl="0" marL="101600" marR="0" rtl="0" algn="l">
              <a:spcBef>
                <a:spcPts val="0"/>
              </a:spcBef>
              <a:spcAft>
                <a:spcPts val="0"/>
              </a:spcAft>
              <a:buClr>
                <a:srgbClr val="13292C"/>
              </a:buClr>
              <a:buSzPts val="900"/>
              <a:buFont typeface="Calibri"/>
              <a:buChar char="•"/>
            </a:pPr>
            <a:r>
              <a:rPr lang="en-US" sz="900">
                <a:solidFill>
                  <a:srgbClr val="13292C"/>
                </a:solidFill>
                <a:latin typeface="Calibri"/>
                <a:ea typeface="Calibri"/>
                <a:cs typeface="Calibri"/>
                <a:sym typeface="Calibri"/>
              </a:rPr>
              <a:t>View assigned active retailers; share orders within same sales group</a:t>
            </a:r>
            <a:endParaRPr sz="900">
              <a:solidFill>
                <a:schemeClr val="dk1"/>
              </a:solidFill>
              <a:latin typeface="Calibri"/>
              <a:ea typeface="Calibri"/>
              <a:cs typeface="Calibri"/>
              <a:sym typeface="Calibri"/>
            </a:endParaRPr>
          </a:p>
          <a:p>
            <a:pPr indent="-101600" lvl="0" marL="101600" marR="0" rtl="0" algn="l">
              <a:spcBef>
                <a:spcPts val="250"/>
              </a:spcBef>
              <a:spcAft>
                <a:spcPts val="0"/>
              </a:spcAft>
              <a:buClr>
                <a:srgbClr val="13292C"/>
              </a:buClr>
              <a:buSzPts val="900"/>
              <a:buFont typeface="Calibri"/>
              <a:buChar char="•"/>
            </a:pPr>
            <a:r>
              <a:rPr lang="en-US" sz="900">
                <a:solidFill>
                  <a:srgbClr val="13292C"/>
                </a:solidFill>
                <a:latin typeface="Calibri"/>
                <a:ea typeface="Calibri"/>
                <a:cs typeface="Calibri"/>
                <a:sym typeface="Calibri"/>
              </a:rPr>
              <a:t>Declare a new retailer — active only after Admin / Operator approval</a:t>
            </a:r>
            <a:endParaRPr sz="900">
              <a:solidFill>
                <a:schemeClr val="dk1"/>
              </a:solidFill>
              <a:latin typeface="Calibri"/>
              <a:ea typeface="Calibri"/>
              <a:cs typeface="Calibri"/>
              <a:sym typeface="Calibri"/>
            </a:endParaRPr>
          </a:p>
          <a:p>
            <a:pPr indent="-101600" lvl="0" marL="101600" marR="0" rtl="0" algn="l">
              <a:spcBef>
                <a:spcPts val="250"/>
              </a:spcBef>
              <a:spcAft>
                <a:spcPts val="0"/>
              </a:spcAft>
              <a:buClr>
                <a:srgbClr val="13292C"/>
              </a:buClr>
              <a:buSzPts val="900"/>
              <a:buFont typeface="Calibri"/>
              <a:buChar char="•"/>
            </a:pPr>
            <a:r>
              <a:rPr lang="en-US" sz="900">
                <a:solidFill>
                  <a:srgbClr val="13292C"/>
                </a:solidFill>
                <a:latin typeface="Calibri"/>
                <a:ea typeface="Calibri"/>
                <a:cs typeface="Calibri"/>
                <a:sym typeface="Calibri"/>
              </a:rPr>
              <a:t>Search catalog, add to cart, review auto-calculated promotions, confirm order</a:t>
            </a:r>
            <a:endParaRPr sz="900">
              <a:solidFill>
                <a:schemeClr val="dk1"/>
              </a:solidFill>
              <a:latin typeface="Calibri"/>
              <a:ea typeface="Calibri"/>
              <a:cs typeface="Calibri"/>
              <a:sym typeface="Calibri"/>
            </a:endParaRPr>
          </a:p>
          <a:p>
            <a:pPr indent="-101600" lvl="0" marL="101600" marR="0" rtl="0" algn="l">
              <a:spcBef>
                <a:spcPts val="250"/>
              </a:spcBef>
              <a:spcAft>
                <a:spcPts val="0"/>
              </a:spcAft>
              <a:buClr>
                <a:srgbClr val="13292C"/>
              </a:buClr>
              <a:buSzPts val="900"/>
              <a:buFont typeface="Calibri"/>
              <a:buChar char="•"/>
            </a:pPr>
            <a:r>
              <a:rPr lang="en-US" sz="900">
                <a:solidFill>
                  <a:srgbClr val="13292C"/>
                </a:solidFill>
                <a:latin typeface="Calibri"/>
                <a:ea typeface="Calibri"/>
                <a:cs typeface="Calibri"/>
                <a:sym typeface="Calibri"/>
              </a:rPr>
              <a:t>Offline mode: save orders to local SQLite; auto-sync on reconnect (FCFS at server)</a:t>
            </a:r>
            <a:endParaRPr sz="900">
              <a:solidFill>
                <a:schemeClr val="dk1"/>
              </a:solidFill>
              <a:latin typeface="Calibri"/>
              <a:ea typeface="Calibri"/>
              <a:cs typeface="Calibri"/>
              <a:sym typeface="Calibri"/>
            </a:endParaRPr>
          </a:p>
          <a:p>
            <a:pPr indent="-101600" lvl="0" marL="101600" marR="0" rtl="0" algn="l">
              <a:spcBef>
                <a:spcPts val="250"/>
              </a:spcBef>
              <a:spcAft>
                <a:spcPts val="0"/>
              </a:spcAft>
              <a:buClr>
                <a:srgbClr val="13292C"/>
              </a:buClr>
              <a:buSzPts val="900"/>
              <a:buFont typeface="Calibri"/>
              <a:buChar char="•"/>
            </a:pPr>
            <a:r>
              <a:rPr lang="en-US" sz="900">
                <a:solidFill>
                  <a:srgbClr val="13292C"/>
                </a:solidFill>
                <a:latin typeface="Calibri"/>
                <a:ea typeface="Calibri"/>
                <a:cs typeface="Calibri"/>
                <a:sym typeface="Calibri"/>
              </a:rPr>
              <a:t>View own order history, revenue metrics and sales leaderboard</a:t>
            </a:r>
            <a:endParaRPr sz="900">
              <a:solidFill>
                <a:schemeClr val="dk1"/>
              </a:solidFill>
              <a:latin typeface="Calibri"/>
              <a:ea typeface="Calibri"/>
              <a:cs typeface="Calibri"/>
              <a:sym typeface="Calibri"/>
            </a:endParaRPr>
          </a:p>
        </p:txBody>
      </p:sp>
      <p:sp>
        <p:nvSpPr>
          <p:cNvPr id="133" name="Google Shape;133;p5"/>
          <p:cNvSpPr/>
          <p:nvPr/>
        </p:nvSpPr>
        <p:spPr>
          <a:xfrm>
            <a:off x="4404208" y="1481328"/>
            <a:ext cx="3383280" cy="4754880"/>
          </a:xfrm>
          <a:prstGeom prst="roundRect">
            <a:avLst>
              <a:gd fmla="val 2162" name="adj"/>
            </a:avLst>
          </a:prstGeom>
          <a:solidFill>
            <a:srgbClr val="FFFFFF"/>
          </a:solidFill>
          <a:ln cap="flat" cmpd="sng" w="9525">
            <a:solidFill>
              <a:srgbClr val="BFE8DC"/>
            </a:solidFill>
            <a:prstDash val="solid"/>
            <a:round/>
            <a:headEnd len="sm" w="sm" type="none"/>
            <a:tailEnd len="sm" w="sm" type="none"/>
          </a:ln>
          <a:effectLst>
            <a:outerShdw blurRad="63500" rotWithShape="0" algn="bl" dir="5400000" dist="25400">
              <a:srgbClr val="1B3B3B">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5"/>
          <p:cNvSpPr/>
          <p:nvPr/>
        </p:nvSpPr>
        <p:spPr>
          <a:xfrm>
            <a:off x="4404208" y="1481328"/>
            <a:ext cx="3383280" cy="54864"/>
          </a:xfrm>
          <a:prstGeom prst="roundRect">
            <a:avLst>
              <a:gd fmla="val 66667" name="adj"/>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5"/>
          <p:cNvSpPr/>
          <p:nvPr/>
        </p:nvSpPr>
        <p:spPr>
          <a:xfrm>
            <a:off x="4568800" y="1627632"/>
            <a:ext cx="347472" cy="347472"/>
          </a:xfrm>
          <a:prstGeom prst="ellipse">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5"/>
          <p:cNvSpPr txBox="1"/>
          <p:nvPr/>
        </p:nvSpPr>
        <p:spPr>
          <a:xfrm>
            <a:off x="4568800" y="162763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6</a:t>
            </a:r>
            <a:endParaRPr sz="1200">
              <a:solidFill>
                <a:schemeClr val="dk1"/>
              </a:solidFill>
              <a:latin typeface="Calibri"/>
              <a:ea typeface="Calibri"/>
              <a:cs typeface="Calibri"/>
              <a:sym typeface="Calibri"/>
            </a:endParaRPr>
          </a:p>
        </p:txBody>
      </p:sp>
      <p:sp>
        <p:nvSpPr>
          <p:cNvPr id="137" name="Google Shape;137;p5"/>
          <p:cNvSpPr txBox="1"/>
          <p:nvPr/>
        </p:nvSpPr>
        <p:spPr>
          <a:xfrm>
            <a:off x="5026000" y="1664208"/>
            <a:ext cx="263347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896"/>
              </a:buClr>
              <a:buSzPts val="700"/>
              <a:buFont typeface="Calibri"/>
              <a:buNone/>
            </a:pPr>
            <a:r>
              <a:rPr b="1" lang="en-US" sz="700">
                <a:solidFill>
                  <a:srgbClr val="00A896"/>
                </a:solidFill>
                <a:latin typeface="Calibri"/>
                <a:ea typeface="Calibri"/>
                <a:cs typeface="Calibri"/>
                <a:sym typeface="Calibri"/>
              </a:rPr>
              <a:t>RETAILER APP (MOBILE)</a:t>
            </a:r>
            <a:endParaRPr sz="700">
              <a:solidFill>
                <a:schemeClr val="dk1"/>
              </a:solidFill>
              <a:latin typeface="Calibri"/>
              <a:ea typeface="Calibri"/>
              <a:cs typeface="Calibri"/>
              <a:sym typeface="Calibri"/>
            </a:endParaRPr>
          </a:p>
        </p:txBody>
      </p:sp>
      <p:sp>
        <p:nvSpPr>
          <p:cNvPr id="138" name="Google Shape;138;p5"/>
          <p:cNvSpPr txBox="1"/>
          <p:nvPr/>
        </p:nvSpPr>
        <p:spPr>
          <a:xfrm>
            <a:off x="4568800" y="2011680"/>
            <a:ext cx="3127248" cy="3474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292C"/>
              </a:buClr>
              <a:buSzPts val="1250"/>
              <a:buFont typeface="Calibri"/>
              <a:buNone/>
            </a:pPr>
            <a:r>
              <a:rPr b="1" lang="en-US" sz="1250">
                <a:solidFill>
                  <a:srgbClr val="13292C"/>
                </a:solidFill>
                <a:latin typeface="Calibri"/>
                <a:ea typeface="Calibri"/>
                <a:cs typeface="Calibri"/>
                <a:sym typeface="Calibri"/>
              </a:rPr>
              <a:t>Retailer</a:t>
            </a:r>
            <a:endParaRPr sz="1250">
              <a:solidFill>
                <a:schemeClr val="dk1"/>
              </a:solidFill>
              <a:latin typeface="Calibri"/>
              <a:ea typeface="Calibri"/>
              <a:cs typeface="Calibri"/>
              <a:sym typeface="Calibri"/>
            </a:endParaRPr>
          </a:p>
        </p:txBody>
      </p:sp>
      <p:sp>
        <p:nvSpPr>
          <p:cNvPr id="139" name="Google Shape;139;p5"/>
          <p:cNvSpPr txBox="1"/>
          <p:nvPr/>
        </p:nvSpPr>
        <p:spPr>
          <a:xfrm>
            <a:off x="4568800" y="2359152"/>
            <a:ext cx="3127248"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C6764"/>
              </a:buClr>
              <a:buSzPts val="900"/>
              <a:buFont typeface="Calibri"/>
              <a:buNone/>
            </a:pPr>
            <a:r>
              <a:rPr i="1" lang="en-US" sz="900">
                <a:solidFill>
                  <a:srgbClr val="4C6764"/>
                </a:solidFill>
                <a:latin typeface="Calibri"/>
                <a:ea typeface="Calibri"/>
                <a:cs typeface="Calibri"/>
                <a:sym typeface="Calibri"/>
              </a:rPr>
              <a:t>Tracks orders and confirms delivery</a:t>
            </a:r>
            <a:endParaRPr sz="900">
              <a:solidFill>
                <a:schemeClr val="dk1"/>
              </a:solidFill>
              <a:latin typeface="Calibri"/>
              <a:ea typeface="Calibri"/>
              <a:cs typeface="Calibri"/>
              <a:sym typeface="Calibri"/>
            </a:endParaRPr>
          </a:p>
        </p:txBody>
      </p:sp>
      <p:sp>
        <p:nvSpPr>
          <p:cNvPr id="140" name="Google Shape;140;p5"/>
          <p:cNvSpPr/>
          <p:nvPr/>
        </p:nvSpPr>
        <p:spPr>
          <a:xfrm>
            <a:off x="4568800" y="2633472"/>
            <a:ext cx="3054096" cy="6401"/>
          </a:xfrm>
          <a:prstGeom prst="rect">
            <a:avLst/>
          </a:prstGeom>
          <a:solidFill>
            <a:srgbClr val="BFE8DC"/>
          </a:solidFill>
          <a:ln cap="flat" cmpd="sng" w="12700">
            <a:solidFill>
              <a:srgbClr val="BFE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5"/>
          <p:cNvSpPr txBox="1"/>
          <p:nvPr/>
        </p:nvSpPr>
        <p:spPr>
          <a:xfrm>
            <a:off x="4568800" y="2706624"/>
            <a:ext cx="3127248" cy="3429000"/>
          </a:xfrm>
          <a:prstGeom prst="rect">
            <a:avLst/>
          </a:prstGeom>
          <a:noFill/>
          <a:ln>
            <a:noFill/>
          </a:ln>
        </p:spPr>
        <p:txBody>
          <a:bodyPr anchorCtr="0" anchor="t" bIns="0" lIns="0" spcFirstLastPara="1" rIns="0" wrap="square" tIns="0">
            <a:noAutofit/>
          </a:bodyPr>
          <a:lstStyle/>
          <a:p>
            <a:pPr indent="-101600" lvl="0" marL="101600" marR="0" rtl="0" algn="l">
              <a:spcBef>
                <a:spcPts val="0"/>
              </a:spcBef>
              <a:spcAft>
                <a:spcPts val="0"/>
              </a:spcAft>
              <a:buClr>
                <a:srgbClr val="13292C"/>
              </a:buClr>
              <a:buSzPts val="900"/>
              <a:buFont typeface="Calibri"/>
              <a:buChar char="•"/>
            </a:pPr>
            <a:r>
              <a:rPr lang="en-US" sz="900">
                <a:solidFill>
                  <a:srgbClr val="13292C"/>
                </a:solidFill>
                <a:latin typeface="Calibri"/>
                <a:ea typeface="Calibri"/>
                <a:cs typeface="Calibri"/>
                <a:sym typeface="Calibri"/>
              </a:rPr>
              <a:t>Log in with account issued by Admin / Operator (no self-registration; cannot place orders)</a:t>
            </a:r>
            <a:endParaRPr sz="900">
              <a:solidFill>
                <a:schemeClr val="dk1"/>
              </a:solidFill>
              <a:latin typeface="Calibri"/>
              <a:ea typeface="Calibri"/>
              <a:cs typeface="Calibri"/>
              <a:sym typeface="Calibri"/>
            </a:endParaRPr>
          </a:p>
          <a:p>
            <a:pPr indent="-101600" lvl="0" marL="101600" marR="0" rtl="0" algn="l">
              <a:spcBef>
                <a:spcPts val="250"/>
              </a:spcBef>
              <a:spcAft>
                <a:spcPts val="0"/>
              </a:spcAft>
              <a:buClr>
                <a:srgbClr val="13292C"/>
              </a:buClr>
              <a:buSzPts val="900"/>
              <a:buFont typeface="Calibri"/>
              <a:buChar char="•"/>
            </a:pPr>
            <a:r>
              <a:rPr lang="en-US" sz="900">
                <a:solidFill>
                  <a:srgbClr val="13292C"/>
                </a:solidFill>
                <a:latin typeface="Calibri"/>
                <a:ea typeface="Calibri"/>
                <a:cs typeface="Calibri"/>
                <a:sym typeface="Calibri"/>
              </a:rPr>
              <a:t>View order list, applied promotions, and delivery status notifications</a:t>
            </a:r>
            <a:endParaRPr sz="900">
              <a:solidFill>
                <a:schemeClr val="dk1"/>
              </a:solidFill>
              <a:latin typeface="Calibri"/>
              <a:ea typeface="Calibri"/>
              <a:cs typeface="Calibri"/>
              <a:sym typeface="Calibri"/>
            </a:endParaRPr>
          </a:p>
          <a:p>
            <a:pPr indent="-101600" lvl="0" marL="101600" marR="0" rtl="0" algn="l">
              <a:spcBef>
                <a:spcPts val="250"/>
              </a:spcBef>
              <a:spcAft>
                <a:spcPts val="0"/>
              </a:spcAft>
              <a:buClr>
                <a:srgbClr val="13292C"/>
              </a:buClr>
              <a:buSzPts val="900"/>
              <a:buFont typeface="Calibri"/>
              <a:buChar char="•"/>
            </a:pPr>
            <a:r>
              <a:rPr lang="en-US" sz="900">
                <a:solidFill>
                  <a:srgbClr val="13292C"/>
                </a:solidFill>
                <a:latin typeface="Calibri"/>
                <a:ea typeface="Calibri"/>
                <a:cs typeface="Calibri"/>
                <a:sym typeface="Calibri"/>
              </a:rPr>
              <a:t>Scan issued batch QR labels to confirm received Batch ID and quantity</a:t>
            </a:r>
            <a:endParaRPr sz="900">
              <a:solidFill>
                <a:schemeClr val="dk1"/>
              </a:solidFill>
              <a:latin typeface="Calibri"/>
              <a:ea typeface="Calibri"/>
              <a:cs typeface="Calibri"/>
              <a:sym typeface="Calibri"/>
            </a:endParaRPr>
          </a:p>
          <a:p>
            <a:pPr indent="-101600" lvl="0" marL="101600" marR="0" rtl="0" algn="l">
              <a:spcBef>
                <a:spcPts val="250"/>
              </a:spcBef>
              <a:spcAft>
                <a:spcPts val="0"/>
              </a:spcAft>
              <a:buClr>
                <a:srgbClr val="13292C"/>
              </a:buClr>
              <a:buSzPts val="900"/>
              <a:buFont typeface="Calibri"/>
              <a:buChar char="•"/>
            </a:pPr>
            <a:r>
              <a:rPr lang="en-US" sz="900">
                <a:solidFill>
                  <a:srgbClr val="13292C"/>
                </a:solidFill>
                <a:latin typeface="Calibri"/>
                <a:ea typeface="Calibri"/>
                <a:cs typeface="Calibri"/>
                <a:sym typeface="Calibri"/>
              </a:rPr>
              <a:t>Pay on delivery (COD) when applicable</a:t>
            </a:r>
            <a:endParaRPr sz="900">
              <a:solidFill>
                <a:schemeClr val="dk1"/>
              </a:solidFill>
              <a:latin typeface="Calibri"/>
              <a:ea typeface="Calibri"/>
              <a:cs typeface="Calibri"/>
              <a:sym typeface="Calibri"/>
            </a:endParaRPr>
          </a:p>
          <a:p>
            <a:pPr indent="-101600" lvl="0" marL="101600" marR="0" rtl="0" algn="l">
              <a:spcBef>
                <a:spcPts val="250"/>
              </a:spcBef>
              <a:spcAft>
                <a:spcPts val="0"/>
              </a:spcAft>
              <a:buClr>
                <a:srgbClr val="13292C"/>
              </a:buClr>
              <a:buSzPts val="900"/>
              <a:buFont typeface="Calibri"/>
              <a:buChar char="•"/>
            </a:pPr>
            <a:r>
              <a:rPr lang="en-US" sz="900">
                <a:solidFill>
                  <a:srgbClr val="13292C"/>
                </a:solidFill>
                <a:latin typeface="Calibri"/>
                <a:ea typeface="Calibri"/>
                <a:cs typeface="Calibri"/>
                <a:sym typeface="Calibri"/>
              </a:rPr>
              <a:t>View total orders and amount paid by time period</a:t>
            </a:r>
            <a:endParaRPr sz="900">
              <a:solidFill>
                <a:schemeClr val="dk1"/>
              </a:solidFill>
              <a:latin typeface="Calibri"/>
              <a:ea typeface="Calibri"/>
              <a:cs typeface="Calibri"/>
              <a:sym typeface="Calibri"/>
            </a:endParaRPr>
          </a:p>
        </p:txBody>
      </p:sp>
      <p:sp>
        <p:nvSpPr>
          <p:cNvPr id="142" name="Google Shape;142;p5"/>
          <p:cNvSpPr/>
          <p:nvPr/>
        </p:nvSpPr>
        <p:spPr>
          <a:xfrm>
            <a:off x="8290408" y="1481328"/>
            <a:ext cx="3383280" cy="4754880"/>
          </a:xfrm>
          <a:prstGeom prst="roundRect">
            <a:avLst>
              <a:gd fmla="val 2162" name="adj"/>
            </a:avLst>
          </a:prstGeom>
          <a:solidFill>
            <a:srgbClr val="FFFFFF"/>
          </a:solidFill>
          <a:ln cap="flat" cmpd="sng" w="9525">
            <a:solidFill>
              <a:srgbClr val="BFE8DC"/>
            </a:solidFill>
            <a:prstDash val="solid"/>
            <a:round/>
            <a:headEnd len="sm" w="sm" type="none"/>
            <a:tailEnd len="sm" w="sm" type="none"/>
          </a:ln>
          <a:effectLst>
            <a:outerShdw blurRad="63500" rotWithShape="0" algn="bl" dir="5400000" dist="25400">
              <a:srgbClr val="1B3B3B">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5"/>
          <p:cNvSpPr/>
          <p:nvPr/>
        </p:nvSpPr>
        <p:spPr>
          <a:xfrm>
            <a:off x="8290408" y="1481328"/>
            <a:ext cx="3383280" cy="54864"/>
          </a:xfrm>
          <a:prstGeom prst="roundRect">
            <a:avLst>
              <a:gd fmla="val 66667" name="adj"/>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5"/>
          <p:cNvSpPr/>
          <p:nvPr/>
        </p:nvSpPr>
        <p:spPr>
          <a:xfrm>
            <a:off x="8455000" y="1627632"/>
            <a:ext cx="347472" cy="347472"/>
          </a:xfrm>
          <a:prstGeom prst="ellipse">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5"/>
          <p:cNvSpPr txBox="1"/>
          <p:nvPr/>
        </p:nvSpPr>
        <p:spPr>
          <a:xfrm>
            <a:off x="8455000" y="162763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7</a:t>
            </a:r>
            <a:endParaRPr sz="1200">
              <a:solidFill>
                <a:schemeClr val="dk1"/>
              </a:solidFill>
              <a:latin typeface="Calibri"/>
              <a:ea typeface="Calibri"/>
              <a:cs typeface="Calibri"/>
              <a:sym typeface="Calibri"/>
            </a:endParaRPr>
          </a:p>
        </p:txBody>
      </p:sp>
      <p:sp>
        <p:nvSpPr>
          <p:cNvPr id="146" name="Google Shape;146;p5"/>
          <p:cNvSpPr txBox="1"/>
          <p:nvPr/>
        </p:nvSpPr>
        <p:spPr>
          <a:xfrm>
            <a:off x="8912200" y="1664208"/>
            <a:ext cx="263347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700"/>
              <a:buFont typeface="Calibri"/>
              <a:buNone/>
            </a:pPr>
            <a:r>
              <a:rPr b="1" lang="en-US" sz="700">
                <a:solidFill>
                  <a:srgbClr val="028090"/>
                </a:solidFill>
                <a:latin typeface="Calibri"/>
                <a:ea typeface="Calibri"/>
                <a:cs typeface="Calibri"/>
                <a:sym typeface="Calibri"/>
              </a:rPr>
              <a:t>BACKGROUND SERVICES</a:t>
            </a:r>
            <a:endParaRPr sz="700">
              <a:solidFill>
                <a:schemeClr val="dk1"/>
              </a:solidFill>
              <a:latin typeface="Calibri"/>
              <a:ea typeface="Calibri"/>
              <a:cs typeface="Calibri"/>
              <a:sym typeface="Calibri"/>
            </a:endParaRPr>
          </a:p>
        </p:txBody>
      </p:sp>
      <p:sp>
        <p:nvSpPr>
          <p:cNvPr id="147" name="Google Shape;147;p5"/>
          <p:cNvSpPr txBox="1"/>
          <p:nvPr/>
        </p:nvSpPr>
        <p:spPr>
          <a:xfrm>
            <a:off x="8455000" y="2011680"/>
            <a:ext cx="3127248" cy="3474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292C"/>
              </a:buClr>
              <a:buSzPts val="1250"/>
              <a:buFont typeface="Calibri"/>
              <a:buNone/>
            </a:pPr>
            <a:r>
              <a:rPr b="1" lang="en-US" sz="1250">
                <a:solidFill>
                  <a:srgbClr val="13292C"/>
                </a:solidFill>
                <a:latin typeface="Calibri"/>
                <a:ea typeface="Calibri"/>
                <a:cs typeface="Calibri"/>
                <a:sym typeface="Calibri"/>
              </a:rPr>
              <a:t>Automated System</a:t>
            </a:r>
            <a:endParaRPr sz="1250">
              <a:solidFill>
                <a:schemeClr val="dk1"/>
              </a:solidFill>
              <a:latin typeface="Calibri"/>
              <a:ea typeface="Calibri"/>
              <a:cs typeface="Calibri"/>
              <a:sym typeface="Calibri"/>
            </a:endParaRPr>
          </a:p>
        </p:txBody>
      </p:sp>
      <p:sp>
        <p:nvSpPr>
          <p:cNvPr id="148" name="Google Shape;148;p5"/>
          <p:cNvSpPr txBox="1"/>
          <p:nvPr/>
        </p:nvSpPr>
        <p:spPr>
          <a:xfrm>
            <a:off x="8455000" y="2359152"/>
            <a:ext cx="3127248"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C6764"/>
              </a:buClr>
              <a:buSzPts val="900"/>
              <a:buFont typeface="Calibri"/>
              <a:buNone/>
            </a:pPr>
            <a:r>
              <a:rPr i="1" lang="en-US" sz="900">
                <a:solidFill>
                  <a:srgbClr val="4C6764"/>
                </a:solidFill>
                <a:latin typeface="Calibri"/>
                <a:ea typeface="Calibri"/>
                <a:cs typeface="Calibri"/>
                <a:sym typeface="Calibri"/>
              </a:rPr>
              <a:t>Background processing — no login</a:t>
            </a:r>
            <a:endParaRPr sz="900">
              <a:solidFill>
                <a:schemeClr val="dk1"/>
              </a:solidFill>
              <a:latin typeface="Calibri"/>
              <a:ea typeface="Calibri"/>
              <a:cs typeface="Calibri"/>
              <a:sym typeface="Calibri"/>
            </a:endParaRPr>
          </a:p>
        </p:txBody>
      </p:sp>
      <p:sp>
        <p:nvSpPr>
          <p:cNvPr id="149" name="Google Shape;149;p5"/>
          <p:cNvSpPr/>
          <p:nvPr/>
        </p:nvSpPr>
        <p:spPr>
          <a:xfrm>
            <a:off x="8455000" y="2633472"/>
            <a:ext cx="3054096" cy="6401"/>
          </a:xfrm>
          <a:prstGeom prst="rect">
            <a:avLst/>
          </a:prstGeom>
          <a:solidFill>
            <a:srgbClr val="BFE8DC"/>
          </a:solidFill>
          <a:ln cap="flat" cmpd="sng" w="12700">
            <a:solidFill>
              <a:srgbClr val="BFE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5"/>
          <p:cNvSpPr txBox="1"/>
          <p:nvPr/>
        </p:nvSpPr>
        <p:spPr>
          <a:xfrm>
            <a:off x="8455000" y="2706624"/>
            <a:ext cx="3127248" cy="3429000"/>
          </a:xfrm>
          <a:prstGeom prst="rect">
            <a:avLst/>
          </a:prstGeom>
          <a:noFill/>
          <a:ln>
            <a:noFill/>
          </a:ln>
        </p:spPr>
        <p:txBody>
          <a:bodyPr anchorCtr="0" anchor="t" bIns="0" lIns="0" spcFirstLastPara="1" rIns="0" wrap="square" tIns="0">
            <a:noAutofit/>
          </a:bodyPr>
          <a:lstStyle/>
          <a:p>
            <a:pPr indent="-101600" lvl="0" marL="101600" marR="0" rtl="0" algn="l">
              <a:spcBef>
                <a:spcPts val="0"/>
              </a:spcBef>
              <a:spcAft>
                <a:spcPts val="0"/>
              </a:spcAft>
              <a:buClr>
                <a:srgbClr val="13292C"/>
              </a:buClr>
              <a:buSzPts val="900"/>
              <a:buFont typeface="Calibri"/>
              <a:buChar char="•"/>
            </a:pPr>
            <a:r>
              <a:rPr lang="en-US" sz="900">
                <a:solidFill>
                  <a:srgbClr val="13292C"/>
                </a:solidFill>
                <a:latin typeface="Calibri"/>
                <a:ea typeface="Calibri"/>
                <a:cs typeface="Calibri"/>
                <a:sym typeface="Calibri"/>
              </a:rPr>
              <a:t>On order submission: validate, estimate ETA, filter batches by range + MLOR</a:t>
            </a:r>
            <a:endParaRPr sz="900">
              <a:solidFill>
                <a:schemeClr val="dk1"/>
              </a:solidFill>
              <a:latin typeface="Calibri"/>
              <a:ea typeface="Calibri"/>
              <a:cs typeface="Calibri"/>
              <a:sym typeface="Calibri"/>
            </a:endParaRPr>
          </a:p>
          <a:p>
            <a:pPr indent="-101600" lvl="0" marL="101600" marR="0" rtl="0" algn="l">
              <a:spcBef>
                <a:spcPts val="250"/>
              </a:spcBef>
              <a:spcAft>
                <a:spcPts val="0"/>
              </a:spcAft>
              <a:buClr>
                <a:srgbClr val="13292C"/>
              </a:buClr>
              <a:buSzPts val="900"/>
              <a:buFont typeface="Calibri"/>
              <a:buChar char="•"/>
            </a:pPr>
            <a:r>
              <a:rPr lang="en-US" sz="900">
                <a:solidFill>
                  <a:srgbClr val="13292C"/>
                </a:solidFill>
                <a:latin typeface="Calibri"/>
                <a:ea typeface="Calibri"/>
                <a:cs typeface="Calibri"/>
                <a:sym typeface="Calibri"/>
              </a:rPr>
              <a:t>Allocate across warehouses by FEFO → distance → quantity</a:t>
            </a:r>
            <a:endParaRPr sz="900">
              <a:solidFill>
                <a:schemeClr val="dk1"/>
              </a:solidFill>
              <a:latin typeface="Calibri"/>
              <a:ea typeface="Calibri"/>
              <a:cs typeface="Calibri"/>
              <a:sym typeface="Calibri"/>
            </a:endParaRPr>
          </a:p>
          <a:p>
            <a:pPr indent="-101600" lvl="0" marL="101600" marR="0" rtl="0" algn="l">
              <a:spcBef>
                <a:spcPts val="250"/>
              </a:spcBef>
              <a:spcAft>
                <a:spcPts val="0"/>
              </a:spcAft>
              <a:buClr>
                <a:srgbClr val="13292C"/>
              </a:buClr>
              <a:buSzPts val="900"/>
              <a:buFont typeface="Calibri"/>
              <a:buChar char="•"/>
            </a:pPr>
            <a:r>
              <a:rPr lang="en-US" sz="900">
                <a:solidFill>
                  <a:srgbClr val="13292C"/>
                </a:solidFill>
                <a:latin typeface="Calibri"/>
                <a:ea typeface="Calibri"/>
                <a:cs typeface="Calibri"/>
                <a:sym typeface="Calibri"/>
              </a:rPr>
              <a:t>Sufficient stock → Pending Approval (temporary hold); else → Auto-Reject with notification</a:t>
            </a:r>
            <a:endParaRPr sz="900">
              <a:solidFill>
                <a:schemeClr val="dk1"/>
              </a:solidFill>
              <a:latin typeface="Calibri"/>
              <a:ea typeface="Calibri"/>
              <a:cs typeface="Calibri"/>
              <a:sym typeface="Calibri"/>
            </a:endParaRPr>
          </a:p>
          <a:p>
            <a:pPr indent="-101600" lvl="0" marL="101600" marR="0" rtl="0" algn="l">
              <a:spcBef>
                <a:spcPts val="250"/>
              </a:spcBef>
              <a:spcAft>
                <a:spcPts val="0"/>
              </a:spcAft>
              <a:buClr>
                <a:srgbClr val="13292C"/>
              </a:buClr>
              <a:buSzPts val="900"/>
              <a:buFont typeface="Calibri"/>
              <a:buChar char="•"/>
            </a:pPr>
            <a:r>
              <a:rPr lang="en-US" sz="900">
                <a:solidFill>
                  <a:srgbClr val="13292C"/>
                </a:solidFill>
                <a:latin typeface="Calibri"/>
                <a:ea typeface="Calibri"/>
                <a:cs typeface="Calibri"/>
                <a:sym typeface="Calibri"/>
              </a:rPr>
              <a:t>On approval: convert holds to reservations, generate picking list</a:t>
            </a:r>
            <a:endParaRPr sz="900">
              <a:solidFill>
                <a:schemeClr val="dk1"/>
              </a:solidFill>
              <a:latin typeface="Calibri"/>
              <a:ea typeface="Calibri"/>
              <a:cs typeface="Calibri"/>
              <a:sym typeface="Calibri"/>
            </a:endParaRPr>
          </a:p>
          <a:p>
            <a:pPr indent="-101600" lvl="0" marL="101600" marR="0" rtl="0" algn="l">
              <a:spcBef>
                <a:spcPts val="250"/>
              </a:spcBef>
              <a:spcAft>
                <a:spcPts val="0"/>
              </a:spcAft>
              <a:buClr>
                <a:srgbClr val="13292C"/>
              </a:buClr>
              <a:buSzPts val="900"/>
              <a:buFont typeface="Calibri"/>
              <a:buChar char="•"/>
            </a:pPr>
            <a:r>
              <a:rPr lang="en-US" sz="900">
                <a:solidFill>
                  <a:srgbClr val="13292C"/>
                </a:solidFill>
                <a:latin typeface="Calibri"/>
                <a:ea typeface="Calibri"/>
                <a:cs typeface="Calibri"/>
                <a:sym typeface="Calibri"/>
              </a:rPr>
              <a:t>Recalculate promotions on sync of offline orders (server result is authoritative)</a:t>
            </a:r>
            <a:endParaRPr sz="900">
              <a:solidFill>
                <a:schemeClr val="dk1"/>
              </a:solidFill>
              <a:latin typeface="Calibri"/>
              <a:ea typeface="Calibri"/>
              <a:cs typeface="Calibri"/>
              <a:sym typeface="Calibri"/>
            </a:endParaRPr>
          </a:p>
        </p:txBody>
      </p:sp>
      <p:sp>
        <p:nvSpPr>
          <p:cNvPr id="151" name="Google Shape;151;p5"/>
          <p:cNvSpPr txBox="1"/>
          <p:nvPr/>
        </p:nvSpPr>
        <p:spPr>
          <a:xfrm>
            <a:off x="502920" y="6510528"/>
            <a:ext cx="73152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C5C0"/>
              </a:buClr>
              <a:buSzPts val="850"/>
              <a:buFont typeface="Calibri"/>
              <a:buNone/>
            </a:pPr>
            <a:r>
              <a:rPr lang="en-US" sz="850">
                <a:solidFill>
                  <a:srgbClr val="A8C5C0"/>
                </a:solidFill>
                <a:latin typeface="Calibri"/>
                <a:ea typeface="Calibri"/>
                <a:cs typeface="Calibri"/>
                <a:sym typeface="Calibri"/>
              </a:rPr>
              <a:t>FSCM  ·  Capstone Project Overview  ·  FA26SE083</a:t>
            </a:r>
            <a:endParaRPr sz="850">
              <a:solidFill>
                <a:schemeClr val="dk1"/>
              </a:solidFill>
              <a:latin typeface="Calibri"/>
              <a:ea typeface="Calibri"/>
              <a:cs typeface="Calibri"/>
              <a:sym typeface="Calibri"/>
            </a:endParaRPr>
          </a:p>
        </p:txBody>
      </p:sp>
      <p:sp>
        <p:nvSpPr>
          <p:cNvPr id="152" name="Google Shape;152;p5"/>
          <p:cNvSpPr txBox="1"/>
          <p:nvPr/>
        </p:nvSpPr>
        <p:spPr>
          <a:xfrm>
            <a:off x="11338560"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8C5C0"/>
              </a:buClr>
              <a:buSzPts val="850"/>
              <a:buFont typeface="Calibri"/>
              <a:buNone/>
            </a:pPr>
            <a:r>
              <a:rPr lang="en-US" sz="850">
                <a:solidFill>
                  <a:srgbClr val="A8C5C0"/>
                </a:solidFill>
                <a:latin typeface="Calibri"/>
                <a:ea typeface="Calibri"/>
                <a:cs typeface="Calibri"/>
                <a:sym typeface="Calibri"/>
              </a:rPr>
              <a:t>5</a:t>
            </a:r>
            <a:endParaRPr sz="85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AF9"/>
        </a:solidFill>
      </p:bgPr>
    </p:bg>
    <p:spTree>
      <p:nvGrpSpPr>
        <p:cNvPr id="157" name="Shape 157"/>
        <p:cNvGrpSpPr/>
        <p:nvPr/>
      </p:nvGrpSpPr>
      <p:grpSpPr>
        <a:xfrm>
          <a:off x="0" y="0"/>
          <a:ext cx="0" cy="0"/>
          <a:chOff x="0" y="0"/>
          <a:chExt cx="0" cy="0"/>
        </a:xfrm>
      </p:grpSpPr>
      <p:sp>
        <p:nvSpPr>
          <p:cNvPr id="158" name="Google Shape;158;p6"/>
          <p:cNvSpPr txBox="1"/>
          <p:nvPr/>
        </p:nvSpPr>
        <p:spPr>
          <a:xfrm>
            <a:off x="502920" y="402336"/>
            <a:ext cx="10058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100"/>
              <a:buFont typeface="Calibri"/>
              <a:buNone/>
            </a:pPr>
            <a:r>
              <a:rPr b="1" lang="en-US" sz="1100">
                <a:solidFill>
                  <a:srgbClr val="028090"/>
                </a:solidFill>
                <a:latin typeface="Calibri"/>
                <a:ea typeface="Calibri"/>
                <a:cs typeface="Calibri"/>
                <a:sym typeface="Calibri"/>
              </a:rPr>
              <a:t>03 · FUNCTIONAL REQUIREMENTS</a:t>
            </a:r>
            <a:endParaRPr sz="1100">
              <a:solidFill>
                <a:schemeClr val="dk1"/>
              </a:solidFill>
              <a:latin typeface="Calibri"/>
              <a:ea typeface="Calibri"/>
              <a:cs typeface="Calibri"/>
              <a:sym typeface="Calibri"/>
            </a:endParaRPr>
          </a:p>
        </p:txBody>
      </p:sp>
      <p:sp>
        <p:nvSpPr>
          <p:cNvPr id="159" name="Google Shape;159;p6"/>
          <p:cNvSpPr/>
          <p:nvPr/>
        </p:nvSpPr>
        <p:spPr>
          <a:xfrm>
            <a:off x="502920" y="731520"/>
            <a:ext cx="11201400" cy="13716"/>
          </a:xfrm>
          <a:prstGeom prst="rect">
            <a:avLst/>
          </a:prstGeom>
          <a:solidFill>
            <a:srgbClr val="BFE8DC"/>
          </a:solidFill>
          <a:ln cap="flat" cmpd="sng" w="12700">
            <a:solidFill>
              <a:srgbClr val="BFE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6"/>
          <p:cNvSpPr txBox="1"/>
          <p:nvPr/>
        </p:nvSpPr>
        <p:spPr>
          <a:xfrm>
            <a:off x="502920" y="777240"/>
            <a:ext cx="11201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2C"/>
              </a:buClr>
              <a:buSzPts val="3000"/>
              <a:buFont typeface="Cambria"/>
              <a:buNone/>
            </a:pPr>
            <a:r>
              <a:rPr b="1" lang="en-US" sz="3000">
                <a:solidFill>
                  <a:srgbClr val="13292C"/>
                </a:solidFill>
                <a:latin typeface="Cambria"/>
                <a:ea typeface="Cambria"/>
                <a:cs typeface="Cambria"/>
                <a:sym typeface="Cambria"/>
              </a:rPr>
              <a:t>Must-have MVP  ①  Features 01 – 07</a:t>
            </a:r>
            <a:endParaRPr sz="3000">
              <a:solidFill>
                <a:schemeClr val="dk1"/>
              </a:solidFill>
              <a:latin typeface="Calibri"/>
              <a:ea typeface="Calibri"/>
              <a:cs typeface="Calibri"/>
              <a:sym typeface="Calibri"/>
            </a:endParaRPr>
          </a:p>
        </p:txBody>
      </p:sp>
      <p:sp>
        <p:nvSpPr>
          <p:cNvPr id="161" name="Google Shape;161;p6"/>
          <p:cNvSpPr/>
          <p:nvPr/>
        </p:nvSpPr>
        <p:spPr>
          <a:xfrm>
            <a:off x="502920" y="1508760"/>
            <a:ext cx="5394960" cy="905256"/>
          </a:xfrm>
          <a:prstGeom prst="roundRect">
            <a:avLst>
              <a:gd fmla="val 9195" name="adj"/>
            </a:avLst>
          </a:prstGeom>
          <a:solidFill>
            <a:srgbClr val="FFFFFF"/>
          </a:solidFill>
          <a:ln cap="flat" cmpd="sng" w="9525">
            <a:solidFill>
              <a:srgbClr val="BFE8DC"/>
            </a:solidFill>
            <a:prstDash val="solid"/>
            <a:round/>
            <a:headEnd len="sm" w="sm" type="none"/>
            <a:tailEnd len="sm" w="sm" type="none"/>
          </a:ln>
          <a:effectLst>
            <a:outerShdw blurRad="63500" rotWithShape="0" algn="bl" dir="5400000" dist="25400">
              <a:srgbClr val="1B3B3B">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6"/>
          <p:cNvSpPr/>
          <p:nvPr/>
        </p:nvSpPr>
        <p:spPr>
          <a:xfrm>
            <a:off x="511397" y="1687068"/>
            <a:ext cx="45720" cy="576072"/>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6"/>
          <p:cNvSpPr txBox="1"/>
          <p:nvPr/>
        </p:nvSpPr>
        <p:spPr>
          <a:xfrm>
            <a:off x="704088" y="1627632"/>
            <a:ext cx="508406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2C"/>
              </a:buClr>
              <a:buSzPts val="1200"/>
              <a:buFont typeface="Calibri"/>
              <a:buNone/>
            </a:pPr>
            <a:r>
              <a:rPr b="1" lang="en-US" sz="1200">
                <a:solidFill>
                  <a:srgbClr val="13292C"/>
                </a:solidFill>
                <a:latin typeface="Calibri"/>
                <a:ea typeface="Calibri"/>
                <a:cs typeface="Calibri"/>
                <a:sym typeface="Calibri"/>
              </a:rPr>
              <a:t>User &amp; Access Management</a:t>
            </a:r>
            <a:endParaRPr sz="1200">
              <a:solidFill>
                <a:schemeClr val="dk1"/>
              </a:solidFill>
              <a:latin typeface="Calibri"/>
              <a:ea typeface="Calibri"/>
              <a:cs typeface="Calibri"/>
              <a:sym typeface="Calibri"/>
            </a:endParaRPr>
          </a:p>
        </p:txBody>
      </p:sp>
      <p:sp>
        <p:nvSpPr>
          <p:cNvPr id="164" name="Google Shape;164;p6"/>
          <p:cNvSpPr txBox="1"/>
          <p:nvPr/>
        </p:nvSpPr>
        <p:spPr>
          <a:xfrm>
            <a:off x="704088" y="1975104"/>
            <a:ext cx="5084064" cy="21945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C6764"/>
              </a:buClr>
              <a:buSzPts val="1000"/>
              <a:buFont typeface="Calibri"/>
              <a:buNone/>
            </a:pPr>
            <a:r>
              <a:rPr lang="en-US" sz="1000">
                <a:solidFill>
                  <a:srgbClr val="4C6764"/>
                </a:solidFill>
                <a:latin typeface="Calibri"/>
                <a:ea typeface="Calibri"/>
                <a:cs typeface="Calibri"/>
                <a:sym typeface="Calibri"/>
              </a:rPr>
              <a:t>Admin creates and manages portal accounts (Admin, Operator, Sales Manager, Warehouse Keeper) and mobile accounts (Sales Rep, Retailer); assigns roles and warehouse access.</a:t>
            </a:r>
            <a:endParaRPr sz="1000">
              <a:solidFill>
                <a:schemeClr val="dk1"/>
              </a:solidFill>
              <a:latin typeface="Calibri"/>
              <a:ea typeface="Calibri"/>
              <a:cs typeface="Calibri"/>
              <a:sym typeface="Calibri"/>
            </a:endParaRPr>
          </a:p>
        </p:txBody>
      </p:sp>
      <p:sp>
        <p:nvSpPr>
          <p:cNvPr id="165" name="Google Shape;165;p6"/>
          <p:cNvSpPr/>
          <p:nvPr/>
        </p:nvSpPr>
        <p:spPr>
          <a:xfrm>
            <a:off x="502920" y="2674620"/>
            <a:ext cx="5394960" cy="905256"/>
          </a:xfrm>
          <a:prstGeom prst="roundRect">
            <a:avLst>
              <a:gd fmla="val 9195" name="adj"/>
            </a:avLst>
          </a:prstGeom>
          <a:solidFill>
            <a:srgbClr val="FFFFFF"/>
          </a:solidFill>
          <a:ln cap="flat" cmpd="sng" w="9525">
            <a:solidFill>
              <a:srgbClr val="BFE8DC"/>
            </a:solidFill>
            <a:prstDash val="solid"/>
            <a:round/>
            <a:headEnd len="sm" w="sm" type="none"/>
            <a:tailEnd len="sm" w="sm" type="none"/>
          </a:ln>
          <a:effectLst>
            <a:outerShdw blurRad="63500" rotWithShape="0" algn="bl" dir="5400000" dist="25400">
              <a:srgbClr val="1B3B3B">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6"/>
          <p:cNvSpPr/>
          <p:nvPr/>
        </p:nvSpPr>
        <p:spPr>
          <a:xfrm>
            <a:off x="512349" y="2834640"/>
            <a:ext cx="45720" cy="576072"/>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6"/>
          <p:cNvSpPr txBox="1"/>
          <p:nvPr/>
        </p:nvSpPr>
        <p:spPr>
          <a:xfrm>
            <a:off x="704088" y="2793492"/>
            <a:ext cx="508406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2C"/>
              </a:buClr>
              <a:buSzPts val="1200"/>
              <a:buFont typeface="Calibri"/>
              <a:buNone/>
            </a:pPr>
            <a:r>
              <a:rPr b="1" lang="en-US" sz="1200">
                <a:solidFill>
                  <a:srgbClr val="13292C"/>
                </a:solidFill>
                <a:latin typeface="Calibri"/>
                <a:ea typeface="Calibri"/>
                <a:cs typeface="Calibri"/>
                <a:sym typeface="Calibri"/>
              </a:rPr>
              <a:t>Master Data</a:t>
            </a:r>
            <a:endParaRPr sz="1200">
              <a:solidFill>
                <a:schemeClr val="dk1"/>
              </a:solidFill>
              <a:latin typeface="Calibri"/>
              <a:ea typeface="Calibri"/>
              <a:cs typeface="Calibri"/>
              <a:sym typeface="Calibri"/>
            </a:endParaRPr>
          </a:p>
        </p:txBody>
      </p:sp>
      <p:sp>
        <p:nvSpPr>
          <p:cNvPr id="168" name="Google Shape;168;p6"/>
          <p:cNvSpPr txBox="1"/>
          <p:nvPr/>
        </p:nvSpPr>
        <p:spPr>
          <a:xfrm>
            <a:off x="704088" y="3140964"/>
            <a:ext cx="5084064" cy="21945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C6764"/>
              </a:buClr>
              <a:buSzPts val="1000"/>
              <a:buFont typeface="Calibri"/>
              <a:buNone/>
            </a:pPr>
            <a:r>
              <a:rPr lang="en-US" sz="1000">
                <a:solidFill>
                  <a:srgbClr val="4C6764"/>
                </a:solidFill>
                <a:latin typeface="Calibri"/>
                <a:ea typeface="Calibri"/>
                <a:cs typeface="Calibri"/>
                <a:sym typeface="Calibri"/>
              </a:rPr>
              <a:t>Manage SKUs (category, price, total shelf life, near-date threshold), warehouses (address, coordinates), retailer-SKU MLOR values, and distance-based transit-time rules.</a:t>
            </a:r>
            <a:endParaRPr sz="1000">
              <a:solidFill>
                <a:schemeClr val="dk1"/>
              </a:solidFill>
              <a:latin typeface="Calibri"/>
              <a:ea typeface="Calibri"/>
              <a:cs typeface="Calibri"/>
              <a:sym typeface="Calibri"/>
            </a:endParaRPr>
          </a:p>
        </p:txBody>
      </p:sp>
      <p:sp>
        <p:nvSpPr>
          <p:cNvPr id="169" name="Google Shape;169;p6"/>
          <p:cNvSpPr/>
          <p:nvPr/>
        </p:nvSpPr>
        <p:spPr>
          <a:xfrm>
            <a:off x="502920" y="3840480"/>
            <a:ext cx="5394960" cy="905256"/>
          </a:xfrm>
          <a:prstGeom prst="roundRect">
            <a:avLst>
              <a:gd fmla="val 9195" name="adj"/>
            </a:avLst>
          </a:prstGeom>
          <a:solidFill>
            <a:srgbClr val="FFFFFF"/>
          </a:solidFill>
          <a:ln cap="flat" cmpd="sng" w="9525">
            <a:solidFill>
              <a:srgbClr val="BFE8DC"/>
            </a:solidFill>
            <a:prstDash val="solid"/>
            <a:round/>
            <a:headEnd len="sm" w="sm" type="none"/>
            <a:tailEnd len="sm" w="sm" type="none"/>
          </a:ln>
          <a:effectLst>
            <a:outerShdw blurRad="63500" rotWithShape="0" algn="bl" dir="5400000" dist="25400">
              <a:srgbClr val="1B3B3B">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6"/>
          <p:cNvSpPr/>
          <p:nvPr/>
        </p:nvSpPr>
        <p:spPr>
          <a:xfrm>
            <a:off x="511397" y="4018788"/>
            <a:ext cx="45720" cy="576072"/>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6"/>
          <p:cNvSpPr txBox="1"/>
          <p:nvPr/>
        </p:nvSpPr>
        <p:spPr>
          <a:xfrm>
            <a:off x="704088" y="3959352"/>
            <a:ext cx="508406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2C"/>
              </a:buClr>
              <a:buSzPts val="1200"/>
              <a:buFont typeface="Calibri"/>
              <a:buNone/>
            </a:pPr>
            <a:r>
              <a:rPr b="1" lang="en-US" sz="1200">
                <a:solidFill>
                  <a:srgbClr val="13292C"/>
                </a:solidFill>
                <a:latin typeface="Calibri"/>
                <a:ea typeface="Calibri"/>
                <a:cs typeface="Calibri"/>
                <a:sym typeface="Calibri"/>
              </a:rPr>
              <a:t>Retailer &amp; Sales-Territory Management</a:t>
            </a:r>
            <a:endParaRPr sz="1200">
              <a:solidFill>
                <a:schemeClr val="dk1"/>
              </a:solidFill>
              <a:latin typeface="Calibri"/>
              <a:ea typeface="Calibri"/>
              <a:cs typeface="Calibri"/>
              <a:sym typeface="Calibri"/>
            </a:endParaRPr>
          </a:p>
        </p:txBody>
      </p:sp>
      <p:sp>
        <p:nvSpPr>
          <p:cNvPr id="172" name="Google Shape;172;p6"/>
          <p:cNvSpPr txBox="1"/>
          <p:nvPr/>
        </p:nvSpPr>
        <p:spPr>
          <a:xfrm>
            <a:off x="704088" y="4306824"/>
            <a:ext cx="5084064" cy="21945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C6764"/>
              </a:buClr>
              <a:buSzPts val="1000"/>
              <a:buFont typeface="Calibri"/>
              <a:buNone/>
            </a:pPr>
            <a:r>
              <a:rPr lang="en-US" sz="1000">
                <a:solidFill>
                  <a:srgbClr val="4C6764"/>
                </a:solidFill>
                <a:latin typeface="Calibri"/>
                <a:ea typeface="Calibri"/>
                <a:cs typeface="Calibri"/>
                <a:sym typeface="Calibri"/>
              </a:rPr>
              <a:t>Admin / Operator creates or imports retailers; Sales Rep may declare a new retailer (active only after approval). Sales groups control which retailers each rep can see and order for.</a:t>
            </a:r>
            <a:endParaRPr sz="1000">
              <a:solidFill>
                <a:schemeClr val="dk1"/>
              </a:solidFill>
              <a:latin typeface="Calibri"/>
              <a:ea typeface="Calibri"/>
              <a:cs typeface="Calibri"/>
              <a:sym typeface="Calibri"/>
            </a:endParaRPr>
          </a:p>
        </p:txBody>
      </p:sp>
      <p:sp>
        <p:nvSpPr>
          <p:cNvPr id="173" name="Google Shape;173;p6"/>
          <p:cNvSpPr/>
          <p:nvPr/>
        </p:nvSpPr>
        <p:spPr>
          <a:xfrm>
            <a:off x="502920" y="5006340"/>
            <a:ext cx="5394960" cy="905256"/>
          </a:xfrm>
          <a:prstGeom prst="roundRect">
            <a:avLst>
              <a:gd fmla="val 9195" name="adj"/>
            </a:avLst>
          </a:prstGeom>
          <a:solidFill>
            <a:srgbClr val="FFFFFF"/>
          </a:solidFill>
          <a:ln cap="flat" cmpd="sng" w="9525">
            <a:solidFill>
              <a:srgbClr val="BFE8DC"/>
            </a:solidFill>
            <a:prstDash val="solid"/>
            <a:round/>
            <a:headEnd len="sm" w="sm" type="none"/>
            <a:tailEnd len="sm" w="sm" type="none"/>
          </a:ln>
          <a:effectLst>
            <a:outerShdw blurRad="63500" rotWithShape="0" algn="bl" dir="5400000" dist="25400">
              <a:srgbClr val="1B3B3B">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6"/>
          <p:cNvSpPr/>
          <p:nvPr/>
        </p:nvSpPr>
        <p:spPr>
          <a:xfrm>
            <a:off x="502920" y="5170932"/>
            <a:ext cx="45720" cy="576072"/>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6"/>
          <p:cNvSpPr txBox="1"/>
          <p:nvPr/>
        </p:nvSpPr>
        <p:spPr>
          <a:xfrm>
            <a:off x="704088" y="5125212"/>
            <a:ext cx="508406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2C"/>
              </a:buClr>
              <a:buSzPts val="1200"/>
              <a:buFont typeface="Calibri"/>
              <a:buNone/>
            </a:pPr>
            <a:r>
              <a:rPr b="1" lang="en-US" sz="1200">
                <a:solidFill>
                  <a:srgbClr val="13292C"/>
                </a:solidFill>
                <a:latin typeface="Calibri"/>
                <a:ea typeface="Calibri"/>
                <a:cs typeface="Calibri"/>
                <a:sym typeface="Calibri"/>
              </a:rPr>
              <a:t>Goods Receipt, Batch/Lot &amp; QR Labels</a:t>
            </a:r>
            <a:endParaRPr sz="1200">
              <a:solidFill>
                <a:schemeClr val="dk1"/>
              </a:solidFill>
              <a:latin typeface="Calibri"/>
              <a:ea typeface="Calibri"/>
              <a:cs typeface="Calibri"/>
              <a:sym typeface="Calibri"/>
            </a:endParaRPr>
          </a:p>
        </p:txBody>
      </p:sp>
      <p:sp>
        <p:nvSpPr>
          <p:cNvPr id="176" name="Google Shape;176;p6"/>
          <p:cNvSpPr txBox="1"/>
          <p:nvPr/>
        </p:nvSpPr>
        <p:spPr>
          <a:xfrm>
            <a:off x="704088" y="5472684"/>
            <a:ext cx="5084064" cy="21945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C6764"/>
              </a:buClr>
              <a:buSzPts val="1000"/>
              <a:buFont typeface="Calibri"/>
              <a:buNone/>
            </a:pPr>
            <a:r>
              <a:rPr lang="en-US" sz="1000">
                <a:solidFill>
                  <a:srgbClr val="4C6764"/>
                </a:solidFill>
                <a:latin typeface="Calibri"/>
                <a:ea typeface="Calibri"/>
                <a:cs typeface="Calibri"/>
                <a:sym typeface="Calibri"/>
              </a:rPr>
              <a:t>Admin (any warehouse) or Warehouse Keeper (assigned warehouse) records SKU, Batch ID, expiry date and quantity. </a:t>
            </a:r>
            <a:r>
              <a:rPr lang="en-US" sz="1000">
                <a:solidFill>
                  <a:srgbClr val="4C6764"/>
                </a:solidFill>
                <a:latin typeface="Calibri"/>
                <a:ea typeface="Calibri"/>
                <a:cs typeface="Calibri"/>
                <a:sym typeface="Calibri"/>
              </a:rPr>
              <a:t>QR label generated; batch stock updated on receipt. </a:t>
            </a:r>
            <a:endParaRPr sz="1000">
              <a:solidFill>
                <a:schemeClr val="dk1"/>
              </a:solidFill>
              <a:latin typeface="Calibri"/>
              <a:ea typeface="Calibri"/>
              <a:cs typeface="Calibri"/>
              <a:sym typeface="Calibri"/>
            </a:endParaRPr>
          </a:p>
        </p:txBody>
      </p:sp>
      <p:sp>
        <p:nvSpPr>
          <p:cNvPr id="177" name="Google Shape;177;p6"/>
          <p:cNvSpPr/>
          <p:nvPr/>
        </p:nvSpPr>
        <p:spPr>
          <a:xfrm>
            <a:off x="6217920" y="1508760"/>
            <a:ext cx="5394960" cy="905256"/>
          </a:xfrm>
          <a:prstGeom prst="roundRect">
            <a:avLst>
              <a:gd fmla="val 9195" name="adj"/>
            </a:avLst>
          </a:prstGeom>
          <a:solidFill>
            <a:srgbClr val="FFFFFF"/>
          </a:solidFill>
          <a:ln cap="flat" cmpd="sng" w="9525">
            <a:solidFill>
              <a:srgbClr val="BFE8DC"/>
            </a:solidFill>
            <a:prstDash val="solid"/>
            <a:round/>
            <a:headEnd len="sm" w="sm" type="none"/>
            <a:tailEnd len="sm" w="sm" type="none"/>
          </a:ln>
          <a:effectLst>
            <a:outerShdw blurRad="63500" rotWithShape="0" algn="bl" dir="5400000" dist="25400">
              <a:srgbClr val="1B3B3B">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6"/>
          <p:cNvSpPr/>
          <p:nvPr/>
        </p:nvSpPr>
        <p:spPr>
          <a:xfrm>
            <a:off x="6218428" y="1668780"/>
            <a:ext cx="45720" cy="576072"/>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6"/>
          <p:cNvSpPr txBox="1"/>
          <p:nvPr/>
        </p:nvSpPr>
        <p:spPr>
          <a:xfrm>
            <a:off x="6419088" y="1627632"/>
            <a:ext cx="508406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2C"/>
              </a:buClr>
              <a:buSzPts val="1200"/>
              <a:buFont typeface="Calibri"/>
              <a:buNone/>
            </a:pPr>
            <a:r>
              <a:rPr b="1" lang="en-US" sz="1200">
                <a:solidFill>
                  <a:srgbClr val="13292C"/>
                </a:solidFill>
                <a:latin typeface="Calibri"/>
                <a:ea typeface="Calibri"/>
                <a:cs typeface="Calibri"/>
                <a:sym typeface="Calibri"/>
              </a:rPr>
              <a:t>Promotion Management</a:t>
            </a:r>
            <a:endParaRPr sz="1200">
              <a:solidFill>
                <a:schemeClr val="dk1"/>
              </a:solidFill>
              <a:latin typeface="Calibri"/>
              <a:ea typeface="Calibri"/>
              <a:cs typeface="Calibri"/>
              <a:sym typeface="Calibri"/>
            </a:endParaRPr>
          </a:p>
        </p:txBody>
      </p:sp>
      <p:sp>
        <p:nvSpPr>
          <p:cNvPr id="180" name="Google Shape;180;p6"/>
          <p:cNvSpPr txBox="1"/>
          <p:nvPr/>
        </p:nvSpPr>
        <p:spPr>
          <a:xfrm>
            <a:off x="6419088" y="1975104"/>
            <a:ext cx="5084064" cy="21945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C6764"/>
              </a:buClr>
              <a:buSzPts val="1000"/>
              <a:buFont typeface="Calibri"/>
              <a:buNone/>
            </a:pPr>
            <a:r>
              <a:rPr lang="en-US" sz="1000">
                <a:solidFill>
                  <a:srgbClr val="4C6764"/>
                </a:solidFill>
                <a:latin typeface="Calibri"/>
                <a:ea typeface="Calibri"/>
                <a:cs typeface="Calibri"/>
                <a:sym typeface="Calibri"/>
              </a:rPr>
              <a:t>Admin creates promotions with validity period and eligible-retailer list. Two types: per-SKU (min qty + discount %) and product-group (basket qty + group discount). Report on applied promotions.</a:t>
            </a:r>
            <a:endParaRPr sz="1000">
              <a:solidFill>
                <a:schemeClr val="dk1"/>
              </a:solidFill>
              <a:latin typeface="Calibri"/>
              <a:ea typeface="Calibri"/>
              <a:cs typeface="Calibri"/>
              <a:sym typeface="Calibri"/>
            </a:endParaRPr>
          </a:p>
        </p:txBody>
      </p:sp>
      <p:sp>
        <p:nvSpPr>
          <p:cNvPr id="181" name="Google Shape;181;p6"/>
          <p:cNvSpPr/>
          <p:nvPr/>
        </p:nvSpPr>
        <p:spPr>
          <a:xfrm>
            <a:off x="6217920" y="2674620"/>
            <a:ext cx="5394960" cy="905256"/>
          </a:xfrm>
          <a:prstGeom prst="roundRect">
            <a:avLst>
              <a:gd fmla="val 9195" name="adj"/>
            </a:avLst>
          </a:prstGeom>
          <a:solidFill>
            <a:srgbClr val="FFFFFF"/>
          </a:solidFill>
          <a:ln cap="flat" cmpd="sng" w="9525">
            <a:solidFill>
              <a:srgbClr val="BFE8DC"/>
            </a:solidFill>
            <a:prstDash val="solid"/>
            <a:round/>
            <a:headEnd len="sm" w="sm" type="none"/>
            <a:tailEnd len="sm" w="sm" type="none"/>
          </a:ln>
          <a:effectLst>
            <a:outerShdw blurRad="63500" rotWithShape="0" algn="bl" dir="5400000" dist="25400">
              <a:srgbClr val="1B3B3B">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6"/>
          <p:cNvSpPr/>
          <p:nvPr/>
        </p:nvSpPr>
        <p:spPr>
          <a:xfrm>
            <a:off x="6226397" y="2834640"/>
            <a:ext cx="45720" cy="576072"/>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6"/>
          <p:cNvSpPr txBox="1"/>
          <p:nvPr/>
        </p:nvSpPr>
        <p:spPr>
          <a:xfrm>
            <a:off x="6419088" y="2793492"/>
            <a:ext cx="508406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2C"/>
              </a:buClr>
              <a:buSzPts val="1200"/>
              <a:buFont typeface="Calibri"/>
              <a:buNone/>
            </a:pPr>
            <a:r>
              <a:rPr b="1" lang="en-US" sz="1200">
                <a:solidFill>
                  <a:srgbClr val="13292C"/>
                </a:solidFill>
                <a:latin typeface="Calibri"/>
                <a:ea typeface="Calibri"/>
                <a:cs typeface="Calibri"/>
                <a:sym typeface="Calibri"/>
              </a:rPr>
              <a:t>Mobile Sales Ordering</a:t>
            </a:r>
            <a:endParaRPr sz="1200">
              <a:solidFill>
                <a:schemeClr val="dk1"/>
              </a:solidFill>
              <a:latin typeface="Calibri"/>
              <a:ea typeface="Calibri"/>
              <a:cs typeface="Calibri"/>
              <a:sym typeface="Calibri"/>
            </a:endParaRPr>
          </a:p>
        </p:txBody>
      </p:sp>
      <p:sp>
        <p:nvSpPr>
          <p:cNvPr id="184" name="Google Shape;184;p6"/>
          <p:cNvSpPr txBox="1"/>
          <p:nvPr/>
        </p:nvSpPr>
        <p:spPr>
          <a:xfrm>
            <a:off x="6419088" y="3140964"/>
            <a:ext cx="5084064" cy="21945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C6764"/>
              </a:buClr>
              <a:buSzPts val="1000"/>
              <a:buFont typeface="Calibri"/>
              <a:buNone/>
            </a:pPr>
            <a:r>
              <a:rPr lang="en-US" sz="1000">
                <a:solidFill>
                  <a:srgbClr val="4C6764"/>
                </a:solidFill>
                <a:latin typeface="Calibri"/>
                <a:ea typeface="Calibri"/>
                <a:cs typeface="Calibri"/>
                <a:sym typeface="Calibri"/>
              </a:rPr>
              <a:t>Sales Rep selects an active assigned retailer, searches catalog, builds cart, reviews auto-applied promotions, confirms delivery address, payment method (COD / prepaid QR / cash), and submits.</a:t>
            </a:r>
            <a:endParaRPr sz="1000">
              <a:solidFill>
                <a:schemeClr val="dk1"/>
              </a:solidFill>
              <a:latin typeface="Calibri"/>
              <a:ea typeface="Calibri"/>
              <a:cs typeface="Calibri"/>
              <a:sym typeface="Calibri"/>
            </a:endParaRPr>
          </a:p>
        </p:txBody>
      </p:sp>
      <p:sp>
        <p:nvSpPr>
          <p:cNvPr id="185" name="Google Shape;185;p6"/>
          <p:cNvSpPr/>
          <p:nvPr/>
        </p:nvSpPr>
        <p:spPr>
          <a:xfrm>
            <a:off x="6217920" y="3840480"/>
            <a:ext cx="5394960" cy="905256"/>
          </a:xfrm>
          <a:prstGeom prst="roundRect">
            <a:avLst>
              <a:gd fmla="val 9195" name="adj"/>
            </a:avLst>
          </a:prstGeom>
          <a:solidFill>
            <a:srgbClr val="FFFFFF"/>
          </a:solidFill>
          <a:ln cap="flat" cmpd="sng" w="9525">
            <a:solidFill>
              <a:srgbClr val="BFE8DC"/>
            </a:solidFill>
            <a:prstDash val="solid"/>
            <a:round/>
            <a:headEnd len="sm" w="sm" type="none"/>
            <a:tailEnd len="sm" w="sm" type="none"/>
          </a:ln>
          <a:effectLst>
            <a:outerShdw blurRad="63500" rotWithShape="0" algn="bl" dir="5400000" dist="25400">
              <a:srgbClr val="1B3B3B">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6"/>
          <p:cNvSpPr/>
          <p:nvPr/>
        </p:nvSpPr>
        <p:spPr>
          <a:xfrm>
            <a:off x="6217920" y="4000500"/>
            <a:ext cx="45720" cy="576072"/>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6"/>
          <p:cNvSpPr txBox="1"/>
          <p:nvPr/>
        </p:nvSpPr>
        <p:spPr>
          <a:xfrm>
            <a:off x="6419088" y="3959352"/>
            <a:ext cx="508406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2C"/>
              </a:buClr>
              <a:buSzPts val="1200"/>
              <a:buFont typeface="Calibri"/>
              <a:buNone/>
            </a:pPr>
            <a:r>
              <a:rPr b="1" lang="en-US" sz="1200">
                <a:solidFill>
                  <a:srgbClr val="13292C"/>
                </a:solidFill>
                <a:latin typeface="Calibri"/>
                <a:ea typeface="Calibri"/>
                <a:cs typeface="Calibri"/>
                <a:sym typeface="Calibri"/>
              </a:rPr>
              <a:t>Offline Ordering &amp; Synchronisation</a:t>
            </a:r>
            <a:endParaRPr sz="1200">
              <a:solidFill>
                <a:schemeClr val="dk1"/>
              </a:solidFill>
              <a:latin typeface="Calibri"/>
              <a:ea typeface="Calibri"/>
              <a:cs typeface="Calibri"/>
              <a:sym typeface="Calibri"/>
            </a:endParaRPr>
          </a:p>
        </p:txBody>
      </p:sp>
      <p:sp>
        <p:nvSpPr>
          <p:cNvPr id="188" name="Google Shape;188;p6"/>
          <p:cNvSpPr txBox="1"/>
          <p:nvPr/>
        </p:nvSpPr>
        <p:spPr>
          <a:xfrm>
            <a:off x="6419088" y="4306824"/>
            <a:ext cx="5084064" cy="21945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C6764"/>
              </a:buClr>
              <a:buSzPts val="1000"/>
              <a:buFont typeface="Calibri"/>
              <a:buNone/>
            </a:pPr>
            <a:r>
              <a:rPr lang="en-US" sz="1000">
                <a:solidFill>
                  <a:srgbClr val="4C6764"/>
                </a:solidFill>
                <a:latin typeface="Calibri"/>
                <a:ea typeface="Calibri"/>
                <a:cs typeface="Calibri"/>
                <a:sym typeface="Calibri"/>
              </a:rPr>
              <a:t>App caches retailers, products, prices and promotions in SQLite. Offline orders are queued locally and auto-synced on reconnect; server processes them first-come-first-served.</a:t>
            </a:r>
            <a:endParaRPr sz="1000">
              <a:solidFill>
                <a:schemeClr val="dk1"/>
              </a:solidFill>
              <a:latin typeface="Calibri"/>
              <a:ea typeface="Calibri"/>
              <a:cs typeface="Calibri"/>
              <a:sym typeface="Calibri"/>
            </a:endParaRPr>
          </a:p>
        </p:txBody>
      </p:sp>
      <p:sp>
        <p:nvSpPr>
          <p:cNvPr id="189" name="Google Shape;189;p6"/>
          <p:cNvSpPr txBox="1"/>
          <p:nvPr/>
        </p:nvSpPr>
        <p:spPr>
          <a:xfrm>
            <a:off x="502920" y="6510528"/>
            <a:ext cx="73152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C5C0"/>
              </a:buClr>
              <a:buSzPts val="850"/>
              <a:buFont typeface="Calibri"/>
              <a:buNone/>
            </a:pPr>
            <a:r>
              <a:rPr lang="en-US" sz="850">
                <a:solidFill>
                  <a:srgbClr val="A8C5C0"/>
                </a:solidFill>
                <a:latin typeface="Calibri"/>
                <a:ea typeface="Calibri"/>
                <a:cs typeface="Calibri"/>
                <a:sym typeface="Calibri"/>
              </a:rPr>
              <a:t>FSCM  ·  Capstone Project Overview  ·  FA26SE083</a:t>
            </a:r>
            <a:endParaRPr sz="850">
              <a:solidFill>
                <a:schemeClr val="dk1"/>
              </a:solidFill>
              <a:latin typeface="Calibri"/>
              <a:ea typeface="Calibri"/>
              <a:cs typeface="Calibri"/>
              <a:sym typeface="Calibri"/>
            </a:endParaRPr>
          </a:p>
        </p:txBody>
      </p:sp>
      <p:sp>
        <p:nvSpPr>
          <p:cNvPr id="190" name="Google Shape;190;p6"/>
          <p:cNvSpPr txBox="1"/>
          <p:nvPr/>
        </p:nvSpPr>
        <p:spPr>
          <a:xfrm>
            <a:off x="11338560"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8C5C0"/>
              </a:buClr>
              <a:buSzPts val="850"/>
              <a:buFont typeface="Calibri"/>
              <a:buNone/>
            </a:pPr>
            <a:r>
              <a:rPr lang="en-US" sz="850">
                <a:solidFill>
                  <a:srgbClr val="A8C5C0"/>
                </a:solidFill>
                <a:latin typeface="Calibri"/>
                <a:ea typeface="Calibri"/>
                <a:cs typeface="Calibri"/>
                <a:sym typeface="Calibri"/>
              </a:rPr>
              <a:t>6</a:t>
            </a:r>
            <a:endParaRPr sz="85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AF9"/>
        </a:solidFill>
      </p:bgPr>
    </p:bg>
    <p:spTree>
      <p:nvGrpSpPr>
        <p:cNvPr id="195" name="Shape 195"/>
        <p:cNvGrpSpPr/>
        <p:nvPr/>
      </p:nvGrpSpPr>
      <p:grpSpPr>
        <a:xfrm>
          <a:off x="0" y="0"/>
          <a:ext cx="0" cy="0"/>
          <a:chOff x="0" y="0"/>
          <a:chExt cx="0" cy="0"/>
        </a:xfrm>
      </p:grpSpPr>
      <p:sp>
        <p:nvSpPr>
          <p:cNvPr id="196" name="Google Shape;196;p7"/>
          <p:cNvSpPr txBox="1"/>
          <p:nvPr/>
        </p:nvSpPr>
        <p:spPr>
          <a:xfrm>
            <a:off x="502920" y="402336"/>
            <a:ext cx="10058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100"/>
              <a:buFont typeface="Calibri"/>
              <a:buNone/>
            </a:pPr>
            <a:r>
              <a:rPr b="1" lang="en-US" sz="1100">
                <a:solidFill>
                  <a:srgbClr val="028090"/>
                </a:solidFill>
                <a:latin typeface="Calibri"/>
                <a:ea typeface="Calibri"/>
                <a:cs typeface="Calibri"/>
                <a:sym typeface="Calibri"/>
              </a:rPr>
              <a:t>03 · FUNCTIONAL REQUIREMENTS</a:t>
            </a:r>
            <a:endParaRPr sz="1100">
              <a:solidFill>
                <a:schemeClr val="dk1"/>
              </a:solidFill>
              <a:latin typeface="Calibri"/>
              <a:ea typeface="Calibri"/>
              <a:cs typeface="Calibri"/>
              <a:sym typeface="Calibri"/>
            </a:endParaRPr>
          </a:p>
        </p:txBody>
      </p:sp>
      <p:sp>
        <p:nvSpPr>
          <p:cNvPr id="197" name="Google Shape;197;p7"/>
          <p:cNvSpPr/>
          <p:nvPr/>
        </p:nvSpPr>
        <p:spPr>
          <a:xfrm>
            <a:off x="502920" y="731520"/>
            <a:ext cx="11201400" cy="13716"/>
          </a:xfrm>
          <a:prstGeom prst="rect">
            <a:avLst/>
          </a:prstGeom>
          <a:solidFill>
            <a:srgbClr val="BFE8DC"/>
          </a:solidFill>
          <a:ln cap="flat" cmpd="sng" w="12700">
            <a:solidFill>
              <a:srgbClr val="BFE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7"/>
          <p:cNvSpPr txBox="1"/>
          <p:nvPr/>
        </p:nvSpPr>
        <p:spPr>
          <a:xfrm>
            <a:off x="502920" y="777240"/>
            <a:ext cx="11201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2C"/>
              </a:buClr>
              <a:buSzPts val="3000"/>
              <a:buFont typeface="Cambria"/>
              <a:buNone/>
            </a:pPr>
            <a:r>
              <a:rPr b="1" lang="en-US" sz="3000">
                <a:solidFill>
                  <a:srgbClr val="13292C"/>
                </a:solidFill>
                <a:latin typeface="Cambria"/>
                <a:ea typeface="Cambria"/>
                <a:cs typeface="Cambria"/>
                <a:sym typeface="Cambria"/>
              </a:rPr>
              <a:t>Must-have MVP  ②  Features 08 – 13</a:t>
            </a:r>
            <a:endParaRPr sz="3000">
              <a:solidFill>
                <a:schemeClr val="dk1"/>
              </a:solidFill>
              <a:latin typeface="Calibri"/>
              <a:ea typeface="Calibri"/>
              <a:cs typeface="Calibri"/>
              <a:sym typeface="Calibri"/>
            </a:endParaRPr>
          </a:p>
        </p:txBody>
      </p:sp>
      <p:sp>
        <p:nvSpPr>
          <p:cNvPr id="199" name="Google Shape;199;p7"/>
          <p:cNvSpPr/>
          <p:nvPr/>
        </p:nvSpPr>
        <p:spPr>
          <a:xfrm>
            <a:off x="502920" y="1508760"/>
            <a:ext cx="5394960" cy="1089660"/>
          </a:xfrm>
          <a:prstGeom prst="roundRect">
            <a:avLst>
              <a:gd fmla="val 8163" name="adj"/>
            </a:avLst>
          </a:prstGeom>
          <a:solidFill>
            <a:srgbClr val="FFFFFF"/>
          </a:solidFill>
          <a:ln cap="flat" cmpd="sng" w="9525">
            <a:solidFill>
              <a:srgbClr val="BFE8DC"/>
            </a:solidFill>
            <a:prstDash val="solid"/>
            <a:round/>
            <a:headEnd len="sm" w="sm" type="none"/>
            <a:tailEnd len="sm" w="sm" type="none"/>
          </a:ln>
          <a:effectLst>
            <a:outerShdw blurRad="63500" rotWithShape="0" algn="bl" dir="5400000" dist="25400">
              <a:srgbClr val="1B3B3B">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7"/>
          <p:cNvSpPr/>
          <p:nvPr/>
        </p:nvSpPr>
        <p:spPr>
          <a:xfrm>
            <a:off x="502920" y="1713262"/>
            <a:ext cx="45720" cy="676656"/>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7"/>
          <p:cNvSpPr txBox="1"/>
          <p:nvPr/>
        </p:nvSpPr>
        <p:spPr>
          <a:xfrm>
            <a:off x="704088" y="1627632"/>
            <a:ext cx="508406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2C"/>
              </a:buClr>
              <a:buSzPts val="1200"/>
              <a:buFont typeface="Calibri"/>
              <a:buNone/>
            </a:pPr>
            <a:r>
              <a:rPr b="1" lang="en-US" sz="1200">
                <a:solidFill>
                  <a:srgbClr val="13292C"/>
                </a:solidFill>
                <a:latin typeface="Calibri"/>
                <a:ea typeface="Calibri"/>
                <a:cs typeface="Calibri"/>
                <a:sym typeface="Calibri"/>
              </a:rPr>
              <a:t>FEFO + MLOR Multi-Warehouse Allocation</a:t>
            </a:r>
            <a:endParaRPr sz="1200">
              <a:solidFill>
                <a:schemeClr val="dk1"/>
              </a:solidFill>
              <a:latin typeface="Calibri"/>
              <a:ea typeface="Calibri"/>
              <a:cs typeface="Calibri"/>
              <a:sym typeface="Calibri"/>
            </a:endParaRPr>
          </a:p>
        </p:txBody>
      </p:sp>
      <p:sp>
        <p:nvSpPr>
          <p:cNvPr id="202" name="Google Shape;202;p7"/>
          <p:cNvSpPr txBox="1"/>
          <p:nvPr/>
        </p:nvSpPr>
        <p:spPr>
          <a:xfrm>
            <a:off x="704088" y="1975104"/>
            <a:ext cx="5084064" cy="3200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C6764"/>
              </a:buClr>
              <a:buSzPts val="1000"/>
              <a:buFont typeface="Calibri"/>
              <a:buNone/>
            </a:pPr>
            <a:r>
              <a:rPr lang="en-US" sz="1000">
                <a:solidFill>
                  <a:srgbClr val="4C6764"/>
                </a:solidFill>
                <a:latin typeface="Calibri"/>
                <a:ea typeface="Calibri"/>
                <a:cs typeface="Calibri"/>
                <a:sym typeface="Calibri"/>
              </a:rPr>
              <a:t>Per SKU: exclude expired batches and batches where EXP − ETA &lt; MLOR. Rank eligible batches by FEFO, then distance, then available quantity. One order line may draw from multiple warehouses.</a:t>
            </a:r>
            <a:endParaRPr sz="1000">
              <a:solidFill>
                <a:schemeClr val="dk1"/>
              </a:solidFill>
              <a:latin typeface="Calibri"/>
              <a:ea typeface="Calibri"/>
              <a:cs typeface="Calibri"/>
              <a:sym typeface="Calibri"/>
            </a:endParaRPr>
          </a:p>
        </p:txBody>
      </p:sp>
      <p:sp>
        <p:nvSpPr>
          <p:cNvPr id="203" name="Google Shape;203;p7"/>
          <p:cNvSpPr/>
          <p:nvPr/>
        </p:nvSpPr>
        <p:spPr>
          <a:xfrm>
            <a:off x="502920" y="2903220"/>
            <a:ext cx="5394960" cy="1089660"/>
          </a:xfrm>
          <a:prstGeom prst="roundRect">
            <a:avLst>
              <a:gd fmla="val 8163" name="adj"/>
            </a:avLst>
          </a:prstGeom>
          <a:solidFill>
            <a:srgbClr val="FFFFFF"/>
          </a:solidFill>
          <a:ln cap="flat" cmpd="sng" w="9525">
            <a:solidFill>
              <a:srgbClr val="BFE8DC"/>
            </a:solidFill>
            <a:prstDash val="solid"/>
            <a:round/>
            <a:headEnd len="sm" w="sm" type="none"/>
            <a:tailEnd len="sm" w="sm" type="none"/>
          </a:ln>
          <a:effectLst>
            <a:outerShdw blurRad="63500" rotWithShape="0" algn="bl" dir="5400000" dist="25400">
              <a:srgbClr val="1B3B3B">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7"/>
          <p:cNvSpPr/>
          <p:nvPr/>
        </p:nvSpPr>
        <p:spPr>
          <a:xfrm>
            <a:off x="502920" y="3090672"/>
            <a:ext cx="45720" cy="676656"/>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7"/>
          <p:cNvSpPr txBox="1"/>
          <p:nvPr/>
        </p:nvSpPr>
        <p:spPr>
          <a:xfrm>
            <a:off x="704088" y="3022092"/>
            <a:ext cx="508406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2C"/>
              </a:buClr>
              <a:buSzPts val="1200"/>
              <a:buFont typeface="Calibri"/>
              <a:buNone/>
            </a:pPr>
            <a:r>
              <a:rPr b="1" lang="en-US" sz="1200">
                <a:solidFill>
                  <a:srgbClr val="13292C"/>
                </a:solidFill>
                <a:latin typeface="Calibri"/>
                <a:ea typeface="Calibri"/>
                <a:cs typeface="Calibri"/>
                <a:sym typeface="Calibri"/>
              </a:rPr>
              <a:t>Order Approval &amp; Lifecycle</a:t>
            </a:r>
            <a:endParaRPr sz="1200">
              <a:solidFill>
                <a:schemeClr val="dk1"/>
              </a:solidFill>
              <a:latin typeface="Calibri"/>
              <a:ea typeface="Calibri"/>
              <a:cs typeface="Calibri"/>
              <a:sym typeface="Calibri"/>
            </a:endParaRPr>
          </a:p>
        </p:txBody>
      </p:sp>
      <p:sp>
        <p:nvSpPr>
          <p:cNvPr id="206" name="Google Shape;206;p7"/>
          <p:cNvSpPr txBox="1"/>
          <p:nvPr/>
        </p:nvSpPr>
        <p:spPr>
          <a:xfrm>
            <a:off x="704088" y="3369564"/>
            <a:ext cx="5084064" cy="3200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C6764"/>
              </a:buClr>
              <a:buSzPts val="1000"/>
              <a:buFont typeface="Calibri"/>
              <a:buNone/>
            </a:pPr>
            <a:r>
              <a:rPr lang="en-US" sz="1000">
                <a:solidFill>
                  <a:srgbClr val="4C6764"/>
                </a:solidFill>
                <a:latin typeface="Calibri"/>
                <a:ea typeface="Calibri"/>
                <a:cs typeface="Calibri"/>
                <a:sym typeface="Calibri"/>
              </a:rPr>
              <a:t>Admin / Operator reviews allocation (warehouse, batch, qty, distance) and applied promotions. Approval → reservations confirmed + picking list generated. Rejection → held stock released.</a:t>
            </a:r>
            <a:endParaRPr sz="1000">
              <a:solidFill>
                <a:schemeClr val="dk1"/>
              </a:solidFill>
              <a:latin typeface="Calibri"/>
              <a:ea typeface="Calibri"/>
              <a:cs typeface="Calibri"/>
              <a:sym typeface="Calibri"/>
            </a:endParaRPr>
          </a:p>
        </p:txBody>
      </p:sp>
      <p:sp>
        <p:nvSpPr>
          <p:cNvPr id="207" name="Google Shape;207;p7"/>
          <p:cNvSpPr/>
          <p:nvPr/>
        </p:nvSpPr>
        <p:spPr>
          <a:xfrm>
            <a:off x="502920" y="4297680"/>
            <a:ext cx="5394960" cy="1089660"/>
          </a:xfrm>
          <a:prstGeom prst="roundRect">
            <a:avLst>
              <a:gd fmla="val 8163" name="adj"/>
            </a:avLst>
          </a:prstGeom>
          <a:solidFill>
            <a:srgbClr val="FFFFFF"/>
          </a:solidFill>
          <a:ln cap="flat" cmpd="sng" w="9525">
            <a:solidFill>
              <a:srgbClr val="BFE8DC"/>
            </a:solidFill>
            <a:prstDash val="solid"/>
            <a:round/>
            <a:headEnd len="sm" w="sm" type="none"/>
            <a:tailEnd len="sm" w="sm" type="none"/>
          </a:ln>
          <a:effectLst>
            <a:outerShdw blurRad="63500" rotWithShape="0" algn="bl" dir="5400000" dist="25400">
              <a:srgbClr val="1B3B3B">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7"/>
          <p:cNvSpPr/>
          <p:nvPr/>
        </p:nvSpPr>
        <p:spPr>
          <a:xfrm>
            <a:off x="498348" y="4504182"/>
            <a:ext cx="45720" cy="676656"/>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7"/>
          <p:cNvSpPr txBox="1"/>
          <p:nvPr/>
        </p:nvSpPr>
        <p:spPr>
          <a:xfrm>
            <a:off x="704088" y="4416552"/>
            <a:ext cx="508406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2C"/>
              </a:buClr>
              <a:buSzPts val="1200"/>
              <a:buFont typeface="Calibri"/>
              <a:buNone/>
            </a:pPr>
            <a:r>
              <a:rPr b="1" lang="en-US" sz="1200">
                <a:solidFill>
                  <a:srgbClr val="13292C"/>
                </a:solidFill>
                <a:latin typeface="Calibri"/>
                <a:ea typeface="Calibri"/>
                <a:cs typeface="Calibri"/>
                <a:sym typeface="Calibri"/>
              </a:rPr>
              <a:t>Picking &amp; Goods Issue with QR</a:t>
            </a:r>
            <a:endParaRPr sz="1200">
              <a:solidFill>
                <a:schemeClr val="dk1"/>
              </a:solidFill>
              <a:latin typeface="Calibri"/>
              <a:ea typeface="Calibri"/>
              <a:cs typeface="Calibri"/>
              <a:sym typeface="Calibri"/>
            </a:endParaRPr>
          </a:p>
        </p:txBody>
      </p:sp>
      <p:sp>
        <p:nvSpPr>
          <p:cNvPr id="210" name="Google Shape;210;p7"/>
          <p:cNvSpPr txBox="1"/>
          <p:nvPr/>
        </p:nvSpPr>
        <p:spPr>
          <a:xfrm>
            <a:off x="704088" y="4764024"/>
            <a:ext cx="5084064" cy="3200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C6764"/>
              </a:buClr>
              <a:buSzPts val="1000"/>
              <a:buFont typeface="Calibri"/>
              <a:buNone/>
            </a:pPr>
            <a:r>
              <a:rPr lang="en-US" sz="1000">
                <a:solidFill>
                  <a:srgbClr val="4C6764"/>
                </a:solidFill>
                <a:latin typeface="Calibri"/>
                <a:ea typeface="Calibri"/>
                <a:cs typeface="Calibri"/>
                <a:sym typeface="Calibri"/>
              </a:rPr>
              <a:t>Warehouse Keeper follows picking list, scans batch QR and confirms issued qty. System generates split QR labels (issued qty and remaining in warehouse). Physical stock deducted at goods issue.</a:t>
            </a:r>
            <a:endParaRPr sz="1000">
              <a:solidFill>
                <a:schemeClr val="dk1"/>
              </a:solidFill>
              <a:latin typeface="Calibri"/>
              <a:ea typeface="Calibri"/>
              <a:cs typeface="Calibri"/>
              <a:sym typeface="Calibri"/>
            </a:endParaRPr>
          </a:p>
        </p:txBody>
      </p:sp>
      <p:sp>
        <p:nvSpPr>
          <p:cNvPr id="211" name="Google Shape;211;p7"/>
          <p:cNvSpPr/>
          <p:nvPr/>
        </p:nvSpPr>
        <p:spPr>
          <a:xfrm>
            <a:off x="6217920" y="1508760"/>
            <a:ext cx="5394960" cy="1089660"/>
          </a:xfrm>
          <a:prstGeom prst="roundRect">
            <a:avLst>
              <a:gd fmla="val 8163" name="adj"/>
            </a:avLst>
          </a:prstGeom>
          <a:solidFill>
            <a:srgbClr val="FFFFFF"/>
          </a:solidFill>
          <a:ln cap="flat" cmpd="sng" w="9525">
            <a:solidFill>
              <a:srgbClr val="BFE8DC"/>
            </a:solidFill>
            <a:prstDash val="solid"/>
            <a:round/>
            <a:headEnd len="sm" w="sm" type="none"/>
            <a:tailEnd len="sm" w="sm" type="none"/>
          </a:ln>
          <a:effectLst>
            <a:outerShdw blurRad="63500" rotWithShape="0" algn="bl" dir="5400000" dist="25400">
              <a:srgbClr val="1B3B3B">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7"/>
          <p:cNvSpPr/>
          <p:nvPr/>
        </p:nvSpPr>
        <p:spPr>
          <a:xfrm>
            <a:off x="6217920" y="1713262"/>
            <a:ext cx="45720" cy="676656"/>
          </a:xfrm>
          <a:prstGeom prst="rect">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7"/>
          <p:cNvSpPr txBox="1"/>
          <p:nvPr/>
        </p:nvSpPr>
        <p:spPr>
          <a:xfrm>
            <a:off x="6419088" y="1627632"/>
            <a:ext cx="508406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2C"/>
              </a:buClr>
              <a:buSzPts val="1200"/>
              <a:buFont typeface="Calibri"/>
              <a:buNone/>
            </a:pPr>
            <a:r>
              <a:rPr b="1" lang="en-US" sz="1200">
                <a:solidFill>
                  <a:srgbClr val="13292C"/>
                </a:solidFill>
                <a:latin typeface="Calibri"/>
                <a:ea typeface="Calibri"/>
                <a:cs typeface="Calibri"/>
                <a:sym typeface="Calibri"/>
              </a:rPr>
              <a:t>Delivery Status, Receipt Confirmation &amp; Payment</a:t>
            </a:r>
            <a:endParaRPr sz="1200">
              <a:solidFill>
                <a:schemeClr val="dk1"/>
              </a:solidFill>
              <a:latin typeface="Calibri"/>
              <a:ea typeface="Calibri"/>
              <a:cs typeface="Calibri"/>
              <a:sym typeface="Calibri"/>
            </a:endParaRPr>
          </a:p>
        </p:txBody>
      </p:sp>
      <p:sp>
        <p:nvSpPr>
          <p:cNvPr id="214" name="Google Shape;214;p7"/>
          <p:cNvSpPr txBox="1"/>
          <p:nvPr/>
        </p:nvSpPr>
        <p:spPr>
          <a:xfrm>
            <a:off x="6419088" y="1975104"/>
            <a:ext cx="5084064" cy="3200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C6764"/>
              </a:buClr>
              <a:buSzPts val="1000"/>
              <a:buFont typeface="Calibri"/>
              <a:buNone/>
            </a:pPr>
            <a:r>
              <a:rPr lang="en-US" sz="1000">
                <a:solidFill>
                  <a:srgbClr val="4C6764"/>
                </a:solidFill>
                <a:latin typeface="Calibri"/>
                <a:ea typeface="Calibri"/>
                <a:cs typeface="Calibri"/>
                <a:sym typeface="Calibri"/>
              </a:rPr>
              <a:t>Operator marks the order Delivering. Retailer scans issued QR labels to confirm receipt → Delivered. Retailer may report missing/damaged items with quantity, photos and notes for Operator review. Payment status is tracked separately. </a:t>
            </a:r>
            <a:endParaRPr sz="1000">
              <a:solidFill>
                <a:schemeClr val="dk1"/>
              </a:solidFill>
              <a:latin typeface="Calibri"/>
              <a:ea typeface="Calibri"/>
              <a:cs typeface="Calibri"/>
              <a:sym typeface="Calibri"/>
            </a:endParaRPr>
          </a:p>
        </p:txBody>
      </p:sp>
      <p:sp>
        <p:nvSpPr>
          <p:cNvPr id="215" name="Google Shape;215;p7"/>
          <p:cNvSpPr/>
          <p:nvPr/>
        </p:nvSpPr>
        <p:spPr>
          <a:xfrm>
            <a:off x="6217920" y="2903220"/>
            <a:ext cx="5394960" cy="1089660"/>
          </a:xfrm>
          <a:prstGeom prst="roundRect">
            <a:avLst>
              <a:gd fmla="val 8163" name="adj"/>
            </a:avLst>
          </a:prstGeom>
          <a:solidFill>
            <a:srgbClr val="FFFFFF"/>
          </a:solidFill>
          <a:ln cap="flat" cmpd="sng" w="9525">
            <a:solidFill>
              <a:srgbClr val="BFE8DC"/>
            </a:solidFill>
            <a:prstDash val="solid"/>
            <a:round/>
            <a:headEnd len="sm" w="sm" type="none"/>
            <a:tailEnd len="sm" w="sm" type="none"/>
          </a:ln>
          <a:effectLst>
            <a:outerShdw blurRad="63500" rotWithShape="0" algn="bl" dir="5400000" dist="25400">
              <a:srgbClr val="1B3B3B">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7"/>
          <p:cNvSpPr/>
          <p:nvPr/>
        </p:nvSpPr>
        <p:spPr>
          <a:xfrm>
            <a:off x="6217920" y="3090672"/>
            <a:ext cx="45720" cy="676656"/>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7"/>
          <p:cNvSpPr txBox="1"/>
          <p:nvPr/>
        </p:nvSpPr>
        <p:spPr>
          <a:xfrm>
            <a:off x="6419088" y="3022092"/>
            <a:ext cx="508406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2C"/>
              </a:buClr>
              <a:buSzPts val="1200"/>
              <a:buFont typeface="Calibri"/>
              <a:buNone/>
            </a:pPr>
            <a:r>
              <a:rPr b="1" lang="en-US" sz="1200">
                <a:solidFill>
                  <a:srgbClr val="13292C"/>
                </a:solidFill>
                <a:latin typeface="Calibri"/>
                <a:ea typeface="Calibri"/>
                <a:cs typeface="Calibri"/>
                <a:sym typeface="Calibri"/>
              </a:rPr>
              <a:t>Order Tracking &amp; Notifications</a:t>
            </a:r>
            <a:endParaRPr sz="1200">
              <a:solidFill>
                <a:schemeClr val="dk1"/>
              </a:solidFill>
              <a:latin typeface="Calibri"/>
              <a:ea typeface="Calibri"/>
              <a:cs typeface="Calibri"/>
              <a:sym typeface="Calibri"/>
            </a:endParaRPr>
          </a:p>
        </p:txBody>
      </p:sp>
      <p:sp>
        <p:nvSpPr>
          <p:cNvPr id="218" name="Google Shape;218;p7"/>
          <p:cNvSpPr txBox="1"/>
          <p:nvPr/>
        </p:nvSpPr>
        <p:spPr>
          <a:xfrm>
            <a:off x="6419088" y="3369564"/>
            <a:ext cx="5084064" cy="3200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C6764"/>
              </a:buClr>
              <a:buSzPts val="1000"/>
              <a:buFont typeface="Calibri"/>
              <a:buNone/>
            </a:pPr>
            <a:r>
              <a:rPr lang="en-US" sz="1000">
                <a:solidFill>
                  <a:srgbClr val="4C6764"/>
                </a:solidFill>
                <a:latin typeface="Calibri"/>
                <a:ea typeface="Calibri"/>
                <a:cs typeface="Calibri"/>
                <a:sym typeface="Calibri"/>
              </a:rPr>
              <a:t>Sales Reps view orders within their group (with applied promotions and status timeline). Retailers view their own orders. Push notifications sent for key status changes (dispatched, rejected, etc.).</a:t>
            </a:r>
            <a:endParaRPr sz="1000">
              <a:solidFill>
                <a:schemeClr val="dk1"/>
              </a:solidFill>
              <a:latin typeface="Calibri"/>
              <a:ea typeface="Calibri"/>
              <a:cs typeface="Calibri"/>
              <a:sym typeface="Calibri"/>
            </a:endParaRPr>
          </a:p>
        </p:txBody>
      </p:sp>
      <p:sp>
        <p:nvSpPr>
          <p:cNvPr id="219" name="Google Shape;219;p7"/>
          <p:cNvSpPr/>
          <p:nvPr/>
        </p:nvSpPr>
        <p:spPr>
          <a:xfrm>
            <a:off x="6217920" y="4297680"/>
            <a:ext cx="5394960" cy="1089660"/>
          </a:xfrm>
          <a:prstGeom prst="roundRect">
            <a:avLst>
              <a:gd fmla="val 8163" name="adj"/>
            </a:avLst>
          </a:prstGeom>
          <a:solidFill>
            <a:srgbClr val="FFFFFF"/>
          </a:solidFill>
          <a:ln cap="flat" cmpd="sng" w="9525">
            <a:solidFill>
              <a:srgbClr val="BFE8DC"/>
            </a:solidFill>
            <a:prstDash val="solid"/>
            <a:round/>
            <a:headEnd len="sm" w="sm" type="none"/>
            <a:tailEnd len="sm" w="sm" type="none"/>
          </a:ln>
          <a:effectLst>
            <a:outerShdw blurRad="63500" rotWithShape="0" algn="bl" dir="5400000" dist="25400">
              <a:srgbClr val="1B3B3B">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7"/>
          <p:cNvSpPr/>
          <p:nvPr/>
        </p:nvSpPr>
        <p:spPr>
          <a:xfrm>
            <a:off x="6217920" y="4504182"/>
            <a:ext cx="45720" cy="676656"/>
          </a:xfrm>
          <a:prstGeom prst="rect">
            <a:avLst/>
          </a:prstGeom>
          <a:solidFill>
            <a:srgbClr val="028090"/>
          </a:solidFill>
          <a:ln cap="flat" cmpd="sng" w="12700">
            <a:solidFill>
              <a:srgbClr val="028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1" name="Google Shape;221;p7"/>
          <p:cNvSpPr txBox="1"/>
          <p:nvPr/>
        </p:nvSpPr>
        <p:spPr>
          <a:xfrm>
            <a:off x="6419088" y="4416552"/>
            <a:ext cx="508406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2C"/>
              </a:buClr>
              <a:buSzPts val="1200"/>
              <a:buFont typeface="Calibri"/>
              <a:buNone/>
            </a:pPr>
            <a:r>
              <a:rPr b="1" lang="en-US" sz="1200">
                <a:solidFill>
                  <a:srgbClr val="13292C"/>
                </a:solidFill>
                <a:latin typeface="Calibri"/>
                <a:ea typeface="Calibri"/>
                <a:cs typeface="Calibri"/>
                <a:sym typeface="Calibri"/>
              </a:rPr>
              <a:t>Dashboards &amp; Sales Performance</a:t>
            </a:r>
            <a:endParaRPr sz="1200">
              <a:solidFill>
                <a:schemeClr val="dk1"/>
              </a:solidFill>
              <a:latin typeface="Calibri"/>
              <a:ea typeface="Calibri"/>
              <a:cs typeface="Calibri"/>
              <a:sym typeface="Calibri"/>
            </a:endParaRPr>
          </a:p>
        </p:txBody>
      </p:sp>
      <p:sp>
        <p:nvSpPr>
          <p:cNvPr id="222" name="Google Shape;222;p7"/>
          <p:cNvSpPr txBox="1"/>
          <p:nvPr/>
        </p:nvSpPr>
        <p:spPr>
          <a:xfrm>
            <a:off x="6419088" y="4764024"/>
            <a:ext cx="5084064" cy="3200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C6764"/>
              </a:buClr>
              <a:buSzPts val="1000"/>
              <a:buFont typeface="Calibri"/>
              <a:buNone/>
            </a:pPr>
            <a:r>
              <a:rPr lang="en-US" sz="1000">
                <a:solidFill>
                  <a:srgbClr val="4C6764"/>
                </a:solidFill>
                <a:latin typeface="Calibri"/>
                <a:ea typeface="Calibri"/>
                <a:cs typeface="Calibri"/>
                <a:sym typeface="Calibri"/>
              </a:rPr>
              <a:t>Admin views order and revenue totals by status, retailer, Sales Rep and time period. Sales Reps view own order history, revenue and leaderboard ranking. Admin can approve rewards for top reps.</a:t>
            </a:r>
            <a:endParaRPr sz="1000">
              <a:solidFill>
                <a:schemeClr val="dk1"/>
              </a:solidFill>
              <a:latin typeface="Calibri"/>
              <a:ea typeface="Calibri"/>
              <a:cs typeface="Calibri"/>
              <a:sym typeface="Calibri"/>
            </a:endParaRPr>
          </a:p>
        </p:txBody>
      </p:sp>
      <p:sp>
        <p:nvSpPr>
          <p:cNvPr id="223" name="Google Shape;223;p7"/>
          <p:cNvSpPr txBox="1"/>
          <p:nvPr/>
        </p:nvSpPr>
        <p:spPr>
          <a:xfrm>
            <a:off x="502920" y="6510528"/>
            <a:ext cx="73152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C5C0"/>
              </a:buClr>
              <a:buSzPts val="850"/>
              <a:buFont typeface="Calibri"/>
              <a:buNone/>
            </a:pPr>
            <a:r>
              <a:rPr lang="en-US" sz="850">
                <a:solidFill>
                  <a:srgbClr val="A8C5C0"/>
                </a:solidFill>
                <a:latin typeface="Calibri"/>
                <a:ea typeface="Calibri"/>
                <a:cs typeface="Calibri"/>
                <a:sym typeface="Calibri"/>
              </a:rPr>
              <a:t>FSCM  ·  Capstone Project Overview  ·  FA26SE083</a:t>
            </a:r>
            <a:endParaRPr sz="850">
              <a:solidFill>
                <a:schemeClr val="dk1"/>
              </a:solidFill>
              <a:latin typeface="Calibri"/>
              <a:ea typeface="Calibri"/>
              <a:cs typeface="Calibri"/>
              <a:sym typeface="Calibri"/>
            </a:endParaRPr>
          </a:p>
        </p:txBody>
      </p:sp>
      <p:sp>
        <p:nvSpPr>
          <p:cNvPr id="224" name="Google Shape;224;p7"/>
          <p:cNvSpPr txBox="1"/>
          <p:nvPr/>
        </p:nvSpPr>
        <p:spPr>
          <a:xfrm>
            <a:off x="11338560"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8C5C0"/>
              </a:buClr>
              <a:buSzPts val="850"/>
              <a:buFont typeface="Calibri"/>
              <a:buNone/>
            </a:pPr>
            <a:r>
              <a:rPr lang="en-US" sz="850">
                <a:solidFill>
                  <a:srgbClr val="A8C5C0"/>
                </a:solidFill>
                <a:latin typeface="Calibri"/>
                <a:ea typeface="Calibri"/>
                <a:cs typeface="Calibri"/>
                <a:sym typeface="Calibri"/>
              </a:rPr>
              <a:t>7</a:t>
            </a:r>
            <a:endParaRPr sz="85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AF9"/>
        </a:solidFill>
      </p:bgPr>
    </p:bg>
    <p:spTree>
      <p:nvGrpSpPr>
        <p:cNvPr id="229" name="Shape 229"/>
        <p:cNvGrpSpPr/>
        <p:nvPr/>
      </p:nvGrpSpPr>
      <p:grpSpPr>
        <a:xfrm>
          <a:off x="0" y="0"/>
          <a:ext cx="0" cy="0"/>
          <a:chOff x="0" y="0"/>
          <a:chExt cx="0" cy="0"/>
        </a:xfrm>
      </p:grpSpPr>
      <p:sp>
        <p:nvSpPr>
          <p:cNvPr id="230" name="Google Shape;230;p8"/>
          <p:cNvSpPr txBox="1"/>
          <p:nvPr/>
        </p:nvSpPr>
        <p:spPr>
          <a:xfrm>
            <a:off x="502920" y="402336"/>
            <a:ext cx="10058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100"/>
              <a:buFont typeface="Calibri"/>
              <a:buNone/>
            </a:pPr>
            <a:r>
              <a:rPr b="1" lang="en-US" sz="1100">
                <a:solidFill>
                  <a:srgbClr val="028090"/>
                </a:solidFill>
                <a:latin typeface="Calibri"/>
                <a:ea typeface="Calibri"/>
                <a:cs typeface="Calibri"/>
                <a:sym typeface="Calibri"/>
              </a:rPr>
              <a:t>03 · FUNCTIONAL REQUIREMENTS</a:t>
            </a:r>
            <a:endParaRPr sz="1100">
              <a:solidFill>
                <a:schemeClr val="dk1"/>
              </a:solidFill>
              <a:latin typeface="Calibri"/>
              <a:ea typeface="Calibri"/>
              <a:cs typeface="Calibri"/>
              <a:sym typeface="Calibri"/>
            </a:endParaRPr>
          </a:p>
        </p:txBody>
      </p:sp>
      <p:sp>
        <p:nvSpPr>
          <p:cNvPr id="231" name="Google Shape;231;p8"/>
          <p:cNvSpPr/>
          <p:nvPr/>
        </p:nvSpPr>
        <p:spPr>
          <a:xfrm>
            <a:off x="502920" y="731520"/>
            <a:ext cx="11201400" cy="13716"/>
          </a:xfrm>
          <a:prstGeom prst="rect">
            <a:avLst/>
          </a:prstGeom>
          <a:solidFill>
            <a:srgbClr val="BFE8DC"/>
          </a:solidFill>
          <a:ln cap="flat" cmpd="sng" w="12700">
            <a:solidFill>
              <a:srgbClr val="BFE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8"/>
          <p:cNvSpPr txBox="1"/>
          <p:nvPr/>
        </p:nvSpPr>
        <p:spPr>
          <a:xfrm>
            <a:off x="502920" y="777240"/>
            <a:ext cx="11201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2C"/>
              </a:buClr>
              <a:buSzPts val="3000"/>
              <a:buFont typeface="Cambria"/>
              <a:buNone/>
            </a:pPr>
            <a:r>
              <a:rPr b="1" lang="en-US" sz="3000">
                <a:solidFill>
                  <a:srgbClr val="13292C"/>
                </a:solidFill>
                <a:latin typeface="Cambria"/>
                <a:ea typeface="Cambria"/>
                <a:cs typeface="Cambria"/>
                <a:sym typeface="Cambria"/>
              </a:rPr>
              <a:t>Nice-to-have  OP-01 – OP-04</a:t>
            </a:r>
            <a:endParaRPr sz="3000">
              <a:solidFill>
                <a:schemeClr val="dk1"/>
              </a:solidFill>
              <a:latin typeface="Calibri"/>
              <a:ea typeface="Calibri"/>
              <a:cs typeface="Calibri"/>
              <a:sym typeface="Calibri"/>
            </a:endParaRPr>
          </a:p>
        </p:txBody>
      </p:sp>
      <p:sp>
        <p:nvSpPr>
          <p:cNvPr id="233" name="Google Shape;233;p8"/>
          <p:cNvSpPr txBox="1"/>
          <p:nvPr/>
        </p:nvSpPr>
        <p:spPr>
          <a:xfrm>
            <a:off x="502920" y="1371600"/>
            <a:ext cx="111556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FAFA6"/>
              </a:buClr>
              <a:buSzPts val="1100"/>
              <a:buFont typeface="Calibri"/>
              <a:buNone/>
            </a:pPr>
            <a:r>
              <a:rPr i="1" lang="en-US" sz="1100">
                <a:solidFill>
                  <a:srgbClr val="6FAFA6"/>
                </a:solidFill>
                <a:latin typeface="Calibri"/>
                <a:ea typeface="Calibri"/>
                <a:cs typeface="Calibri"/>
                <a:sym typeface="Calibri"/>
              </a:rPr>
              <a:t>Started only after the full MVP (six roles · FEFO-MLOR allocation · offline ordering) is complete and accepted.</a:t>
            </a:r>
            <a:endParaRPr sz="1100">
              <a:solidFill>
                <a:schemeClr val="dk1"/>
              </a:solidFill>
              <a:latin typeface="Calibri"/>
              <a:ea typeface="Calibri"/>
              <a:cs typeface="Calibri"/>
              <a:sym typeface="Calibri"/>
            </a:endParaRPr>
          </a:p>
        </p:txBody>
      </p:sp>
      <p:sp>
        <p:nvSpPr>
          <p:cNvPr id="234" name="Google Shape;234;p8"/>
          <p:cNvSpPr/>
          <p:nvPr/>
        </p:nvSpPr>
        <p:spPr>
          <a:xfrm>
            <a:off x="502920" y="1737360"/>
            <a:ext cx="5349240" cy="2240280"/>
          </a:xfrm>
          <a:prstGeom prst="roundRect">
            <a:avLst>
              <a:gd fmla="val 3265" name="adj"/>
            </a:avLst>
          </a:prstGeom>
          <a:solidFill>
            <a:srgbClr val="FFFFFF"/>
          </a:solidFill>
          <a:ln cap="flat" cmpd="sng" w="9525">
            <a:solidFill>
              <a:srgbClr val="BFE8DC"/>
            </a:solidFill>
            <a:prstDash val="solid"/>
            <a:round/>
            <a:headEnd len="sm" w="sm" type="none"/>
            <a:tailEnd len="sm" w="sm" type="none"/>
          </a:ln>
          <a:effectLst>
            <a:outerShdw blurRad="63500" rotWithShape="0" algn="bl" dir="5400000" dist="25400">
              <a:srgbClr val="1B3B3B">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8"/>
          <p:cNvSpPr/>
          <p:nvPr/>
        </p:nvSpPr>
        <p:spPr>
          <a:xfrm>
            <a:off x="685800" y="1901952"/>
            <a:ext cx="640080" cy="219456"/>
          </a:xfrm>
          <a:prstGeom prst="roundRect">
            <a:avLst>
              <a:gd fmla="val 50000" name="adj"/>
            </a:avLst>
          </a:prstGeom>
          <a:solidFill>
            <a:srgbClr val="6FAFA6"/>
          </a:solidFill>
          <a:ln cap="flat" cmpd="sng" w="12700">
            <a:solidFill>
              <a:srgbClr val="6FAF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8"/>
          <p:cNvSpPr txBox="1"/>
          <p:nvPr/>
        </p:nvSpPr>
        <p:spPr>
          <a:xfrm>
            <a:off x="685800" y="1901952"/>
            <a:ext cx="64008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lang="en-US" sz="800">
                <a:solidFill>
                  <a:srgbClr val="FFFFFF"/>
                </a:solidFill>
                <a:latin typeface="Calibri"/>
                <a:ea typeface="Calibri"/>
                <a:cs typeface="Calibri"/>
                <a:sym typeface="Calibri"/>
              </a:rPr>
              <a:t>OP-01</a:t>
            </a:r>
            <a:endParaRPr sz="800">
              <a:solidFill>
                <a:schemeClr val="dk1"/>
              </a:solidFill>
              <a:latin typeface="Calibri"/>
              <a:ea typeface="Calibri"/>
              <a:cs typeface="Calibri"/>
              <a:sym typeface="Calibri"/>
            </a:endParaRPr>
          </a:p>
        </p:txBody>
      </p:sp>
      <p:sp>
        <p:nvSpPr>
          <p:cNvPr id="237" name="Google Shape;237;p8"/>
          <p:cNvSpPr txBox="1"/>
          <p:nvPr/>
        </p:nvSpPr>
        <p:spPr>
          <a:xfrm>
            <a:off x="1453896" y="1847088"/>
            <a:ext cx="42519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2C"/>
              </a:buClr>
              <a:buSzPts val="1250"/>
              <a:buFont typeface="Calibri"/>
              <a:buNone/>
            </a:pPr>
            <a:r>
              <a:rPr b="1" lang="en-US" sz="1250">
                <a:solidFill>
                  <a:srgbClr val="13292C"/>
                </a:solidFill>
                <a:latin typeface="Calibri"/>
                <a:ea typeface="Calibri"/>
                <a:cs typeface="Calibri"/>
                <a:sym typeface="Calibri"/>
              </a:rPr>
              <a:t>Transportation Coordination</a:t>
            </a:r>
            <a:endParaRPr sz="1250">
              <a:solidFill>
                <a:schemeClr val="dk1"/>
              </a:solidFill>
              <a:latin typeface="Calibri"/>
              <a:ea typeface="Calibri"/>
              <a:cs typeface="Calibri"/>
              <a:sym typeface="Calibri"/>
            </a:endParaRPr>
          </a:p>
        </p:txBody>
      </p:sp>
      <p:sp>
        <p:nvSpPr>
          <p:cNvPr id="238" name="Google Shape;238;p8"/>
          <p:cNvSpPr txBox="1"/>
          <p:nvPr/>
        </p:nvSpPr>
        <p:spPr>
          <a:xfrm>
            <a:off x="685800" y="2194560"/>
            <a:ext cx="5001768"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C6764"/>
              </a:buClr>
              <a:buSzPts val="1000"/>
              <a:buFont typeface="Calibri"/>
              <a:buNone/>
            </a:pPr>
            <a:r>
              <a:rPr lang="en-US" sz="1000">
                <a:solidFill>
                  <a:srgbClr val="4C6764"/>
                </a:solidFill>
                <a:latin typeface="Calibri"/>
                <a:ea typeface="Calibri"/>
                <a:cs typeface="Calibri"/>
                <a:sym typeface="Calibri"/>
              </a:rPr>
              <a:t>Shipment consolidation, vehicle and driver assignment, route planning, live GPS tracking, late-delivery analysis, cold-chain temperature monitoring.</a:t>
            </a:r>
            <a:endParaRPr sz="1000">
              <a:solidFill>
                <a:schemeClr val="dk1"/>
              </a:solidFill>
              <a:latin typeface="Calibri"/>
              <a:ea typeface="Calibri"/>
              <a:cs typeface="Calibri"/>
              <a:sym typeface="Calibri"/>
            </a:endParaRPr>
          </a:p>
        </p:txBody>
      </p:sp>
      <p:sp>
        <p:nvSpPr>
          <p:cNvPr id="239" name="Google Shape;239;p8"/>
          <p:cNvSpPr/>
          <p:nvPr/>
        </p:nvSpPr>
        <p:spPr>
          <a:xfrm>
            <a:off x="685800" y="2779776"/>
            <a:ext cx="5001768" cy="6401"/>
          </a:xfrm>
          <a:prstGeom prst="rect">
            <a:avLst/>
          </a:prstGeom>
          <a:solidFill>
            <a:srgbClr val="BFE8DC"/>
          </a:solidFill>
          <a:ln cap="flat" cmpd="sng" w="12700">
            <a:solidFill>
              <a:srgbClr val="BFE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8"/>
          <p:cNvSpPr/>
          <p:nvPr/>
        </p:nvSpPr>
        <p:spPr>
          <a:xfrm>
            <a:off x="685800" y="2862072"/>
            <a:ext cx="2409444" cy="329184"/>
          </a:xfrm>
          <a:prstGeom prst="roundRect">
            <a:avLst>
              <a:gd fmla="val 19444" name="adj"/>
            </a:avLst>
          </a:prstGeom>
          <a:solidFill>
            <a:srgbClr val="EAF3F1"/>
          </a:solidFill>
          <a:ln cap="flat" cmpd="sng" w="9525">
            <a:solidFill>
              <a:srgbClr val="BFE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8"/>
          <p:cNvSpPr txBox="1"/>
          <p:nvPr/>
        </p:nvSpPr>
        <p:spPr>
          <a:xfrm>
            <a:off x="685800" y="2862072"/>
            <a:ext cx="240944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8090"/>
              </a:buClr>
              <a:buSzPts val="950"/>
              <a:buFont typeface="Calibri"/>
              <a:buNone/>
            </a:pPr>
            <a:r>
              <a:rPr b="1" lang="en-US" sz="950">
                <a:solidFill>
                  <a:srgbClr val="028090"/>
                </a:solidFill>
                <a:latin typeface="Calibri"/>
                <a:ea typeface="Calibri"/>
                <a:cs typeface="Calibri"/>
                <a:sym typeface="Calibri"/>
              </a:rPr>
              <a:t>Vehicle &amp; Driver Assignment</a:t>
            </a:r>
            <a:endParaRPr sz="950">
              <a:solidFill>
                <a:schemeClr val="dk1"/>
              </a:solidFill>
              <a:latin typeface="Calibri"/>
              <a:ea typeface="Calibri"/>
              <a:cs typeface="Calibri"/>
              <a:sym typeface="Calibri"/>
            </a:endParaRPr>
          </a:p>
        </p:txBody>
      </p:sp>
      <p:sp>
        <p:nvSpPr>
          <p:cNvPr id="242" name="Google Shape;242;p8"/>
          <p:cNvSpPr/>
          <p:nvPr/>
        </p:nvSpPr>
        <p:spPr>
          <a:xfrm>
            <a:off x="3223260" y="2862072"/>
            <a:ext cx="2409444" cy="329184"/>
          </a:xfrm>
          <a:prstGeom prst="roundRect">
            <a:avLst>
              <a:gd fmla="val 19444" name="adj"/>
            </a:avLst>
          </a:prstGeom>
          <a:solidFill>
            <a:srgbClr val="EAF3F1"/>
          </a:solidFill>
          <a:ln cap="flat" cmpd="sng" w="9525">
            <a:solidFill>
              <a:srgbClr val="BFE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8"/>
          <p:cNvSpPr txBox="1"/>
          <p:nvPr/>
        </p:nvSpPr>
        <p:spPr>
          <a:xfrm>
            <a:off x="3223260" y="2862072"/>
            <a:ext cx="240944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8090"/>
              </a:buClr>
              <a:buSzPts val="950"/>
              <a:buFont typeface="Calibri"/>
              <a:buNone/>
            </a:pPr>
            <a:r>
              <a:rPr b="1" lang="en-US" sz="950">
                <a:solidFill>
                  <a:srgbClr val="028090"/>
                </a:solidFill>
                <a:latin typeface="Calibri"/>
                <a:ea typeface="Calibri"/>
                <a:cs typeface="Calibri"/>
                <a:sym typeface="Calibri"/>
              </a:rPr>
              <a:t>Route Planning</a:t>
            </a:r>
            <a:endParaRPr sz="950">
              <a:solidFill>
                <a:schemeClr val="dk1"/>
              </a:solidFill>
              <a:latin typeface="Calibri"/>
              <a:ea typeface="Calibri"/>
              <a:cs typeface="Calibri"/>
              <a:sym typeface="Calibri"/>
            </a:endParaRPr>
          </a:p>
        </p:txBody>
      </p:sp>
      <p:sp>
        <p:nvSpPr>
          <p:cNvPr id="244" name="Google Shape;244;p8"/>
          <p:cNvSpPr/>
          <p:nvPr/>
        </p:nvSpPr>
        <p:spPr>
          <a:xfrm>
            <a:off x="685800" y="3337560"/>
            <a:ext cx="2409444" cy="329184"/>
          </a:xfrm>
          <a:prstGeom prst="roundRect">
            <a:avLst>
              <a:gd fmla="val 19444" name="adj"/>
            </a:avLst>
          </a:prstGeom>
          <a:solidFill>
            <a:srgbClr val="EAF3F1"/>
          </a:solidFill>
          <a:ln cap="flat" cmpd="sng" w="9525">
            <a:solidFill>
              <a:srgbClr val="BFE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8"/>
          <p:cNvSpPr txBox="1"/>
          <p:nvPr/>
        </p:nvSpPr>
        <p:spPr>
          <a:xfrm>
            <a:off x="685800" y="3337560"/>
            <a:ext cx="240944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8090"/>
              </a:buClr>
              <a:buSzPts val="950"/>
              <a:buFont typeface="Calibri"/>
              <a:buNone/>
            </a:pPr>
            <a:r>
              <a:rPr b="1" lang="en-US" sz="950">
                <a:solidFill>
                  <a:srgbClr val="028090"/>
                </a:solidFill>
                <a:latin typeface="Calibri"/>
                <a:ea typeface="Calibri"/>
                <a:cs typeface="Calibri"/>
                <a:sym typeface="Calibri"/>
              </a:rPr>
              <a:t>Live GPS Tracking</a:t>
            </a:r>
            <a:endParaRPr sz="950">
              <a:solidFill>
                <a:schemeClr val="dk1"/>
              </a:solidFill>
              <a:latin typeface="Calibri"/>
              <a:ea typeface="Calibri"/>
              <a:cs typeface="Calibri"/>
              <a:sym typeface="Calibri"/>
            </a:endParaRPr>
          </a:p>
        </p:txBody>
      </p:sp>
      <p:sp>
        <p:nvSpPr>
          <p:cNvPr id="246" name="Google Shape;246;p8"/>
          <p:cNvSpPr/>
          <p:nvPr/>
        </p:nvSpPr>
        <p:spPr>
          <a:xfrm>
            <a:off x="3223260" y="3337560"/>
            <a:ext cx="2409444" cy="329184"/>
          </a:xfrm>
          <a:prstGeom prst="roundRect">
            <a:avLst>
              <a:gd fmla="val 19444" name="adj"/>
            </a:avLst>
          </a:prstGeom>
          <a:solidFill>
            <a:srgbClr val="EAF3F1"/>
          </a:solidFill>
          <a:ln cap="flat" cmpd="sng" w="9525">
            <a:solidFill>
              <a:srgbClr val="BFE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8"/>
          <p:cNvSpPr txBox="1"/>
          <p:nvPr/>
        </p:nvSpPr>
        <p:spPr>
          <a:xfrm>
            <a:off x="3223260" y="3337560"/>
            <a:ext cx="240944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8090"/>
              </a:buClr>
              <a:buSzPts val="950"/>
              <a:buFont typeface="Calibri"/>
              <a:buNone/>
            </a:pPr>
            <a:r>
              <a:rPr b="1" lang="en-US" sz="950">
                <a:solidFill>
                  <a:srgbClr val="028090"/>
                </a:solidFill>
                <a:latin typeface="Calibri"/>
                <a:ea typeface="Calibri"/>
                <a:cs typeface="Calibri"/>
                <a:sym typeface="Calibri"/>
              </a:rPr>
              <a:t>Cold-Chain Monitor</a:t>
            </a:r>
            <a:endParaRPr sz="950">
              <a:solidFill>
                <a:schemeClr val="dk1"/>
              </a:solidFill>
              <a:latin typeface="Calibri"/>
              <a:ea typeface="Calibri"/>
              <a:cs typeface="Calibri"/>
              <a:sym typeface="Calibri"/>
            </a:endParaRPr>
          </a:p>
        </p:txBody>
      </p:sp>
      <p:sp>
        <p:nvSpPr>
          <p:cNvPr id="248" name="Google Shape;248;p8"/>
          <p:cNvSpPr/>
          <p:nvPr/>
        </p:nvSpPr>
        <p:spPr>
          <a:xfrm>
            <a:off x="6080760" y="1737360"/>
            <a:ext cx="5349240" cy="2240280"/>
          </a:xfrm>
          <a:prstGeom prst="roundRect">
            <a:avLst>
              <a:gd fmla="val 3265" name="adj"/>
            </a:avLst>
          </a:prstGeom>
          <a:solidFill>
            <a:srgbClr val="FFFFFF"/>
          </a:solidFill>
          <a:ln cap="flat" cmpd="sng" w="9525">
            <a:solidFill>
              <a:srgbClr val="BFE8DC"/>
            </a:solidFill>
            <a:prstDash val="solid"/>
            <a:round/>
            <a:headEnd len="sm" w="sm" type="none"/>
            <a:tailEnd len="sm" w="sm" type="none"/>
          </a:ln>
          <a:effectLst>
            <a:outerShdw blurRad="63500" rotWithShape="0" algn="bl" dir="5400000" dist="25400">
              <a:srgbClr val="1B3B3B">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8"/>
          <p:cNvSpPr/>
          <p:nvPr/>
        </p:nvSpPr>
        <p:spPr>
          <a:xfrm>
            <a:off x="6263640" y="1901952"/>
            <a:ext cx="640080" cy="219456"/>
          </a:xfrm>
          <a:prstGeom prst="roundRect">
            <a:avLst>
              <a:gd fmla="val 50000" name="adj"/>
            </a:avLst>
          </a:prstGeom>
          <a:solidFill>
            <a:srgbClr val="6FAFA6"/>
          </a:solidFill>
          <a:ln cap="flat" cmpd="sng" w="12700">
            <a:solidFill>
              <a:srgbClr val="6FAF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8"/>
          <p:cNvSpPr txBox="1"/>
          <p:nvPr/>
        </p:nvSpPr>
        <p:spPr>
          <a:xfrm>
            <a:off x="6263640" y="1901952"/>
            <a:ext cx="64008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lang="en-US" sz="800">
                <a:solidFill>
                  <a:srgbClr val="FFFFFF"/>
                </a:solidFill>
                <a:latin typeface="Calibri"/>
                <a:ea typeface="Calibri"/>
                <a:cs typeface="Calibri"/>
                <a:sym typeface="Calibri"/>
              </a:rPr>
              <a:t>OP-02</a:t>
            </a:r>
            <a:endParaRPr sz="800">
              <a:solidFill>
                <a:schemeClr val="dk1"/>
              </a:solidFill>
              <a:latin typeface="Calibri"/>
              <a:ea typeface="Calibri"/>
              <a:cs typeface="Calibri"/>
              <a:sym typeface="Calibri"/>
            </a:endParaRPr>
          </a:p>
        </p:txBody>
      </p:sp>
      <p:sp>
        <p:nvSpPr>
          <p:cNvPr id="251" name="Google Shape;251;p8"/>
          <p:cNvSpPr txBox="1"/>
          <p:nvPr/>
        </p:nvSpPr>
        <p:spPr>
          <a:xfrm>
            <a:off x="7031736" y="1847088"/>
            <a:ext cx="42519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2C"/>
              </a:buClr>
              <a:buSzPts val="1250"/>
              <a:buFont typeface="Calibri"/>
              <a:buNone/>
            </a:pPr>
            <a:r>
              <a:rPr b="1" lang="en-US" sz="1250">
                <a:solidFill>
                  <a:srgbClr val="13292C"/>
                </a:solidFill>
                <a:latin typeface="Calibri"/>
                <a:ea typeface="Calibri"/>
                <a:cs typeface="Calibri"/>
                <a:sym typeface="Calibri"/>
              </a:rPr>
              <a:t>Supply-Chain Analytics</a:t>
            </a:r>
            <a:endParaRPr sz="1250">
              <a:solidFill>
                <a:schemeClr val="dk1"/>
              </a:solidFill>
              <a:latin typeface="Calibri"/>
              <a:ea typeface="Calibri"/>
              <a:cs typeface="Calibri"/>
              <a:sym typeface="Calibri"/>
            </a:endParaRPr>
          </a:p>
        </p:txBody>
      </p:sp>
      <p:sp>
        <p:nvSpPr>
          <p:cNvPr id="252" name="Google Shape;252;p8"/>
          <p:cNvSpPr txBox="1"/>
          <p:nvPr/>
        </p:nvSpPr>
        <p:spPr>
          <a:xfrm>
            <a:off x="6263640" y="2194560"/>
            <a:ext cx="5001768"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C6764"/>
              </a:buClr>
              <a:buSzPts val="1000"/>
              <a:buFont typeface="Calibri"/>
              <a:buNone/>
            </a:pPr>
            <a:r>
              <a:rPr lang="en-US" sz="1000">
                <a:solidFill>
                  <a:srgbClr val="4C6764"/>
                </a:solidFill>
                <a:latin typeface="Calibri"/>
                <a:ea typeface="Calibri"/>
                <a:cs typeface="Calibri"/>
                <a:sym typeface="Calibri"/>
              </a:rPr>
              <a:t>Demand forecasting by SKU and retailer, forecast-vs-actual reporting, safety-stock or reorder suggestions, and deeper stockout / spoilage analysis.</a:t>
            </a:r>
            <a:endParaRPr sz="1000">
              <a:solidFill>
                <a:schemeClr val="dk1"/>
              </a:solidFill>
              <a:latin typeface="Calibri"/>
              <a:ea typeface="Calibri"/>
              <a:cs typeface="Calibri"/>
              <a:sym typeface="Calibri"/>
            </a:endParaRPr>
          </a:p>
        </p:txBody>
      </p:sp>
      <p:sp>
        <p:nvSpPr>
          <p:cNvPr id="253" name="Google Shape;253;p8"/>
          <p:cNvSpPr/>
          <p:nvPr/>
        </p:nvSpPr>
        <p:spPr>
          <a:xfrm>
            <a:off x="6263640" y="2779776"/>
            <a:ext cx="5001768" cy="6401"/>
          </a:xfrm>
          <a:prstGeom prst="rect">
            <a:avLst/>
          </a:prstGeom>
          <a:solidFill>
            <a:srgbClr val="BFE8DC"/>
          </a:solidFill>
          <a:ln cap="flat" cmpd="sng" w="12700">
            <a:solidFill>
              <a:srgbClr val="BFE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8"/>
          <p:cNvSpPr/>
          <p:nvPr/>
        </p:nvSpPr>
        <p:spPr>
          <a:xfrm>
            <a:off x="6263640" y="2862072"/>
            <a:ext cx="2409444" cy="329184"/>
          </a:xfrm>
          <a:prstGeom prst="roundRect">
            <a:avLst>
              <a:gd fmla="val 19444" name="adj"/>
            </a:avLst>
          </a:prstGeom>
          <a:solidFill>
            <a:srgbClr val="EAF3F1"/>
          </a:solidFill>
          <a:ln cap="flat" cmpd="sng" w="9525">
            <a:solidFill>
              <a:srgbClr val="BFE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8"/>
          <p:cNvSpPr txBox="1"/>
          <p:nvPr/>
        </p:nvSpPr>
        <p:spPr>
          <a:xfrm>
            <a:off x="6263640" y="2862072"/>
            <a:ext cx="240944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8090"/>
              </a:buClr>
              <a:buSzPts val="950"/>
              <a:buFont typeface="Calibri"/>
              <a:buNone/>
            </a:pPr>
            <a:r>
              <a:rPr b="1" lang="en-US" sz="950">
                <a:solidFill>
                  <a:srgbClr val="028090"/>
                </a:solidFill>
                <a:latin typeface="Calibri"/>
                <a:ea typeface="Calibri"/>
                <a:cs typeface="Calibri"/>
                <a:sym typeface="Calibri"/>
              </a:rPr>
              <a:t>Demand Forecasting</a:t>
            </a:r>
            <a:endParaRPr sz="950">
              <a:solidFill>
                <a:schemeClr val="dk1"/>
              </a:solidFill>
              <a:latin typeface="Calibri"/>
              <a:ea typeface="Calibri"/>
              <a:cs typeface="Calibri"/>
              <a:sym typeface="Calibri"/>
            </a:endParaRPr>
          </a:p>
        </p:txBody>
      </p:sp>
      <p:sp>
        <p:nvSpPr>
          <p:cNvPr id="256" name="Google Shape;256;p8"/>
          <p:cNvSpPr/>
          <p:nvPr/>
        </p:nvSpPr>
        <p:spPr>
          <a:xfrm>
            <a:off x="8801100" y="2862072"/>
            <a:ext cx="2409444" cy="329184"/>
          </a:xfrm>
          <a:prstGeom prst="roundRect">
            <a:avLst>
              <a:gd fmla="val 19444" name="adj"/>
            </a:avLst>
          </a:prstGeom>
          <a:solidFill>
            <a:srgbClr val="EAF3F1"/>
          </a:solidFill>
          <a:ln cap="flat" cmpd="sng" w="9525">
            <a:solidFill>
              <a:srgbClr val="BFE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8"/>
          <p:cNvSpPr txBox="1"/>
          <p:nvPr/>
        </p:nvSpPr>
        <p:spPr>
          <a:xfrm>
            <a:off x="8801100" y="2862072"/>
            <a:ext cx="240944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8090"/>
              </a:buClr>
              <a:buSzPts val="950"/>
              <a:buFont typeface="Calibri"/>
              <a:buNone/>
            </a:pPr>
            <a:r>
              <a:rPr b="1" lang="en-US" sz="950">
                <a:solidFill>
                  <a:srgbClr val="028090"/>
                </a:solidFill>
                <a:latin typeface="Calibri"/>
                <a:ea typeface="Calibri"/>
                <a:cs typeface="Calibri"/>
                <a:sym typeface="Calibri"/>
              </a:rPr>
              <a:t>Forecast vs Actual</a:t>
            </a:r>
            <a:endParaRPr sz="950">
              <a:solidFill>
                <a:schemeClr val="dk1"/>
              </a:solidFill>
              <a:latin typeface="Calibri"/>
              <a:ea typeface="Calibri"/>
              <a:cs typeface="Calibri"/>
              <a:sym typeface="Calibri"/>
            </a:endParaRPr>
          </a:p>
        </p:txBody>
      </p:sp>
      <p:sp>
        <p:nvSpPr>
          <p:cNvPr id="258" name="Google Shape;258;p8"/>
          <p:cNvSpPr/>
          <p:nvPr/>
        </p:nvSpPr>
        <p:spPr>
          <a:xfrm>
            <a:off x="6263640" y="3337560"/>
            <a:ext cx="2409444" cy="329184"/>
          </a:xfrm>
          <a:prstGeom prst="roundRect">
            <a:avLst>
              <a:gd fmla="val 19444" name="adj"/>
            </a:avLst>
          </a:prstGeom>
          <a:solidFill>
            <a:srgbClr val="EAF3F1"/>
          </a:solidFill>
          <a:ln cap="flat" cmpd="sng" w="9525">
            <a:solidFill>
              <a:srgbClr val="BFE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8"/>
          <p:cNvSpPr txBox="1"/>
          <p:nvPr/>
        </p:nvSpPr>
        <p:spPr>
          <a:xfrm>
            <a:off x="6263640" y="3337560"/>
            <a:ext cx="240944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8090"/>
              </a:buClr>
              <a:buSzPts val="950"/>
              <a:buFont typeface="Calibri"/>
              <a:buNone/>
            </a:pPr>
            <a:r>
              <a:rPr b="1" lang="en-US" sz="950">
                <a:solidFill>
                  <a:srgbClr val="028090"/>
                </a:solidFill>
                <a:latin typeface="Calibri"/>
                <a:ea typeface="Calibri"/>
                <a:cs typeface="Calibri"/>
                <a:sym typeface="Calibri"/>
              </a:rPr>
              <a:t>Safety-Stock Hints</a:t>
            </a:r>
            <a:endParaRPr sz="950">
              <a:solidFill>
                <a:schemeClr val="dk1"/>
              </a:solidFill>
              <a:latin typeface="Calibri"/>
              <a:ea typeface="Calibri"/>
              <a:cs typeface="Calibri"/>
              <a:sym typeface="Calibri"/>
            </a:endParaRPr>
          </a:p>
        </p:txBody>
      </p:sp>
      <p:sp>
        <p:nvSpPr>
          <p:cNvPr id="260" name="Google Shape;260;p8"/>
          <p:cNvSpPr/>
          <p:nvPr/>
        </p:nvSpPr>
        <p:spPr>
          <a:xfrm>
            <a:off x="8801100" y="3337560"/>
            <a:ext cx="2409444" cy="329184"/>
          </a:xfrm>
          <a:prstGeom prst="roundRect">
            <a:avLst>
              <a:gd fmla="val 19444" name="adj"/>
            </a:avLst>
          </a:prstGeom>
          <a:solidFill>
            <a:srgbClr val="EAF3F1"/>
          </a:solidFill>
          <a:ln cap="flat" cmpd="sng" w="9525">
            <a:solidFill>
              <a:srgbClr val="BFE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8"/>
          <p:cNvSpPr txBox="1"/>
          <p:nvPr/>
        </p:nvSpPr>
        <p:spPr>
          <a:xfrm>
            <a:off x="8801100" y="3337560"/>
            <a:ext cx="240944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8090"/>
              </a:buClr>
              <a:buSzPts val="950"/>
              <a:buFont typeface="Calibri"/>
              <a:buNone/>
            </a:pPr>
            <a:r>
              <a:rPr b="1" lang="en-US" sz="950">
                <a:solidFill>
                  <a:srgbClr val="028090"/>
                </a:solidFill>
                <a:latin typeface="Calibri"/>
                <a:ea typeface="Calibri"/>
                <a:cs typeface="Calibri"/>
                <a:sym typeface="Calibri"/>
              </a:rPr>
              <a:t>Spoilage Analysis</a:t>
            </a:r>
            <a:endParaRPr sz="950">
              <a:solidFill>
                <a:schemeClr val="dk1"/>
              </a:solidFill>
              <a:latin typeface="Calibri"/>
              <a:ea typeface="Calibri"/>
              <a:cs typeface="Calibri"/>
              <a:sym typeface="Calibri"/>
            </a:endParaRPr>
          </a:p>
        </p:txBody>
      </p:sp>
      <p:sp>
        <p:nvSpPr>
          <p:cNvPr id="262" name="Google Shape;262;p8"/>
          <p:cNvSpPr/>
          <p:nvPr/>
        </p:nvSpPr>
        <p:spPr>
          <a:xfrm>
            <a:off x="502920" y="4215384"/>
            <a:ext cx="5349240" cy="2240280"/>
          </a:xfrm>
          <a:prstGeom prst="roundRect">
            <a:avLst>
              <a:gd fmla="val 3265" name="adj"/>
            </a:avLst>
          </a:prstGeom>
          <a:solidFill>
            <a:srgbClr val="FFFFFF"/>
          </a:solidFill>
          <a:ln cap="flat" cmpd="sng" w="9525">
            <a:solidFill>
              <a:srgbClr val="BFE8DC"/>
            </a:solidFill>
            <a:prstDash val="solid"/>
            <a:round/>
            <a:headEnd len="sm" w="sm" type="none"/>
            <a:tailEnd len="sm" w="sm" type="none"/>
          </a:ln>
          <a:effectLst>
            <a:outerShdw blurRad="63500" rotWithShape="0" algn="bl" dir="5400000" dist="25400">
              <a:srgbClr val="1B3B3B">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8"/>
          <p:cNvSpPr/>
          <p:nvPr/>
        </p:nvSpPr>
        <p:spPr>
          <a:xfrm>
            <a:off x="685800" y="4379976"/>
            <a:ext cx="640080" cy="219456"/>
          </a:xfrm>
          <a:prstGeom prst="roundRect">
            <a:avLst>
              <a:gd fmla="val 50000" name="adj"/>
            </a:avLst>
          </a:prstGeom>
          <a:solidFill>
            <a:srgbClr val="6FAFA6"/>
          </a:solidFill>
          <a:ln cap="flat" cmpd="sng" w="12700">
            <a:solidFill>
              <a:srgbClr val="6FAF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8"/>
          <p:cNvSpPr txBox="1"/>
          <p:nvPr/>
        </p:nvSpPr>
        <p:spPr>
          <a:xfrm>
            <a:off x="685800" y="4379976"/>
            <a:ext cx="64008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lang="en-US" sz="800">
                <a:solidFill>
                  <a:srgbClr val="FFFFFF"/>
                </a:solidFill>
                <a:latin typeface="Calibri"/>
                <a:ea typeface="Calibri"/>
                <a:cs typeface="Calibri"/>
                <a:sym typeface="Calibri"/>
              </a:rPr>
              <a:t>OP-03</a:t>
            </a:r>
            <a:endParaRPr sz="800">
              <a:solidFill>
                <a:schemeClr val="dk1"/>
              </a:solidFill>
              <a:latin typeface="Calibri"/>
              <a:ea typeface="Calibri"/>
              <a:cs typeface="Calibri"/>
              <a:sym typeface="Calibri"/>
            </a:endParaRPr>
          </a:p>
        </p:txBody>
      </p:sp>
      <p:sp>
        <p:nvSpPr>
          <p:cNvPr id="265" name="Google Shape;265;p8"/>
          <p:cNvSpPr txBox="1"/>
          <p:nvPr/>
        </p:nvSpPr>
        <p:spPr>
          <a:xfrm>
            <a:off x="1453896" y="4325112"/>
            <a:ext cx="42519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2C"/>
              </a:buClr>
              <a:buSzPts val="1250"/>
              <a:buFont typeface="Calibri"/>
              <a:buNone/>
            </a:pPr>
            <a:r>
              <a:rPr b="1" lang="en-US" sz="1250">
                <a:solidFill>
                  <a:srgbClr val="13292C"/>
                </a:solidFill>
                <a:latin typeface="Calibri"/>
                <a:ea typeface="Calibri"/>
                <a:cs typeface="Calibri"/>
                <a:sym typeface="Calibri"/>
              </a:rPr>
              <a:t>Warehouse Exception Workflow</a:t>
            </a:r>
            <a:endParaRPr sz="1250">
              <a:solidFill>
                <a:schemeClr val="dk1"/>
              </a:solidFill>
              <a:latin typeface="Calibri"/>
              <a:ea typeface="Calibri"/>
              <a:cs typeface="Calibri"/>
              <a:sym typeface="Calibri"/>
            </a:endParaRPr>
          </a:p>
        </p:txBody>
      </p:sp>
      <p:sp>
        <p:nvSpPr>
          <p:cNvPr id="266" name="Google Shape;266;p8"/>
          <p:cNvSpPr txBox="1"/>
          <p:nvPr/>
        </p:nvSpPr>
        <p:spPr>
          <a:xfrm>
            <a:off x="685800" y="4672584"/>
            <a:ext cx="5001768"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C6764"/>
              </a:buClr>
              <a:buSzPts val="1000"/>
              <a:buFont typeface="Calibri"/>
              <a:buNone/>
            </a:pPr>
            <a:r>
              <a:rPr lang="en-US" sz="1000">
                <a:solidFill>
                  <a:srgbClr val="4C6764"/>
                </a:solidFill>
                <a:latin typeface="Calibri"/>
                <a:ea typeface="Calibri"/>
                <a:cs typeface="Calibri"/>
                <a:sym typeface="Calibri"/>
              </a:rPr>
              <a:t>Damage reports and controlled multi-level write-off of unusable or expired batches with photo evidence and stock validation before final deduction.</a:t>
            </a:r>
            <a:endParaRPr sz="1000">
              <a:solidFill>
                <a:schemeClr val="dk1"/>
              </a:solidFill>
              <a:latin typeface="Calibri"/>
              <a:ea typeface="Calibri"/>
              <a:cs typeface="Calibri"/>
              <a:sym typeface="Calibri"/>
            </a:endParaRPr>
          </a:p>
        </p:txBody>
      </p:sp>
      <p:sp>
        <p:nvSpPr>
          <p:cNvPr id="267" name="Google Shape;267;p8"/>
          <p:cNvSpPr/>
          <p:nvPr/>
        </p:nvSpPr>
        <p:spPr>
          <a:xfrm>
            <a:off x="685800" y="5257800"/>
            <a:ext cx="5001768" cy="6401"/>
          </a:xfrm>
          <a:prstGeom prst="rect">
            <a:avLst/>
          </a:prstGeom>
          <a:solidFill>
            <a:srgbClr val="BFE8DC"/>
          </a:solidFill>
          <a:ln cap="flat" cmpd="sng" w="12700">
            <a:solidFill>
              <a:srgbClr val="BFE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8"/>
          <p:cNvSpPr/>
          <p:nvPr/>
        </p:nvSpPr>
        <p:spPr>
          <a:xfrm>
            <a:off x="685800" y="5340096"/>
            <a:ext cx="2409444" cy="329184"/>
          </a:xfrm>
          <a:prstGeom prst="roundRect">
            <a:avLst>
              <a:gd fmla="val 19444" name="adj"/>
            </a:avLst>
          </a:prstGeom>
          <a:solidFill>
            <a:srgbClr val="EAF3F1"/>
          </a:solidFill>
          <a:ln cap="flat" cmpd="sng" w="9525">
            <a:solidFill>
              <a:srgbClr val="BFE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8"/>
          <p:cNvSpPr txBox="1"/>
          <p:nvPr/>
        </p:nvSpPr>
        <p:spPr>
          <a:xfrm>
            <a:off x="685800" y="5340096"/>
            <a:ext cx="240944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8090"/>
              </a:buClr>
              <a:buSzPts val="950"/>
              <a:buFont typeface="Calibri"/>
              <a:buNone/>
            </a:pPr>
            <a:r>
              <a:rPr b="1" lang="en-US" sz="950">
                <a:solidFill>
                  <a:srgbClr val="028090"/>
                </a:solidFill>
                <a:latin typeface="Calibri"/>
                <a:ea typeface="Calibri"/>
                <a:cs typeface="Calibri"/>
                <a:sym typeface="Calibri"/>
              </a:rPr>
              <a:t>Damage Reporting</a:t>
            </a:r>
            <a:endParaRPr sz="950">
              <a:solidFill>
                <a:schemeClr val="dk1"/>
              </a:solidFill>
              <a:latin typeface="Calibri"/>
              <a:ea typeface="Calibri"/>
              <a:cs typeface="Calibri"/>
              <a:sym typeface="Calibri"/>
            </a:endParaRPr>
          </a:p>
        </p:txBody>
      </p:sp>
      <p:sp>
        <p:nvSpPr>
          <p:cNvPr id="270" name="Google Shape;270;p8"/>
          <p:cNvSpPr/>
          <p:nvPr/>
        </p:nvSpPr>
        <p:spPr>
          <a:xfrm>
            <a:off x="3223260" y="5340096"/>
            <a:ext cx="2409444" cy="329184"/>
          </a:xfrm>
          <a:prstGeom prst="roundRect">
            <a:avLst>
              <a:gd fmla="val 19444" name="adj"/>
            </a:avLst>
          </a:prstGeom>
          <a:solidFill>
            <a:srgbClr val="EAF3F1"/>
          </a:solidFill>
          <a:ln cap="flat" cmpd="sng" w="9525">
            <a:solidFill>
              <a:srgbClr val="BFE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8"/>
          <p:cNvSpPr txBox="1"/>
          <p:nvPr/>
        </p:nvSpPr>
        <p:spPr>
          <a:xfrm>
            <a:off x="3223260" y="5340096"/>
            <a:ext cx="240944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8090"/>
              </a:buClr>
              <a:buSzPts val="950"/>
              <a:buFont typeface="Calibri"/>
              <a:buNone/>
            </a:pPr>
            <a:r>
              <a:rPr b="1" lang="en-US" sz="950">
                <a:solidFill>
                  <a:srgbClr val="028090"/>
                </a:solidFill>
                <a:latin typeface="Calibri"/>
                <a:ea typeface="Calibri"/>
                <a:cs typeface="Calibri"/>
                <a:sym typeface="Calibri"/>
              </a:rPr>
              <a:t>Multi-Level Write-off</a:t>
            </a:r>
            <a:endParaRPr sz="950">
              <a:solidFill>
                <a:schemeClr val="dk1"/>
              </a:solidFill>
              <a:latin typeface="Calibri"/>
              <a:ea typeface="Calibri"/>
              <a:cs typeface="Calibri"/>
              <a:sym typeface="Calibri"/>
            </a:endParaRPr>
          </a:p>
        </p:txBody>
      </p:sp>
      <p:sp>
        <p:nvSpPr>
          <p:cNvPr id="272" name="Google Shape;272;p8"/>
          <p:cNvSpPr/>
          <p:nvPr/>
        </p:nvSpPr>
        <p:spPr>
          <a:xfrm>
            <a:off x="685800" y="5815584"/>
            <a:ext cx="2409444" cy="329184"/>
          </a:xfrm>
          <a:prstGeom prst="roundRect">
            <a:avLst>
              <a:gd fmla="val 19444" name="adj"/>
            </a:avLst>
          </a:prstGeom>
          <a:solidFill>
            <a:srgbClr val="EAF3F1"/>
          </a:solidFill>
          <a:ln cap="flat" cmpd="sng" w="9525">
            <a:solidFill>
              <a:srgbClr val="BFE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8"/>
          <p:cNvSpPr txBox="1"/>
          <p:nvPr/>
        </p:nvSpPr>
        <p:spPr>
          <a:xfrm>
            <a:off x="685800" y="5815584"/>
            <a:ext cx="240944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8090"/>
              </a:buClr>
              <a:buSzPts val="950"/>
              <a:buFont typeface="Calibri"/>
              <a:buNone/>
            </a:pPr>
            <a:r>
              <a:rPr b="1" lang="en-US" sz="950">
                <a:solidFill>
                  <a:srgbClr val="028090"/>
                </a:solidFill>
                <a:latin typeface="Calibri"/>
                <a:ea typeface="Calibri"/>
                <a:cs typeface="Calibri"/>
                <a:sym typeface="Calibri"/>
              </a:rPr>
              <a:t>Photo Evidence</a:t>
            </a:r>
            <a:endParaRPr sz="950">
              <a:solidFill>
                <a:schemeClr val="dk1"/>
              </a:solidFill>
              <a:latin typeface="Calibri"/>
              <a:ea typeface="Calibri"/>
              <a:cs typeface="Calibri"/>
              <a:sym typeface="Calibri"/>
            </a:endParaRPr>
          </a:p>
        </p:txBody>
      </p:sp>
      <p:sp>
        <p:nvSpPr>
          <p:cNvPr id="274" name="Google Shape;274;p8"/>
          <p:cNvSpPr/>
          <p:nvPr/>
        </p:nvSpPr>
        <p:spPr>
          <a:xfrm>
            <a:off x="3223260" y="5815584"/>
            <a:ext cx="2409444" cy="329184"/>
          </a:xfrm>
          <a:prstGeom prst="roundRect">
            <a:avLst>
              <a:gd fmla="val 19444" name="adj"/>
            </a:avLst>
          </a:prstGeom>
          <a:solidFill>
            <a:srgbClr val="EAF3F1"/>
          </a:solidFill>
          <a:ln cap="flat" cmpd="sng" w="9525">
            <a:solidFill>
              <a:srgbClr val="BFE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8"/>
          <p:cNvSpPr txBox="1"/>
          <p:nvPr/>
        </p:nvSpPr>
        <p:spPr>
          <a:xfrm>
            <a:off x="3223260" y="5815584"/>
            <a:ext cx="240944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8090"/>
              </a:buClr>
              <a:buSzPts val="950"/>
              <a:buFont typeface="Calibri"/>
              <a:buNone/>
            </a:pPr>
            <a:r>
              <a:rPr b="1" lang="en-US" sz="950">
                <a:solidFill>
                  <a:srgbClr val="028090"/>
                </a:solidFill>
                <a:latin typeface="Calibri"/>
                <a:ea typeface="Calibri"/>
                <a:cs typeface="Calibri"/>
                <a:sym typeface="Calibri"/>
              </a:rPr>
              <a:t>Audit Trail</a:t>
            </a:r>
            <a:endParaRPr sz="950">
              <a:solidFill>
                <a:schemeClr val="dk1"/>
              </a:solidFill>
              <a:latin typeface="Calibri"/>
              <a:ea typeface="Calibri"/>
              <a:cs typeface="Calibri"/>
              <a:sym typeface="Calibri"/>
            </a:endParaRPr>
          </a:p>
        </p:txBody>
      </p:sp>
      <p:sp>
        <p:nvSpPr>
          <p:cNvPr id="276" name="Google Shape;276;p8"/>
          <p:cNvSpPr/>
          <p:nvPr/>
        </p:nvSpPr>
        <p:spPr>
          <a:xfrm>
            <a:off x="6080760" y="4215384"/>
            <a:ext cx="5349240" cy="2240280"/>
          </a:xfrm>
          <a:prstGeom prst="roundRect">
            <a:avLst>
              <a:gd fmla="val 3265" name="adj"/>
            </a:avLst>
          </a:prstGeom>
          <a:solidFill>
            <a:srgbClr val="FFFFFF"/>
          </a:solidFill>
          <a:ln cap="flat" cmpd="sng" w="9525">
            <a:solidFill>
              <a:srgbClr val="BFE8DC"/>
            </a:solidFill>
            <a:prstDash val="solid"/>
            <a:round/>
            <a:headEnd len="sm" w="sm" type="none"/>
            <a:tailEnd len="sm" w="sm" type="none"/>
          </a:ln>
          <a:effectLst>
            <a:outerShdw blurRad="63500" rotWithShape="0" algn="bl" dir="5400000" dist="25400">
              <a:srgbClr val="1B3B3B">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8"/>
          <p:cNvSpPr/>
          <p:nvPr/>
        </p:nvSpPr>
        <p:spPr>
          <a:xfrm>
            <a:off x="6263640" y="4379976"/>
            <a:ext cx="640080" cy="219456"/>
          </a:xfrm>
          <a:prstGeom prst="roundRect">
            <a:avLst>
              <a:gd fmla="val 50000" name="adj"/>
            </a:avLst>
          </a:prstGeom>
          <a:solidFill>
            <a:srgbClr val="6FAFA6"/>
          </a:solidFill>
          <a:ln cap="flat" cmpd="sng" w="12700">
            <a:solidFill>
              <a:srgbClr val="6FAF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8"/>
          <p:cNvSpPr txBox="1"/>
          <p:nvPr/>
        </p:nvSpPr>
        <p:spPr>
          <a:xfrm>
            <a:off x="6263640" y="4379976"/>
            <a:ext cx="64008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lang="en-US" sz="800">
                <a:solidFill>
                  <a:srgbClr val="FFFFFF"/>
                </a:solidFill>
                <a:latin typeface="Calibri"/>
                <a:ea typeface="Calibri"/>
                <a:cs typeface="Calibri"/>
                <a:sym typeface="Calibri"/>
              </a:rPr>
              <a:t>OP-04</a:t>
            </a:r>
            <a:endParaRPr sz="800">
              <a:solidFill>
                <a:schemeClr val="dk1"/>
              </a:solidFill>
              <a:latin typeface="Calibri"/>
              <a:ea typeface="Calibri"/>
              <a:cs typeface="Calibri"/>
              <a:sym typeface="Calibri"/>
            </a:endParaRPr>
          </a:p>
        </p:txBody>
      </p:sp>
      <p:sp>
        <p:nvSpPr>
          <p:cNvPr id="279" name="Google Shape;279;p8"/>
          <p:cNvSpPr txBox="1"/>
          <p:nvPr/>
        </p:nvSpPr>
        <p:spPr>
          <a:xfrm>
            <a:off x="7031736" y="4325112"/>
            <a:ext cx="42519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2C"/>
              </a:buClr>
              <a:buSzPts val="1250"/>
              <a:buFont typeface="Calibri"/>
              <a:buNone/>
            </a:pPr>
            <a:r>
              <a:rPr b="1" lang="en-US" sz="1250">
                <a:solidFill>
                  <a:srgbClr val="13292C"/>
                </a:solidFill>
                <a:latin typeface="Calibri"/>
                <a:ea typeface="Calibri"/>
                <a:cs typeface="Calibri"/>
                <a:sym typeface="Calibri"/>
              </a:rPr>
              <a:t>Advanced Intelligence &amp; Traceability</a:t>
            </a:r>
            <a:endParaRPr sz="1250">
              <a:solidFill>
                <a:schemeClr val="dk1"/>
              </a:solidFill>
              <a:latin typeface="Calibri"/>
              <a:ea typeface="Calibri"/>
              <a:cs typeface="Calibri"/>
              <a:sym typeface="Calibri"/>
            </a:endParaRPr>
          </a:p>
        </p:txBody>
      </p:sp>
      <p:sp>
        <p:nvSpPr>
          <p:cNvPr id="280" name="Google Shape;280;p8"/>
          <p:cNvSpPr txBox="1"/>
          <p:nvPr/>
        </p:nvSpPr>
        <p:spPr>
          <a:xfrm>
            <a:off x="6263640" y="4672584"/>
            <a:ext cx="5001768"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C6764"/>
              </a:buClr>
              <a:buSzPts val="1000"/>
              <a:buFont typeface="Calibri"/>
              <a:buNone/>
            </a:pPr>
            <a:r>
              <a:rPr lang="en-US" sz="1000">
                <a:solidFill>
                  <a:srgbClr val="4C6764"/>
                </a:solidFill>
                <a:latin typeface="Calibri"/>
                <a:ea typeface="Calibri"/>
                <a:cs typeface="Calibri"/>
                <a:sym typeface="Calibri"/>
              </a:rPr>
              <a:t>OCR / LLM assistance for product labels, shelf-image analysis, expanded batch recall, additional promotion types and external payment or transport integrations.</a:t>
            </a:r>
            <a:endParaRPr sz="1000">
              <a:solidFill>
                <a:schemeClr val="dk1"/>
              </a:solidFill>
              <a:latin typeface="Calibri"/>
              <a:ea typeface="Calibri"/>
              <a:cs typeface="Calibri"/>
              <a:sym typeface="Calibri"/>
            </a:endParaRPr>
          </a:p>
        </p:txBody>
      </p:sp>
      <p:sp>
        <p:nvSpPr>
          <p:cNvPr id="281" name="Google Shape;281;p8"/>
          <p:cNvSpPr/>
          <p:nvPr/>
        </p:nvSpPr>
        <p:spPr>
          <a:xfrm>
            <a:off x="6263640" y="5257800"/>
            <a:ext cx="5001768" cy="6401"/>
          </a:xfrm>
          <a:prstGeom prst="rect">
            <a:avLst/>
          </a:prstGeom>
          <a:solidFill>
            <a:srgbClr val="BFE8DC"/>
          </a:solidFill>
          <a:ln cap="flat" cmpd="sng" w="12700">
            <a:solidFill>
              <a:srgbClr val="BFE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8"/>
          <p:cNvSpPr/>
          <p:nvPr/>
        </p:nvSpPr>
        <p:spPr>
          <a:xfrm>
            <a:off x="6263640" y="5340096"/>
            <a:ext cx="2409444" cy="329184"/>
          </a:xfrm>
          <a:prstGeom prst="roundRect">
            <a:avLst>
              <a:gd fmla="val 19444" name="adj"/>
            </a:avLst>
          </a:prstGeom>
          <a:solidFill>
            <a:srgbClr val="EAF3F1"/>
          </a:solidFill>
          <a:ln cap="flat" cmpd="sng" w="9525">
            <a:solidFill>
              <a:srgbClr val="BFE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8"/>
          <p:cNvSpPr txBox="1"/>
          <p:nvPr/>
        </p:nvSpPr>
        <p:spPr>
          <a:xfrm>
            <a:off x="6263640" y="5340096"/>
            <a:ext cx="240944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8090"/>
              </a:buClr>
              <a:buSzPts val="950"/>
              <a:buFont typeface="Calibri"/>
              <a:buNone/>
            </a:pPr>
            <a:r>
              <a:rPr b="1" lang="en-US" sz="950">
                <a:solidFill>
                  <a:srgbClr val="028090"/>
                </a:solidFill>
                <a:latin typeface="Calibri"/>
                <a:ea typeface="Calibri"/>
                <a:cs typeface="Calibri"/>
                <a:sym typeface="Calibri"/>
              </a:rPr>
              <a:t>OCR / LLM Label Assist</a:t>
            </a:r>
            <a:endParaRPr sz="950">
              <a:solidFill>
                <a:schemeClr val="dk1"/>
              </a:solidFill>
              <a:latin typeface="Calibri"/>
              <a:ea typeface="Calibri"/>
              <a:cs typeface="Calibri"/>
              <a:sym typeface="Calibri"/>
            </a:endParaRPr>
          </a:p>
        </p:txBody>
      </p:sp>
      <p:sp>
        <p:nvSpPr>
          <p:cNvPr id="284" name="Google Shape;284;p8"/>
          <p:cNvSpPr/>
          <p:nvPr/>
        </p:nvSpPr>
        <p:spPr>
          <a:xfrm>
            <a:off x="8801100" y="5340096"/>
            <a:ext cx="2409444" cy="329184"/>
          </a:xfrm>
          <a:prstGeom prst="roundRect">
            <a:avLst>
              <a:gd fmla="val 19444" name="adj"/>
            </a:avLst>
          </a:prstGeom>
          <a:solidFill>
            <a:srgbClr val="EAF3F1"/>
          </a:solidFill>
          <a:ln cap="flat" cmpd="sng" w="9525">
            <a:solidFill>
              <a:srgbClr val="BFE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8"/>
          <p:cNvSpPr txBox="1"/>
          <p:nvPr/>
        </p:nvSpPr>
        <p:spPr>
          <a:xfrm>
            <a:off x="8801100" y="5340096"/>
            <a:ext cx="240944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8090"/>
              </a:buClr>
              <a:buSzPts val="950"/>
              <a:buFont typeface="Calibri"/>
              <a:buNone/>
            </a:pPr>
            <a:r>
              <a:rPr b="1" lang="en-US" sz="950">
                <a:solidFill>
                  <a:srgbClr val="028090"/>
                </a:solidFill>
                <a:latin typeface="Calibri"/>
                <a:ea typeface="Calibri"/>
                <a:cs typeface="Calibri"/>
                <a:sym typeface="Calibri"/>
              </a:rPr>
              <a:t>Shelf-Image Analysis</a:t>
            </a:r>
            <a:endParaRPr sz="950">
              <a:solidFill>
                <a:schemeClr val="dk1"/>
              </a:solidFill>
              <a:latin typeface="Calibri"/>
              <a:ea typeface="Calibri"/>
              <a:cs typeface="Calibri"/>
              <a:sym typeface="Calibri"/>
            </a:endParaRPr>
          </a:p>
        </p:txBody>
      </p:sp>
      <p:sp>
        <p:nvSpPr>
          <p:cNvPr id="286" name="Google Shape;286;p8"/>
          <p:cNvSpPr/>
          <p:nvPr/>
        </p:nvSpPr>
        <p:spPr>
          <a:xfrm>
            <a:off x="6263640" y="5815584"/>
            <a:ext cx="2409444" cy="329184"/>
          </a:xfrm>
          <a:prstGeom prst="roundRect">
            <a:avLst>
              <a:gd fmla="val 19444" name="adj"/>
            </a:avLst>
          </a:prstGeom>
          <a:solidFill>
            <a:srgbClr val="EAF3F1"/>
          </a:solidFill>
          <a:ln cap="flat" cmpd="sng" w="9525">
            <a:solidFill>
              <a:srgbClr val="BFE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8"/>
          <p:cNvSpPr txBox="1"/>
          <p:nvPr/>
        </p:nvSpPr>
        <p:spPr>
          <a:xfrm>
            <a:off x="6263640" y="5815584"/>
            <a:ext cx="240944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8090"/>
              </a:buClr>
              <a:buSzPts val="950"/>
              <a:buFont typeface="Calibri"/>
              <a:buNone/>
            </a:pPr>
            <a:r>
              <a:rPr b="1" lang="en-US" sz="950">
                <a:solidFill>
                  <a:srgbClr val="028090"/>
                </a:solidFill>
                <a:latin typeface="Calibri"/>
                <a:ea typeface="Calibri"/>
                <a:cs typeface="Calibri"/>
                <a:sym typeface="Calibri"/>
              </a:rPr>
              <a:t>Batch Recall</a:t>
            </a:r>
            <a:endParaRPr sz="950">
              <a:solidFill>
                <a:schemeClr val="dk1"/>
              </a:solidFill>
              <a:latin typeface="Calibri"/>
              <a:ea typeface="Calibri"/>
              <a:cs typeface="Calibri"/>
              <a:sym typeface="Calibri"/>
            </a:endParaRPr>
          </a:p>
        </p:txBody>
      </p:sp>
      <p:sp>
        <p:nvSpPr>
          <p:cNvPr id="288" name="Google Shape;288;p8"/>
          <p:cNvSpPr/>
          <p:nvPr/>
        </p:nvSpPr>
        <p:spPr>
          <a:xfrm>
            <a:off x="8801100" y="5815584"/>
            <a:ext cx="2409444" cy="329184"/>
          </a:xfrm>
          <a:prstGeom prst="roundRect">
            <a:avLst>
              <a:gd fmla="val 19444" name="adj"/>
            </a:avLst>
          </a:prstGeom>
          <a:solidFill>
            <a:srgbClr val="EAF3F1"/>
          </a:solidFill>
          <a:ln cap="flat" cmpd="sng" w="9525">
            <a:solidFill>
              <a:srgbClr val="BFE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8"/>
          <p:cNvSpPr txBox="1"/>
          <p:nvPr/>
        </p:nvSpPr>
        <p:spPr>
          <a:xfrm>
            <a:off x="8801100" y="5815584"/>
            <a:ext cx="240944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8090"/>
              </a:buClr>
              <a:buSzPts val="950"/>
              <a:buFont typeface="Calibri"/>
              <a:buNone/>
            </a:pPr>
            <a:r>
              <a:rPr b="1" lang="en-US" sz="950">
                <a:solidFill>
                  <a:srgbClr val="028090"/>
                </a:solidFill>
                <a:latin typeface="Calibri"/>
                <a:ea typeface="Calibri"/>
                <a:cs typeface="Calibri"/>
                <a:sym typeface="Calibri"/>
              </a:rPr>
              <a:t>More Promo Types</a:t>
            </a:r>
            <a:endParaRPr sz="950">
              <a:solidFill>
                <a:schemeClr val="dk1"/>
              </a:solidFill>
              <a:latin typeface="Calibri"/>
              <a:ea typeface="Calibri"/>
              <a:cs typeface="Calibri"/>
              <a:sym typeface="Calibri"/>
            </a:endParaRPr>
          </a:p>
        </p:txBody>
      </p:sp>
      <p:sp>
        <p:nvSpPr>
          <p:cNvPr id="290" name="Google Shape;290;p8"/>
          <p:cNvSpPr txBox="1"/>
          <p:nvPr/>
        </p:nvSpPr>
        <p:spPr>
          <a:xfrm>
            <a:off x="502920" y="6510528"/>
            <a:ext cx="73152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C5C0"/>
              </a:buClr>
              <a:buSzPts val="850"/>
              <a:buFont typeface="Calibri"/>
              <a:buNone/>
            </a:pPr>
            <a:r>
              <a:rPr lang="en-US" sz="850">
                <a:solidFill>
                  <a:srgbClr val="A8C5C0"/>
                </a:solidFill>
                <a:latin typeface="Calibri"/>
                <a:ea typeface="Calibri"/>
                <a:cs typeface="Calibri"/>
                <a:sym typeface="Calibri"/>
              </a:rPr>
              <a:t>FSCM  ·  Capstone Project Overview  ·  FA26SE083</a:t>
            </a:r>
            <a:endParaRPr sz="850">
              <a:solidFill>
                <a:schemeClr val="dk1"/>
              </a:solidFill>
              <a:latin typeface="Calibri"/>
              <a:ea typeface="Calibri"/>
              <a:cs typeface="Calibri"/>
              <a:sym typeface="Calibri"/>
            </a:endParaRPr>
          </a:p>
        </p:txBody>
      </p:sp>
      <p:sp>
        <p:nvSpPr>
          <p:cNvPr id="291" name="Google Shape;291;p8"/>
          <p:cNvSpPr txBox="1"/>
          <p:nvPr/>
        </p:nvSpPr>
        <p:spPr>
          <a:xfrm>
            <a:off x="11338560"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8C5C0"/>
              </a:buClr>
              <a:buSzPts val="850"/>
              <a:buFont typeface="Calibri"/>
              <a:buNone/>
            </a:pPr>
            <a:r>
              <a:rPr lang="en-US" sz="850">
                <a:solidFill>
                  <a:srgbClr val="A8C5C0"/>
                </a:solidFill>
                <a:latin typeface="Calibri"/>
                <a:ea typeface="Calibri"/>
                <a:cs typeface="Calibri"/>
                <a:sym typeface="Calibri"/>
              </a:rPr>
              <a:t>8</a:t>
            </a:r>
            <a:endParaRPr sz="85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E33"/>
        </a:solidFill>
      </p:bgPr>
    </p:bg>
    <p:spTree>
      <p:nvGrpSpPr>
        <p:cNvPr id="296" name="Shape 296"/>
        <p:cNvGrpSpPr/>
        <p:nvPr/>
      </p:nvGrpSpPr>
      <p:grpSpPr>
        <a:xfrm>
          <a:off x="0" y="0"/>
          <a:ext cx="0" cy="0"/>
          <a:chOff x="0" y="0"/>
          <a:chExt cx="0" cy="0"/>
        </a:xfrm>
      </p:grpSpPr>
      <p:sp>
        <p:nvSpPr>
          <p:cNvPr id="297" name="Google Shape;297;p9"/>
          <p:cNvSpPr txBox="1"/>
          <p:nvPr/>
        </p:nvSpPr>
        <p:spPr>
          <a:xfrm>
            <a:off x="502920" y="402336"/>
            <a:ext cx="10058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100"/>
              <a:buFont typeface="Calibri"/>
              <a:buNone/>
            </a:pPr>
            <a:r>
              <a:rPr b="1" lang="en-US" sz="1100">
                <a:solidFill>
                  <a:srgbClr val="02C39A"/>
                </a:solidFill>
                <a:latin typeface="Calibri"/>
                <a:ea typeface="Calibri"/>
                <a:cs typeface="Calibri"/>
                <a:sym typeface="Calibri"/>
              </a:rPr>
              <a:t>04 · SYSTEM QUALITY</a:t>
            </a:r>
            <a:endParaRPr sz="1100">
              <a:solidFill>
                <a:schemeClr val="dk1"/>
              </a:solidFill>
              <a:latin typeface="Calibri"/>
              <a:ea typeface="Calibri"/>
              <a:cs typeface="Calibri"/>
              <a:sym typeface="Calibri"/>
            </a:endParaRPr>
          </a:p>
        </p:txBody>
      </p:sp>
      <p:sp>
        <p:nvSpPr>
          <p:cNvPr id="298" name="Google Shape;298;p9"/>
          <p:cNvSpPr/>
          <p:nvPr/>
        </p:nvSpPr>
        <p:spPr>
          <a:xfrm>
            <a:off x="502920" y="731520"/>
            <a:ext cx="11201400" cy="13716"/>
          </a:xfrm>
          <a:prstGeom prst="rect">
            <a:avLst/>
          </a:prstGeom>
          <a:solidFill>
            <a:srgbClr val="1C5A60"/>
          </a:solidFill>
          <a:ln cap="flat" cmpd="sng" w="12700">
            <a:solidFill>
              <a:srgbClr val="1C5A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9"/>
          <p:cNvSpPr txBox="1"/>
          <p:nvPr/>
        </p:nvSpPr>
        <p:spPr>
          <a:xfrm>
            <a:off x="502920" y="777240"/>
            <a:ext cx="11201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mbria"/>
              <a:buNone/>
            </a:pPr>
            <a:r>
              <a:rPr b="1" lang="en-US" sz="3000">
                <a:solidFill>
                  <a:srgbClr val="FFFFFF"/>
                </a:solidFill>
                <a:latin typeface="Cambria"/>
                <a:ea typeface="Cambria"/>
                <a:cs typeface="Cambria"/>
                <a:sym typeface="Cambria"/>
              </a:rPr>
              <a:t>Non-Functional Requirements</a:t>
            </a:r>
            <a:endParaRPr sz="3000">
              <a:solidFill>
                <a:schemeClr val="dk1"/>
              </a:solidFill>
              <a:latin typeface="Calibri"/>
              <a:ea typeface="Calibri"/>
              <a:cs typeface="Calibri"/>
              <a:sym typeface="Calibri"/>
            </a:endParaRPr>
          </a:p>
        </p:txBody>
      </p:sp>
      <p:sp>
        <p:nvSpPr>
          <p:cNvPr id="300" name="Google Shape;300;p9"/>
          <p:cNvSpPr/>
          <p:nvPr/>
        </p:nvSpPr>
        <p:spPr>
          <a:xfrm>
            <a:off x="502920" y="1508760"/>
            <a:ext cx="2606040" cy="1417320"/>
          </a:xfrm>
          <a:prstGeom prst="roundRect">
            <a:avLst>
              <a:gd fmla="val 5161" name="adj"/>
            </a:avLst>
          </a:prstGeom>
          <a:solidFill>
            <a:srgbClr val="0F3D42"/>
          </a:solidFill>
          <a:ln cap="flat" cmpd="sng" w="9525">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9"/>
          <p:cNvSpPr/>
          <p:nvPr/>
        </p:nvSpPr>
        <p:spPr>
          <a:xfrm>
            <a:off x="502920" y="1508760"/>
            <a:ext cx="2606040" cy="41148"/>
          </a:xfrm>
          <a:prstGeom prst="roundRect">
            <a:avLst>
              <a:gd fmla="val 88889" name="adj"/>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9"/>
          <p:cNvSpPr txBox="1"/>
          <p:nvPr/>
        </p:nvSpPr>
        <p:spPr>
          <a:xfrm>
            <a:off x="667512" y="1618488"/>
            <a:ext cx="23317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Tech Stack</a:t>
            </a:r>
            <a:endParaRPr sz="1200">
              <a:solidFill>
                <a:schemeClr val="dk1"/>
              </a:solidFill>
              <a:latin typeface="Calibri"/>
              <a:ea typeface="Calibri"/>
              <a:cs typeface="Calibri"/>
              <a:sym typeface="Calibri"/>
            </a:endParaRPr>
          </a:p>
        </p:txBody>
      </p:sp>
      <p:sp>
        <p:nvSpPr>
          <p:cNvPr id="303" name="Google Shape;303;p9"/>
          <p:cNvSpPr txBox="1"/>
          <p:nvPr/>
        </p:nvSpPr>
        <p:spPr>
          <a:xfrm>
            <a:off x="667512" y="1965960"/>
            <a:ext cx="2331720" cy="85039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B8DAD5"/>
              </a:buClr>
              <a:buSzPts val="1000"/>
              <a:buFont typeface="Calibri"/>
              <a:buNone/>
            </a:pPr>
            <a:r>
              <a:rPr lang="en-US" sz="1000">
                <a:solidFill>
                  <a:srgbClr val="B8DAD5"/>
                </a:solidFill>
                <a:latin typeface="Calibri"/>
                <a:ea typeface="Calibri"/>
                <a:cs typeface="Calibri"/>
                <a:sym typeface="Calibri"/>
              </a:rPr>
              <a:t>ASP.NET Core REST API · React + TypeScript + Chart.js portal · Flutter mobile · Azure Database for PostgreSQL</a:t>
            </a:r>
            <a:endParaRPr sz="1000">
              <a:solidFill>
                <a:schemeClr val="dk1"/>
              </a:solidFill>
              <a:latin typeface="Calibri"/>
              <a:ea typeface="Calibri"/>
              <a:cs typeface="Calibri"/>
              <a:sym typeface="Calibri"/>
            </a:endParaRPr>
          </a:p>
        </p:txBody>
      </p:sp>
      <p:sp>
        <p:nvSpPr>
          <p:cNvPr id="304" name="Google Shape;304;p9"/>
          <p:cNvSpPr/>
          <p:nvPr/>
        </p:nvSpPr>
        <p:spPr>
          <a:xfrm>
            <a:off x="3310128" y="1508760"/>
            <a:ext cx="2606040" cy="1417320"/>
          </a:xfrm>
          <a:prstGeom prst="roundRect">
            <a:avLst>
              <a:gd fmla="val 5161" name="adj"/>
            </a:avLst>
          </a:prstGeom>
          <a:solidFill>
            <a:srgbClr val="0F3D42"/>
          </a:solidFill>
          <a:ln cap="flat" cmpd="sng" w="9525">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9"/>
          <p:cNvSpPr/>
          <p:nvPr/>
        </p:nvSpPr>
        <p:spPr>
          <a:xfrm>
            <a:off x="3310128" y="1508760"/>
            <a:ext cx="2606040" cy="41148"/>
          </a:xfrm>
          <a:prstGeom prst="roundRect">
            <a:avLst>
              <a:gd fmla="val 88889" name="adj"/>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9"/>
          <p:cNvSpPr txBox="1"/>
          <p:nvPr/>
        </p:nvSpPr>
        <p:spPr>
          <a:xfrm>
            <a:off x="3474720" y="1618488"/>
            <a:ext cx="23317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Identity &amp; Auth</a:t>
            </a:r>
            <a:endParaRPr sz="1200">
              <a:solidFill>
                <a:schemeClr val="dk1"/>
              </a:solidFill>
              <a:latin typeface="Calibri"/>
              <a:ea typeface="Calibri"/>
              <a:cs typeface="Calibri"/>
              <a:sym typeface="Calibri"/>
            </a:endParaRPr>
          </a:p>
        </p:txBody>
      </p:sp>
      <p:sp>
        <p:nvSpPr>
          <p:cNvPr id="307" name="Google Shape;307;p9"/>
          <p:cNvSpPr txBox="1"/>
          <p:nvPr/>
        </p:nvSpPr>
        <p:spPr>
          <a:xfrm>
            <a:off x="3474720" y="1965960"/>
            <a:ext cx="2331720" cy="85039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B8DAD5"/>
              </a:buClr>
              <a:buSzPts val="1000"/>
              <a:buFont typeface="Calibri"/>
              <a:buNone/>
            </a:pPr>
            <a:r>
              <a:rPr lang="en-US" sz="1000">
                <a:solidFill>
                  <a:srgbClr val="B8DAD5"/>
                </a:solidFill>
                <a:latin typeface="Calibri"/>
                <a:ea typeface="Calibri"/>
                <a:cs typeface="Calibri"/>
                <a:sym typeface="Calibri"/>
              </a:rPr>
              <a:t>Microsoft Entra ID sign-in; application roles control business actions and warehouse-level access</a:t>
            </a:r>
            <a:endParaRPr sz="1000">
              <a:solidFill>
                <a:schemeClr val="dk1"/>
              </a:solidFill>
              <a:latin typeface="Calibri"/>
              <a:ea typeface="Calibri"/>
              <a:cs typeface="Calibri"/>
              <a:sym typeface="Calibri"/>
            </a:endParaRPr>
          </a:p>
        </p:txBody>
      </p:sp>
      <p:sp>
        <p:nvSpPr>
          <p:cNvPr id="308" name="Google Shape;308;p9"/>
          <p:cNvSpPr/>
          <p:nvPr/>
        </p:nvSpPr>
        <p:spPr>
          <a:xfrm>
            <a:off x="6117336" y="1508760"/>
            <a:ext cx="2606040" cy="1417320"/>
          </a:xfrm>
          <a:prstGeom prst="roundRect">
            <a:avLst>
              <a:gd fmla="val 5161" name="adj"/>
            </a:avLst>
          </a:prstGeom>
          <a:solidFill>
            <a:srgbClr val="0F3D42"/>
          </a:solidFill>
          <a:ln cap="flat" cmpd="sng" w="9525">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9"/>
          <p:cNvSpPr/>
          <p:nvPr/>
        </p:nvSpPr>
        <p:spPr>
          <a:xfrm>
            <a:off x="6117336" y="1508760"/>
            <a:ext cx="2606040" cy="41148"/>
          </a:xfrm>
          <a:prstGeom prst="roundRect">
            <a:avLst>
              <a:gd fmla="val 88889" name="adj"/>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9"/>
          <p:cNvSpPr txBox="1"/>
          <p:nvPr/>
        </p:nvSpPr>
        <p:spPr>
          <a:xfrm>
            <a:off x="6281928" y="1618488"/>
            <a:ext cx="23317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Stock Integrity</a:t>
            </a:r>
            <a:endParaRPr sz="1200">
              <a:solidFill>
                <a:schemeClr val="dk1"/>
              </a:solidFill>
              <a:latin typeface="Calibri"/>
              <a:ea typeface="Calibri"/>
              <a:cs typeface="Calibri"/>
              <a:sym typeface="Calibri"/>
            </a:endParaRPr>
          </a:p>
        </p:txBody>
      </p:sp>
      <p:sp>
        <p:nvSpPr>
          <p:cNvPr id="311" name="Google Shape;311;p9"/>
          <p:cNvSpPr txBox="1"/>
          <p:nvPr/>
        </p:nvSpPr>
        <p:spPr>
          <a:xfrm>
            <a:off x="6281928" y="1965960"/>
            <a:ext cx="2331720" cy="85039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B8DAD5"/>
              </a:buClr>
              <a:buSzPts val="1000"/>
              <a:buFont typeface="Calibri"/>
              <a:buNone/>
            </a:pPr>
            <a:r>
              <a:rPr lang="en-US" sz="1000">
                <a:solidFill>
                  <a:srgbClr val="B8DAD5"/>
                </a:solidFill>
                <a:latin typeface="Calibri"/>
                <a:ea typeface="Calibri"/>
                <a:cs typeface="Calibri"/>
                <a:sym typeface="Calibri"/>
              </a:rPr>
              <a:t>Transactional reservation and availability checks prevent negative availability and double-booking of batches</a:t>
            </a:r>
            <a:endParaRPr sz="1000">
              <a:solidFill>
                <a:schemeClr val="dk1"/>
              </a:solidFill>
              <a:latin typeface="Calibri"/>
              <a:ea typeface="Calibri"/>
              <a:cs typeface="Calibri"/>
              <a:sym typeface="Calibri"/>
            </a:endParaRPr>
          </a:p>
        </p:txBody>
      </p:sp>
      <p:sp>
        <p:nvSpPr>
          <p:cNvPr id="312" name="Google Shape;312;p9"/>
          <p:cNvSpPr/>
          <p:nvPr/>
        </p:nvSpPr>
        <p:spPr>
          <a:xfrm>
            <a:off x="8924544" y="1508760"/>
            <a:ext cx="2606040" cy="1417320"/>
          </a:xfrm>
          <a:prstGeom prst="roundRect">
            <a:avLst>
              <a:gd fmla="val 5161" name="adj"/>
            </a:avLst>
          </a:prstGeom>
          <a:solidFill>
            <a:srgbClr val="0F3D42"/>
          </a:solidFill>
          <a:ln cap="flat" cmpd="sng" w="9525">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9"/>
          <p:cNvSpPr/>
          <p:nvPr/>
        </p:nvSpPr>
        <p:spPr>
          <a:xfrm>
            <a:off x="8924544" y="1508760"/>
            <a:ext cx="2606040" cy="41148"/>
          </a:xfrm>
          <a:prstGeom prst="roundRect">
            <a:avLst>
              <a:gd fmla="val 88889" name="adj"/>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9"/>
          <p:cNvSpPr txBox="1"/>
          <p:nvPr/>
        </p:nvSpPr>
        <p:spPr>
          <a:xfrm>
            <a:off x="9089136" y="1618488"/>
            <a:ext cx="23317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Idempotency &amp; Audit</a:t>
            </a:r>
            <a:endParaRPr sz="1200">
              <a:solidFill>
                <a:schemeClr val="dk1"/>
              </a:solidFill>
              <a:latin typeface="Calibri"/>
              <a:ea typeface="Calibri"/>
              <a:cs typeface="Calibri"/>
              <a:sym typeface="Calibri"/>
            </a:endParaRPr>
          </a:p>
        </p:txBody>
      </p:sp>
      <p:sp>
        <p:nvSpPr>
          <p:cNvPr id="315" name="Google Shape;315;p9"/>
          <p:cNvSpPr txBox="1"/>
          <p:nvPr/>
        </p:nvSpPr>
        <p:spPr>
          <a:xfrm>
            <a:off x="9089136" y="1965960"/>
            <a:ext cx="2331720" cy="85039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B8DAD5"/>
              </a:buClr>
              <a:buSzPts val="1000"/>
              <a:buFont typeface="Calibri"/>
              <a:buNone/>
            </a:pPr>
            <a:r>
              <a:rPr lang="en-US" sz="1000">
                <a:solidFill>
                  <a:srgbClr val="B8DAD5"/>
                </a:solidFill>
                <a:latin typeface="Calibri"/>
                <a:ea typeface="Calibri"/>
                <a:cs typeface="Calibri"/>
                <a:sym typeface="Calibri"/>
              </a:rPr>
              <a:t>Idempotent sync and reservation processing; full audit history on critical order transitions</a:t>
            </a:r>
            <a:endParaRPr sz="1000">
              <a:solidFill>
                <a:schemeClr val="dk1"/>
              </a:solidFill>
              <a:latin typeface="Calibri"/>
              <a:ea typeface="Calibri"/>
              <a:cs typeface="Calibri"/>
              <a:sym typeface="Calibri"/>
            </a:endParaRPr>
          </a:p>
        </p:txBody>
      </p:sp>
      <p:sp>
        <p:nvSpPr>
          <p:cNvPr id="316" name="Google Shape;316;p9"/>
          <p:cNvSpPr/>
          <p:nvPr/>
        </p:nvSpPr>
        <p:spPr>
          <a:xfrm>
            <a:off x="502920" y="3090672"/>
            <a:ext cx="2606040" cy="1417320"/>
          </a:xfrm>
          <a:prstGeom prst="roundRect">
            <a:avLst>
              <a:gd fmla="val 5161" name="adj"/>
            </a:avLst>
          </a:prstGeom>
          <a:solidFill>
            <a:srgbClr val="0F3D42"/>
          </a:solidFill>
          <a:ln cap="flat" cmpd="sng" w="9525">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9"/>
          <p:cNvSpPr/>
          <p:nvPr/>
        </p:nvSpPr>
        <p:spPr>
          <a:xfrm>
            <a:off x="502920" y="3090672"/>
            <a:ext cx="2606040" cy="41148"/>
          </a:xfrm>
          <a:prstGeom prst="roundRect">
            <a:avLst>
              <a:gd fmla="val 88889" name="adj"/>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9"/>
          <p:cNvSpPr txBox="1"/>
          <p:nvPr/>
        </p:nvSpPr>
        <p:spPr>
          <a:xfrm>
            <a:off x="667512" y="3200400"/>
            <a:ext cx="23317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Offline-First Mobile</a:t>
            </a:r>
            <a:endParaRPr sz="1200">
              <a:solidFill>
                <a:schemeClr val="dk1"/>
              </a:solidFill>
              <a:latin typeface="Calibri"/>
              <a:ea typeface="Calibri"/>
              <a:cs typeface="Calibri"/>
              <a:sym typeface="Calibri"/>
            </a:endParaRPr>
          </a:p>
        </p:txBody>
      </p:sp>
      <p:sp>
        <p:nvSpPr>
          <p:cNvPr id="319" name="Google Shape;319;p9"/>
          <p:cNvSpPr txBox="1"/>
          <p:nvPr/>
        </p:nvSpPr>
        <p:spPr>
          <a:xfrm>
            <a:off x="667512" y="3547872"/>
            <a:ext cx="2331720" cy="85039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B8DAD5"/>
              </a:buClr>
              <a:buSzPts val="1000"/>
              <a:buFont typeface="Calibri"/>
              <a:buNone/>
            </a:pPr>
            <a:r>
              <a:rPr lang="en-US" sz="1000">
                <a:solidFill>
                  <a:srgbClr val="B8DAD5"/>
                </a:solidFill>
                <a:latin typeface="Calibri"/>
                <a:ea typeface="Calibri"/>
                <a:cs typeface="Calibri"/>
                <a:sym typeface="Calibri"/>
              </a:rPr>
              <a:t>SQLite cache and order queue on device; sync on reconnect — server re-validates current stock</a:t>
            </a:r>
            <a:endParaRPr sz="1000">
              <a:solidFill>
                <a:schemeClr val="dk1"/>
              </a:solidFill>
              <a:latin typeface="Calibri"/>
              <a:ea typeface="Calibri"/>
              <a:cs typeface="Calibri"/>
              <a:sym typeface="Calibri"/>
            </a:endParaRPr>
          </a:p>
        </p:txBody>
      </p:sp>
      <p:sp>
        <p:nvSpPr>
          <p:cNvPr id="320" name="Google Shape;320;p9"/>
          <p:cNvSpPr/>
          <p:nvPr/>
        </p:nvSpPr>
        <p:spPr>
          <a:xfrm>
            <a:off x="3310128" y="3090672"/>
            <a:ext cx="2606040" cy="1417320"/>
          </a:xfrm>
          <a:prstGeom prst="roundRect">
            <a:avLst>
              <a:gd fmla="val 5161" name="adj"/>
            </a:avLst>
          </a:prstGeom>
          <a:solidFill>
            <a:srgbClr val="0F3D42"/>
          </a:solidFill>
          <a:ln cap="flat" cmpd="sng" w="9525">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9"/>
          <p:cNvSpPr/>
          <p:nvPr/>
        </p:nvSpPr>
        <p:spPr>
          <a:xfrm>
            <a:off x="3310128" y="3090672"/>
            <a:ext cx="2606040" cy="41148"/>
          </a:xfrm>
          <a:prstGeom prst="roundRect">
            <a:avLst>
              <a:gd fmla="val 88889" name="adj"/>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9"/>
          <p:cNvSpPr txBox="1"/>
          <p:nvPr/>
        </p:nvSpPr>
        <p:spPr>
          <a:xfrm>
            <a:off x="3474720" y="3200400"/>
            <a:ext cx="23317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Async Processing</a:t>
            </a:r>
            <a:endParaRPr sz="1200">
              <a:solidFill>
                <a:schemeClr val="dk1"/>
              </a:solidFill>
              <a:latin typeface="Calibri"/>
              <a:ea typeface="Calibri"/>
              <a:cs typeface="Calibri"/>
              <a:sym typeface="Calibri"/>
            </a:endParaRPr>
          </a:p>
        </p:txBody>
      </p:sp>
      <p:sp>
        <p:nvSpPr>
          <p:cNvPr id="323" name="Google Shape;323;p9"/>
          <p:cNvSpPr txBox="1"/>
          <p:nvPr/>
        </p:nvSpPr>
        <p:spPr>
          <a:xfrm>
            <a:off x="3474720" y="3547872"/>
            <a:ext cx="2331720" cy="85039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B8DAD5"/>
              </a:buClr>
              <a:buSzPts val="1000"/>
              <a:buFont typeface="Calibri"/>
              <a:buNone/>
            </a:pPr>
            <a:r>
              <a:rPr lang="en-US" sz="1000">
                <a:solidFill>
                  <a:srgbClr val="B8DAD5"/>
                </a:solidFill>
                <a:latin typeface="Calibri"/>
                <a:ea typeface="Calibri"/>
                <a:cs typeface="Calibri"/>
                <a:sym typeface="Calibri"/>
              </a:rPr>
              <a:t>PostgreSQL transactional outbox + worker service; expiry-date checks via Azure Functions Timer Trigger</a:t>
            </a:r>
            <a:endParaRPr sz="1000">
              <a:solidFill>
                <a:schemeClr val="dk1"/>
              </a:solidFill>
              <a:latin typeface="Calibri"/>
              <a:ea typeface="Calibri"/>
              <a:cs typeface="Calibri"/>
              <a:sym typeface="Calibri"/>
            </a:endParaRPr>
          </a:p>
        </p:txBody>
      </p:sp>
      <p:sp>
        <p:nvSpPr>
          <p:cNvPr id="324" name="Google Shape;324;p9"/>
          <p:cNvSpPr/>
          <p:nvPr/>
        </p:nvSpPr>
        <p:spPr>
          <a:xfrm>
            <a:off x="6117336" y="3090672"/>
            <a:ext cx="2606040" cy="1417320"/>
          </a:xfrm>
          <a:prstGeom prst="roundRect">
            <a:avLst>
              <a:gd fmla="val 5161" name="adj"/>
            </a:avLst>
          </a:prstGeom>
          <a:solidFill>
            <a:srgbClr val="0F3D42"/>
          </a:solidFill>
          <a:ln cap="flat" cmpd="sng" w="9525">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9"/>
          <p:cNvSpPr/>
          <p:nvPr/>
        </p:nvSpPr>
        <p:spPr>
          <a:xfrm>
            <a:off x="6117336" y="3090672"/>
            <a:ext cx="2606040" cy="41148"/>
          </a:xfrm>
          <a:prstGeom prst="roundRect">
            <a:avLst>
              <a:gd fmla="val 88889" name="adj"/>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9"/>
          <p:cNvSpPr txBox="1"/>
          <p:nvPr/>
        </p:nvSpPr>
        <p:spPr>
          <a:xfrm>
            <a:off x="6281928" y="3200400"/>
            <a:ext cx="23317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Evidence Storage</a:t>
            </a:r>
            <a:endParaRPr sz="1200">
              <a:solidFill>
                <a:schemeClr val="dk1"/>
              </a:solidFill>
              <a:latin typeface="Calibri"/>
              <a:ea typeface="Calibri"/>
              <a:cs typeface="Calibri"/>
              <a:sym typeface="Calibri"/>
            </a:endParaRPr>
          </a:p>
        </p:txBody>
      </p:sp>
      <p:sp>
        <p:nvSpPr>
          <p:cNvPr id="327" name="Google Shape;327;p9"/>
          <p:cNvSpPr txBox="1"/>
          <p:nvPr/>
        </p:nvSpPr>
        <p:spPr>
          <a:xfrm>
            <a:off x="6281928" y="3547872"/>
            <a:ext cx="2331720" cy="85039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B8DAD5"/>
              </a:buClr>
              <a:buSzPts val="1000"/>
              <a:buFont typeface="Calibri"/>
              <a:buNone/>
            </a:pPr>
            <a:r>
              <a:rPr lang="en-US" sz="1000">
                <a:solidFill>
                  <a:srgbClr val="B8DAD5"/>
                </a:solidFill>
                <a:latin typeface="Calibri"/>
                <a:ea typeface="Calibri"/>
                <a:cs typeface="Calibri"/>
                <a:sym typeface="Calibri"/>
              </a:rPr>
              <a:t>Azure Blob Storage for dispatch and receipt evidence, with restricted access controls</a:t>
            </a:r>
            <a:endParaRPr sz="1000">
              <a:solidFill>
                <a:schemeClr val="dk1"/>
              </a:solidFill>
              <a:latin typeface="Calibri"/>
              <a:ea typeface="Calibri"/>
              <a:cs typeface="Calibri"/>
              <a:sym typeface="Calibri"/>
            </a:endParaRPr>
          </a:p>
        </p:txBody>
      </p:sp>
      <p:sp>
        <p:nvSpPr>
          <p:cNvPr id="328" name="Google Shape;328;p9"/>
          <p:cNvSpPr/>
          <p:nvPr/>
        </p:nvSpPr>
        <p:spPr>
          <a:xfrm>
            <a:off x="8924544" y="3090672"/>
            <a:ext cx="2606040" cy="1417320"/>
          </a:xfrm>
          <a:prstGeom prst="roundRect">
            <a:avLst>
              <a:gd fmla="val 5161" name="adj"/>
            </a:avLst>
          </a:prstGeom>
          <a:solidFill>
            <a:srgbClr val="0F3D42"/>
          </a:solidFill>
          <a:ln cap="flat" cmpd="sng" w="9525">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9"/>
          <p:cNvSpPr/>
          <p:nvPr/>
        </p:nvSpPr>
        <p:spPr>
          <a:xfrm>
            <a:off x="8924544" y="3090672"/>
            <a:ext cx="2606040" cy="41148"/>
          </a:xfrm>
          <a:prstGeom prst="roundRect">
            <a:avLst>
              <a:gd fmla="val 88889" name="adj"/>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9"/>
          <p:cNvSpPr txBox="1"/>
          <p:nvPr/>
        </p:nvSpPr>
        <p:spPr>
          <a:xfrm>
            <a:off x="9089136" y="3200400"/>
            <a:ext cx="23317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Security &amp; Secrets</a:t>
            </a:r>
            <a:endParaRPr sz="1200">
              <a:solidFill>
                <a:schemeClr val="dk1"/>
              </a:solidFill>
              <a:latin typeface="Calibri"/>
              <a:ea typeface="Calibri"/>
              <a:cs typeface="Calibri"/>
              <a:sym typeface="Calibri"/>
            </a:endParaRPr>
          </a:p>
        </p:txBody>
      </p:sp>
      <p:sp>
        <p:nvSpPr>
          <p:cNvPr id="331" name="Google Shape;331;p9"/>
          <p:cNvSpPr txBox="1"/>
          <p:nvPr/>
        </p:nvSpPr>
        <p:spPr>
          <a:xfrm>
            <a:off x="9089136" y="3547872"/>
            <a:ext cx="2331720" cy="85039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B8DAD5"/>
              </a:buClr>
              <a:buSzPts val="1000"/>
              <a:buFont typeface="Calibri"/>
              <a:buNone/>
            </a:pPr>
            <a:r>
              <a:rPr lang="en-US" sz="1000">
                <a:solidFill>
                  <a:srgbClr val="B8DAD5"/>
                </a:solidFill>
                <a:latin typeface="Calibri"/>
                <a:ea typeface="Calibri"/>
                <a:cs typeface="Calibri"/>
                <a:sym typeface="Calibri"/>
              </a:rPr>
              <a:t>Azure Key Vault for secrets management; role-based access enforced at API and UI layers</a:t>
            </a:r>
            <a:endParaRPr sz="1000">
              <a:solidFill>
                <a:schemeClr val="dk1"/>
              </a:solidFill>
              <a:latin typeface="Calibri"/>
              <a:ea typeface="Calibri"/>
              <a:cs typeface="Calibri"/>
              <a:sym typeface="Calibri"/>
            </a:endParaRPr>
          </a:p>
        </p:txBody>
      </p:sp>
      <p:sp>
        <p:nvSpPr>
          <p:cNvPr id="332" name="Google Shape;332;p9"/>
          <p:cNvSpPr/>
          <p:nvPr/>
        </p:nvSpPr>
        <p:spPr>
          <a:xfrm>
            <a:off x="502920" y="4672584"/>
            <a:ext cx="2606040" cy="1417320"/>
          </a:xfrm>
          <a:prstGeom prst="roundRect">
            <a:avLst>
              <a:gd fmla="val 5161" name="adj"/>
            </a:avLst>
          </a:prstGeom>
          <a:solidFill>
            <a:srgbClr val="0F3D42"/>
          </a:solidFill>
          <a:ln cap="flat" cmpd="sng" w="9525">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9"/>
          <p:cNvSpPr/>
          <p:nvPr/>
        </p:nvSpPr>
        <p:spPr>
          <a:xfrm>
            <a:off x="502920" y="4672584"/>
            <a:ext cx="2606040" cy="41148"/>
          </a:xfrm>
          <a:prstGeom prst="roundRect">
            <a:avLst>
              <a:gd fmla="val 88889" name="adj"/>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9"/>
          <p:cNvSpPr txBox="1"/>
          <p:nvPr/>
        </p:nvSpPr>
        <p:spPr>
          <a:xfrm>
            <a:off x="667512" y="4782312"/>
            <a:ext cx="23317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Observability</a:t>
            </a:r>
            <a:endParaRPr sz="1200">
              <a:solidFill>
                <a:schemeClr val="dk1"/>
              </a:solidFill>
              <a:latin typeface="Calibri"/>
              <a:ea typeface="Calibri"/>
              <a:cs typeface="Calibri"/>
              <a:sym typeface="Calibri"/>
            </a:endParaRPr>
          </a:p>
        </p:txBody>
      </p:sp>
      <p:sp>
        <p:nvSpPr>
          <p:cNvPr id="335" name="Google Shape;335;p9"/>
          <p:cNvSpPr txBox="1"/>
          <p:nvPr/>
        </p:nvSpPr>
        <p:spPr>
          <a:xfrm>
            <a:off x="667512" y="5129784"/>
            <a:ext cx="2331720" cy="85039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B8DAD5"/>
              </a:buClr>
              <a:buSzPts val="1000"/>
              <a:buFont typeface="Calibri"/>
              <a:buNone/>
            </a:pPr>
            <a:r>
              <a:rPr lang="en-US" sz="1000">
                <a:solidFill>
                  <a:srgbClr val="B8DAD5"/>
                </a:solidFill>
                <a:latin typeface="Calibri"/>
                <a:ea typeface="Calibri"/>
                <a:cs typeface="Calibri"/>
                <a:sym typeface="Calibri"/>
              </a:rPr>
              <a:t>Azure Monitor for diagnostics and alerting; GitHub Actions CI/CD pipeline; Vercel for web hosting</a:t>
            </a:r>
            <a:endParaRPr sz="1000">
              <a:solidFill>
                <a:schemeClr val="dk1"/>
              </a:solidFill>
              <a:latin typeface="Calibri"/>
              <a:ea typeface="Calibri"/>
              <a:cs typeface="Calibri"/>
              <a:sym typeface="Calibri"/>
            </a:endParaRPr>
          </a:p>
        </p:txBody>
      </p:sp>
      <p:sp>
        <p:nvSpPr>
          <p:cNvPr id="336" name="Google Shape;336;p9"/>
          <p:cNvSpPr/>
          <p:nvPr/>
        </p:nvSpPr>
        <p:spPr>
          <a:xfrm>
            <a:off x="3310128" y="4672584"/>
            <a:ext cx="2606040" cy="1417320"/>
          </a:xfrm>
          <a:prstGeom prst="roundRect">
            <a:avLst>
              <a:gd fmla="val 5161" name="adj"/>
            </a:avLst>
          </a:prstGeom>
          <a:solidFill>
            <a:srgbClr val="0F3D42"/>
          </a:solidFill>
          <a:ln cap="flat" cmpd="sng" w="9525">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9"/>
          <p:cNvSpPr/>
          <p:nvPr/>
        </p:nvSpPr>
        <p:spPr>
          <a:xfrm>
            <a:off x="3310128" y="4672584"/>
            <a:ext cx="2606040" cy="41148"/>
          </a:xfrm>
          <a:prstGeom prst="roundRect">
            <a:avLst>
              <a:gd fmla="val 88889" name="adj"/>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9"/>
          <p:cNvSpPr txBox="1"/>
          <p:nvPr/>
        </p:nvSpPr>
        <p:spPr>
          <a:xfrm>
            <a:off x="3474720" y="4782312"/>
            <a:ext cx="23317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Scalability</a:t>
            </a:r>
            <a:endParaRPr sz="1200">
              <a:solidFill>
                <a:schemeClr val="dk1"/>
              </a:solidFill>
              <a:latin typeface="Calibri"/>
              <a:ea typeface="Calibri"/>
              <a:cs typeface="Calibri"/>
              <a:sym typeface="Calibri"/>
            </a:endParaRPr>
          </a:p>
        </p:txBody>
      </p:sp>
      <p:sp>
        <p:nvSpPr>
          <p:cNvPr id="339" name="Google Shape;339;p9"/>
          <p:cNvSpPr txBox="1"/>
          <p:nvPr/>
        </p:nvSpPr>
        <p:spPr>
          <a:xfrm>
            <a:off x="3474720" y="5129784"/>
            <a:ext cx="2331720" cy="85039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B8DAD5"/>
              </a:buClr>
              <a:buSzPts val="1000"/>
              <a:buFont typeface="Calibri"/>
              <a:buNone/>
            </a:pPr>
            <a:r>
              <a:rPr lang="en-US" sz="1000">
                <a:solidFill>
                  <a:srgbClr val="B8DAD5"/>
                </a:solidFill>
                <a:latin typeface="Calibri"/>
                <a:ea typeface="Calibri"/>
                <a:cs typeface="Calibri"/>
                <a:sym typeface="Calibri"/>
              </a:rPr>
              <a:t>Modular REST API; stateless services; initial single-tenant; microservices deferred to post-MVP</a:t>
            </a:r>
            <a:endParaRPr sz="1000">
              <a:solidFill>
                <a:schemeClr val="dk1"/>
              </a:solidFill>
              <a:latin typeface="Calibri"/>
              <a:ea typeface="Calibri"/>
              <a:cs typeface="Calibri"/>
              <a:sym typeface="Calibri"/>
            </a:endParaRPr>
          </a:p>
        </p:txBody>
      </p:sp>
      <p:sp>
        <p:nvSpPr>
          <p:cNvPr id="340" name="Google Shape;340;p9"/>
          <p:cNvSpPr/>
          <p:nvPr/>
        </p:nvSpPr>
        <p:spPr>
          <a:xfrm>
            <a:off x="6117336" y="4672584"/>
            <a:ext cx="2606040" cy="1417320"/>
          </a:xfrm>
          <a:prstGeom prst="roundRect">
            <a:avLst>
              <a:gd fmla="val 5161" name="adj"/>
            </a:avLst>
          </a:prstGeom>
          <a:solidFill>
            <a:srgbClr val="0F3D42"/>
          </a:solidFill>
          <a:ln cap="flat" cmpd="sng" w="9525">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9"/>
          <p:cNvSpPr/>
          <p:nvPr/>
        </p:nvSpPr>
        <p:spPr>
          <a:xfrm>
            <a:off x="6117336" y="4672584"/>
            <a:ext cx="2606040" cy="41148"/>
          </a:xfrm>
          <a:prstGeom prst="roundRect">
            <a:avLst>
              <a:gd fmla="val 88889" name="adj"/>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9"/>
          <p:cNvSpPr txBox="1"/>
          <p:nvPr/>
        </p:nvSpPr>
        <p:spPr>
          <a:xfrm>
            <a:off x="6281928" y="4782312"/>
            <a:ext cx="23317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Testing Coverage</a:t>
            </a:r>
            <a:endParaRPr sz="1200">
              <a:solidFill>
                <a:schemeClr val="dk1"/>
              </a:solidFill>
              <a:latin typeface="Calibri"/>
              <a:ea typeface="Calibri"/>
              <a:cs typeface="Calibri"/>
              <a:sym typeface="Calibri"/>
            </a:endParaRPr>
          </a:p>
        </p:txBody>
      </p:sp>
      <p:sp>
        <p:nvSpPr>
          <p:cNvPr id="343" name="Google Shape;343;p9"/>
          <p:cNvSpPr txBox="1"/>
          <p:nvPr/>
        </p:nvSpPr>
        <p:spPr>
          <a:xfrm>
            <a:off x="6281928" y="5129784"/>
            <a:ext cx="2331720" cy="85039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B8DAD5"/>
              </a:buClr>
              <a:buSzPts val="1000"/>
              <a:buFont typeface="Calibri"/>
              <a:buNone/>
            </a:pPr>
            <a:r>
              <a:rPr lang="en-US" sz="1000">
                <a:solidFill>
                  <a:srgbClr val="B8DAD5"/>
                </a:solidFill>
                <a:latin typeface="Calibri"/>
                <a:ea typeface="Calibri"/>
                <a:cs typeface="Calibri"/>
                <a:sym typeface="Calibri"/>
              </a:rPr>
              <a:t>ETA-MLOR boundary, FEFO order, offline sync, concurrent reservation, goods issue and receipt discrepancy scenarios</a:t>
            </a:r>
            <a:endParaRPr sz="1000">
              <a:solidFill>
                <a:schemeClr val="dk1"/>
              </a:solidFill>
              <a:latin typeface="Calibri"/>
              <a:ea typeface="Calibri"/>
              <a:cs typeface="Calibri"/>
              <a:sym typeface="Calibri"/>
            </a:endParaRPr>
          </a:p>
        </p:txBody>
      </p:sp>
      <p:sp>
        <p:nvSpPr>
          <p:cNvPr id="344" name="Google Shape;344;p9"/>
          <p:cNvSpPr/>
          <p:nvPr/>
        </p:nvSpPr>
        <p:spPr>
          <a:xfrm>
            <a:off x="8924544" y="4672584"/>
            <a:ext cx="2606040" cy="1417320"/>
          </a:xfrm>
          <a:prstGeom prst="roundRect">
            <a:avLst>
              <a:gd fmla="val 5161" name="adj"/>
            </a:avLst>
          </a:prstGeom>
          <a:solidFill>
            <a:srgbClr val="0F3D42"/>
          </a:solidFill>
          <a:ln cap="flat" cmpd="sng" w="9525">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9"/>
          <p:cNvSpPr/>
          <p:nvPr/>
        </p:nvSpPr>
        <p:spPr>
          <a:xfrm>
            <a:off x="8924544" y="4672584"/>
            <a:ext cx="2606040" cy="41148"/>
          </a:xfrm>
          <a:prstGeom prst="roundRect">
            <a:avLst>
              <a:gd fmla="val 88889" name="adj"/>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9"/>
          <p:cNvSpPr txBox="1"/>
          <p:nvPr/>
        </p:nvSpPr>
        <p:spPr>
          <a:xfrm>
            <a:off x="9089136" y="4782312"/>
            <a:ext cx="23317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Documentation</a:t>
            </a:r>
            <a:endParaRPr sz="1200">
              <a:solidFill>
                <a:schemeClr val="dk1"/>
              </a:solidFill>
              <a:latin typeface="Calibri"/>
              <a:ea typeface="Calibri"/>
              <a:cs typeface="Calibri"/>
              <a:sym typeface="Calibri"/>
            </a:endParaRPr>
          </a:p>
        </p:txBody>
      </p:sp>
      <p:sp>
        <p:nvSpPr>
          <p:cNvPr id="347" name="Google Shape;347;p9"/>
          <p:cNvSpPr txBox="1"/>
          <p:nvPr/>
        </p:nvSpPr>
        <p:spPr>
          <a:xfrm>
            <a:off x="9089136" y="5129784"/>
            <a:ext cx="2331720" cy="85039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B8DAD5"/>
              </a:buClr>
              <a:buSzPts val="1000"/>
              <a:buFont typeface="Calibri"/>
              <a:buNone/>
            </a:pPr>
            <a:r>
              <a:rPr lang="en-US" sz="1000">
                <a:solidFill>
                  <a:srgbClr val="B8DAD5"/>
                </a:solidFill>
                <a:latin typeface="Calibri"/>
                <a:ea typeface="Calibri"/>
                <a:cs typeface="Calibri"/>
                <a:sym typeface="Calibri"/>
              </a:rPr>
              <a:t>Requirements spec, API docs, test evidence and user guides maintained throughout project lifecycle</a:t>
            </a:r>
            <a:endParaRPr sz="1000">
              <a:solidFill>
                <a:schemeClr val="dk1"/>
              </a:solidFill>
              <a:latin typeface="Calibri"/>
              <a:ea typeface="Calibri"/>
              <a:cs typeface="Calibri"/>
              <a:sym typeface="Calibri"/>
            </a:endParaRPr>
          </a:p>
        </p:txBody>
      </p:sp>
      <p:sp>
        <p:nvSpPr>
          <p:cNvPr id="348" name="Google Shape;348;p9"/>
          <p:cNvSpPr txBox="1"/>
          <p:nvPr/>
        </p:nvSpPr>
        <p:spPr>
          <a:xfrm>
            <a:off x="502920" y="6510528"/>
            <a:ext cx="73152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6E74"/>
              </a:buClr>
              <a:buSzPts val="850"/>
              <a:buFont typeface="Calibri"/>
              <a:buNone/>
            </a:pPr>
            <a:r>
              <a:rPr lang="en-US" sz="850">
                <a:solidFill>
                  <a:srgbClr val="3E6E74"/>
                </a:solidFill>
                <a:latin typeface="Calibri"/>
                <a:ea typeface="Calibri"/>
                <a:cs typeface="Calibri"/>
                <a:sym typeface="Calibri"/>
              </a:rPr>
              <a:t>FSCM  ·  Capstone Project Overview  ·  FA26SE083</a:t>
            </a:r>
            <a:endParaRPr sz="850">
              <a:solidFill>
                <a:schemeClr val="dk1"/>
              </a:solidFill>
              <a:latin typeface="Calibri"/>
              <a:ea typeface="Calibri"/>
              <a:cs typeface="Calibri"/>
              <a:sym typeface="Calibri"/>
            </a:endParaRPr>
          </a:p>
        </p:txBody>
      </p:sp>
      <p:sp>
        <p:nvSpPr>
          <p:cNvPr id="349" name="Google Shape;349;p9"/>
          <p:cNvSpPr txBox="1"/>
          <p:nvPr/>
        </p:nvSpPr>
        <p:spPr>
          <a:xfrm>
            <a:off x="11338560"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3E6E74"/>
              </a:buClr>
              <a:buSzPts val="850"/>
              <a:buFont typeface="Calibri"/>
              <a:buNone/>
            </a:pPr>
            <a:r>
              <a:rPr lang="en-US" sz="850">
                <a:solidFill>
                  <a:srgbClr val="3E6E74"/>
                </a:solidFill>
                <a:latin typeface="Calibri"/>
                <a:ea typeface="Calibri"/>
                <a:cs typeface="Calibri"/>
                <a:sym typeface="Calibri"/>
              </a:rPr>
              <a:t>9</a:t>
            </a:r>
            <a:endParaRPr sz="85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AF9"/>
        </a:solidFill>
      </p:bgPr>
    </p:bg>
    <p:spTree>
      <p:nvGrpSpPr>
        <p:cNvPr id="354" name="Shape 354"/>
        <p:cNvGrpSpPr/>
        <p:nvPr/>
      </p:nvGrpSpPr>
      <p:grpSpPr>
        <a:xfrm>
          <a:off x="0" y="0"/>
          <a:ext cx="0" cy="0"/>
          <a:chOff x="0" y="0"/>
          <a:chExt cx="0" cy="0"/>
        </a:xfrm>
      </p:grpSpPr>
      <p:sp>
        <p:nvSpPr>
          <p:cNvPr id="355" name="Google Shape;355;p10"/>
          <p:cNvSpPr txBox="1"/>
          <p:nvPr/>
        </p:nvSpPr>
        <p:spPr>
          <a:xfrm>
            <a:off x="502920" y="402336"/>
            <a:ext cx="10058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100"/>
              <a:buFont typeface="Calibri"/>
              <a:buNone/>
            </a:pPr>
            <a:r>
              <a:rPr b="1" lang="en-US" sz="1100">
                <a:solidFill>
                  <a:srgbClr val="028090"/>
                </a:solidFill>
                <a:latin typeface="Calibri"/>
                <a:ea typeface="Calibri"/>
                <a:cs typeface="Calibri"/>
                <a:sym typeface="Calibri"/>
              </a:rPr>
              <a:t>05 · SYSTEM FLOW</a:t>
            </a:r>
            <a:endParaRPr sz="1100">
              <a:solidFill>
                <a:schemeClr val="dk1"/>
              </a:solidFill>
              <a:latin typeface="Calibri"/>
              <a:ea typeface="Calibri"/>
              <a:cs typeface="Calibri"/>
              <a:sym typeface="Calibri"/>
            </a:endParaRPr>
          </a:p>
        </p:txBody>
      </p:sp>
      <p:sp>
        <p:nvSpPr>
          <p:cNvPr id="356" name="Google Shape;356;p10"/>
          <p:cNvSpPr/>
          <p:nvPr/>
        </p:nvSpPr>
        <p:spPr>
          <a:xfrm>
            <a:off x="502920" y="731520"/>
            <a:ext cx="11201400" cy="13716"/>
          </a:xfrm>
          <a:prstGeom prst="rect">
            <a:avLst/>
          </a:prstGeom>
          <a:solidFill>
            <a:srgbClr val="BFE8DC"/>
          </a:solidFill>
          <a:ln cap="flat" cmpd="sng" w="12700">
            <a:solidFill>
              <a:srgbClr val="BFE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0"/>
          <p:cNvSpPr txBox="1"/>
          <p:nvPr/>
        </p:nvSpPr>
        <p:spPr>
          <a:xfrm>
            <a:off x="502920" y="777240"/>
            <a:ext cx="11201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2C"/>
              </a:buClr>
              <a:buSzPts val="3000"/>
              <a:buFont typeface="Cambria"/>
              <a:buNone/>
            </a:pPr>
            <a:r>
              <a:rPr b="1" lang="en-US" sz="3000">
                <a:solidFill>
                  <a:srgbClr val="13292C"/>
                </a:solidFill>
                <a:latin typeface="Cambria"/>
                <a:ea typeface="Cambria"/>
                <a:cs typeface="Cambria"/>
                <a:sym typeface="Cambria"/>
              </a:rPr>
              <a:t>Order Placement Flow</a:t>
            </a:r>
            <a:endParaRPr sz="3000">
              <a:solidFill>
                <a:schemeClr val="dk1"/>
              </a:solidFill>
              <a:latin typeface="Calibri"/>
              <a:ea typeface="Calibri"/>
              <a:cs typeface="Calibri"/>
              <a:sym typeface="Calibri"/>
            </a:endParaRPr>
          </a:p>
        </p:txBody>
      </p:sp>
      <p:sp>
        <p:nvSpPr>
          <p:cNvPr id="358" name="Google Shape;358;p10"/>
          <p:cNvSpPr/>
          <p:nvPr/>
        </p:nvSpPr>
        <p:spPr>
          <a:xfrm>
            <a:off x="609448" y="2359152"/>
            <a:ext cx="1426464" cy="1453896"/>
          </a:xfrm>
          <a:prstGeom prst="roundRect">
            <a:avLst>
              <a:gd fmla="val 5797" name="adj"/>
            </a:avLst>
          </a:prstGeom>
          <a:solidFill>
            <a:srgbClr val="EAF3F1"/>
          </a:solidFill>
          <a:ln cap="flat" cmpd="sng" w="12700">
            <a:solidFill>
              <a:srgbClr val="BFE8DC"/>
            </a:solidFill>
            <a:prstDash val="solid"/>
            <a:round/>
            <a:headEnd len="sm" w="sm" type="none"/>
            <a:tailEnd len="sm" w="sm" type="none"/>
          </a:ln>
          <a:effectLst>
            <a:outerShdw blurRad="63500" rotWithShape="0" algn="bl" dir="5400000" dist="25400">
              <a:srgbClr val="1B3B3B">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0"/>
          <p:cNvSpPr/>
          <p:nvPr/>
        </p:nvSpPr>
        <p:spPr>
          <a:xfrm>
            <a:off x="609448" y="2359152"/>
            <a:ext cx="1426464" cy="237744"/>
          </a:xfrm>
          <a:prstGeom prst="roundRect">
            <a:avLst>
              <a:gd fmla="val 23077" name="adj"/>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0"/>
          <p:cNvSpPr txBox="1"/>
          <p:nvPr/>
        </p:nvSpPr>
        <p:spPr>
          <a:xfrm>
            <a:off x="609448" y="2359152"/>
            <a:ext cx="142646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lang="en-US" sz="850">
                <a:solidFill>
                  <a:srgbClr val="FFFFFF"/>
                </a:solidFill>
                <a:latin typeface="Calibri"/>
                <a:ea typeface="Calibri"/>
                <a:cs typeface="Calibri"/>
                <a:sym typeface="Calibri"/>
              </a:rPr>
              <a:t>Sales Rep</a:t>
            </a:r>
            <a:endParaRPr sz="850">
              <a:solidFill>
                <a:schemeClr val="dk1"/>
              </a:solidFill>
              <a:latin typeface="Calibri"/>
              <a:ea typeface="Calibri"/>
              <a:cs typeface="Calibri"/>
              <a:sym typeface="Calibri"/>
            </a:endParaRPr>
          </a:p>
        </p:txBody>
      </p:sp>
      <p:sp>
        <p:nvSpPr>
          <p:cNvPr id="361" name="Google Shape;361;p10"/>
          <p:cNvSpPr/>
          <p:nvPr/>
        </p:nvSpPr>
        <p:spPr>
          <a:xfrm>
            <a:off x="1139800" y="2633472"/>
            <a:ext cx="347472" cy="347472"/>
          </a:xfrm>
          <a:prstGeom prst="ellipse">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0"/>
          <p:cNvSpPr txBox="1"/>
          <p:nvPr/>
        </p:nvSpPr>
        <p:spPr>
          <a:xfrm>
            <a:off x="1139800" y="263347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1</a:t>
            </a:r>
            <a:endParaRPr sz="1200">
              <a:solidFill>
                <a:schemeClr val="dk1"/>
              </a:solidFill>
              <a:latin typeface="Calibri"/>
              <a:ea typeface="Calibri"/>
              <a:cs typeface="Calibri"/>
              <a:sym typeface="Calibri"/>
            </a:endParaRPr>
          </a:p>
        </p:txBody>
      </p:sp>
      <p:sp>
        <p:nvSpPr>
          <p:cNvPr id="363" name="Google Shape;363;p10"/>
          <p:cNvSpPr txBox="1"/>
          <p:nvPr/>
        </p:nvSpPr>
        <p:spPr>
          <a:xfrm>
            <a:off x="664312" y="3017520"/>
            <a:ext cx="1316736"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292C"/>
              </a:buClr>
              <a:buSzPts val="1200"/>
              <a:buFont typeface="Calibri"/>
              <a:buNone/>
            </a:pPr>
            <a:r>
              <a:rPr b="1" lang="en-US" sz="1200">
                <a:solidFill>
                  <a:srgbClr val="13292C"/>
                </a:solidFill>
                <a:latin typeface="Calibri"/>
                <a:ea typeface="Calibri"/>
                <a:cs typeface="Calibri"/>
                <a:sym typeface="Calibri"/>
              </a:rPr>
              <a:t>Select</a:t>
            </a:r>
            <a:endParaRPr sz="1200">
              <a:solidFill>
                <a:schemeClr val="dk1"/>
              </a:solidFill>
              <a:latin typeface="Calibri"/>
              <a:ea typeface="Calibri"/>
              <a:cs typeface="Calibri"/>
              <a:sym typeface="Calibri"/>
            </a:endParaRPr>
          </a:p>
          <a:p>
            <a:pPr indent="0" lvl="0" marL="0" marR="0" rtl="0" algn="ctr">
              <a:spcBef>
                <a:spcPts val="0"/>
              </a:spcBef>
              <a:spcAft>
                <a:spcPts val="0"/>
              </a:spcAft>
              <a:buClr>
                <a:srgbClr val="13292C"/>
              </a:buClr>
              <a:buSzPts val="1200"/>
              <a:buFont typeface="Calibri"/>
              <a:buNone/>
            </a:pPr>
            <a:r>
              <a:rPr b="1" lang="en-US" sz="1200">
                <a:solidFill>
                  <a:srgbClr val="13292C"/>
                </a:solidFill>
                <a:latin typeface="Calibri"/>
                <a:ea typeface="Calibri"/>
                <a:cs typeface="Calibri"/>
                <a:sym typeface="Calibri"/>
              </a:rPr>
              <a:t>Retailer</a:t>
            </a:r>
            <a:endParaRPr sz="1200">
              <a:solidFill>
                <a:schemeClr val="dk1"/>
              </a:solidFill>
              <a:latin typeface="Calibri"/>
              <a:ea typeface="Calibri"/>
              <a:cs typeface="Calibri"/>
              <a:sym typeface="Calibri"/>
            </a:endParaRPr>
          </a:p>
        </p:txBody>
      </p:sp>
      <p:sp>
        <p:nvSpPr>
          <p:cNvPr id="364" name="Google Shape;364;p10"/>
          <p:cNvSpPr txBox="1"/>
          <p:nvPr/>
        </p:nvSpPr>
        <p:spPr>
          <a:xfrm>
            <a:off x="664312" y="3419856"/>
            <a:ext cx="1316736" cy="201168"/>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Clr>
                <a:srgbClr val="4C6764"/>
              </a:buClr>
              <a:buSzPts val="850"/>
              <a:buFont typeface="Calibri"/>
              <a:buNone/>
            </a:pPr>
            <a:r>
              <a:rPr lang="en-US" sz="850">
                <a:solidFill>
                  <a:srgbClr val="4C6764"/>
                </a:solidFill>
                <a:latin typeface="Calibri"/>
                <a:ea typeface="Calibri"/>
                <a:cs typeface="Calibri"/>
                <a:sym typeface="Calibri"/>
              </a:rPr>
              <a:t>Active retailers</a:t>
            </a:r>
            <a:endParaRPr sz="850">
              <a:solidFill>
                <a:schemeClr val="dk1"/>
              </a:solidFill>
              <a:latin typeface="Calibri"/>
              <a:ea typeface="Calibri"/>
              <a:cs typeface="Calibri"/>
              <a:sym typeface="Calibri"/>
            </a:endParaRPr>
          </a:p>
          <a:p>
            <a:pPr indent="0" lvl="0" marL="0" marR="0" rtl="0" algn="ctr">
              <a:lnSpc>
                <a:spcPct val="110000"/>
              </a:lnSpc>
              <a:spcBef>
                <a:spcPts val="0"/>
              </a:spcBef>
              <a:spcAft>
                <a:spcPts val="0"/>
              </a:spcAft>
              <a:buClr>
                <a:srgbClr val="4C6764"/>
              </a:buClr>
              <a:buSzPts val="850"/>
              <a:buFont typeface="Calibri"/>
              <a:buNone/>
            </a:pPr>
            <a:r>
              <a:rPr lang="en-US" sz="850">
                <a:solidFill>
                  <a:srgbClr val="4C6764"/>
                </a:solidFill>
                <a:latin typeface="Calibri"/>
                <a:ea typeface="Calibri"/>
                <a:cs typeface="Calibri"/>
                <a:sym typeface="Calibri"/>
              </a:rPr>
              <a:t>in assigned area</a:t>
            </a:r>
            <a:endParaRPr sz="850">
              <a:solidFill>
                <a:schemeClr val="dk1"/>
              </a:solidFill>
              <a:latin typeface="Calibri"/>
              <a:ea typeface="Calibri"/>
              <a:cs typeface="Calibri"/>
              <a:sym typeface="Calibri"/>
            </a:endParaRPr>
          </a:p>
        </p:txBody>
      </p:sp>
      <p:sp>
        <p:nvSpPr>
          <p:cNvPr id="365" name="Google Shape;365;p10"/>
          <p:cNvSpPr/>
          <p:nvPr/>
        </p:nvSpPr>
        <p:spPr>
          <a:xfrm>
            <a:off x="2200504" y="2359152"/>
            <a:ext cx="1426464" cy="1453896"/>
          </a:xfrm>
          <a:prstGeom prst="roundRect">
            <a:avLst>
              <a:gd fmla="val 5797" name="adj"/>
            </a:avLst>
          </a:prstGeom>
          <a:solidFill>
            <a:srgbClr val="EAF3F1"/>
          </a:solidFill>
          <a:ln cap="flat" cmpd="sng" w="12700">
            <a:solidFill>
              <a:srgbClr val="BFE8DC"/>
            </a:solidFill>
            <a:prstDash val="solid"/>
            <a:round/>
            <a:headEnd len="sm" w="sm" type="none"/>
            <a:tailEnd len="sm" w="sm" type="none"/>
          </a:ln>
          <a:effectLst>
            <a:outerShdw blurRad="63500" rotWithShape="0" algn="bl" dir="5400000" dist="25400">
              <a:srgbClr val="1B3B3B">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0"/>
          <p:cNvSpPr/>
          <p:nvPr/>
        </p:nvSpPr>
        <p:spPr>
          <a:xfrm>
            <a:off x="2200504" y="2359152"/>
            <a:ext cx="1426464" cy="237744"/>
          </a:xfrm>
          <a:prstGeom prst="roundRect">
            <a:avLst>
              <a:gd fmla="val 23077" name="adj"/>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0"/>
          <p:cNvSpPr txBox="1"/>
          <p:nvPr/>
        </p:nvSpPr>
        <p:spPr>
          <a:xfrm>
            <a:off x="2200504" y="2359152"/>
            <a:ext cx="142646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lang="en-US" sz="850">
                <a:solidFill>
                  <a:srgbClr val="FFFFFF"/>
                </a:solidFill>
                <a:latin typeface="Calibri"/>
                <a:ea typeface="Calibri"/>
                <a:cs typeface="Calibri"/>
                <a:sym typeface="Calibri"/>
              </a:rPr>
              <a:t>Sales Rep</a:t>
            </a:r>
            <a:endParaRPr sz="850">
              <a:solidFill>
                <a:schemeClr val="dk1"/>
              </a:solidFill>
              <a:latin typeface="Calibri"/>
              <a:ea typeface="Calibri"/>
              <a:cs typeface="Calibri"/>
              <a:sym typeface="Calibri"/>
            </a:endParaRPr>
          </a:p>
        </p:txBody>
      </p:sp>
      <p:sp>
        <p:nvSpPr>
          <p:cNvPr id="368" name="Google Shape;368;p10"/>
          <p:cNvSpPr/>
          <p:nvPr/>
        </p:nvSpPr>
        <p:spPr>
          <a:xfrm>
            <a:off x="2730856" y="2633472"/>
            <a:ext cx="347472" cy="347472"/>
          </a:xfrm>
          <a:prstGeom prst="ellipse">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0"/>
          <p:cNvSpPr txBox="1"/>
          <p:nvPr/>
        </p:nvSpPr>
        <p:spPr>
          <a:xfrm>
            <a:off x="2730856" y="263347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2</a:t>
            </a:r>
            <a:endParaRPr sz="1200">
              <a:solidFill>
                <a:schemeClr val="dk1"/>
              </a:solidFill>
              <a:latin typeface="Calibri"/>
              <a:ea typeface="Calibri"/>
              <a:cs typeface="Calibri"/>
              <a:sym typeface="Calibri"/>
            </a:endParaRPr>
          </a:p>
        </p:txBody>
      </p:sp>
      <p:sp>
        <p:nvSpPr>
          <p:cNvPr id="370" name="Google Shape;370;p10"/>
          <p:cNvSpPr txBox="1"/>
          <p:nvPr/>
        </p:nvSpPr>
        <p:spPr>
          <a:xfrm>
            <a:off x="2255368" y="3017520"/>
            <a:ext cx="1316736"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292C"/>
              </a:buClr>
              <a:buSzPts val="1200"/>
              <a:buFont typeface="Calibri"/>
              <a:buNone/>
            </a:pPr>
            <a:r>
              <a:rPr b="1" lang="en-US" sz="1200">
                <a:solidFill>
                  <a:srgbClr val="13292C"/>
                </a:solidFill>
                <a:latin typeface="Calibri"/>
                <a:ea typeface="Calibri"/>
                <a:cs typeface="Calibri"/>
                <a:sym typeface="Calibri"/>
              </a:rPr>
              <a:t>Build</a:t>
            </a:r>
            <a:endParaRPr sz="1200">
              <a:solidFill>
                <a:schemeClr val="dk1"/>
              </a:solidFill>
              <a:latin typeface="Calibri"/>
              <a:ea typeface="Calibri"/>
              <a:cs typeface="Calibri"/>
              <a:sym typeface="Calibri"/>
            </a:endParaRPr>
          </a:p>
          <a:p>
            <a:pPr indent="0" lvl="0" marL="0" marR="0" rtl="0" algn="ctr">
              <a:spcBef>
                <a:spcPts val="0"/>
              </a:spcBef>
              <a:spcAft>
                <a:spcPts val="0"/>
              </a:spcAft>
              <a:buClr>
                <a:srgbClr val="13292C"/>
              </a:buClr>
              <a:buSzPts val="1200"/>
              <a:buFont typeface="Calibri"/>
              <a:buNone/>
            </a:pPr>
            <a:r>
              <a:rPr b="1" lang="en-US" sz="1200">
                <a:solidFill>
                  <a:srgbClr val="13292C"/>
                </a:solidFill>
                <a:latin typeface="Calibri"/>
                <a:ea typeface="Calibri"/>
                <a:cs typeface="Calibri"/>
                <a:sym typeface="Calibri"/>
              </a:rPr>
              <a:t>Cart</a:t>
            </a:r>
            <a:endParaRPr sz="1200">
              <a:solidFill>
                <a:schemeClr val="dk1"/>
              </a:solidFill>
              <a:latin typeface="Calibri"/>
              <a:ea typeface="Calibri"/>
              <a:cs typeface="Calibri"/>
              <a:sym typeface="Calibri"/>
            </a:endParaRPr>
          </a:p>
        </p:txBody>
      </p:sp>
      <p:sp>
        <p:nvSpPr>
          <p:cNvPr id="371" name="Google Shape;371;p10"/>
          <p:cNvSpPr txBox="1"/>
          <p:nvPr/>
        </p:nvSpPr>
        <p:spPr>
          <a:xfrm>
            <a:off x="2255368" y="3419856"/>
            <a:ext cx="1316736" cy="201168"/>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Clr>
                <a:srgbClr val="4C6764"/>
              </a:buClr>
              <a:buSzPts val="850"/>
              <a:buFont typeface="Calibri"/>
              <a:buNone/>
            </a:pPr>
            <a:r>
              <a:rPr lang="en-US" sz="850">
                <a:solidFill>
                  <a:srgbClr val="4C6764"/>
                </a:solidFill>
                <a:latin typeface="Calibri"/>
                <a:ea typeface="Calibri"/>
                <a:cs typeface="Calibri"/>
                <a:sym typeface="Calibri"/>
              </a:rPr>
              <a:t>Search · filter</a:t>
            </a:r>
            <a:endParaRPr sz="850">
              <a:solidFill>
                <a:schemeClr val="dk1"/>
              </a:solidFill>
              <a:latin typeface="Calibri"/>
              <a:ea typeface="Calibri"/>
              <a:cs typeface="Calibri"/>
              <a:sym typeface="Calibri"/>
            </a:endParaRPr>
          </a:p>
          <a:p>
            <a:pPr indent="0" lvl="0" marL="0" marR="0" rtl="0" algn="ctr">
              <a:lnSpc>
                <a:spcPct val="110000"/>
              </a:lnSpc>
              <a:spcBef>
                <a:spcPts val="0"/>
              </a:spcBef>
              <a:spcAft>
                <a:spcPts val="0"/>
              </a:spcAft>
              <a:buClr>
                <a:srgbClr val="4C6764"/>
              </a:buClr>
              <a:buSzPts val="850"/>
              <a:buFont typeface="Calibri"/>
              <a:buNone/>
            </a:pPr>
            <a:r>
              <a:rPr lang="en-US" sz="850">
                <a:solidFill>
                  <a:srgbClr val="4C6764"/>
                </a:solidFill>
                <a:latin typeface="Calibri"/>
                <a:ea typeface="Calibri"/>
                <a:cs typeface="Calibri"/>
                <a:sym typeface="Calibri"/>
              </a:rPr>
              <a:t>set quantities</a:t>
            </a:r>
            <a:endParaRPr sz="850">
              <a:solidFill>
                <a:schemeClr val="dk1"/>
              </a:solidFill>
              <a:latin typeface="Calibri"/>
              <a:ea typeface="Calibri"/>
              <a:cs typeface="Calibri"/>
              <a:sym typeface="Calibri"/>
            </a:endParaRPr>
          </a:p>
        </p:txBody>
      </p:sp>
      <p:sp>
        <p:nvSpPr>
          <p:cNvPr id="372" name="Google Shape;372;p10"/>
          <p:cNvSpPr/>
          <p:nvPr/>
        </p:nvSpPr>
        <p:spPr>
          <a:xfrm>
            <a:off x="3791560" y="2359152"/>
            <a:ext cx="1426464" cy="1453896"/>
          </a:xfrm>
          <a:prstGeom prst="roundRect">
            <a:avLst>
              <a:gd fmla="val 5797" name="adj"/>
            </a:avLst>
          </a:prstGeom>
          <a:solidFill>
            <a:srgbClr val="EAF3F1"/>
          </a:solidFill>
          <a:ln cap="flat" cmpd="sng" w="12700">
            <a:solidFill>
              <a:srgbClr val="BFE8DC"/>
            </a:solidFill>
            <a:prstDash val="solid"/>
            <a:round/>
            <a:headEnd len="sm" w="sm" type="none"/>
            <a:tailEnd len="sm" w="sm" type="none"/>
          </a:ln>
          <a:effectLst>
            <a:outerShdw blurRad="63500" rotWithShape="0" algn="bl" dir="5400000" dist="25400">
              <a:srgbClr val="1B3B3B">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0"/>
          <p:cNvSpPr/>
          <p:nvPr/>
        </p:nvSpPr>
        <p:spPr>
          <a:xfrm>
            <a:off x="3791560" y="2359152"/>
            <a:ext cx="1426464" cy="237744"/>
          </a:xfrm>
          <a:prstGeom prst="roundRect">
            <a:avLst>
              <a:gd fmla="val 23077" name="adj"/>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0"/>
          <p:cNvSpPr txBox="1"/>
          <p:nvPr/>
        </p:nvSpPr>
        <p:spPr>
          <a:xfrm>
            <a:off x="3791560" y="2359152"/>
            <a:ext cx="142646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lang="en-US" sz="850">
                <a:solidFill>
                  <a:srgbClr val="FFFFFF"/>
                </a:solidFill>
                <a:latin typeface="Calibri"/>
                <a:ea typeface="Calibri"/>
                <a:cs typeface="Calibri"/>
                <a:sym typeface="Calibri"/>
              </a:rPr>
              <a:t>Sales Rep</a:t>
            </a:r>
            <a:endParaRPr sz="850">
              <a:solidFill>
                <a:schemeClr val="dk1"/>
              </a:solidFill>
              <a:latin typeface="Calibri"/>
              <a:ea typeface="Calibri"/>
              <a:cs typeface="Calibri"/>
              <a:sym typeface="Calibri"/>
            </a:endParaRPr>
          </a:p>
        </p:txBody>
      </p:sp>
      <p:sp>
        <p:nvSpPr>
          <p:cNvPr id="375" name="Google Shape;375;p10"/>
          <p:cNvSpPr/>
          <p:nvPr/>
        </p:nvSpPr>
        <p:spPr>
          <a:xfrm>
            <a:off x="4321912" y="2633472"/>
            <a:ext cx="347472" cy="347472"/>
          </a:xfrm>
          <a:prstGeom prst="ellipse">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0"/>
          <p:cNvSpPr txBox="1"/>
          <p:nvPr/>
        </p:nvSpPr>
        <p:spPr>
          <a:xfrm>
            <a:off x="4321912" y="263347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3</a:t>
            </a:r>
            <a:endParaRPr sz="1200">
              <a:solidFill>
                <a:schemeClr val="dk1"/>
              </a:solidFill>
              <a:latin typeface="Calibri"/>
              <a:ea typeface="Calibri"/>
              <a:cs typeface="Calibri"/>
              <a:sym typeface="Calibri"/>
            </a:endParaRPr>
          </a:p>
        </p:txBody>
      </p:sp>
      <p:sp>
        <p:nvSpPr>
          <p:cNvPr id="377" name="Google Shape;377;p10"/>
          <p:cNvSpPr txBox="1"/>
          <p:nvPr/>
        </p:nvSpPr>
        <p:spPr>
          <a:xfrm>
            <a:off x="3846424" y="3017520"/>
            <a:ext cx="1316736"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292C"/>
              </a:buClr>
              <a:buSzPts val="1200"/>
              <a:buFont typeface="Calibri"/>
              <a:buNone/>
            </a:pPr>
            <a:r>
              <a:rPr b="1" lang="en-US" sz="1200">
                <a:solidFill>
                  <a:srgbClr val="13292C"/>
                </a:solidFill>
                <a:latin typeface="Calibri"/>
                <a:ea typeface="Calibri"/>
                <a:cs typeface="Calibri"/>
                <a:sym typeface="Calibri"/>
              </a:rPr>
              <a:t>Confirm</a:t>
            </a:r>
            <a:endParaRPr sz="1200">
              <a:solidFill>
                <a:schemeClr val="dk1"/>
              </a:solidFill>
              <a:latin typeface="Calibri"/>
              <a:ea typeface="Calibri"/>
              <a:cs typeface="Calibri"/>
              <a:sym typeface="Calibri"/>
            </a:endParaRPr>
          </a:p>
          <a:p>
            <a:pPr indent="0" lvl="0" marL="0" marR="0" rtl="0" algn="ctr">
              <a:spcBef>
                <a:spcPts val="0"/>
              </a:spcBef>
              <a:spcAft>
                <a:spcPts val="0"/>
              </a:spcAft>
              <a:buClr>
                <a:srgbClr val="13292C"/>
              </a:buClr>
              <a:buSzPts val="1200"/>
              <a:buFont typeface="Calibri"/>
              <a:buNone/>
            </a:pPr>
            <a:r>
              <a:rPr b="1" lang="en-US" sz="1200">
                <a:solidFill>
                  <a:srgbClr val="13292C"/>
                </a:solidFill>
                <a:latin typeface="Calibri"/>
                <a:ea typeface="Calibri"/>
                <a:cs typeface="Calibri"/>
                <a:sym typeface="Calibri"/>
              </a:rPr>
              <a:t>Order</a:t>
            </a:r>
            <a:endParaRPr sz="1200">
              <a:solidFill>
                <a:schemeClr val="dk1"/>
              </a:solidFill>
              <a:latin typeface="Calibri"/>
              <a:ea typeface="Calibri"/>
              <a:cs typeface="Calibri"/>
              <a:sym typeface="Calibri"/>
            </a:endParaRPr>
          </a:p>
        </p:txBody>
      </p:sp>
      <p:sp>
        <p:nvSpPr>
          <p:cNvPr id="378" name="Google Shape;378;p10"/>
          <p:cNvSpPr txBox="1"/>
          <p:nvPr/>
        </p:nvSpPr>
        <p:spPr>
          <a:xfrm>
            <a:off x="3846424" y="3419856"/>
            <a:ext cx="1316736" cy="201168"/>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Clr>
                <a:srgbClr val="4C6764"/>
              </a:buClr>
              <a:buSzPts val="850"/>
              <a:buFont typeface="Calibri"/>
              <a:buNone/>
            </a:pPr>
            <a:r>
              <a:rPr lang="en-US" sz="850">
                <a:solidFill>
                  <a:srgbClr val="4C6764"/>
                </a:solidFill>
                <a:latin typeface="Calibri"/>
                <a:ea typeface="Calibri"/>
                <a:cs typeface="Calibri"/>
                <a:sym typeface="Calibri"/>
              </a:rPr>
              <a:t>Promotions · address</a:t>
            </a:r>
            <a:endParaRPr sz="850">
              <a:solidFill>
                <a:schemeClr val="dk1"/>
              </a:solidFill>
              <a:latin typeface="Calibri"/>
              <a:ea typeface="Calibri"/>
              <a:cs typeface="Calibri"/>
              <a:sym typeface="Calibri"/>
            </a:endParaRPr>
          </a:p>
          <a:p>
            <a:pPr indent="0" lvl="0" marL="0" marR="0" rtl="0" algn="ctr">
              <a:lnSpc>
                <a:spcPct val="110000"/>
              </a:lnSpc>
              <a:spcBef>
                <a:spcPts val="0"/>
              </a:spcBef>
              <a:spcAft>
                <a:spcPts val="0"/>
              </a:spcAft>
              <a:buClr>
                <a:srgbClr val="4C6764"/>
              </a:buClr>
              <a:buSzPts val="850"/>
              <a:buFont typeface="Calibri"/>
              <a:buNone/>
            </a:pPr>
            <a:r>
              <a:rPr lang="en-US" sz="850">
                <a:solidFill>
                  <a:srgbClr val="4C6764"/>
                </a:solidFill>
                <a:latin typeface="Calibri"/>
                <a:ea typeface="Calibri"/>
                <a:cs typeface="Calibri"/>
                <a:sym typeface="Calibri"/>
              </a:rPr>
              <a:t>Payment method</a:t>
            </a:r>
            <a:endParaRPr sz="850">
              <a:solidFill>
                <a:schemeClr val="dk1"/>
              </a:solidFill>
              <a:latin typeface="Calibri"/>
              <a:ea typeface="Calibri"/>
              <a:cs typeface="Calibri"/>
              <a:sym typeface="Calibri"/>
            </a:endParaRPr>
          </a:p>
        </p:txBody>
      </p:sp>
      <p:sp>
        <p:nvSpPr>
          <p:cNvPr id="379" name="Google Shape;379;p10"/>
          <p:cNvSpPr/>
          <p:nvPr/>
        </p:nvSpPr>
        <p:spPr>
          <a:xfrm>
            <a:off x="5382616" y="2359152"/>
            <a:ext cx="1426464" cy="1453896"/>
          </a:xfrm>
          <a:prstGeom prst="roundRect">
            <a:avLst>
              <a:gd fmla="val 5797" name="adj"/>
            </a:avLst>
          </a:prstGeom>
          <a:solidFill>
            <a:srgbClr val="FFFFFF"/>
          </a:solidFill>
          <a:ln cap="flat" cmpd="sng" w="12700">
            <a:solidFill>
              <a:srgbClr val="028090"/>
            </a:solidFill>
            <a:prstDash val="solid"/>
            <a:round/>
            <a:headEnd len="sm" w="sm" type="none"/>
            <a:tailEnd len="sm" w="sm" type="none"/>
          </a:ln>
          <a:effectLst>
            <a:outerShdw blurRad="63500" rotWithShape="0" algn="bl" dir="5400000" dist="25400">
              <a:srgbClr val="1B3B3B">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0"/>
          <p:cNvSpPr/>
          <p:nvPr/>
        </p:nvSpPr>
        <p:spPr>
          <a:xfrm>
            <a:off x="5382616" y="2359152"/>
            <a:ext cx="1426464" cy="237744"/>
          </a:xfrm>
          <a:prstGeom prst="roundRect">
            <a:avLst>
              <a:gd fmla="val 23077" name="adj"/>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0"/>
          <p:cNvSpPr txBox="1"/>
          <p:nvPr/>
        </p:nvSpPr>
        <p:spPr>
          <a:xfrm>
            <a:off x="5382616" y="2359152"/>
            <a:ext cx="142646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lang="en-US" sz="850">
                <a:solidFill>
                  <a:srgbClr val="FFFFFF"/>
                </a:solidFill>
                <a:latin typeface="Calibri"/>
                <a:ea typeface="Calibri"/>
                <a:cs typeface="Calibri"/>
                <a:sym typeface="Calibri"/>
              </a:rPr>
              <a:t>System</a:t>
            </a:r>
            <a:endParaRPr sz="850">
              <a:solidFill>
                <a:schemeClr val="dk1"/>
              </a:solidFill>
              <a:latin typeface="Calibri"/>
              <a:ea typeface="Calibri"/>
              <a:cs typeface="Calibri"/>
              <a:sym typeface="Calibri"/>
            </a:endParaRPr>
          </a:p>
        </p:txBody>
      </p:sp>
      <p:sp>
        <p:nvSpPr>
          <p:cNvPr id="382" name="Google Shape;382;p10"/>
          <p:cNvSpPr/>
          <p:nvPr/>
        </p:nvSpPr>
        <p:spPr>
          <a:xfrm>
            <a:off x="5912968" y="2633472"/>
            <a:ext cx="347472" cy="347472"/>
          </a:xfrm>
          <a:prstGeom prst="ellipse">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0"/>
          <p:cNvSpPr txBox="1"/>
          <p:nvPr/>
        </p:nvSpPr>
        <p:spPr>
          <a:xfrm>
            <a:off x="5912968" y="263347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4</a:t>
            </a:r>
            <a:endParaRPr sz="1200">
              <a:solidFill>
                <a:schemeClr val="dk1"/>
              </a:solidFill>
              <a:latin typeface="Calibri"/>
              <a:ea typeface="Calibri"/>
              <a:cs typeface="Calibri"/>
              <a:sym typeface="Calibri"/>
            </a:endParaRPr>
          </a:p>
        </p:txBody>
      </p:sp>
      <p:sp>
        <p:nvSpPr>
          <p:cNvPr id="384" name="Google Shape;384;p10"/>
          <p:cNvSpPr txBox="1"/>
          <p:nvPr/>
        </p:nvSpPr>
        <p:spPr>
          <a:xfrm>
            <a:off x="5437480" y="3017520"/>
            <a:ext cx="1316736"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292C"/>
              </a:buClr>
              <a:buSzPts val="1200"/>
              <a:buFont typeface="Calibri"/>
              <a:buNone/>
            </a:pPr>
            <a:r>
              <a:rPr b="1" lang="en-US" sz="1200">
                <a:solidFill>
                  <a:srgbClr val="13292C"/>
                </a:solidFill>
                <a:latin typeface="Calibri"/>
                <a:ea typeface="Calibri"/>
                <a:cs typeface="Calibri"/>
                <a:sym typeface="Calibri"/>
              </a:rPr>
              <a:t>FEFO</a:t>
            </a:r>
            <a:endParaRPr sz="1200">
              <a:solidFill>
                <a:schemeClr val="dk1"/>
              </a:solidFill>
              <a:latin typeface="Calibri"/>
              <a:ea typeface="Calibri"/>
              <a:cs typeface="Calibri"/>
              <a:sym typeface="Calibri"/>
            </a:endParaRPr>
          </a:p>
          <a:p>
            <a:pPr indent="0" lvl="0" marL="0" marR="0" rtl="0" algn="ctr">
              <a:spcBef>
                <a:spcPts val="0"/>
              </a:spcBef>
              <a:spcAft>
                <a:spcPts val="0"/>
              </a:spcAft>
              <a:buClr>
                <a:srgbClr val="13292C"/>
              </a:buClr>
              <a:buSzPts val="1200"/>
              <a:buFont typeface="Calibri"/>
              <a:buNone/>
            </a:pPr>
            <a:r>
              <a:rPr b="1" lang="en-US" sz="1200">
                <a:solidFill>
                  <a:srgbClr val="13292C"/>
                </a:solidFill>
                <a:latin typeface="Calibri"/>
                <a:ea typeface="Calibri"/>
                <a:cs typeface="Calibri"/>
                <a:sym typeface="Calibri"/>
              </a:rPr>
              <a:t>Allocation</a:t>
            </a:r>
            <a:endParaRPr sz="1200">
              <a:solidFill>
                <a:schemeClr val="dk1"/>
              </a:solidFill>
              <a:latin typeface="Calibri"/>
              <a:ea typeface="Calibri"/>
              <a:cs typeface="Calibri"/>
              <a:sym typeface="Calibri"/>
            </a:endParaRPr>
          </a:p>
        </p:txBody>
      </p:sp>
      <p:sp>
        <p:nvSpPr>
          <p:cNvPr id="385" name="Google Shape;385;p10"/>
          <p:cNvSpPr txBox="1"/>
          <p:nvPr/>
        </p:nvSpPr>
        <p:spPr>
          <a:xfrm>
            <a:off x="5437480" y="3419856"/>
            <a:ext cx="1316736" cy="201168"/>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Clr>
                <a:srgbClr val="4C6764"/>
              </a:buClr>
              <a:buSzPts val="850"/>
              <a:buFont typeface="Calibri"/>
              <a:buNone/>
            </a:pPr>
            <a:r>
              <a:rPr lang="en-US" sz="850">
                <a:solidFill>
                  <a:srgbClr val="4C6764"/>
                </a:solidFill>
                <a:latin typeface="Calibri"/>
                <a:ea typeface="Calibri"/>
                <a:cs typeface="Calibri"/>
                <a:sym typeface="Calibri"/>
              </a:rPr>
              <a:t>Filter MLOR + ETA</a:t>
            </a:r>
            <a:endParaRPr sz="850">
              <a:solidFill>
                <a:schemeClr val="dk1"/>
              </a:solidFill>
              <a:latin typeface="Calibri"/>
              <a:ea typeface="Calibri"/>
              <a:cs typeface="Calibri"/>
              <a:sym typeface="Calibri"/>
            </a:endParaRPr>
          </a:p>
          <a:p>
            <a:pPr indent="0" lvl="0" marL="0" marR="0" rtl="0" algn="ctr">
              <a:lnSpc>
                <a:spcPct val="110000"/>
              </a:lnSpc>
              <a:spcBef>
                <a:spcPts val="0"/>
              </a:spcBef>
              <a:spcAft>
                <a:spcPts val="0"/>
              </a:spcAft>
              <a:buClr>
                <a:srgbClr val="4C6764"/>
              </a:buClr>
              <a:buSzPts val="850"/>
              <a:buFont typeface="Calibri"/>
              <a:buNone/>
            </a:pPr>
            <a:r>
              <a:rPr lang="en-US" sz="850">
                <a:solidFill>
                  <a:srgbClr val="4C6764"/>
                </a:solidFill>
                <a:latin typeface="Calibri"/>
                <a:ea typeface="Calibri"/>
                <a:cs typeface="Calibri"/>
                <a:sym typeface="Calibri"/>
              </a:rPr>
              <a:t>Rank by FEFO</a:t>
            </a:r>
            <a:endParaRPr sz="850">
              <a:solidFill>
                <a:schemeClr val="dk1"/>
              </a:solidFill>
              <a:latin typeface="Calibri"/>
              <a:ea typeface="Calibri"/>
              <a:cs typeface="Calibri"/>
              <a:sym typeface="Calibri"/>
            </a:endParaRPr>
          </a:p>
        </p:txBody>
      </p:sp>
      <p:sp>
        <p:nvSpPr>
          <p:cNvPr id="386" name="Google Shape;386;p10"/>
          <p:cNvSpPr/>
          <p:nvPr/>
        </p:nvSpPr>
        <p:spPr>
          <a:xfrm>
            <a:off x="6973672" y="2359152"/>
            <a:ext cx="1426464" cy="1453896"/>
          </a:xfrm>
          <a:prstGeom prst="roundRect">
            <a:avLst>
              <a:gd fmla="val 5797" name="adj"/>
            </a:avLst>
          </a:prstGeom>
          <a:solidFill>
            <a:srgbClr val="0A4550"/>
          </a:solidFill>
          <a:ln cap="flat" cmpd="sng" w="19050">
            <a:solidFill>
              <a:srgbClr val="00A896"/>
            </a:solidFill>
            <a:prstDash val="solid"/>
            <a:round/>
            <a:headEnd len="sm" w="sm" type="none"/>
            <a:tailEnd len="sm" w="sm" type="none"/>
          </a:ln>
          <a:effectLst>
            <a:outerShdw blurRad="63500" rotWithShape="0" algn="bl" dir="5400000" dist="25400">
              <a:srgbClr val="1B3B3B">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0"/>
          <p:cNvSpPr/>
          <p:nvPr/>
        </p:nvSpPr>
        <p:spPr>
          <a:xfrm>
            <a:off x="6973672" y="2359152"/>
            <a:ext cx="1426464" cy="237744"/>
          </a:xfrm>
          <a:prstGeom prst="roundRect">
            <a:avLst>
              <a:gd fmla="val 23077" name="adj"/>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0"/>
          <p:cNvSpPr txBox="1"/>
          <p:nvPr/>
        </p:nvSpPr>
        <p:spPr>
          <a:xfrm>
            <a:off x="6973672" y="2359152"/>
            <a:ext cx="142646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lang="en-US" sz="850">
                <a:solidFill>
                  <a:srgbClr val="FFFFFF"/>
                </a:solidFill>
                <a:latin typeface="Calibri"/>
                <a:ea typeface="Calibri"/>
                <a:cs typeface="Calibri"/>
                <a:sym typeface="Calibri"/>
              </a:rPr>
              <a:t>System</a:t>
            </a:r>
            <a:endParaRPr sz="850">
              <a:solidFill>
                <a:schemeClr val="dk1"/>
              </a:solidFill>
              <a:latin typeface="Calibri"/>
              <a:ea typeface="Calibri"/>
              <a:cs typeface="Calibri"/>
              <a:sym typeface="Calibri"/>
            </a:endParaRPr>
          </a:p>
        </p:txBody>
      </p:sp>
      <p:sp>
        <p:nvSpPr>
          <p:cNvPr id="389" name="Google Shape;389;p10"/>
          <p:cNvSpPr/>
          <p:nvPr/>
        </p:nvSpPr>
        <p:spPr>
          <a:xfrm>
            <a:off x="7504024" y="2633472"/>
            <a:ext cx="347472" cy="347472"/>
          </a:xfrm>
          <a:prstGeom prst="ellipse">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0"/>
          <p:cNvSpPr txBox="1"/>
          <p:nvPr/>
        </p:nvSpPr>
        <p:spPr>
          <a:xfrm>
            <a:off x="7504024" y="263347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5</a:t>
            </a:r>
            <a:endParaRPr sz="1200">
              <a:solidFill>
                <a:schemeClr val="dk1"/>
              </a:solidFill>
              <a:latin typeface="Calibri"/>
              <a:ea typeface="Calibri"/>
              <a:cs typeface="Calibri"/>
              <a:sym typeface="Calibri"/>
            </a:endParaRPr>
          </a:p>
        </p:txBody>
      </p:sp>
      <p:sp>
        <p:nvSpPr>
          <p:cNvPr id="391" name="Google Shape;391;p10"/>
          <p:cNvSpPr txBox="1"/>
          <p:nvPr/>
        </p:nvSpPr>
        <p:spPr>
          <a:xfrm>
            <a:off x="7028536" y="3017520"/>
            <a:ext cx="1316736"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Sufficient</a:t>
            </a:r>
            <a:endParaRPr sz="12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Stock?</a:t>
            </a:r>
            <a:endParaRPr sz="1200">
              <a:solidFill>
                <a:schemeClr val="dk1"/>
              </a:solidFill>
              <a:latin typeface="Calibri"/>
              <a:ea typeface="Calibri"/>
              <a:cs typeface="Calibri"/>
              <a:sym typeface="Calibri"/>
            </a:endParaRPr>
          </a:p>
        </p:txBody>
      </p:sp>
      <p:sp>
        <p:nvSpPr>
          <p:cNvPr id="392" name="Google Shape;392;p10"/>
          <p:cNvSpPr txBox="1"/>
          <p:nvPr/>
        </p:nvSpPr>
        <p:spPr>
          <a:xfrm>
            <a:off x="7485736" y="2651760"/>
            <a:ext cx="402336"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2200"/>
              <a:buFont typeface="Calibri"/>
              <a:buNone/>
            </a:pPr>
            <a:r>
              <a:t/>
            </a:r>
            <a:endParaRPr sz="2200">
              <a:solidFill>
                <a:schemeClr val="dk1"/>
              </a:solidFill>
              <a:latin typeface="Calibri"/>
              <a:ea typeface="Calibri"/>
              <a:cs typeface="Calibri"/>
              <a:sym typeface="Calibri"/>
            </a:endParaRPr>
          </a:p>
        </p:txBody>
      </p:sp>
      <p:sp>
        <p:nvSpPr>
          <p:cNvPr id="393" name="Google Shape;393;p10"/>
          <p:cNvSpPr/>
          <p:nvPr/>
        </p:nvSpPr>
        <p:spPr>
          <a:xfrm>
            <a:off x="8564728" y="2359152"/>
            <a:ext cx="1426464" cy="1453896"/>
          </a:xfrm>
          <a:prstGeom prst="roundRect">
            <a:avLst>
              <a:gd fmla="val 5797" name="adj"/>
            </a:avLst>
          </a:prstGeom>
          <a:solidFill>
            <a:srgbClr val="E8F7F4"/>
          </a:solidFill>
          <a:ln cap="flat" cmpd="sng" w="12700">
            <a:solidFill>
              <a:srgbClr val="02C39A"/>
            </a:solidFill>
            <a:prstDash val="solid"/>
            <a:round/>
            <a:headEnd len="sm" w="sm" type="none"/>
            <a:tailEnd len="sm" w="sm" type="none"/>
          </a:ln>
          <a:effectLst>
            <a:outerShdw blurRad="63500" rotWithShape="0" algn="bl" dir="5400000" dist="25400">
              <a:srgbClr val="1B3B3B">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0"/>
          <p:cNvSpPr/>
          <p:nvPr/>
        </p:nvSpPr>
        <p:spPr>
          <a:xfrm>
            <a:off x="8564728" y="2359152"/>
            <a:ext cx="1426464" cy="237744"/>
          </a:xfrm>
          <a:prstGeom prst="roundRect">
            <a:avLst>
              <a:gd fmla="val 23077" name="adj"/>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0"/>
          <p:cNvSpPr txBox="1"/>
          <p:nvPr/>
        </p:nvSpPr>
        <p:spPr>
          <a:xfrm>
            <a:off x="8564728" y="2359152"/>
            <a:ext cx="142646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E33"/>
              </a:buClr>
              <a:buSzPts val="850"/>
              <a:buFont typeface="Calibri"/>
              <a:buNone/>
            </a:pPr>
            <a:r>
              <a:rPr b="1" lang="en-US" sz="850">
                <a:solidFill>
                  <a:srgbClr val="0B2E33"/>
                </a:solidFill>
                <a:latin typeface="Calibri"/>
                <a:ea typeface="Calibri"/>
                <a:cs typeface="Calibri"/>
                <a:sym typeface="Calibri"/>
              </a:rPr>
              <a:t>Admin / Operator</a:t>
            </a:r>
            <a:endParaRPr sz="850">
              <a:solidFill>
                <a:schemeClr val="dk1"/>
              </a:solidFill>
              <a:latin typeface="Calibri"/>
              <a:ea typeface="Calibri"/>
              <a:cs typeface="Calibri"/>
              <a:sym typeface="Calibri"/>
            </a:endParaRPr>
          </a:p>
        </p:txBody>
      </p:sp>
      <p:sp>
        <p:nvSpPr>
          <p:cNvPr id="396" name="Google Shape;396;p10"/>
          <p:cNvSpPr/>
          <p:nvPr/>
        </p:nvSpPr>
        <p:spPr>
          <a:xfrm>
            <a:off x="9095080" y="2633472"/>
            <a:ext cx="347472" cy="347472"/>
          </a:xfrm>
          <a:prstGeom prst="ellipse">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0"/>
          <p:cNvSpPr txBox="1"/>
          <p:nvPr/>
        </p:nvSpPr>
        <p:spPr>
          <a:xfrm>
            <a:off x="9095080" y="263347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6</a:t>
            </a:r>
            <a:endParaRPr sz="1200">
              <a:solidFill>
                <a:schemeClr val="dk1"/>
              </a:solidFill>
              <a:latin typeface="Calibri"/>
              <a:ea typeface="Calibri"/>
              <a:cs typeface="Calibri"/>
              <a:sym typeface="Calibri"/>
            </a:endParaRPr>
          </a:p>
        </p:txBody>
      </p:sp>
      <p:sp>
        <p:nvSpPr>
          <p:cNvPr id="398" name="Google Shape;398;p10"/>
          <p:cNvSpPr txBox="1"/>
          <p:nvPr/>
        </p:nvSpPr>
        <p:spPr>
          <a:xfrm>
            <a:off x="8619592" y="3017520"/>
            <a:ext cx="1316736"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292C"/>
              </a:buClr>
              <a:buSzPts val="1200"/>
              <a:buFont typeface="Calibri"/>
              <a:buNone/>
            </a:pPr>
            <a:r>
              <a:rPr b="1" lang="en-US" sz="1200">
                <a:solidFill>
                  <a:srgbClr val="13292C"/>
                </a:solidFill>
                <a:latin typeface="Calibri"/>
                <a:ea typeface="Calibri"/>
                <a:cs typeface="Calibri"/>
                <a:sym typeface="Calibri"/>
              </a:rPr>
              <a:t>Approve /</a:t>
            </a:r>
            <a:endParaRPr sz="1200">
              <a:solidFill>
                <a:schemeClr val="dk1"/>
              </a:solidFill>
              <a:latin typeface="Calibri"/>
              <a:ea typeface="Calibri"/>
              <a:cs typeface="Calibri"/>
              <a:sym typeface="Calibri"/>
            </a:endParaRPr>
          </a:p>
          <a:p>
            <a:pPr indent="0" lvl="0" marL="0" marR="0" rtl="0" algn="ctr">
              <a:spcBef>
                <a:spcPts val="0"/>
              </a:spcBef>
              <a:spcAft>
                <a:spcPts val="0"/>
              </a:spcAft>
              <a:buClr>
                <a:srgbClr val="13292C"/>
              </a:buClr>
              <a:buSzPts val="1200"/>
              <a:buFont typeface="Calibri"/>
              <a:buNone/>
            </a:pPr>
            <a:r>
              <a:rPr b="1" lang="en-US" sz="1200">
                <a:solidFill>
                  <a:srgbClr val="13292C"/>
                </a:solidFill>
                <a:latin typeface="Calibri"/>
                <a:ea typeface="Calibri"/>
                <a:cs typeface="Calibri"/>
                <a:sym typeface="Calibri"/>
              </a:rPr>
              <a:t>Reject</a:t>
            </a:r>
            <a:endParaRPr sz="1200">
              <a:solidFill>
                <a:schemeClr val="dk1"/>
              </a:solidFill>
              <a:latin typeface="Calibri"/>
              <a:ea typeface="Calibri"/>
              <a:cs typeface="Calibri"/>
              <a:sym typeface="Calibri"/>
            </a:endParaRPr>
          </a:p>
        </p:txBody>
      </p:sp>
      <p:sp>
        <p:nvSpPr>
          <p:cNvPr id="399" name="Google Shape;399;p10"/>
          <p:cNvSpPr txBox="1"/>
          <p:nvPr/>
        </p:nvSpPr>
        <p:spPr>
          <a:xfrm>
            <a:off x="8619592" y="3419856"/>
            <a:ext cx="1316736" cy="201168"/>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Clr>
                <a:srgbClr val="4C6764"/>
              </a:buClr>
              <a:buSzPts val="850"/>
              <a:buFont typeface="Calibri"/>
              <a:buNone/>
            </a:pPr>
            <a:r>
              <a:rPr lang="en-US" sz="850">
                <a:solidFill>
                  <a:srgbClr val="4C6764"/>
                </a:solidFill>
                <a:latin typeface="Calibri"/>
                <a:ea typeface="Calibri"/>
                <a:cs typeface="Calibri"/>
                <a:sym typeface="Calibri"/>
              </a:rPr>
              <a:t>Reason required</a:t>
            </a:r>
            <a:endParaRPr sz="850">
              <a:solidFill>
                <a:schemeClr val="dk1"/>
              </a:solidFill>
              <a:latin typeface="Calibri"/>
              <a:ea typeface="Calibri"/>
              <a:cs typeface="Calibri"/>
              <a:sym typeface="Calibri"/>
            </a:endParaRPr>
          </a:p>
          <a:p>
            <a:pPr indent="0" lvl="0" marL="0" marR="0" rtl="0" algn="ctr">
              <a:lnSpc>
                <a:spcPct val="110000"/>
              </a:lnSpc>
              <a:spcBef>
                <a:spcPts val="0"/>
              </a:spcBef>
              <a:spcAft>
                <a:spcPts val="0"/>
              </a:spcAft>
              <a:buClr>
                <a:srgbClr val="4C6764"/>
              </a:buClr>
              <a:buSzPts val="850"/>
              <a:buFont typeface="Calibri"/>
              <a:buNone/>
            </a:pPr>
            <a:r>
              <a:rPr lang="en-US" sz="850">
                <a:solidFill>
                  <a:srgbClr val="4C6764"/>
                </a:solidFill>
                <a:latin typeface="Calibri"/>
                <a:ea typeface="Calibri"/>
                <a:cs typeface="Calibri"/>
                <a:sym typeface="Calibri"/>
              </a:rPr>
              <a:t>for rejection</a:t>
            </a:r>
            <a:endParaRPr sz="850">
              <a:solidFill>
                <a:schemeClr val="dk1"/>
              </a:solidFill>
              <a:latin typeface="Calibri"/>
              <a:ea typeface="Calibri"/>
              <a:cs typeface="Calibri"/>
              <a:sym typeface="Calibri"/>
            </a:endParaRPr>
          </a:p>
        </p:txBody>
      </p:sp>
      <p:sp>
        <p:nvSpPr>
          <p:cNvPr id="400" name="Google Shape;400;p10"/>
          <p:cNvSpPr/>
          <p:nvPr/>
        </p:nvSpPr>
        <p:spPr>
          <a:xfrm>
            <a:off x="10155784" y="2359152"/>
            <a:ext cx="1426464" cy="1453896"/>
          </a:xfrm>
          <a:prstGeom prst="roundRect">
            <a:avLst>
              <a:gd fmla="val 5797" name="adj"/>
            </a:avLst>
          </a:prstGeom>
          <a:solidFill>
            <a:srgbClr val="EAF3F1"/>
          </a:solidFill>
          <a:ln cap="flat" cmpd="sng" w="12700">
            <a:solidFill>
              <a:srgbClr val="BFE8DC"/>
            </a:solidFill>
            <a:prstDash val="solid"/>
            <a:round/>
            <a:headEnd len="sm" w="sm" type="none"/>
            <a:tailEnd len="sm" w="sm" type="none"/>
          </a:ln>
          <a:effectLst>
            <a:outerShdw blurRad="63500" rotWithShape="0" algn="bl" dir="5400000" dist="25400">
              <a:srgbClr val="1B3B3B">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0"/>
          <p:cNvSpPr/>
          <p:nvPr/>
        </p:nvSpPr>
        <p:spPr>
          <a:xfrm>
            <a:off x="10155784" y="2359152"/>
            <a:ext cx="1426464" cy="237744"/>
          </a:xfrm>
          <a:prstGeom prst="roundRect">
            <a:avLst>
              <a:gd fmla="val 23077" name="adj"/>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0"/>
          <p:cNvSpPr txBox="1"/>
          <p:nvPr/>
        </p:nvSpPr>
        <p:spPr>
          <a:xfrm>
            <a:off x="10155784" y="2359152"/>
            <a:ext cx="142646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lang="en-US" sz="850">
                <a:solidFill>
                  <a:srgbClr val="FFFFFF"/>
                </a:solidFill>
                <a:latin typeface="Calibri"/>
                <a:ea typeface="Calibri"/>
                <a:cs typeface="Calibri"/>
                <a:sym typeface="Calibri"/>
              </a:rPr>
              <a:t>Sales Rep</a:t>
            </a:r>
            <a:endParaRPr sz="850">
              <a:solidFill>
                <a:schemeClr val="dk1"/>
              </a:solidFill>
              <a:latin typeface="Calibri"/>
              <a:ea typeface="Calibri"/>
              <a:cs typeface="Calibri"/>
              <a:sym typeface="Calibri"/>
            </a:endParaRPr>
          </a:p>
        </p:txBody>
      </p:sp>
      <p:sp>
        <p:nvSpPr>
          <p:cNvPr id="403" name="Google Shape;403;p10"/>
          <p:cNvSpPr/>
          <p:nvPr/>
        </p:nvSpPr>
        <p:spPr>
          <a:xfrm>
            <a:off x="10686136" y="2633472"/>
            <a:ext cx="347472" cy="347472"/>
          </a:xfrm>
          <a:prstGeom prst="ellipse">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0"/>
          <p:cNvSpPr txBox="1"/>
          <p:nvPr/>
        </p:nvSpPr>
        <p:spPr>
          <a:xfrm>
            <a:off x="10686136" y="2633472"/>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7</a:t>
            </a:r>
            <a:endParaRPr sz="1200">
              <a:solidFill>
                <a:schemeClr val="dk1"/>
              </a:solidFill>
              <a:latin typeface="Calibri"/>
              <a:ea typeface="Calibri"/>
              <a:cs typeface="Calibri"/>
              <a:sym typeface="Calibri"/>
            </a:endParaRPr>
          </a:p>
        </p:txBody>
      </p:sp>
      <p:sp>
        <p:nvSpPr>
          <p:cNvPr id="405" name="Google Shape;405;p10"/>
          <p:cNvSpPr txBox="1"/>
          <p:nvPr/>
        </p:nvSpPr>
        <p:spPr>
          <a:xfrm>
            <a:off x="10210648" y="3017520"/>
            <a:ext cx="1316736"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292C"/>
              </a:buClr>
              <a:buSzPts val="1200"/>
              <a:buFont typeface="Calibri"/>
              <a:buNone/>
            </a:pPr>
            <a:r>
              <a:rPr b="1" lang="en-US" sz="1200">
                <a:solidFill>
                  <a:srgbClr val="13292C"/>
                </a:solidFill>
                <a:latin typeface="Calibri"/>
                <a:ea typeface="Calibri"/>
                <a:cs typeface="Calibri"/>
                <a:sym typeface="Calibri"/>
              </a:rPr>
              <a:t>View Order</a:t>
            </a:r>
            <a:endParaRPr sz="1200">
              <a:solidFill>
                <a:schemeClr val="dk1"/>
              </a:solidFill>
              <a:latin typeface="Calibri"/>
              <a:ea typeface="Calibri"/>
              <a:cs typeface="Calibri"/>
              <a:sym typeface="Calibri"/>
            </a:endParaRPr>
          </a:p>
          <a:p>
            <a:pPr indent="0" lvl="0" marL="0" marR="0" rtl="0" algn="ctr">
              <a:spcBef>
                <a:spcPts val="0"/>
              </a:spcBef>
              <a:spcAft>
                <a:spcPts val="0"/>
              </a:spcAft>
              <a:buClr>
                <a:srgbClr val="13292C"/>
              </a:buClr>
              <a:buSzPts val="1200"/>
              <a:buFont typeface="Calibri"/>
              <a:buNone/>
            </a:pPr>
            <a:r>
              <a:rPr b="1" lang="en-US" sz="1200">
                <a:solidFill>
                  <a:srgbClr val="13292C"/>
                </a:solidFill>
                <a:latin typeface="Calibri"/>
                <a:ea typeface="Calibri"/>
                <a:cs typeface="Calibri"/>
                <a:sym typeface="Calibri"/>
              </a:rPr>
              <a:t>History</a:t>
            </a:r>
            <a:endParaRPr sz="1200">
              <a:solidFill>
                <a:schemeClr val="dk1"/>
              </a:solidFill>
              <a:latin typeface="Calibri"/>
              <a:ea typeface="Calibri"/>
              <a:cs typeface="Calibri"/>
              <a:sym typeface="Calibri"/>
            </a:endParaRPr>
          </a:p>
        </p:txBody>
      </p:sp>
      <p:sp>
        <p:nvSpPr>
          <p:cNvPr id="406" name="Google Shape;406;p10"/>
          <p:cNvSpPr txBox="1"/>
          <p:nvPr/>
        </p:nvSpPr>
        <p:spPr>
          <a:xfrm>
            <a:off x="10210648" y="3419856"/>
            <a:ext cx="1316736" cy="201168"/>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Clr>
                <a:srgbClr val="4C6764"/>
              </a:buClr>
              <a:buSzPts val="850"/>
              <a:buFont typeface="Calibri"/>
              <a:buNone/>
            </a:pPr>
            <a:r>
              <a:rPr lang="en-US" sz="850">
                <a:solidFill>
                  <a:srgbClr val="4C6764"/>
                </a:solidFill>
                <a:latin typeface="Calibri"/>
                <a:ea typeface="Calibri"/>
                <a:cs typeface="Calibri"/>
                <a:sym typeface="Calibri"/>
              </a:rPr>
              <a:t>Track status</a:t>
            </a:r>
            <a:endParaRPr sz="850">
              <a:solidFill>
                <a:schemeClr val="dk1"/>
              </a:solidFill>
              <a:latin typeface="Calibri"/>
              <a:ea typeface="Calibri"/>
              <a:cs typeface="Calibri"/>
              <a:sym typeface="Calibri"/>
            </a:endParaRPr>
          </a:p>
          <a:p>
            <a:pPr indent="0" lvl="0" marL="0" marR="0" rtl="0" algn="ctr">
              <a:lnSpc>
                <a:spcPct val="110000"/>
              </a:lnSpc>
              <a:spcBef>
                <a:spcPts val="0"/>
              </a:spcBef>
              <a:spcAft>
                <a:spcPts val="0"/>
              </a:spcAft>
              <a:buClr>
                <a:srgbClr val="4C6764"/>
              </a:buClr>
              <a:buSzPts val="850"/>
              <a:buFont typeface="Calibri"/>
              <a:buNone/>
            </a:pPr>
            <a:r>
              <a:rPr lang="en-US" sz="850">
                <a:solidFill>
                  <a:srgbClr val="4C6764"/>
                </a:solidFill>
                <a:latin typeface="Calibri"/>
                <a:ea typeface="Calibri"/>
                <a:cs typeface="Calibri"/>
                <a:sym typeface="Calibri"/>
              </a:rPr>
              <a:t>&amp; promotions</a:t>
            </a:r>
            <a:endParaRPr sz="850">
              <a:solidFill>
                <a:schemeClr val="dk1"/>
              </a:solidFill>
              <a:latin typeface="Calibri"/>
              <a:ea typeface="Calibri"/>
              <a:cs typeface="Calibri"/>
              <a:sym typeface="Calibri"/>
            </a:endParaRPr>
          </a:p>
        </p:txBody>
      </p:sp>
      <p:sp>
        <p:nvSpPr>
          <p:cNvPr id="407" name="Google Shape;407;p10"/>
          <p:cNvSpPr/>
          <p:nvPr/>
        </p:nvSpPr>
        <p:spPr>
          <a:xfrm>
            <a:off x="2035912" y="2979115"/>
            <a:ext cx="18288" cy="21946"/>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0"/>
          <p:cNvSpPr txBox="1"/>
          <p:nvPr/>
        </p:nvSpPr>
        <p:spPr>
          <a:xfrm>
            <a:off x="1981048" y="2825496"/>
            <a:ext cx="201168"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A896"/>
              </a:buClr>
              <a:buSzPts val="1000"/>
              <a:buFont typeface="Calibri"/>
              <a:buNone/>
            </a:pPr>
            <a:r>
              <a:rPr lang="en-US" sz="1000">
                <a:solidFill>
                  <a:srgbClr val="00A896"/>
                </a:solidFill>
                <a:latin typeface="Calibri"/>
                <a:ea typeface="Calibri"/>
                <a:cs typeface="Calibri"/>
                <a:sym typeface="Calibri"/>
              </a:rPr>
              <a:t>▶</a:t>
            </a:r>
            <a:endParaRPr sz="1000">
              <a:solidFill>
                <a:schemeClr val="dk1"/>
              </a:solidFill>
              <a:latin typeface="Calibri"/>
              <a:ea typeface="Calibri"/>
              <a:cs typeface="Calibri"/>
              <a:sym typeface="Calibri"/>
            </a:endParaRPr>
          </a:p>
        </p:txBody>
      </p:sp>
      <p:sp>
        <p:nvSpPr>
          <p:cNvPr id="409" name="Google Shape;409;p10"/>
          <p:cNvSpPr/>
          <p:nvPr/>
        </p:nvSpPr>
        <p:spPr>
          <a:xfrm>
            <a:off x="3626968" y="2979115"/>
            <a:ext cx="18288" cy="21946"/>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0"/>
          <p:cNvSpPr txBox="1"/>
          <p:nvPr/>
        </p:nvSpPr>
        <p:spPr>
          <a:xfrm>
            <a:off x="3572104" y="2825496"/>
            <a:ext cx="201168"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A896"/>
              </a:buClr>
              <a:buSzPts val="1000"/>
              <a:buFont typeface="Calibri"/>
              <a:buNone/>
            </a:pPr>
            <a:r>
              <a:rPr lang="en-US" sz="1000">
                <a:solidFill>
                  <a:srgbClr val="00A896"/>
                </a:solidFill>
                <a:latin typeface="Calibri"/>
                <a:ea typeface="Calibri"/>
                <a:cs typeface="Calibri"/>
                <a:sym typeface="Calibri"/>
              </a:rPr>
              <a:t>▶</a:t>
            </a:r>
            <a:endParaRPr sz="1000">
              <a:solidFill>
                <a:schemeClr val="dk1"/>
              </a:solidFill>
              <a:latin typeface="Calibri"/>
              <a:ea typeface="Calibri"/>
              <a:cs typeface="Calibri"/>
              <a:sym typeface="Calibri"/>
            </a:endParaRPr>
          </a:p>
        </p:txBody>
      </p:sp>
      <p:sp>
        <p:nvSpPr>
          <p:cNvPr id="411" name="Google Shape;411;p10"/>
          <p:cNvSpPr/>
          <p:nvPr/>
        </p:nvSpPr>
        <p:spPr>
          <a:xfrm>
            <a:off x="5218024" y="2979115"/>
            <a:ext cx="18288" cy="21946"/>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0"/>
          <p:cNvSpPr txBox="1"/>
          <p:nvPr/>
        </p:nvSpPr>
        <p:spPr>
          <a:xfrm>
            <a:off x="5163160" y="2825496"/>
            <a:ext cx="201168"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A896"/>
              </a:buClr>
              <a:buSzPts val="1000"/>
              <a:buFont typeface="Calibri"/>
              <a:buNone/>
            </a:pPr>
            <a:r>
              <a:rPr lang="en-US" sz="1000">
                <a:solidFill>
                  <a:srgbClr val="00A896"/>
                </a:solidFill>
                <a:latin typeface="Calibri"/>
                <a:ea typeface="Calibri"/>
                <a:cs typeface="Calibri"/>
                <a:sym typeface="Calibri"/>
              </a:rPr>
              <a:t>▶</a:t>
            </a:r>
            <a:endParaRPr sz="1000">
              <a:solidFill>
                <a:schemeClr val="dk1"/>
              </a:solidFill>
              <a:latin typeface="Calibri"/>
              <a:ea typeface="Calibri"/>
              <a:cs typeface="Calibri"/>
              <a:sym typeface="Calibri"/>
            </a:endParaRPr>
          </a:p>
        </p:txBody>
      </p:sp>
      <p:sp>
        <p:nvSpPr>
          <p:cNvPr id="413" name="Google Shape;413;p10"/>
          <p:cNvSpPr/>
          <p:nvPr/>
        </p:nvSpPr>
        <p:spPr>
          <a:xfrm>
            <a:off x="6809080" y="2979115"/>
            <a:ext cx="18288" cy="21946"/>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0"/>
          <p:cNvSpPr txBox="1"/>
          <p:nvPr/>
        </p:nvSpPr>
        <p:spPr>
          <a:xfrm>
            <a:off x="6754216" y="2825496"/>
            <a:ext cx="201168"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A896"/>
              </a:buClr>
              <a:buSzPts val="1000"/>
              <a:buFont typeface="Calibri"/>
              <a:buNone/>
            </a:pPr>
            <a:r>
              <a:rPr lang="en-US" sz="1000">
                <a:solidFill>
                  <a:srgbClr val="00A896"/>
                </a:solidFill>
                <a:latin typeface="Calibri"/>
                <a:ea typeface="Calibri"/>
                <a:cs typeface="Calibri"/>
                <a:sym typeface="Calibri"/>
              </a:rPr>
              <a:t>▶</a:t>
            </a:r>
            <a:endParaRPr sz="1000">
              <a:solidFill>
                <a:schemeClr val="dk1"/>
              </a:solidFill>
              <a:latin typeface="Calibri"/>
              <a:ea typeface="Calibri"/>
              <a:cs typeface="Calibri"/>
              <a:sym typeface="Calibri"/>
            </a:endParaRPr>
          </a:p>
        </p:txBody>
      </p:sp>
      <p:sp>
        <p:nvSpPr>
          <p:cNvPr id="415" name="Google Shape;415;p10"/>
          <p:cNvSpPr/>
          <p:nvPr/>
        </p:nvSpPr>
        <p:spPr>
          <a:xfrm>
            <a:off x="9991192" y="2979115"/>
            <a:ext cx="18288" cy="21946"/>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0"/>
          <p:cNvSpPr txBox="1"/>
          <p:nvPr/>
        </p:nvSpPr>
        <p:spPr>
          <a:xfrm>
            <a:off x="9936328" y="2825496"/>
            <a:ext cx="201168"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A896"/>
              </a:buClr>
              <a:buSzPts val="1000"/>
              <a:buFont typeface="Calibri"/>
              <a:buNone/>
            </a:pPr>
            <a:r>
              <a:rPr lang="en-US" sz="1000">
                <a:solidFill>
                  <a:srgbClr val="00A896"/>
                </a:solidFill>
                <a:latin typeface="Calibri"/>
                <a:ea typeface="Calibri"/>
                <a:cs typeface="Calibri"/>
                <a:sym typeface="Calibri"/>
              </a:rPr>
              <a:t>▶</a:t>
            </a:r>
            <a:endParaRPr sz="1000">
              <a:solidFill>
                <a:schemeClr val="dk1"/>
              </a:solidFill>
              <a:latin typeface="Calibri"/>
              <a:ea typeface="Calibri"/>
              <a:cs typeface="Calibri"/>
              <a:sym typeface="Calibri"/>
            </a:endParaRPr>
          </a:p>
        </p:txBody>
      </p:sp>
      <p:sp>
        <p:nvSpPr>
          <p:cNvPr id="417" name="Google Shape;417;p10"/>
          <p:cNvSpPr/>
          <p:nvPr/>
        </p:nvSpPr>
        <p:spPr>
          <a:xfrm>
            <a:off x="8400136" y="2979115"/>
            <a:ext cx="18288" cy="21946"/>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0"/>
          <p:cNvSpPr txBox="1"/>
          <p:nvPr/>
        </p:nvSpPr>
        <p:spPr>
          <a:xfrm>
            <a:off x="8345272" y="2825496"/>
            <a:ext cx="201168"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C39A"/>
              </a:buClr>
              <a:buSzPts val="1000"/>
              <a:buFont typeface="Calibri"/>
              <a:buNone/>
            </a:pPr>
            <a:r>
              <a:rPr lang="en-US" sz="1000">
                <a:solidFill>
                  <a:srgbClr val="02C39A"/>
                </a:solidFill>
                <a:latin typeface="Calibri"/>
                <a:ea typeface="Calibri"/>
                <a:cs typeface="Calibri"/>
                <a:sym typeface="Calibri"/>
              </a:rPr>
              <a:t>▶</a:t>
            </a:r>
            <a:endParaRPr sz="1000">
              <a:solidFill>
                <a:schemeClr val="dk1"/>
              </a:solidFill>
              <a:latin typeface="Calibri"/>
              <a:ea typeface="Calibri"/>
              <a:cs typeface="Calibri"/>
              <a:sym typeface="Calibri"/>
            </a:endParaRPr>
          </a:p>
        </p:txBody>
      </p:sp>
      <p:sp>
        <p:nvSpPr>
          <p:cNvPr id="419" name="Google Shape;419;p10"/>
          <p:cNvSpPr/>
          <p:nvPr/>
        </p:nvSpPr>
        <p:spPr>
          <a:xfrm>
            <a:off x="7675931" y="3813048"/>
            <a:ext cx="21946" cy="411480"/>
          </a:xfrm>
          <a:prstGeom prst="rect">
            <a:avLst/>
          </a:prstGeom>
          <a:solidFill>
            <a:srgbClr val="E05A5A"/>
          </a:solidFill>
          <a:ln cap="flat" cmpd="sng" w="12700">
            <a:solidFill>
              <a:srgbClr val="E05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0"/>
          <p:cNvSpPr/>
          <p:nvPr/>
        </p:nvSpPr>
        <p:spPr>
          <a:xfrm>
            <a:off x="6927952" y="4123944"/>
            <a:ext cx="1517904" cy="822960"/>
          </a:xfrm>
          <a:prstGeom prst="roundRect">
            <a:avLst>
              <a:gd fmla="val 7778" name="adj"/>
            </a:avLst>
          </a:prstGeom>
          <a:solidFill>
            <a:srgbClr val="3D1010"/>
          </a:solidFill>
          <a:ln cap="flat" cmpd="sng" w="15225">
            <a:solidFill>
              <a:srgbClr val="E05A5A"/>
            </a:solidFill>
            <a:prstDash val="solid"/>
            <a:round/>
            <a:headEnd len="sm" w="sm" type="none"/>
            <a:tailEnd len="sm" w="sm" type="none"/>
          </a:ln>
          <a:effectLst>
            <a:outerShdw blurRad="63500" rotWithShape="0" algn="bl" dir="5400000" dist="25400">
              <a:srgbClr val="1B3B3B">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0"/>
          <p:cNvSpPr txBox="1"/>
          <p:nvPr/>
        </p:nvSpPr>
        <p:spPr>
          <a:xfrm>
            <a:off x="6927952" y="4197096"/>
            <a:ext cx="1517904"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A0A0"/>
              </a:buClr>
              <a:buSzPts val="1200"/>
              <a:buFont typeface="Calibri"/>
              <a:buNone/>
            </a:pPr>
            <a:r>
              <a:rPr b="1" lang="en-US" sz="1200">
                <a:solidFill>
                  <a:srgbClr val="F0A0A0"/>
                </a:solidFill>
                <a:latin typeface="Calibri"/>
                <a:ea typeface="Calibri"/>
                <a:cs typeface="Calibri"/>
                <a:sym typeface="Calibri"/>
              </a:rPr>
              <a:t>Auto-Reject</a:t>
            </a:r>
            <a:endParaRPr sz="1200">
              <a:solidFill>
                <a:schemeClr val="dk1"/>
              </a:solidFill>
              <a:latin typeface="Calibri"/>
              <a:ea typeface="Calibri"/>
              <a:cs typeface="Calibri"/>
              <a:sym typeface="Calibri"/>
            </a:endParaRPr>
          </a:p>
        </p:txBody>
      </p:sp>
      <p:sp>
        <p:nvSpPr>
          <p:cNvPr id="422" name="Google Shape;422;p10"/>
          <p:cNvSpPr txBox="1"/>
          <p:nvPr/>
        </p:nvSpPr>
        <p:spPr>
          <a:xfrm>
            <a:off x="6927952" y="4544568"/>
            <a:ext cx="1517904" cy="347472"/>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C07070"/>
              </a:buClr>
              <a:buSzPts val="850"/>
              <a:buFont typeface="Calibri"/>
              <a:buNone/>
            </a:pPr>
            <a:r>
              <a:rPr lang="en-US" sz="850">
                <a:solidFill>
                  <a:srgbClr val="C07070"/>
                </a:solidFill>
                <a:latin typeface="Calibri"/>
                <a:ea typeface="Calibri"/>
                <a:cs typeface="Calibri"/>
                <a:sym typeface="Calibri"/>
              </a:rPr>
              <a:t>Notify Sales &amp; Retailer</a:t>
            </a:r>
            <a:endParaRPr sz="850">
              <a:solidFill>
                <a:schemeClr val="dk1"/>
              </a:solidFill>
              <a:latin typeface="Calibri"/>
              <a:ea typeface="Calibri"/>
              <a:cs typeface="Calibri"/>
              <a:sym typeface="Calibri"/>
            </a:endParaRPr>
          </a:p>
          <a:p>
            <a:pPr indent="0" lvl="0" marL="0" marR="0" rtl="0" algn="ctr">
              <a:lnSpc>
                <a:spcPct val="105000"/>
              </a:lnSpc>
              <a:spcBef>
                <a:spcPts val="0"/>
              </a:spcBef>
              <a:spcAft>
                <a:spcPts val="0"/>
              </a:spcAft>
              <a:buClr>
                <a:srgbClr val="C07070"/>
              </a:buClr>
              <a:buSzPts val="850"/>
              <a:buFont typeface="Calibri"/>
              <a:buNone/>
            </a:pPr>
            <a:r>
              <a:rPr lang="en-US" sz="850">
                <a:solidFill>
                  <a:srgbClr val="C07070"/>
                </a:solidFill>
                <a:latin typeface="Calibri"/>
                <a:ea typeface="Calibri"/>
                <a:cs typeface="Calibri"/>
                <a:sym typeface="Calibri"/>
              </a:rPr>
              <a:t>No partial fulfillment</a:t>
            </a:r>
            <a:endParaRPr sz="850">
              <a:solidFill>
                <a:schemeClr val="dk1"/>
              </a:solidFill>
              <a:latin typeface="Calibri"/>
              <a:ea typeface="Calibri"/>
              <a:cs typeface="Calibri"/>
              <a:sym typeface="Calibri"/>
            </a:endParaRPr>
          </a:p>
        </p:txBody>
      </p:sp>
      <p:sp>
        <p:nvSpPr>
          <p:cNvPr id="423" name="Google Shape;423;p10"/>
          <p:cNvSpPr/>
          <p:nvPr/>
        </p:nvSpPr>
        <p:spPr>
          <a:xfrm>
            <a:off x="9269045" y="3804539"/>
            <a:ext cx="21946" cy="502920"/>
          </a:xfrm>
          <a:prstGeom prst="rect">
            <a:avLst/>
          </a:prstGeom>
          <a:solidFill>
            <a:srgbClr val="C8A800"/>
          </a:solidFill>
          <a:ln cap="flat" cmpd="sng" w="12700">
            <a:solidFill>
              <a:srgbClr val="C8A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0"/>
          <p:cNvSpPr/>
          <p:nvPr/>
        </p:nvSpPr>
        <p:spPr>
          <a:xfrm>
            <a:off x="8519008" y="4123944"/>
            <a:ext cx="1517904" cy="822960"/>
          </a:xfrm>
          <a:prstGeom prst="roundRect">
            <a:avLst>
              <a:gd fmla="val 7778" name="adj"/>
            </a:avLst>
          </a:prstGeom>
          <a:solidFill>
            <a:srgbClr val="2E2A10"/>
          </a:solidFill>
          <a:ln cap="flat" cmpd="sng" w="15225">
            <a:solidFill>
              <a:srgbClr val="C8A800"/>
            </a:solidFill>
            <a:prstDash val="solid"/>
            <a:round/>
            <a:headEnd len="sm" w="sm" type="none"/>
            <a:tailEnd len="sm" w="sm" type="none"/>
          </a:ln>
          <a:effectLst>
            <a:outerShdw blurRad="63500" rotWithShape="0" algn="bl" dir="5400000" dist="25400">
              <a:srgbClr val="1B3B3B">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0"/>
          <p:cNvSpPr txBox="1"/>
          <p:nvPr/>
        </p:nvSpPr>
        <p:spPr>
          <a:xfrm>
            <a:off x="8519008" y="4197096"/>
            <a:ext cx="1517904"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D060"/>
              </a:buClr>
              <a:buSzPts val="1100"/>
              <a:buFont typeface="Calibri"/>
              <a:buNone/>
            </a:pPr>
            <a:r>
              <a:rPr b="1" lang="en-US" sz="1100">
                <a:solidFill>
                  <a:srgbClr val="F0D060"/>
                </a:solidFill>
                <a:latin typeface="Calibri"/>
                <a:ea typeface="Calibri"/>
                <a:cs typeface="Calibri"/>
                <a:sym typeface="Calibri"/>
              </a:rPr>
              <a:t>Rejected by Admin/Op</a:t>
            </a:r>
            <a:endParaRPr sz="1100">
              <a:solidFill>
                <a:schemeClr val="dk1"/>
              </a:solidFill>
              <a:latin typeface="Calibri"/>
              <a:ea typeface="Calibri"/>
              <a:cs typeface="Calibri"/>
              <a:sym typeface="Calibri"/>
            </a:endParaRPr>
          </a:p>
        </p:txBody>
      </p:sp>
      <p:sp>
        <p:nvSpPr>
          <p:cNvPr id="426" name="Google Shape;426;p10"/>
          <p:cNvSpPr txBox="1"/>
          <p:nvPr/>
        </p:nvSpPr>
        <p:spPr>
          <a:xfrm>
            <a:off x="8519008" y="4544568"/>
            <a:ext cx="1517904" cy="347472"/>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B09040"/>
              </a:buClr>
              <a:buSzPts val="850"/>
              <a:buFont typeface="Calibri"/>
              <a:buNone/>
            </a:pPr>
            <a:r>
              <a:rPr lang="en-US" sz="850">
                <a:solidFill>
                  <a:srgbClr val="B09040"/>
                </a:solidFill>
                <a:latin typeface="Calibri"/>
                <a:ea typeface="Calibri"/>
                <a:cs typeface="Calibri"/>
                <a:sym typeface="Calibri"/>
              </a:rPr>
              <a:t>Held stock released</a:t>
            </a:r>
            <a:endParaRPr sz="850">
              <a:solidFill>
                <a:schemeClr val="dk1"/>
              </a:solidFill>
              <a:latin typeface="Calibri"/>
              <a:ea typeface="Calibri"/>
              <a:cs typeface="Calibri"/>
              <a:sym typeface="Calibri"/>
            </a:endParaRPr>
          </a:p>
          <a:p>
            <a:pPr indent="0" lvl="0" marL="0" marR="0" rtl="0" algn="ctr">
              <a:lnSpc>
                <a:spcPct val="105000"/>
              </a:lnSpc>
              <a:spcBef>
                <a:spcPts val="0"/>
              </a:spcBef>
              <a:spcAft>
                <a:spcPts val="0"/>
              </a:spcAft>
              <a:buClr>
                <a:srgbClr val="B09040"/>
              </a:buClr>
              <a:buSzPts val="850"/>
              <a:buFont typeface="Calibri"/>
              <a:buNone/>
            </a:pPr>
            <a:r>
              <a:rPr lang="en-US" sz="850">
                <a:solidFill>
                  <a:srgbClr val="B09040"/>
                </a:solidFill>
                <a:latin typeface="Calibri"/>
                <a:ea typeface="Calibri"/>
                <a:cs typeface="Calibri"/>
                <a:sym typeface="Calibri"/>
              </a:rPr>
              <a:t>Reason sent to Sales</a:t>
            </a:r>
            <a:endParaRPr sz="850">
              <a:solidFill>
                <a:schemeClr val="dk1"/>
              </a:solidFill>
              <a:latin typeface="Calibri"/>
              <a:ea typeface="Calibri"/>
              <a:cs typeface="Calibri"/>
              <a:sym typeface="Calibri"/>
            </a:endParaRPr>
          </a:p>
        </p:txBody>
      </p:sp>
      <p:sp>
        <p:nvSpPr>
          <p:cNvPr id="427" name="Google Shape;427;p10"/>
          <p:cNvSpPr/>
          <p:nvPr/>
        </p:nvSpPr>
        <p:spPr>
          <a:xfrm>
            <a:off x="438912" y="6364224"/>
            <a:ext cx="11320272" cy="256032"/>
          </a:xfrm>
          <a:prstGeom prst="roundRect">
            <a:avLst>
              <a:gd fmla="val 17857" name="adj"/>
            </a:avLst>
          </a:prstGeom>
          <a:solidFill>
            <a:srgbClr val="FFF8E1"/>
          </a:solidFill>
          <a:ln cap="flat" cmpd="sng" w="9525">
            <a:solidFill>
              <a:srgbClr val="C8A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0"/>
          <p:cNvSpPr txBox="1"/>
          <p:nvPr/>
        </p:nvSpPr>
        <p:spPr>
          <a:xfrm>
            <a:off x="566928" y="6364224"/>
            <a:ext cx="11064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4600"/>
              </a:buClr>
              <a:buSzPts val="1000"/>
              <a:buFont typeface="Calibri"/>
              <a:buNone/>
            </a:pPr>
            <a:r>
              <a:rPr lang="en-US" sz="1000">
                <a:solidFill>
                  <a:srgbClr val="5C4600"/>
                </a:solidFill>
                <a:latin typeface="Calibri"/>
                <a:ea typeface="Calibri"/>
                <a:cs typeface="Calibri"/>
                <a:sym typeface="Calibri"/>
              </a:rPr>
              <a:t>⚡ Offline mode: Sales Rep saves order locally (Pending Sync) → auto-syncs on reconnect → System processes in arrival order (FCFS)</a:t>
            </a:r>
            <a:endParaRPr sz="1000">
              <a:solidFill>
                <a:schemeClr val="dk1"/>
              </a:solidFill>
              <a:latin typeface="Calibri"/>
              <a:ea typeface="Calibri"/>
              <a:cs typeface="Calibri"/>
              <a:sym typeface="Calibri"/>
            </a:endParaRPr>
          </a:p>
        </p:txBody>
      </p:sp>
      <p:sp>
        <p:nvSpPr>
          <p:cNvPr id="429" name="Google Shape;429;p10"/>
          <p:cNvSpPr txBox="1"/>
          <p:nvPr/>
        </p:nvSpPr>
        <p:spPr>
          <a:xfrm>
            <a:off x="502920" y="6510528"/>
            <a:ext cx="73152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C5C0"/>
              </a:buClr>
              <a:buSzPts val="850"/>
              <a:buFont typeface="Calibri"/>
              <a:buNone/>
            </a:pPr>
            <a:r>
              <a:rPr lang="en-US" sz="850">
                <a:solidFill>
                  <a:srgbClr val="A8C5C0"/>
                </a:solidFill>
                <a:latin typeface="Calibri"/>
                <a:ea typeface="Calibri"/>
                <a:cs typeface="Calibri"/>
                <a:sym typeface="Calibri"/>
              </a:rPr>
              <a:t>FSCM  ·  Capstone Project Overview  ·  FA26SE083</a:t>
            </a:r>
            <a:endParaRPr sz="850">
              <a:solidFill>
                <a:schemeClr val="dk1"/>
              </a:solidFill>
              <a:latin typeface="Calibri"/>
              <a:ea typeface="Calibri"/>
              <a:cs typeface="Calibri"/>
              <a:sym typeface="Calibri"/>
            </a:endParaRPr>
          </a:p>
        </p:txBody>
      </p:sp>
      <p:sp>
        <p:nvSpPr>
          <p:cNvPr id="430" name="Google Shape;430;p10"/>
          <p:cNvSpPr txBox="1"/>
          <p:nvPr/>
        </p:nvSpPr>
        <p:spPr>
          <a:xfrm>
            <a:off x="11338560"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8C5C0"/>
              </a:buClr>
              <a:buSzPts val="850"/>
              <a:buFont typeface="Calibri"/>
              <a:buNone/>
            </a:pPr>
            <a:r>
              <a:rPr lang="en-US" sz="850">
                <a:solidFill>
                  <a:srgbClr val="A8C5C0"/>
                </a:solidFill>
                <a:latin typeface="Calibri"/>
                <a:ea typeface="Calibri"/>
                <a:cs typeface="Calibri"/>
                <a:sym typeface="Calibri"/>
              </a:rPr>
              <a:t>10</a:t>
            </a:r>
            <a:endParaRPr sz="85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AF9"/>
        </a:solidFill>
      </p:bgPr>
    </p:bg>
    <p:spTree>
      <p:nvGrpSpPr>
        <p:cNvPr id="435" name="Shape 435"/>
        <p:cNvGrpSpPr/>
        <p:nvPr/>
      </p:nvGrpSpPr>
      <p:grpSpPr>
        <a:xfrm>
          <a:off x="0" y="0"/>
          <a:ext cx="0" cy="0"/>
          <a:chOff x="0" y="0"/>
          <a:chExt cx="0" cy="0"/>
        </a:xfrm>
      </p:grpSpPr>
      <p:sp>
        <p:nvSpPr>
          <p:cNvPr id="436" name="Google Shape;436;p11"/>
          <p:cNvSpPr txBox="1"/>
          <p:nvPr/>
        </p:nvSpPr>
        <p:spPr>
          <a:xfrm>
            <a:off x="502920" y="402336"/>
            <a:ext cx="10058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100"/>
              <a:buFont typeface="Calibri"/>
              <a:buNone/>
            </a:pPr>
            <a:r>
              <a:rPr b="1" lang="en-US" sz="1100">
                <a:solidFill>
                  <a:srgbClr val="028090"/>
                </a:solidFill>
                <a:latin typeface="Calibri"/>
                <a:ea typeface="Calibri"/>
                <a:cs typeface="Calibri"/>
                <a:sym typeface="Calibri"/>
              </a:rPr>
              <a:t>05 · SYSTEM FLOW</a:t>
            </a:r>
            <a:endParaRPr sz="1100">
              <a:solidFill>
                <a:schemeClr val="dk1"/>
              </a:solidFill>
              <a:latin typeface="Calibri"/>
              <a:ea typeface="Calibri"/>
              <a:cs typeface="Calibri"/>
              <a:sym typeface="Calibri"/>
            </a:endParaRPr>
          </a:p>
        </p:txBody>
      </p:sp>
      <p:sp>
        <p:nvSpPr>
          <p:cNvPr id="437" name="Google Shape;437;p11"/>
          <p:cNvSpPr/>
          <p:nvPr/>
        </p:nvSpPr>
        <p:spPr>
          <a:xfrm>
            <a:off x="502920" y="731520"/>
            <a:ext cx="11201400" cy="13716"/>
          </a:xfrm>
          <a:prstGeom prst="rect">
            <a:avLst/>
          </a:prstGeom>
          <a:solidFill>
            <a:srgbClr val="BFE8DC"/>
          </a:solidFill>
          <a:ln cap="flat" cmpd="sng" w="12700">
            <a:solidFill>
              <a:srgbClr val="BFE8D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1"/>
          <p:cNvSpPr txBox="1"/>
          <p:nvPr/>
        </p:nvSpPr>
        <p:spPr>
          <a:xfrm>
            <a:off x="502920" y="777240"/>
            <a:ext cx="11201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292C"/>
              </a:buClr>
              <a:buSzPts val="3000"/>
              <a:buFont typeface="Cambria"/>
              <a:buNone/>
            </a:pPr>
            <a:r>
              <a:rPr b="1" lang="en-US" sz="3000">
                <a:solidFill>
                  <a:srgbClr val="13292C"/>
                </a:solidFill>
                <a:latin typeface="Cambria"/>
                <a:ea typeface="Cambria"/>
                <a:cs typeface="Cambria"/>
                <a:sym typeface="Cambria"/>
              </a:rPr>
              <a:t>Order Fulfillment &amp; Delivery Flow</a:t>
            </a:r>
            <a:endParaRPr sz="3000">
              <a:solidFill>
                <a:schemeClr val="dk1"/>
              </a:solidFill>
              <a:latin typeface="Calibri"/>
              <a:ea typeface="Calibri"/>
              <a:cs typeface="Calibri"/>
              <a:sym typeface="Calibri"/>
            </a:endParaRPr>
          </a:p>
        </p:txBody>
      </p:sp>
      <p:sp>
        <p:nvSpPr>
          <p:cNvPr id="439" name="Google Shape;439;p11"/>
          <p:cNvSpPr/>
          <p:nvPr/>
        </p:nvSpPr>
        <p:spPr>
          <a:xfrm>
            <a:off x="585216" y="1682496"/>
            <a:ext cx="1435608" cy="292608"/>
          </a:xfrm>
          <a:prstGeom prst="roundRect">
            <a:avLst>
              <a:gd fmla="val 50000" name="adj"/>
            </a:avLst>
          </a:prstGeom>
          <a:solidFill>
            <a:srgbClr val="EAF3F1"/>
          </a:solidFill>
          <a:ln cap="flat" cmpd="sng" w="12700">
            <a:solidFill>
              <a:srgbClr val="EAF3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1"/>
          <p:cNvSpPr txBox="1"/>
          <p:nvPr/>
        </p:nvSpPr>
        <p:spPr>
          <a:xfrm>
            <a:off x="585216" y="1682496"/>
            <a:ext cx="1435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8090"/>
              </a:buClr>
              <a:buSzPts val="950"/>
              <a:buFont typeface="Calibri"/>
              <a:buNone/>
            </a:pPr>
            <a:r>
              <a:rPr b="1" lang="en-US" sz="950">
                <a:solidFill>
                  <a:srgbClr val="028090"/>
                </a:solidFill>
                <a:latin typeface="Calibri"/>
                <a:ea typeface="Calibri"/>
                <a:cs typeface="Calibri"/>
                <a:sym typeface="Calibri"/>
              </a:rPr>
              <a:t>System</a:t>
            </a:r>
            <a:endParaRPr sz="950">
              <a:solidFill>
                <a:schemeClr val="dk1"/>
              </a:solidFill>
              <a:latin typeface="Calibri"/>
              <a:ea typeface="Calibri"/>
              <a:cs typeface="Calibri"/>
              <a:sym typeface="Calibri"/>
            </a:endParaRPr>
          </a:p>
        </p:txBody>
      </p:sp>
      <p:sp>
        <p:nvSpPr>
          <p:cNvPr id="441" name="Google Shape;441;p11"/>
          <p:cNvSpPr/>
          <p:nvPr/>
        </p:nvSpPr>
        <p:spPr>
          <a:xfrm>
            <a:off x="457200" y="2121408"/>
            <a:ext cx="1691640" cy="1371600"/>
          </a:xfrm>
          <a:prstGeom prst="roundRect">
            <a:avLst>
              <a:gd fmla="val 6000" name="adj"/>
            </a:avLst>
          </a:prstGeom>
          <a:solidFill>
            <a:srgbClr val="FFFFFF"/>
          </a:solidFill>
          <a:ln cap="flat" cmpd="sng" w="15225">
            <a:solidFill>
              <a:srgbClr val="028090"/>
            </a:solidFill>
            <a:prstDash val="solid"/>
            <a:round/>
            <a:headEnd len="sm" w="sm" type="none"/>
            <a:tailEnd len="sm" w="sm" type="none"/>
          </a:ln>
          <a:effectLst>
            <a:outerShdw blurRad="63500" rotWithShape="0" algn="bl" dir="5400000" dist="25400">
              <a:srgbClr val="1B3B3B">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1"/>
          <p:cNvSpPr/>
          <p:nvPr/>
        </p:nvSpPr>
        <p:spPr>
          <a:xfrm>
            <a:off x="585216" y="2212848"/>
            <a:ext cx="329184" cy="329184"/>
          </a:xfrm>
          <a:prstGeom prst="ellipse">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1"/>
          <p:cNvSpPr txBox="1"/>
          <p:nvPr/>
        </p:nvSpPr>
        <p:spPr>
          <a:xfrm>
            <a:off x="585216" y="2212848"/>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lang="en-US" sz="1150">
                <a:solidFill>
                  <a:srgbClr val="FFFFFF"/>
                </a:solidFill>
                <a:latin typeface="Calibri"/>
                <a:ea typeface="Calibri"/>
                <a:cs typeface="Calibri"/>
                <a:sym typeface="Calibri"/>
              </a:rPr>
              <a:t>1</a:t>
            </a:r>
            <a:endParaRPr sz="1150">
              <a:solidFill>
                <a:schemeClr val="dk1"/>
              </a:solidFill>
              <a:latin typeface="Calibri"/>
              <a:ea typeface="Calibri"/>
              <a:cs typeface="Calibri"/>
              <a:sym typeface="Calibri"/>
            </a:endParaRPr>
          </a:p>
        </p:txBody>
      </p:sp>
      <p:sp>
        <p:nvSpPr>
          <p:cNvPr id="444" name="Google Shape;444;p11"/>
          <p:cNvSpPr txBox="1"/>
          <p:nvPr/>
        </p:nvSpPr>
        <p:spPr>
          <a:xfrm>
            <a:off x="530352" y="2615184"/>
            <a:ext cx="1545336"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292C"/>
              </a:buClr>
              <a:buSzPts val="1200"/>
              <a:buFont typeface="Calibri"/>
              <a:buNone/>
            </a:pPr>
            <a:r>
              <a:rPr b="1" lang="en-US" sz="1200">
                <a:solidFill>
                  <a:srgbClr val="13292C"/>
                </a:solidFill>
                <a:latin typeface="Calibri"/>
                <a:ea typeface="Calibri"/>
                <a:cs typeface="Calibri"/>
                <a:sym typeface="Calibri"/>
              </a:rPr>
              <a:t>Allocation</a:t>
            </a:r>
            <a:endParaRPr sz="1200">
              <a:solidFill>
                <a:schemeClr val="dk1"/>
              </a:solidFill>
              <a:latin typeface="Calibri"/>
              <a:ea typeface="Calibri"/>
              <a:cs typeface="Calibri"/>
              <a:sym typeface="Calibri"/>
            </a:endParaRPr>
          </a:p>
          <a:p>
            <a:pPr indent="0" lvl="0" marL="0" marR="0" rtl="0" algn="ctr">
              <a:spcBef>
                <a:spcPts val="0"/>
              </a:spcBef>
              <a:spcAft>
                <a:spcPts val="0"/>
              </a:spcAft>
              <a:buClr>
                <a:srgbClr val="13292C"/>
              </a:buClr>
              <a:buSzPts val="1200"/>
              <a:buFont typeface="Calibri"/>
              <a:buNone/>
            </a:pPr>
            <a:r>
              <a:rPr b="1" lang="en-US" sz="1200">
                <a:solidFill>
                  <a:srgbClr val="13292C"/>
                </a:solidFill>
                <a:latin typeface="Calibri"/>
                <a:ea typeface="Calibri"/>
                <a:cs typeface="Calibri"/>
                <a:sym typeface="Calibri"/>
              </a:rPr>
              <a:t>Complete</a:t>
            </a:r>
            <a:endParaRPr sz="1200">
              <a:solidFill>
                <a:schemeClr val="dk1"/>
              </a:solidFill>
              <a:latin typeface="Calibri"/>
              <a:ea typeface="Calibri"/>
              <a:cs typeface="Calibri"/>
              <a:sym typeface="Calibri"/>
            </a:endParaRPr>
          </a:p>
        </p:txBody>
      </p:sp>
      <p:sp>
        <p:nvSpPr>
          <p:cNvPr id="445" name="Google Shape;445;p11"/>
          <p:cNvSpPr txBox="1"/>
          <p:nvPr/>
        </p:nvSpPr>
        <p:spPr>
          <a:xfrm>
            <a:off x="530352" y="3127248"/>
            <a:ext cx="1545336" cy="347472"/>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4C6764"/>
              </a:buClr>
              <a:buSzPts val="950"/>
              <a:buFont typeface="Calibri"/>
              <a:buNone/>
            </a:pPr>
            <a:r>
              <a:rPr lang="en-US" sz="950">
                <a:solidFill>
                  <a:srgbClr val="4C6764"/>
                </a:solidFill>
                <a:latin typeface="Calibri"/>
                <a:ea typeface="Calibri"/>
                <a:cs typeface="Calibri"/>
                <a:sym typeface="Calibri"/>
              </a:rPr>
              <a:t>Stock</a:t>
            </a:r>
            <a:r>
              <a:rPr lang="en-US" sz="950">
                <a:solidFill>
                  <a:srgbClr val="4C6764"/>
                </a:solidFill>
                <a:latin typeface="Calibri"/>
                <a:ea typeface="Calibri"/>
                <a:cs typeface="Calibri"/>
                <a:sym typeface="Calibri"/>
              </a:rPr>
              <a:t> held</a:t>
            </a:r>
            <a:endParaRPr sz="950">
              <a:solidFill>
                <a:srgbClr val="4C6764"/>
              </a:solidFill>
              <a:latin typeface="Calibri"/>
              <a:ea typeface="Calibri"/>
              <a:cs typeface="Calibri"/>
              <a:sym typeface="Calibri"/>
            </a:endParaRPr>
          </a:p>
          <a:p>
            <a:pPr indent="0" lvl="0" marL="0" marR="0" rtl="0" algn="ctr">
              <a:lnSpc>
                <a:spcPct val="105000"/>
              </a:lnSpc>
              <a:spcBef>
                <a:spcPts val="0"/>
              </a:spcBef>
              <a:spcAft>
                <a:spcPts val="0"/>
              </a:spcAft>
              <a:buClr>
                <a:srgbClr val="4C6764"/>
              </a:buClr>
              <a:buSzPts val="950"/>
              <a:buFont typeface="Calibri"/>
              <a:buNone/>
            </a:pPr>
            <a:r>
              <a:rPr lang="en-US" sz="950">
                <a:solidFill>
                  <a:srgbClr val="4C6764"/>
                </a:solidFill>
                <a:latin typeface="Calibri"/>
                <a:ea typeface="Calibri"/>
                <a:cs typeface="Calibri"/>
                <a:sym typeface="Calibri"/>
              </a:rPr>
              <a:t>Awaiting approval</a:t>
            </a:r>
            <a:endParaRPr sz="950">
              <a:solidFill>
                <a:srgbClr val="4C6764"/>
              </a:solidFill>
              <a:latin typeface="Calibri"/>
              <a:ea typeface="Calibri"/>
              <a:cs typeface="Calibri"/>
              <a:sym typeface="Calibri"/>
            </a:endParaRPr>
          </a:p>
        </p:txBody>
      </p:sp>
      <p:sp>
        <p:nvSpPr>
          <p:cNvPr id="446" name="Google Shape;446;p11"/>
          <p:cNvSpPr txBox="1"/>
          <p:nvPr/>
        </p:nvSpPr>
        <p:spPr>
          <a:xfrm>
            <a:off x="2167128" y="2642616"/>
            <a:ext cx="132588"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A896"/>
              </a:buClr>
              <a:buSzPts val="1000"/>
              <a:buFont typeface="Calibri"/>
              <a:buNone/>
            </a:pPr>
            <a:r>
              <a:rPr lang="en-US" sz="1000">
                <a:solidFill>
                  <a:srgbClr val="00A896"/>
                </a:solidFill>
                <a:latin typeface="Calibri"/>
                <a:ea typeface="Calibri"/>
                <a:cs typeface="Calibri"/>
                <a:sym typeface="Calibri"/>
              </a:rPr>
              <a:t>▶</a:t>
            </a:r>
            <a:endParaRPr sz="1000">
              <a:solidFill>
                <a:schemeClr val="dk1"/>
              </a:solidFill>
              <a:latin typeface="Calibri"/>
              <a:ea typeface="Calibri"/>
              <a:cs typeface="Calibri"/>
              <a:sym typeface="Calibri"/>
            </a:endParaRPr>
          </a:p>
        </p:txBody>
      </p:sp>
      <p:sp>
        <p:nvSpPr>
          <p:cNvPr id="447" name="Google Shape;447;p11"/>
          <p:cNvSpPr/>
          <p:nvPr/>
        </p:nvSpPr>
        <p:spPr>
          <a:xfrm>
            <a:off x="2446020" y="1682496"/>
            <a:ext cx="1435608" cy="292608"/>
          </a:xfrm>
          <a:prstGeom prst="roundRect">
            <a:avLst>
              <a:gd fmla="val 50000" name="adj"/>
            </a:avLst>
          </a:prstGeom>
          <a:solidFill>
            <a:srgbClr val="EAF3F1"/>
          </a:solidFill>
          <a:ln cap="flat" cmpd="sng" w="12700">
            <a:solidFill>
              <a:srgbClr val="EAF3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1"/>
          <p:cNvSpPr txBox="1"/>
          <p:nvPr/>
        </p:nvSpPr>
        <p:spPr>
          <a:xfrm>
            <a:off x="2446020" y="1682496"/>
            <a:ext cx="1435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8090"/>
              </a:buClr>
              <a:buSzPts val="950"/>
              <a:buFont typeface="Calibri"/>
              <a:buNone/>
            </a:pPr>
            <a:r>
              <a:rPr b="1" lang="en-US" sz="950">
                <a:solidFill>
                  <a:srgbClr val="028090"/>
                </a:solidFill>
                <a:latin typeface="Calibri"/>
                <a:ea typeface="Calibri"/>
                <a:cs typeface="Calibri"/>
                <a:sym typeface="Calibri"/>
              </a:rPr>
              <a:t>Admin / Operator</a:t>
            </a:r>
            <a:endParaRPr sz="950">
              <a:solidFill>
                <a:schemeClr val="dk1"/>
              </a:solidFill>
              <a:latin typeface="Calibri"/>
              <a:ea typeface="Calibri"/>
              <a:cs typeface="Calibri"/>
              <a:sym typeface="Calibri"/>
            </a:endParaRPr>
          </a:p>
        </p:txBody>
      </p:sp>
      <p:sp>
        <p:nvSpPr>
          <p:cNvPr id="449" name="Google Shape;449;p11"/>
          <p:cNvSpPr/>
          <p:nvPr/>
        </p:nvSpPr>
        <p:spPr>
          <a:xfrm>
            <a:off x="2318004" y="2121408"/>
            <a:ext cx="1691640" cy="1371600"/>
          </a:xfrm>
          <a:prstGeom prst="roundRect">
            <a:avLst>
              <a:gd fmla="val 6000" name="adj"/>
            </a:avLst>
          </a:prstGeom>
          <a:solidFill>
            <a:srgbClr val="EAF3F1"/>
          </a:solidFill>
          <a:ln cap="flat" cmpd="sng" w="15225">
            <a:solidFill>
              <a:srgbClr val="BFE8DC"/>
            </a:solidFill>
            <a:prstDash val="solid"/>
            <a:round/>
            <a:headEnd len="sm" w="sm" type="none"/>
            <a:tailEnd len="sm" w="sm" type="none"/>
          </a:ln>
          <a:effectLst>
            <a:outerShdw blurRad="63500" rotWithShape="0" algn="bl" dir="5400000" dist="25400">
              <a:srgbClr val="1B3B3B">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1"/>
          <p:cNvSpPr/>
          <p:nvPr/>
        </p:nvSpPr>
        <p:spPr>
          <a:xfrm>
            <a:off x="2446020" y="2212848"/>
            <a:ext cx="329184" cy="329184"/>
          </a:xfrm>
          <a:prstGeom prst="ellipse">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1"/>
          <p:cNvSpPr txBox="1"/>
          <p:nvPr/>
        </p:nvSpPr>
        <p:spPr>
          <a:xfrm>
            <a:off x="2446020" y="2212848"/>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lang="en-US" sz="1150">
                <a:solidFill>
                  <a:srgbClr val="FFFFFF"/>
                </a:solidFill>
                <a:latin typeface="Calibri"/>
                <a:ea typeface="Calibri"/>
                <a:cs typeface="Calibri"/>
                <a:sym typeface="Calibri"/>
              </a:rPr>
              <a:t>2</a:t>
            </a:r>
            <a:endParaRPr sz="1150">
              <a:solidFill>
                <a:schemeClr val="dk1"/>
              </a:solidFill>
              <a:latin typeface="Calibri"/>
              <a:ea typeface="Calibri"/>
              <a:cs typeface="Calibri"/>
              <a:sym typeface="Calibri"/>
            </a:endParaRPr>
          </a:p>
        </p:txBody>
      </p:sp>
      <p:sp>
        <p:nvSpPr>
          <p:cNvPr id="452" name="Google Shape;452;p11"/>
          <p:cNvSpPr txBox="1"/>
          <p:nvPr/>
        </p:nvSpPr>
        <p:spPr>
          <a:xfrm>
            <a:off x="2391156" y="2615184"/>
            <a:ext cx="1545336"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292C"/>
              </a:buClr>
              <a:buSzPts val="1200"/>
              <a:buFont typeface="Calibri"/>
              <a:buNone/>
            </a:pPr>
            <a:r>
              <a:rPr b="1" lang="en-US" sz="1200">
                <a:solidFill>
                  <a:srgbClr val="13292C"/>
                </a:solidFill>
                <a:latin typeface="Calibri"/>
                <a:ea typeface="Calibri"/>
                <a:cs typeface="Calibri"/>
                <a:sym typeface="Calibri"/>
              </a:rPr>
              <a:t>Approve Order</a:t>
            </a:r>
            <a:endParaRPr sz="1200">
              <a:solidFill>
                <a:schemeClr val="dk1"/>
              </a:solidFill>
              <a:latin typeface="Calibri"/>
              <a:ea typeface="Calibri"/>
              <a:cs typeface="Calibri"/>
              <a:sym typeface="Calibri"/>
            </a:endParaRPr>
          </a:p>
        </p:txBody>
      </p:sp>
      <p:sp>
        <p:nvSpPr>
          <p:cNvPr id="453" name="Google Shape;453;p11"/>
          <p:cNvSpPr txBox="1"/>
          <p:nvPr/>
        </p:nvSpPr>
        <p:spPr>
          <a:xfrm>
            <a:off x="2391156" y="3127248"/>
            <a:ext cx="1545336" cy="347472"/>
          </a:xfrm>
          <a:prstGeom prst="rect">
            <a:avLst/>
          </a:prstGeom>
          <a:noFill/>
          <a:ln>
            <a:noFill/>
          </a:ln>
        </p:spPr>
        <p:txBody>
          <a:bodyPr anchorCtr="0" anchor="t" bIns="0" lIns="0" spcFirstLastPara="1" rIns="0" wrap="square" tIns="0">
            <a:noAutofit/>
          </a:bodyPr>
          <a:lstStyle/>
          <a:p>
            <a:pPr indent="0" lvl="0" marL="0" rtl="0" algn="ctr">
              <a:lnSpc>
                <a:spcPct val="105000"/>
              </a:lnSpc>
              <a:spcBef>
                <a:spcPts val="0"/>
              </a:spcBef>
              <a:spcAft>
                <a:spcPts val="0"/>
              </a:spcAft>
              <a:buClr>
                <a:schemeClr val="dk1"/>
              </a:buClr>
              <a:buSzPts val="1100"/>
              <a:buFont typeface="Arial"/>
              <a:buNone/>
            </a:pPr>
            <a:r>
              <a:rPr lang="en-US" sz="950">
                <a:solidFill>
                  <a:srgbClr val="4C6764"/>
                </a:solidFill>
                <a:latin typeface="Calibri"/>
                <a:ea typeface="Calibri"/>
                <a:cs typeface="Calibri"/>
                <a:sym typeface="Calibri"/>
              </a:rPr>
              <a:t>Convert holds to reservations</a:t>
            </a:r>
            <a:endParaRPr sz="950">
              <a:solidFill>
                <a:srgbClr val="4C6764"/>
              </a:solidFill>
              <a:latin typeface="Calibri"/>
              <a:ea typeface="Calibri"/>
              <a:cs typeface="Calibri"/>
              <a:sym typeface="Calibri"/>
            </a:endParaRPr>
          </a:p>
          <a:p>
            <a:pPr indent="0" lvl="0" marL="0" rtl="0" algn="ctr">
              <a:lnSpc>
                <a:spcPct val="105000"/>
              </a:lnSpc>
              <a:spcBef>
                <a:spcPts val="0"/>
              </a:spcBef>
              <a:spcAft>
                <a:spcPts val="0"/>
              </a:spcAft>
              <a:buClr>
                <a:schemeClr val="dk1"/>
              </a:buClr>
              <a:buSzPts val="1100"/>
              <a:buFont typeface="Arial"/>
              <a:buNone/>
            </a:pPr>
            <a:r>
              <a:rPr lang="en-US" sz="950">
                <a:solidFill>
                  <a:srgbClr val="4C6764"/>
                </a:solidFill>
                <a:latin typeface="Calibri"/>
                <a:ea typeface="Calibri"/>
                <a:cs typeface="Calibri"/>
                <a:sym typeface="Calibri"/>
              </a:rPr>
              <a:t>Generate picking lists</a:t>
            </a:r>
            <a:endParaRPr sz="950">
              <a:solidFill>
                <a:srgbClr val="4C6764"/>
              </a:solidFill>
              <a:latin typeface="Calibri"/>
              <a:ea typeface="Calibri"/>
              <a:cs typeface="Calibri"/>
              <a:sym typeface="Calibri"/>
            </a:endParaRPr>
          </a:p>
          <a:p>
            <a:pPr indent="0" lvl="0" marL="0" marR="0" rtl="0" algn="ctr">
              <a:lnSpc>
                <a:spcPct val="105000"/>
              </a:lnSpc>
              <a:spcBef>
                <a:spcPts val="0"/>
              </a:spcBef>
              <a:spcAft>
                <a:spcPts val="0"/>
              </a:spcAft>
              <a:buClr>
                <a:srgbClr val="4C6764"/>
              </a:buClr>
              <a:buSzPts val="950"/>
              <a:buFont typeface="Calibri"/>
              <a:buNone/>
            </a:pPr>
            <a:r>
              <a:t/>
            </a:r>
            <a:endParaRPr sz="950">
              <a:solidFill>
                <a:srgbClr val="4C6764"/>
              </a:solidFill>
              <a:latin typeface="Calibri"/>
              <a:ea typeface="Calibri"/>
              <a:cs typeface="Calibri"/>
              <a:sym typeface="Calibri"/>
            </a:endParaRPr>
          </a:p>
        </p:txBody>
      </p:sp>
      <p:sp>
        <p:nvSpPr>
          <p:cNvPr id="454" name="Google Shape;454;p11"/>
          <p:cNvSpPr txBox="1"/>
          <p:nvPr/>
        </p:nvSpPr>
        <p:spPr>
          <a:xfrm>
            <a:off x="4027932" y="2642616"/>
            <a:ext cx="132588"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A896"/>
              </a:buClr>
              <a:buSzPts val="1000"/>
              <a:buFont typeface="Calibri"/>
              <a:buNone/>
            </a:pPr>
            <a:r>
              <a:rPr lang="en-US" sz="1000">
                <a:solidFill>
                  <a:srgbClr val="00A896"/>
                </a:solidFill>
                <a:latin typeface="Calibri"/>
                <a:ea typeface="Calibri"/>
                <a:cs typeface="Calibri"/>
                <a:sym typeface="Calibri"/>
              </a:rPr>
              <a:t>▶</a:t>
            </a:r>
            <a:endParaRPr sz="1000">
              <a:solidFill>
                <a:schemeClr val="dk1"/>
              </a:solidFill>
              <a:latin typeface="Calibri"/>
              <a:ea typeface="Calibri"/>
              <a:cs typeface="Calibri"/>
              <a:sym typeface="Calibri"/>
            </a:endParaRPr>
          </a:p>
        </p:txBody>
      </p:sp>
      <p:sp>
        <p:nvSpPr>
          <p:cNvPr id="455" name="Google Shape;455;p11"/>
          <p:cNvSpPr/>
          <p:nvPr/>
        </p:nvSpPr>
        <p:spPr>
          <a:xfrm>
            <a:off x="4306824" y="1682496"/>
            <a:ext cx="1435608" cy="292608"/>
          </a:xfrm>
          <a:prstGeom prst="roundRect">
            <a:avLst>
              <a:gd fmla="val 50000" name="adj"/>
            </a:avLst>
          </a:prstGeom>
          <a:solidFill>
            <a:srgbClr val="EAF3F1"/>
          </a:solidFill>
          <a:ln cap="flat" cmpd="sng" w="12700">
            <a:solidFill>
              <a:srgbClr val="EAF3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1"/>
          <p:cNvSpPr txBox="1"/>
          <p:nvPr/>
        </p:nvSpPr>
        <p:spPr>
          <a:xfrm>
            <a:off x="4306824" y="1682496"/>
            <a:ext cx="1435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8090"/>
              </a:buClr>
              <a:buSzPts val="950"/>
              <a:buFont typeface="Calibri"/>
              <a:buNone/>
            </a:pPr>
            <a:r>
              <a:rPr b="1" lang="en-US" sz="950">
                <a:solidFill>
                  <a:srgbClr val="028090"/>
                </a:solidFill>
                <a:latin typeface="Calibri"/>
                <a:ea typeface="Calibri"/>
                <a:cs typeface="Calibri"/>
                <a:sym typeface="Calibri"/>
              </a:rPr>
              <a:t>Warehouse Keeper</a:t>
            </a:r>
            <a:endParaRPr sz="950">
              <a:solidFill>
                <a:schemeClr val="dk1"/>
              </a:solidFill>
              <a:latin typeface="Calibri"/>
              <a:ea typeface="Calibri"/>
              <a:cs typeface="Calibri"/>
              <a:sym typeface="Calibri"/>
            </a:endParaRPr>
          </a:p>
        </p:txBody>
      </p:sp>
      <p:sp>
        <p:nvSpPr>
          <p:cNvPr id="457" name="Google Shape;457;p11"/>
          <p:cNvSpPr/>
          <p:nvPr/>
        </p:nvSpPr>
        <p:spPr>
          <a:xfrm>
            <a:off x="4178808" y="2121408"/>
            <a:ext cx="1691640" cy="1371600"/>
          </a:xfrm>
          <a:prstGeom prst="roundRect">
            <a:avLst>
              <a:gd fmla="val 6000" name="adj"/>
            </a:avLst>
          </a:prstGeom>
          <a:solidFill>
            <a:srgbClr val="EAF3F1"/>
          </a:solidFill>
          <a:ln cap="flat" cmpd="sng" w="15225">
            <a:solidFill>
              <a:srgbClr val="BFE8DC"/>
            </a:solidFill>
            <a:prstDash val="solid"/>
            <a:round/>
            <a:headEnd len="sm" w="sm" type="none"/>
            <a:tailEnd len="sm" w="sm" type="none"/>
          </a:ln>
          <a:effectLst>
            <a:outerShdw blurRad="63500" rotWithShape="0" algn="bl" dir="5400000" dist="25400">
              <a:srgbClr val="1B3B3B">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1"/>
          <p:cNvSpPr/>
          <p:nvPr/>
        </p:nvSpPr>
        <p:spPr>
          <a:xfrm>
            <a:off x="4306824" y="2212848"/>
            <a:ext cx="329184" cy="329184"/>
          </a:xfrm>
          <a:prstGeom prst="ellipse">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1"/>
          <p:cNvSpPr txBox="1"/>
          <p:nvPr/>
        </p:nvSpPr>
        <p:spPr>
          <a:xfrm>
            <a:off x="4306824" y="2212848"/>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lang="en-US" sz="1150">
                <a:solidFill>
                  <a:srgbClr val="FFFFFF"/>
                </a:solidFill>
                <a:latin typeface="Calibri"/>
                <a:ea typeface="Calibri"/>
                <a:cs typeface="Calibri"/>
                <a:sym typeface="Calibri"/>
              </a:rPr>
              <a:t>3</a:t>
            </a:r>
            <a:endParaRPr sz="1150">
              <a:solidFill>
                <a:schemeClr val="dk1"/>
              </a:solidFill>
              <a:latin typeface="Calibri"/>
              <a:ea typeface="Calibri"/>
              <a:cs typeface="Calibri"/>
              <a:sym typeface="Calibri"/>
            </a:endParaRPr>
          </a:p>
        </p:txBody>
      </p:sp>
      <p:sp>
        <p:nvSpPr>
          <p:cNvPr id="460" name="Google Shape;460;p11"/>
          <p:cNvSpPr txBox="1"/>
          <p:nvPr/>
        </p:nvSpPr>
        <p:spPr>
          <a:xfrm>
            <a:off x="4251960" y="2615184"/>
            <a:ext cx="1545336"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292C"/>
              </a:buClr>
              <a:buSzPts val="1200"/>
              <a:buFont typeface="Calibri"/>
              <a:buNone/>
            </a:pPr>
            <a:r>
              <a:rPr b="1" lang="en-US" sz="1200">
                <a:solidFill>
                  <a:srgbClr val="13292C"/>
                </a:solidFill>
                <a:latin typeface="Calibri"/>
                <a:ea typeface="Calibri"/>
                <a:cs typeface="Calibri"/>
                <a:sym typeface="Calibri"/>
              </a:rPr>
              <a:t>Pick &amp; Issue</a:t>
            </a:r>
            <a:endParaRPr sz="1200">
              <a:solidFill>
                <a:schemeClr val="dk1"/>
              </a:solidFill>
              <a:latin typeface="Calibri"/>
              <a:ea typeface="Calibri"/>
              <a:cs typeface="Calibri"/>
              <a:sym typeface="Calibri"/>
            </a:endParaRPr>
          </a:p>
        </p:txBody>
      </p:sp>
      <p:sp>
        <p:nvSpPr>
          <p:cNvPr id="461" name="Google Shape;461;p11"/>
          <p:cNvSpPr txBox="1"/>
          <p:nvPr/>
        </p:nvSpPr>
        <p:spPr>
          <a:xfrm>
            <a:off x="4251960" y="3127248"/>
            <a:ext cx="1545336" cy="347472"/>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4C6764"/>
              </a:buClr>
              <a:buSzPts val="950"/>
              <a:buFont typeface="Calibri"/>
              <a:buNone/>
            </a:pPr>
            <a:r>
              <a:rPr lang="en-US" sz="950">
                <a:solidFill>
                  <a:srgbClr val="4C6764"/>
                </a:solidFill>
                <a:latin typeface="Calibri"/>
                <a:ea typeface="Calibri"/>
                <a:cs typeface="Calibri"/>
                <a:sym typeface="Calibri"/>
              </a:rPr>
              <a:t>Scan batch QR → split</a:t>
            </a:r>
            <a:endParaRPr sz="950">
              <a:solidFill>
                <a:schemeClr val="dk1"/>
              </a:solidFill>
              <a:latin typeface="Calibri"/>
              <a:ea typeface="Calibri"/>
              <a:cs typeface="Calibri"/>
              <a:sym typeface="Calibri"/>
            </a:endParaRPr>
          </a:p>
          <a:p>
            <a:pPr indent="0" lvl="0" marL="0" marR="0" rtl="0" algn="ctr">
              <a:lnSpc>
                <a:spcPct val="105000"/>
              </a:lnSpc>
              <a:spcBef>
                <a:spcPts val="0"/>
              </a:spcBef>
              <a:spcAft>
                <a:spcPts val="0"/>
              </a:spcAft>
              <a:buClr>
                <a:srgbClr val="4C6764"/>
              </a:buClr>
              <a:buSzPts val="950"/>
              <a:buFont typeface="Calibri"/>
              <a:buNone/>
            </a:pPr>
            <a:r>
              <a:rPr lang="en-US" sz="950">
                <a:solidFill>
                  <a:srgbClr val="4C6764"/>
                </a:solidFill>
                <a:latin typeface="Calibri"/>
                <a:ea typeface="Calibri"/>
                <a:cs typeface="Calibri"/>
                <a:sym typeface="Calibri"/>
              </a:rPr>
              <a:t>Deduct actual stock → Issued</a:t>
            </a:r>
            <a:endParaRPr sz="950">
              <a:solidFill>
                <a:schemeClr val="dk1"/>
              </a:solidFill>
              <a:latin typeface="Calibri"/>
              <a:ea typeface="Calibri"/>
              <a:cs typeface="Calibri"/>
              <a:sym typeface="Calibri"/>
            </a:endParaRPr>
          </a:p>
        </p:txBody>
      </p:sp>
      <p:sp>
        <p:nvSpPr>
          <p:cNvPr id="462" name="Google Shape;462;p11"/>
          <p:cNvSpPr txBox="1"/>
          <p:nvPr/>
        </p:nvSpPr>
        <p:spPr>
          <a:xfrm>
            <a:off x="5888736" y="2642616"/>
            <a:ext cx="132588"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A896"/>
              </a:buClr>
              <a:buSzPts val="1000"/>
              <a:buFont typeface="Calibri"/>
              <a:buNone/>
            </a:pPr>
            <a:r>
              <a:rPr lang="en-US" sz="1000">
                <a:solidFill>
                  <a:srgbClr val="00A896"/>
                </a:solidFill>
                <a:latin typeface="Calibri"/>
                <a:ea typeface="Calibri"/>
                <a:cs typeface="Calibri"/>
                <a:sym typeface="Calibri"/>
              </a:rPr>
              <a:t>▶</a:t>
            </a:r>
            <a:endParaRPr sz="1000">
              <a:solidFill>
                <a:schemeClr val="dk1"/>
              </a:solidFill>
              <a:latin typeface="Calibri"/>
              <a:ea typeface="Calibri"/>
              <a:cs typeface="Calibri"/>
              <a:sym typeface="Calibri"/>
            </a:endParaRPr>
          </a:p>
        </p:txBody>
      </p:sp>
      <p:sp>
        <p:nvSpPr>
          <p:cNvPr id="463" name="Google Shape;463;p11"/>
          <p:cNvSpPr/>
          <p:nvPr/>
        </p:nvSpPr>
        <p:spPr>
          <a:xfrm>
            <a:off x="6167628" y="1682496"/>
            <a:ext cx="1435608" cy="292608"/>
          </a:xfrm>
          <a:prstGeom prst="roundRect">
            <a:avLst>
              <a:gd fmla="val 50000" name="adj"/>
            </a:avLst>
          </a:prstGeom>
          <a:solidFill>
            <a:srgbClr val="EAF3F1"/>
          </a:solidFill>
          <a:ln cap="flat" cmpd="sng" w="12700">
            <a:solidFill>
              <a:srgbClr val="EAF3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1"/>
          <p:cNvSpPr txBox="1"/>
          <p:nvPr/>
        </p:nvSpPr>
        <p:spPr>
          <a:xfrm>
            <a:off x="6167628" y="1682496"/>
            <a:ext cx="1435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8090"/>
              </a:buClr>
              <a:buSzPts val="950"/>
              <a:buFont typeface="Calibri"/>
              <a:buNone/>
            </a:pPr>
            <a:r>
              <a:rPr b="1" lang="en-US" sz="950">
                <a:solidFill>
                  <a:srgbClr val="028090"/>
                </a:solidFill>
                <a:latin typeface="Calibri"/>
                <a:ea typeface="Calibri"/>
                <a:cs typeface="Calibri"/>
                <a:sym typeface="Calibri"/>
              </a:rPr>
              <a:t>Operator</a:t>
            </a:r>
            <a:endParaRPr sz="950">
              <a:solidFill>
                <a:schemeClr val="dk1"/>
              </a:solidFill>
              <a:latin typeface="Calibri"/>
              <a:ea typeface="Calibri"/>
              <a:cs typeface="Calibri"/>
              <a:sym typeface="Calibri"/>
            </a:endParaRPr>
          </a:p>
        </p:txBody>
      </p:sp>
      <p:sp>
        <p:nvSpPr>
          <p:cNvPr id="465" name="Google Shape;465;p11"/>
          <p:cNvSpPr/>
          <p:nvPr/>
        </p:nvSpPr>
        <p:spPr>
          <a:xfrm>
            <a:off x="6039612" y="2121408"/>
            <a:ext cx="1691640" cy="1371600"/>
          </a:xfrm>
          <a:prstGeom prst="roundRect">
            <a:avLst>
              <a:gd fmla="val 6000" name="adj"/>
            </a:avLst>
          </a:prstGeom>
          <a:solidFill>
            <a:srgbClr val="E8F7F4"/>
          </a:solidFill>
          <a:ln cap="flat" cmpd="sng" w="15225">
            <a:solidFill>
              <a:srgbClr val="02C39A"/>
            </a:solidFill>
            <a:prstDash val="solid"/>
            <a:round/>
            <a:headEnd len="sm" w="sm" type="none"/>
            <a:tailEnd len="sm" w="sm" type="none"/>
          </a:ln>
          <a:effectLst>
            <a:outerShdw blurRad="63500" rotWithShape="0" algn="bl" dir="5400000" dist="25400">
              <a:srgbClr val="1B3B3B">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1"/>
          <p:cNvSpPr/>
          <p:nvPr/>
        </p:nvSpPr>
        <p:spPr>
          <a:xfrm>
            <a:off x="6167628" y="2212848"/>
            <a:ext cx="329184" cy="329184"/>
          </a:xfrm>
          <a:prstGeom prst="ellipse">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1"/>
          <p:cNvSpPr txBox="1"/>
          <p:nvPr/>
        </p:nvSpPr>
        <p:spPr>
          <a:xfrm>
            <a:off x="6167628" y="2212848"/>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lang="en-US" sz="1150">
                <a:solidFill>
                  <a:srgbClr val="FFFFFF"/>
                </a:solidFill>
                <a:latin typeface="Calibri"/>
                <a:ea typeface="Calibri"/>
                <a:cs typeface="Calibri"/>
                <a:sym typeface="Calibri"/>
              </a:rPr>
              <a:t>4</a:t>
            </a:r>
            <a:endParaRPr sz="1150">
              <a:solidFill>
                <a:schemeClr val="dk1"/>
              </a:solidFill>
              <a:latin typeface="Calibri"/>
              <a:ea typeface="Calibri"/>
              <a:cs typeface="Calibri"/>
              <a:sym typeface="Calibri"/>
            </a:endParaRPr>
          </a:p>
        </p:txBody>
      </p:sp>
      <p:sp>
        <p:nvSpPr>
          <p:cNvPr id="468" name="Google Shape;468;p11"/>
          <p:cNvSpPr txBox="1"/>
          <p:nvPr/>
        </p:nvSpPr>
        <p:spPr>
          <a:xfrm>
            <a:off x="6112764" y="2615184"/>
            <a:ext cx="1545336"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292C"/>
              </a:buClr>
              <a:buSzPts val="1200"/>
              <a:buFont typeface="Calibri"/>
              <a:buNone/>
            </a:pPr>
            <a:r>
              <a:rPr b="1" lang="en-US" sz="1200">
                <a:solidFill>
                  <a:srgbClr val="13292C"/>
                </a:solidFill>
                <a:latin typeface="Calibri"/>
                <a:ea typeface="Calibri"/>
                <a:cs typeface="Calibri"/>
                <a:sym typeface="Calibri"/>
              </a:rPr>
              <a:t>Mark</a:t>
            </a:r>
            <a:endParaRPr sz="1200">
              <a:solidFill>
                <a:schemeClr val="dk1"/>
              </a:solidFill>
              <a:latin typeface="Calibri"/>
              <a:ea typeface="Calibri"/>
              <a:cs typeface="Calibri"/>
              <a:sym typeface="Calibri"/>
            </a:endParaRPr>
          </a:p>
          <a:p>
            <a:pPr indent="0" lvl="0" marL="0" marR="0" rtl="0" algn="ctr">
              <a:spcBef>
                <a:spcPts val="0"/>
              </a:spcBef>
              <a:spcAft>
                <a:spcPts val="0"/>
              </a:spcAft>
              <a:buClr>
                <a:srgbClr val="13292C"/>
              </a:buClr>
              <a:buSzPts val="1200"/>
              <a:buFont typeface="Calibri"/>
              <a:buNone/>
            </a:pPr>
            <a:r>
              <a:rPr b="1" lang="en-US" sz="1200">
                <a:solidFill>
                  <a:srgbClr val="13292C"/>
                </a:solidFill>
                <a:latin typeface="Calibri"/>
                <a:ea typeface="Calibri"/>
                <a:cs typeface="Calibri"/>
                <a:sym typeface="Calibri"/>
              </a:rPr>
              <a:t>"Delivering"</a:t>
            </a:r>
            <a:endParaRPr sz="1200">
              <a:solidFill>
                <a:schemeClr val="dk1"/>
              </a:solidFill>
              <a:latin typeface="Calibri"/>
              <a:ea typeface="Calibri"/>
              <a:cs typeface="Calibri"/>
              <a:sym typeface="Calibri"/>
            </a:endParaRPr>
          </a:p>
        </p:txBody>
      </p:sp>
      <p:sp>
        <p:nvSpPr>
          <p:cNvPr id="469" name="Google Shape;469;p11"/>
          <p:cNvSpPr txBox="1"/>
          <p:nvPr/>
        </p:nvSpPr>
        <p:spPr>
          <a:xfrm>
            <a:off x="6112764" y="3127248"/>
            <a:ext cx="1545336" cy="347472"/>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4C6764"/>
              </a:buClr>
              <a:buSzPts val="950"/>
              <a:buFont typeface="Calibri"/>
              <a:buNone/>
            </a:pPr>
            <a:r>
              <a:rPr lang="en-US" sz="950">
                <a:solidFill>
                  <a:srgbClr val="4C6764"/>
                </a:solidFill>
                <a:latin typeface="Calibri"/>
                <a:ea typeface="Calibri"/>
                <a:cs typeface="Calibri"/>
                <a:sym typeface="Calibri"/>
              </a:rPr>
              <a:t>Push notification</a:t>
            </a:r>
            <a:endParaRPr sz="950">
              <a:solidFill>
                <a:schemeClr val="dk1"/>
              </a:solidFill>
              <a:latin typeface="Calibri"/>
              <a:ea typeface="Calibri"/>
              <a:cs typeface="Calibri"/>
              <a:sym typeface="Calibri"/>
            </a:endParaRPr>
          </a:p>
          <a:p>
            <a:pPr indent="0" lvl="0" marL="0" marR="0" rtl="0" algn="ctr">
              <a:lnSpc>
                <a:spcPct val="105000"/>
              </a:lnSpc>
              <a:spcBef>
                <a:spcPts val="0"/>
              </a:spcBef>
              <a:spcAft>
                <a:spcPts val="0"/>
              </a:spcAft>
              <a:buClr>
                <a:srgbClr val="4C6764"/>
              </a:buClr>
              <a:buSzPts val="950"/>
              <a:buFont typeface="Calibri"/>
              <a:buNone/>
            </a:pPr>
            <a:r>
              <a:rPr lang="en-US" sz="950">
                <a:solidFill>
                  <a:srgbClr val="4C6764"/>
                </a:solidFill>
                <a:latin typeface="Calibri"/>
                <a:ea typeface="Calibri"/>
                <a:cs typeface="Calibri"/>
                <a:sym typeface="Calibri"/>
              </a:rPr>
              <a:t>to Retailer</a:t>
            </a:r>
            <a:endParaRPr sz="950">
              <a:solidFill>
                <a:schemeClr val="dk1"/>
              </a:solidFill>
              <a:latin typeface="Calibri"/>
              <a:ea typeface="Calibri"/>
              <a:cs typeface="Calibri"/>
              <a:sym typeface="Calibri"/>
            </a:endParaRPr>
          </a:p>
        </p:txBody>
      </p:sp>
      <p:sp>
        <p:nvSpPr>
          <p:cNvPr id="470" name="Google Shape;470;p11"/>
          <p:cNvSpPr txBox="1"/>
          <p:nvPr/>
        </p:nvSpPr>
        <p:spPr>
          <a:xfrm>
            <a:off x="7749540" y="2642616"/>
            <a:ext cx="132588"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A896"/>
              </a:buClr>
              <a:buSzPts val="1000"/>
              <a:buFont typeface="Calibri"/>
              <a:buNone/>
            </a:pPr>
            <a:r>
              <a:rPr lang="en-US" sz="1000">
                <a:solidFill>
                  <a:srgbClr val="00A896"/>
                </a:solidFill>
                <a:latin typeface="Calibri"/>
                <a:ea typeface="Calibri"/>
                <a:cs typeface="Calibri"/>
                <a:sym typeface="Calibri"/>
              </a:rPr>
              <a:t>▶</a:t>
            </a:r>
            <a:endParaRPr sz="1000">
              <a:solidFill>
                <a:schemeClr val="dk1"/>
              </a:solidFill>
              <a:latin typeface="Calibri"/>
              <a:ea typeface="Calibri"/>
              <a:cs typeface="Calibri"/>
              <a:sym typeface="Calibri"/>
            </a:endParaRPr>
          </a:p>
        </p:txBody>
      </p:sp>
      <p:sp>
        <p:nvSpPr>
          <p:cNvPr id="471" name="Google Shape;471;p11"/>
          <p:cNvSpPr/>
          <p:nvPr/>
        </p:nvSpPr>
        <p:spPr>
          <a:xfrm>
            <a:off x="8028432" y="1682496"/>
            <a:ext cx="1435608" cy="292608"/>
          </a:xfrm>
          <a:prstGeom prst="roundRect">
            <a:avLst>
              <a:gd fmla="val 50000" name="adj"/>
            </a:avLst>
          </a:prstGeom>
          <a:solidFill>
            <a:srgbClr val="EAF3F1"/>
          </a:solidFill>
          <a:ln cap="flat" cmpd="sng" w="12700">
            <a:solidFill>
              <a:srgbClr val="EAF3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1"/>
          <p:cNvSpPr txBox="1"/>
          <p:nvPr/>
        </p:nvSpPr>
        <p:spPr>
          <a:xfrm>
            <a:off x="8028432" y="1682496"/>
            <a:ext cx="1435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8090"/>
              </a:buClr>
              <a:buSzPts val="950"/>
              <a:buFont typeface="Calibri"/>
              <a:buNone/>
            </a:pPr>
            <a:r>
              <a:rPr b="1" lang="en-US" sz="950">
                <a:solidFill>
                  <a:srgbClr val="028090"/>
                </a:solidFill>
                <a:latin typeface="Calibri"/>
                <a:ea typeface="Calibri"/>
                <a:cs typeface="Calibri"/>
                <a:sym typeface="Calibri"/>
              </a:rPr>
              <a:t>Retailer</a:t>
            </a:r>
            <a:endParaRPr sz="950">
              <a:solidFill>
                <a:schemeClr val="dk1"/>
              </a:solidFill>
              <a:latin typeface="Calibri"/>
              <a:ea typeface="Calibri"/>
              <a:cs typeface="Calibri"/>
              <a:sym typeface="Calibri"/>
            </a:endParaRPr>
          </a:p>
        </p:txBody>
      </p:sp>
      <p:sp>
        <p:nvSpPr>
          <p:cNvPr id="473" name="Google Shape;473;p11"/>
          <p:cNvSpPr/>
          <p:nvPr/>
        </p:nvSpPr>
        <p:spPr>
          <a:xfrm>
            <a:off x="7900416" y="2121408"/>
            <a:ext cx="1691640" cy="1371600"/>
          </a:xfrm>
          <a:prstGeom prst="roundRect">
            <a:avLst>
              <a:gd fmla="val 6000" name="adj"/>
            </a:avLst>
          </a:prstGeom>
          <a:solidFill>
            <a:srgbClr val="FFFFFF"/>
          </a:solidFill>
          <a:ln cap="flat" cmpd="sng" w="15225">
            <a:solidFill>
              <a:srgbClr val="00A896"/>
            </a:solidFill>
            <a:prstDash val="solid"/>
            <a:round/>
            <a:headEnd len="sm" w="sm" type="none"/>
            <a:tailEnd len="sm" w="sm" type="none"/>
          </a:ln>
          <a:effectLst>
            <a:outerShdw blurRad="63500" rotWithShape="0" algn="bl" dir="5400000" dist="25400">
              <a:srgbClr val="1B3B3B">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1"/>
          <p:cNvSpPr/>
          <p:nvPr/>
        </p:nvSpPr>
        <p:spPr>
          <a:xfrm>
            <a:off x="8028432" y="2212848"/>
            <a:ext cx="329184" cy="329184"/>
          </a:xfrm>
          <a:prstGeom prst="ellipse">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1"/>
          <p:cNvSpPr txBox="1"/>
          <p:nvPr/>
        </p:nvSpPr>
        <p:spPr>
          <a:xfrm>
            <a:off x="8028432" y="2212848"/>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lang="en-US" sz="1150">
                <a:solidFill>
                  <a:srgbClr val="FFFFFF"/>
                </a:solidFill>
                <a:latin typeface="Calibri"/>
                <a:ea typeface="Calibri"/>
                <a:cs typeface="Calibri"/>
                <a:sym typeface="Calibri"/>
              </a:rPr>
              <a:t>5</a:t>
            </a:r>
            <a:endParaRPr sz="1150">
              <a:solidFill>
                <a:schemeClr val="dk1"/>
              </a:solidFill>
              <a:latin typeface="Calibri"/>
              <a:ea typeface="Calibri"/>
              <a:cs typeface="Calibri"/>
              <a:sym typeface="Calibri"/>
            </a:endParaRPr>
          </a:p>
        </p:txBody>
      </p:sp>
      <p:sp>
        <p:nvSpPr>
          <p:cNvPr id="476" name="Google Shape;476;p11"/>
          <p:cNvSpPr txBox="1"/>
          <p:nvPr/>
        </p:nvSpPr>
        <p:spPr>
          <a:xfrm>
            <a:off x="7973568" y="2615184"/>
            <a:ext cx="1545336"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292C"/>
              </a:buClr>
              <a:buSzPts val="1200"/>
              <a:buFont typeface="Calibri"/>
              <a:buNone/>
            </a:pPr>
            <a:r>
              <a:rPr b="1" lang="en-US" sz="1200">
                <a:solidFill>
                  <a:srgbClr val="13292C"/>
                </a:solidFill>
                <a:latin typeface="Calibri"/>
                <a:ea typeface="Calibri"/>
                <a:cs typeface="Calibri"/>
                <a:sym typeface="Calibri"/>
              </a:rPr>
              <a:t>Scan QR to</a:t>
            </a:r>
            <a:endParaRPr sz="1200">
              <a:solidFill>
                <a:schemeClr val="dk1"/>
              </a:solidFill>
              <a:latin typeface="Calibri"/>
              <a:ea typeface="Calibri"/>
              <a:cs typeface="Calibri"/>
              <a:sym typeface="Calibri"/>
            </a:endParaRPr>
          </a:p>
          <a:p>
            <a:pPr indent="0" lvl="0" marL="0" marR="0" rtl="0" algn="ctr">
              <a:spcBef>
                <a:spcPts val="0"/>
              </a:spcBef>
              <a:spcAft>
                <a:spcPts val="0"/>
              </a:spcAft>
              <a:buClr>
                <a:srgbClr val="13292C"/>
              </a:buClr>
              <a:buSzPts val="1200"/>
              <a:buFont typeface="Calibri"/>
              <a:buNone/>
            </a:pPr>
            <a:r>
              <a:rPr b="1" lang="en-US" sz="1200">
                <a:solidFill>
                  <a:srgbClr val="13292C"/>
                </a:solidFill>
                <a:latin typeface="Calibri"/>
                <a:ea typeface="Calibri"/>
                <a:cs typeface="Calibri"/>
                <a:sym typeface="Calibri"/>
              </a:rPr>
              <a:t>Confirm Receipt</a:t>
            </a:r>
            <a:endParaRPr sz="1200">
              <a:solidFill>
                <a:schemeClr val="dk1"/>
              </a:solidFill>
              <a:latin typeface="Calibri"/>
              <a:ea typeface="Calibri"/>
              <a:cs typeface="Calibri"/>
              <a:sym typeface="Calibri"/>
            </a:endParaRPr>
          </a:p>
        </p:txBody>
      </p:sp>
      <p:sp>
        <p:nvSpPr>
          <p:cNvPr id="477" name="Google Shape;477;p11"/>
          <p:cNvSpPr txBox="1"/>
          <p:nvPr/>
        </p:nvSpPr>
        <p:spPr>
          <a:xfrm>
            <a:off x="7973568" y="3127248"/>
            <a:ext cx="1545336" cy="347472"/>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4C6764"/>
              </a:buClr>
              <a:buSzPts val="950"/>
              <a:buFont typeface="Calibri"/>
              <a:buNone/>
            </a:pPr>
            <a:r>
              <a:rPr lang="en-US" sz="950">
                <a:solidFill>
                  <a:srgbClr val="4C6764"/>
                </a:solidFill>
                <a:latin typeface="Calibri"/>
                <a:ea typeface="Calibri"/>
                <a:cs typeface="Calibri"/>
                <a:sym typeface="Calibri"/>
              </a:rPr>
              <a:t>Match Batch ID</a:t>
            </a:r>
            <a:endParaRPr sz="950">
              <a:solidFill>
                <a:schemeClr val="dk1"/>
              </a:solidFill>
              <a:latin typeface="Calibri"/>
              <a:ea typeface="Calibri"/>
              <a:cs typeface="Calibri"/>
              <a:sym typeface="Calibri"/>
            </a:endParaRPr>
          </a:p>
          <a:p>
            <a:pPr indent="0" lvl="0" marL="0" marR="0" rtl="0" algn="ctr">
              <a:lnSpc>
                <a:spcPct val="105000"/>
              </a:lnSpc>
              <a:spcBef>
                <a:spcPts val="0"/>
              </a:spcBef>
              <a:spcAft>
                <a:spcPts val="0"/>
              </a:spcAft>
              <a:buClr>
                <a:srgbClr val="4C6764"/>
              </a:buClr>
              <a:buSzPts val="950"/>
              <a:buFont typeface="Calibri"/>
              <a:buNone/>
            </a:pPr>
            <a:r>
              <a:rPr lang="en-US" sz="950">
                <a:solidFill>
                  <a:srgbClr val="4C6764"/>
                </a:solidFill>
                <a:latin typeface="Calibri"/>
                <a:ea typeface="Calibri"/>
                <a:cs typeface="Calibri"/>
                <a:sym typeface="Calibri"/>
              </a:rPr>
              <a:t>+ Quantity on the order</a:t>
            </a:r>
            <a:endParaRPr sz="950">
              <a:solidFill>
                <a:schemeClr val="dk1"/>
              </a:solidFill>
              <a:latin typeface="Calibri"/>
              <a:ea typeface="Calibri"/>
              <a:cs typeface="Calibri"/>
              <a:sym typeface="Calibri"/>
            </a:endParaRPr>
          </a:p>
        </p:txBody>
      </p:sp>
      <p:sp>
        <p:nvSpPr>
          <p:cNvPr id="478" name="Google Shape;478;p11"/>
          <p:cNvSpPr txBox="1"/>
          <p:nvPr/>
        </p:nvSpPr>
        <p:spPr>
          <a:xfrm>
            <a:off x="9610344" y="2642616"/>
            <a:ext cx="132588"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A896"/>
              </a:buClr>
              <a:buSzPts val="1000"/>
              <a:buFont typeface="Calibri"/>
              <a:buNone/>
            </a:pPr>
            <a:r>
              <a:rPr lang="en-US" sz="1000">
                <a:solidFill>
                  <a:srgbClr val="00A896"/>
                </a:solidFill>
                <a:latin typeface="Calibri"/>
                <a:ea typeface="Calibri"/>
                <a:cs typeface="Calibri"/>
                <a:sym typeface="Calibri"/>
              </a:rPr>
              <a:t>▶</a:t>
            </a:r>
            <a:endParaRPr sz="1000">
              <a:solidFill>
                <a:schemeClr val="dk1"/>
              </a:solidFill>
              <a:latin typeface="Calibri"/>
              <a:ea typeface="Calibri"/>
              <a:cs typeface="Calibri"/>
              <a:sym typeface="Calibri"/>
            </a:endParaRPr>
          </a:p>
        </p:txBody>
      </p:sp>
      <p:sp>
        <p:nvSpPr>
          <p:cNvPr id="479" name="Google Shape;479;p11"/>
          <p:cNvSpPr/>
          <p:nvPr/>
        </p:nvSpPr>
        <p:spPr>
          <a:xfrm>
            <a:off x="9889236" y="1682496"/>
            <a:ext cx="1435608" cy="292608"/>
          </a:xfrm>
          <a:prstGeom prst="roundRect">
            <a:avLst>
              <a:gd fmla="val 50000" name="adj"/>
            </a:avLst>
          </a:prstGeom>
          <a:solidFill>
            <a:srgbClr val="028090"/>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1"/>
          <p:cNvSpPr txBox="1"/>
          <p:nvPr/>
        </p:nvSpPr>
        <p:spPr>
          <a:xfrm>
            <a:off x="9889236" y="1682496"/>
            <a:ext cx="1435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lang="en-US" sz="950">
                <a:solidFill>
                  <a:srgbClr val="FFFFFF"/>
                </a:solidFill>
                <a:latin typeface="Calibri"/>
                <a:ea typeface="Calibri"/>
                <a:cs typeface="Calibri"/>
                <a:sym typeface="Calibri"/>
              </a:rPr>
              <a:t>System</a:t>
            </a:r>
            <a:endParaRPr sz="950">
              <a:solidFill>
                <a:schemeClr val="dk1"/>
              </a:solidFill>
              <a:latin typeface="Calibri"/>
              <a:ea typeface="Calibri"/>
              <a:cs typeface="Calibri"/>
              <a:sym typeface="Calibri"/>
            </a:endParaRPr>
          </a:p>
        </p:txBody>
      </p:sp>
      <p:sp>
        <p:nvSpPr>
          <p:cNvPr id="481" name="Google Shape;481;p11"/>
          <p:cNvSpPr/>
          <p:nvPr/>
        </p:nvSpPr>
        <p:spPr>
          <a:xfrm>
            <a:off x="9761220" y="2121408"/>
            <a:ext cx="1691640" cy="1371600"/>
          </a:xfrm>
          <a:prstGeom prst="roundRect">
            <a:avLst>
              <a:gd fmla="val 6000" name="adj"/>
            </a:avLst>
          </a:prstGeom>
          <a:solidFill>
            <a:srgbClr val="0B2E33"/>
          </a:solidFill>
          <a:ln cap="flat" cmpd="sng" w="15225">
            <a:solidFill>
              <a:srgbClr val="028090"/>
            </a:solidFill>
            <a:prstDash val="solid"/>
            <a:round/>
            <a:headEnd len="sm" w="sm" type="none"/>
            <a:tailEnd len="sm" w="sm" type="none"/>
          </a:ln>
          <a:effectLst>
            <a:outerShdw blurRad="63500" rotWithShape="0" algn="bl" dir="5400000" dist="25400">
              <a:srgbClr val="1B3B3B">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1"/>
          <p:cNvSpPr/>
          <p:nvPr/>
        </p:nvSpPr>
        <p:spPr>
          <a:xfrm>
            <a:off x="9889236" y="2212848"/>
            <a:ext cx="329184" cy="329184"/>
          </a:xfrm>
          <a:prstGeom prst="ellipse">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1"/>
          <p:cNvSpPr txBox="1"/>
          <p:nvPr/>
        </p:nvSpPr>
        <p:spPr>
          <a:xfrm>
            <a:off x="9889236" y="2212848"/>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E33"/>
              </a:buClr>
              <a:buSzPts val="1150"/>
              <a:buFont typeface="Calibri"/>
              <a:buNone/>
            </a:pPr>
            <a:r>
              <a:rPr b="1" lang="en-US" sz="1150">
                <a:solidFill>
                  <a:srgbClr val="0B2E33"/>
                </a:solidFill>
                <a:latin typeface="Calibri"/>
                <a:ea typeface="Calibri"/>
                <a:cs typeface="Calibri"/>
                <a:sym typeface="Calibri"/>
              </a:rPr>
              <a:t>6</a:t>
            </a:r>
            <a:endParaRPr sz="1150">
              <a:solidFill>
                <a:schemeClr val="dk1"/>
              </a:solidFill>
              <a:latin typeface="Calibri"/>
              <a:ea typeface="Calibri"/>
              <a:cs typeface="Calibri"/>
              <a:sym typeface="Calibri"/>
            </a:endParaRPr>
          </a:p>
        </p:txBody>
      </p:sp>
      <p:sp>
        <p:nvSpPr>
          <p:cNvPr id="484" name="Google Shape;484;p11"/>
          <p:cNvSpPr txBox="1"/>
          <p:nvPr/>
        </p:nvSpPr>
        <p:spPr>
          <a:xfrm>
            <a:off x="9834372" y="2615184"/>
            <a:ext cx="1545336"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Order</a:t>
            </a:r>
            <a:endParaRPr sz="12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"Delivered"</a:t>
            </a:r>
            <a:endParaRPr sz="1200">
              <a:solidFill>
                <a:schemeClr val="dk1"/>
              </a:solidFill>
              <a:latin typeface="Calibri"/>
              <a:ea typeface="Calibri"/>
              <a:cs typeface="Calibri"/>
              <a:sym typeface="Calibri"/>
            </a:endParaRPr>
          </a:p>
        </p:txBody>
      </p:sp>
      <p:sp>
        <p:nvSpPr>
          <p:cNvPr id="485" name="Google Shape;485;p11"/>
          <p:cNvSpPr txBox="1"/>
          <p:nvPr/>
        </p:nvSpPr>
        <p:spPr>
          <a:xfrm>
            <a:off x="9834372" y="3127248"/>
            <a:ext cx="1545336" cy="347472"/>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6FAFA6"/>
              </a:buClr>
              <a:buSzPts val="950"/>
              <a:buFont typeface="Calibri"/>
              <a:buNone/>
            </a:pPr>
            <a:r>
              <a:rPr lang="en-US" sz="950">
                <a:solidFill>
                  <a:srgbClr val="6FAFA6"/>
                </a:solidFill>
                <a:latin typeface="Calibri"/>
                <a:ea typeface="Calibri"/>
                <a:cs typeface="Calibri"/>
                <a:sym typeface="Calibri"/>
              </a:rPr>
              <a:t>Record receipt on the order</a:t>
            </a:r>
            <a:endParaRPr sz="950">
              <a:solidFill>
                <a:schemeClr val="dk1"/>
              </a:solidFill>
              <a:latin typeface="Calibri"/>
              <a:ea typeface="Calibri"/>
              <a:cs typeface="Calibri"/>
              <a:sym typeface="Calibri"/>
            </a:endParaRPr>
          </a:p>
        </p:txBody>
      </p:sp>
      <p:sp>
        <p:nvSpPr>
          <p:cNvPr id="486" name="Google Shape;486;p11"/>
          <p:cNvSpPr/>
          <p:nvPr/>
        </p:nvSpPr>
        <p:spPr>
          <a:xfrm>
            <a:off x="502920" y="3785616"/>
            <a:ext cx="11201400" cy="1956816"/>
          </a:xfrm>
          <a:prstGeom prst="roundRect">
            <a:avLst>
              <a:gd fmla="val 4673" name="adj"/>
            </a:avLst>
          </a:prstGeom>
          <a:solidFill>
            <a:srgbClr val="0F3D42"/>
          </a:solidFill>
          <a:ln cap="flat" cmpd="sng" w="9525">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1"/>
          <p:cNvSpPr txBox="1"/>
          <p:nvPr/>
        </p:nvSpPr>
        <p:spPr>
          <a:xfrm>
            <a:off x="685800" y="3877056"/>
            <a:ext cx="4572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300"/>
              <a:buFont typeface="Calibri"/>
              <a:buNone/>
            </a:pPr>
            <a:r>
              <a:rPr b="1" lang="en-US" sz="1300">
                <a:solidFill>
                  <a:srgbClr val="02C39A"/>
                </a:solidFill>
                <a:latin typeface="Calibri"/>
                <a:ea typeface="Calibri"/>
                <a:cs typeface="Calibri"/>
                <a:sym typeface="Calibri"/>
              </a:rPr>
              <a:t>QR Batch Split on Dispatch</a:t>
            </a:r>
            <a:endParaRPr sz="1300">
              <a:solidFill>
                <a:schemeClr val="dk1"/>
              </a:solidFill>
              <a:latin typeface="Calibri"/>
              <a:ea typeface="Calibri"/>
              <a:cs typeface="Calibri"/>
              <a:sym typeface="Calibri"/>
            </a:endParaRPr>
          </a:p>
        </p:txBody>
      </p:sp>
      <p:sp>
        <p:nvSpPr>
          <p:cNvPr id="488" name="Google Shape;488;p11"/>
          <p:cNvSpPr/>
          <p:nvPr/>
        </p:nvSpPr>
        <p:spPr>
          <a:xfrm>
            <a:off x="621792" y="4242816"/>
            <a:ext cx="2011680" cy="1353312"/>
          </a:xfrm>
          <a:prstGeom prst="roundRect">
            <a:avLst>
              <a:gd fmla="val 5405" name="adj"/>
            </a:avLst>
          </a:prstGeom>
          <a:solidFill>
            <a:srgbClr val="0D3B41"/>
          </a:solidFill>
          <a:ln cap="flat" cmpd="sng" w="9525">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1"/>
          <p:cNvSpPr/>
          <p:nvPr/>
        </p:nvSpPr>
        <p:spPr>
          <a:xfrm>
            <a:off x="749808" y="4334256"/>
            <a:ext cx="292608" cy="292608"/>
          </a:xfrm>
          <a:prstGeom prst="ellipse">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1"/>
          <p:cNvSpPr txBox="1"/>
          <p:nvPr/>
        </p:nvSpPr>
        <p:spPr>
          <a:xfrm>
            <a:off x="749808" y="4334256"/>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1</a:t>
            </a:r>
            <a:endParaRPr sz="1000">
              <a:solidFill>
                <a:schemeClr val="dk1"/>
              </a:solidFill>
              <a:latin typeface="Calibri"/>
              <a:ea typeface="Calibri"/>
              <a:cs typeface="Calibri"/>
              <a:sym typeface="Calibri"/>
            </a:endParaRPr>
          </a:p>
        </p:txBody>
      </p:sp>
      <p:sp>
        <p:nvSpPr>
          <p:cNvPr id="491" name="Google Shape;491;p11"/>
          <p:cNvSpPr txBox="1"/>
          <p:nvPr/>
        </p:nvSpPr>
        <p:spPr>
          <a:xfrm>
            <a:off x="694944" y="4700016"/>
            <a:ext cx="1865376" cy="804672"/>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Clr>
                <a:srgbClr val="D2EFEB"/>
              </a:buClr>
              <a:buSzPts val="1050"/>
              <a:buFont typeface="Calibri"/>
              <a:buNone/>
            </a:pPr>
            <a:r>
              <a:rPr lang="en-US" sz="1050">
                <a:solidFill>
                  <a:srgbClr val="D2EFEB"/>
                </a:solidFill>
                <a:latin typeface="Calibri"/>
                <a:ea typeface="Calibri"/>
                <a:cs typeface="Calibri"/>
                <a:sym typeface="Calibri"/>
              </a:rPr>
              <a:t>WH Keeper</a:t>
            </a:r>
            <a:endParaRPr sz="1050">
              <a:solidFill>
                <a:schemeClr val="dk1"/>
              </a:solidFill>
              <a:latin typeface="Calibri"/>
              <a:ea typeface="Calibri"/>
              <a:cs typeface="Calibri"/>
              <a:sym typeface="Calibri"/>
            </a:endParaRPr>
          </a:p>
          <a:p>
            <a:pPr indent="0" lvl="0" marL="0" marR="0" rtl="0" algn="ctr">
              <a:lnSpc>
                <a:spcPct val="110000"/>
              </a:lnSpc>
              <a:spcBef>
                <a:spcPts val="0"/>
              </a:spcBef>
              <a:spcAft>
                <a:spcPts val="0"/>
              </a:spcAft>
              <a:buClr>
                <a:srgbClr val="D2EFEB"/>
              </a:buClr>
              <a:buSzPts val="1050"/>
              <a:buFont typeface="Calibri"/>
              <a:buNone/>
            </a:pPr>
            <a:r>
              <a:rPr lang="en-US" sz="1050">
                <a:solidFill>
                  <a:srgbClr val="D2EFEB"/>
                </a:solidFill>
                <a:latin typeface="Calibri"/>
                <a:ea typeface="Calibri"/>
                <a:cs typeface="Calibri"/>
                <a:sym typeface="Calibri"/>
              </a:rPr>
              <a:t>scans batch QR</a:t>
            </a:r>
            <a:endParaRPr sz="1050">
              <a:solidFill>
                <a:schemeClr val="dk1"/>
              </a:solidFill>
              <a:latin typeface="Calibri"/>
              <a:ea typeface="Calibri"/>
              <a:cs typeface="Calibri"/>
              <a:sym typeface="Calibri"/>
            </a:endParaRPr>
          </a:p>
          <a:p>
            <a:pPr indent="0" lvl="0" marL="0" marR="0" rtl="0" algn="ctr">
              <a:lnSpc>
                <a:spcPct val="110000"/>
              </a:lnSpc>
              <a:spcBef>
                <a:spcPts val="0"/>
              </a:spcBef>
              <a:spcAft>
                <a:spcPts val="0"/>
              </a:spcAft>
              <a:buClr>
                <a:srgbClr val="D2EFEB"/>
              </a:buClr>
              <a:buSzPts val="1050"/>
              <a:buFont typeface="Calibri"/>
              <a:buNone/>
            </a:pPr>
            <a:r>
              <a:rPr lang="en-US" sz="1050">
                <a:solidFill>
                  <a:srgbClr val="D2EFEB"/>
                </a:solidFill>
                <a:latin typeface="Calibri"/>
                <a:ea typeface="Calibri"/>
                <a:cs typeface="Calibri"/>
                <a:sym typeface="Calibri"/>
              </a:rPr>
              <a:t>(e.g. BTA  100 units)</a:t>
            </a:r>
            <a:endParaRPr sz="1050">
              <a:solidFill>
                <a:schemeClr val="dk1"/>
              </a:solidFill>
              <a:latin typeface="Calibri"/>
              <a:ea typeface="Calibri"/>
              <a:cs typeface="Calibri"/>
              <a:sym typeface="Calibri"/>
            </a:endParaRPr>
          </a:p>
        </p:txBody>
      </p:sp>
      <p:sp>
        <p:nvSpPr>
          <p:cNvPr id="492" name="Google Shape;492;p11"/>
          <p:cNvSpPr txBox="1"/>
          <p:nvPr/>
        </p:nvSpPr>
        <p:spPr>
          <a:xfrm>
            <a:off x="2651760" y="4754880"/>
            <a:ext cx="9144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C39A"/>
              </a:buClr>
              <a:buSzPts val="1000"/>
              <a:buFont typeface="Calibri"/>
              <a:buNone/>
            </a:pPr>
            <a:r>
              <a:rPr lang="en-US" sz="1000">
                <a:solidFill>
                  <a:srgbClr val="02C39A"/>
                </a:solidFill>
                <a:latin typeface="Calibri"/>
                <a:ea typeface="Calibri"/>
                <a:cs typeface="Calibri"/>
                <a:sym typeface="Calibri"/>
              </a:rPr>
              <a:t>▶</a:t>
            </a:r>
            <a:endParaRPr sz="1000">
              <a:solidFill>
                <a:schemeClr val="dk1"/>
              </a:solidFill>
              <a:latin typeface="Calibri"/>
              <a:ea typeface="Calibri"/>
              <a:cs typeface="Calibri"/>
              <a:sym typeface="Calibri"/>
            </a:endParaRPr>
          </a:p>
        </p:txBody>
      </p:sp>
      <p:sp>
        <p:nvSpPr>
          <p:cNvPr id="493" name="Google Shape;493;p11"/>
          <p:cNvSpPr/>
          <p:nvPr/>
        </p:nvSpPr>
        <p:spPr>
          <a:xfrm>
            <a:off x="2743200" y="4242816"/>
            <a:ext cx="2011680" cy="1353312"/>
          </a:xfrm>
          <a:prstGeom prst="roundRect">
            <a:avLst>
              <a:gd fmla="val 5405" name="adj"/>
            </a:avLst>
          </a:prstGeom>
          <a:solidFill>
            <a:srgbClr val="0D3B41"/>
          </a:solidFill>
          <a:ln cap="flat" cmpd="sng" w="9525">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1"/>
          <p:cNvSpPr/>
          <p:nvPr/>
        </p:nvSpPr>
        <p:spPr>
          <a:xfrm>
            <a:off x="2871216" y="4334256"/>
            <a:ext cx="292608" cy="292608"/>
          </a:xfrm>
          <a:prstGeom prst="ellipse">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11"/>
          <p:cNvSpPr txBox="1"/>
          <p:nvPr/>
        </p:nvSpPr>
        <p:spPr>
          <a:xfrm>
            <a:off x="2871216" y="4334256"/>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2</a:t>
            </a:r>
            <a:endParaRPr sz="1000">
              <a:solidFill>
                <a:schemeClr val="dk1"/>
              </a:solidFill>
              <a:latin typeface="Calibri"/>
              <a:ea typeface="Calibri"/>
              <a:cs typeface="Calibri"/>
              <a:sym typeface="Calibri"/>
            </a:endParaRPr>
          </a:p>
        </p:txBody>
      </p:sp>
      <p:sp>
        <p:nvSpPr>
          <p:cNvPr id="496" name="Google Shape;496;p11"/>
          <p:cNvSpPr txBox="1"/>
          <p:nvPr/>
        </p:nvSpPr>
        <p:spPr>
          <a:xfrm>
            <a:off x="2816352" y="4700016"/>
            <a:ext cx="1865376" cy="804672"/>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Clr>
                <a:srgbClr val="D2EFEB"/>
              </a:buClr>
              <a:buSzPts val="1050"/>
              <a:buFont typeface="Calibri"/>
              <a:buNone/>
            </a:pPr>
            <a:r>
              <a:rPr lang="en-US" sz="1050">
                <a:solidFill>
                  <a:srgbClr val="D2EFEB"/>
                </a:solidFill>
                <a:latin typeface="Calibri"/>
                <a:ea typeface="Calibri"/>
                <a:cs typeface="Calibri"/>
                <a:sym typeface="Calibri"/>
              </a:rPr>
              <a:t>Enters dispatch qty</a:t>
            </a:r>
            <a:endParaRPr sz="1050">
              <a:solidFill>
                <a:schemeClr val="dk1"/>
              </a:solidFill>
              <a:latin typeface="Calibri"/>
              <a:ea typeface="Calibri"/>
              <a:cs typeface="Calibri"/>
              <a:sym typeface="Calibri"/>
            </a:endParaRPr>
          </a:p>
          <a:p>
            <a:pPr indent="0" lvl="0" marL="0" marR="0" rtl="0" algn="ctr">
              <a:lnSpc>
                <a:spcPct val="110000"/>
              </a:lnSpc>
              <a:spcBef>
                <a:spcPts val="0"/>
              </a:spcBef>
              <a:spcAft>
                <a:spcPts val="0"/>
              </a:spcAft>
              <a:buClr>
                <a:srgbClr val="D2EFEB"/>
              </a:buClr>
              <a:buSzPts val="1050"/>
              <a:buFont typeface="Calibri"/>
              <a:buNone/>
            </a:pPr>
            <a:r>
              <a:rPr lang="en-US" sz="1050">
                <a:solidFill>
                  <a:srgbClr val="D2EFEB"/>
                </a:solidFill>
                <a:latin typeface="Calibri"/>
                <a:ea typeface="Calibri"/>
                <a:cs typeface="Calibri"/>
                <a:sym typeface="Calibri"/>
              </a:rPr>
              <a:t>(e.g. 70 units)</a:t>
            </a:r>
            <a:endParaRPr sz="1050">
              <a:solidFill>
                <a:schemeClr val="dk1"/>
              </a:solidFill>
              <a:latin typeface="Calibri"/>
              <a:ea typeface="Calibri"/>
              <a:cs typeface="Calibri"/>
              <a:sym typeface="Calibri"/>
            </a:endParaRPr>
          </a:p>
        </p:txBody>
      </p:sp>
      <p:sp>
        <p:nvSpPr>
          <p:cNvPr id="497" name="Google Shape;497;p11"/>
          <p:cNvSpPr txBox="1"/>
          <p:nvPr/>
        </p:nvSpPr>
        <p:spPr>
          <a:xfrm>
            <a:off x="4773168" y="4754880"/>
            <a:ext cx="9144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C39A"/>
              </a:buClr>
              <a:buSzPts val="1000"/>
              <a:buFont typeface="Calibri"/>
              <a:buNone/>
            </a:pPr>
            <a:r>
              <a:rPr lang="en-US" sz="1000">
                <a:solidFill>
                  <a:srgbClr val="02C39A"/>
                </a:solidFill>
                <a:latin typeface="Calibri"/>
                <a:ea typeface="Calibri"/>
                <a:cs typeface="Calibri"/>
                <a:sym typeface="Calibri"/>
              </a:rPr>
              <a:t>▶</a:t>
            </a:r>
            <a:endParaRPr sz="1000">
              <a:solidFill>
                <a:schemeClr val="dk1"/>
              </a:solidFill>
              <a:latin typeface="Calibri"/>
              <a:ea typeface="Calibri"/>
              <a:cs typeface="Calibri"/>
              <a:sym typeface="Calibri"/>
            </a:endParaRPr>
          </a:p>
        </p:txBody>
      </p:sp>
      <p:sp>
        <p:nvSpPr>
          <p:cNvPr id="498" name="Google Shape;498;p11"/>
          <p:cNvSpPr/>
          <p:nvPr/>
        </p:nvSpPr>
        <p:spPr>
          <a:xfrm>
            <a:off x="4864608" y="4242816"/>
            <a:ext cx="2011680" cy="1353312"/>
          </a:xfrm>
          <a:prstGeom prst="roundRect">
            <a:avLst>
              <a:gd fmla="val 5405" name="adj"/>
            </a:avLst>
          </a:prstGeom>
          <a:solidFill>
            <a:srgbClr val="0D3B41"/>
          </a:solidFill>
          <a:ln cap="flat" cmpd="sng" w="9525">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1"/>
          <p:cNvSpPr/>
          <p:nvPr/>
        </p:nvSpPr>
        <p:spPr>
          <a:xfrm>
            <a:off x="4992624" y="4334256"/>
            <a:ext cx="292608" cy="292608"/>
          </a:xfrm>
          <a:prstGeom prst="ellipse">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1"/>
          <p:cNvSpPr txBox="1"/>
          <p:nvPr/>
        </p:nvSpPr>
        <p:spPr>
          <a:xfrm>
            <a:off x="4992624" y="4334256"/>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3</a:t>
            </a:r>
            <a:endParaRPr sz="1000">
              <a:solidFill>
                <a:schemeClr val="dk1"/>
              </a:solidFill>
              <a:latin typeface="Calibri"/>
              <a:ea typeface="Calibri"/>
              <a:cs typeface="Calibri"/>
              <a:sym typeface="Calibri"/>
            </a:endParaRPr>
          </a:p>
        </p:txBody>
      </p:sp>
      <p:sp>
        <p:nvSpPr>
          <p:cNvPr id="501" name="Google Shape;501;p11"/>
          <p:cNvSpPr txBox="1"/>
          <p:nvPr/>
        </p:nvSpPr>
        <p:spPr>
          <a:xfrm>
            <a:off x="4937760" y="4700016"/>
            <a:ext cx="1865376" cy="804672"/>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Clr>
                <a:srgbClr val="D2EFEB"/>
              </a:buClr>
              <a:buSzPts val="1050"/>
              <a:buFont typeface="Calibri"/>
              <a:buNone/>
            </a:pPr>
            <a:r>
              <a:rPr lang="en-US" sz="1050">
                <a:solidFill>
                  <a:srgbClr val="D2EFEB"/>
                </a:solidFill>
                <a:latin typeface="Calibri"/>
                <a:ea typeface="Calibri"/>
                <a:cs typeface="Calibri"/>
                <a:sym typeface="Calibri"/>
              </a:rPr>
              <a:t>System generates</a:t>
            </a:r>
            <a:endParaRPr sz="1050">
              <a:solidFill>
                <a:schemeClr val="dk1"/>
              </a:solidFill>
              <a:latin typeface="Calibri"/>
              <a:ea typeface="Calibri"/>
              <a:cs typeface="Calibri"/>
              <a:sym typeface="Calibri"/>
            </a:endParaRPr>
          </a:p>
          <a:p>
            <a:pPr indent="0" lvl="0" marL="0" marR="0" rtl="0" algn="ctr">
              <a:lnSpc>
                <a:spcPct val="110000"/>
              </a:lnSpc>
              <a:spcBef>
                <a:spcPts val="0"/>
              </a:spcBef>
              <a:spcAft>
                <a:spcPts val="0"/>
              </a:spcAft>
              <a:buClr>
                <a:srgbClr val="D2EFEB"/>
              </a:buClr>
              <a:buSzPts val="1050"/>
              <a:buFont typeface="Calibri"/>
              <a:buNone/>
            </a:pPr>
            <a:r>
              <a:rPr lang="en-US" sz="1050">
                <a:solidFill>
                  <a:srgbClr val="D2EFEB"/>
                </a:solidFill>
                <a:latin typeface="Calibri"/>
                <a:ea typeface="Calibri"/>
                <a:cs typeface="Calibri"/>
                <a:sym typeface="Calibri"/>
              </a:rPr>
              <a:t>new QR: BTA-70</a:t>
            </a:r>
            <a:endParaRPr sz="1050">
              <a:solidFill>
                <a:schemeClr val="dk1"/>
              </a:solidFill>
              <a:latin typeface="Calibri"/>
              <a:ea typeface="Calibri"/>
              <a:cs typeface="Calibri"/>
              <a:sym typeface="Calibri"/>
            </a:endParaRPr>
          </a:p>
          <a:p>
            <a:pPr indent="0" lvl="0" marL="0" marR="0" rtl="0" algn="ctr">
              <a:lnSpc>
                <a:spcPct val="110000"/>
              </a:lnSpc>
              <a:spcBef>
                <a:spcPts val="0"/>
              </a:spcBef>
              <a:spcAft>
                <a:spcPts val="0"/>
              </a:spcAft>
              <a:buClr>
                <a:srgbClr val="D2EFEB"/>
              </a:buClr>
              <a:buSzPts val="1050"/>
              <a:buFont typeface="Calibri"/>
              <a:buNone/>
            </a:pPr>
            <a:r>
              <a:rPr lang="en-US" sz="1050">
                <a:solidFill>
                  <a:srgbClr val="D2EFEB"/>
                </a:solidFill>
                <a:latin typeface="Calibri"/>
                <a:ea typeface="Calibri"/>
                <a:cs typeface="Calibri"/>
                <a:sym typeface="Calibri"/>
              </a:rPr>
              <a:t>→ labels outgoing</a:t>
            </a:r>
            <a:endParaRPr sz="1050">
              <a:solidFill>
                <a:schemeClr val="dk1"/>
              </a:solidFill>
              <a:latin typeface="Calibri"/>
              <a:ea typeface="Calibri"/>
              <a:cs typeface="Calibri"/>
              <a:sym typeface="Calibri"/>
            </a:endParaRPr>
          </a:p>
        </p:txBody>
      </p:sp>
      <p:sp>
        <p:nvSpPr>
          <p:cNvPr id="502" name="Google Shape;502;p11"/>
          <p:cNvSpPr txBox="1"/>
          <p:nvPr/>
        </p:nvSpPr>
        <p:spPr>
          <a:xfrm>
            <a:off x="6894576" y="4754880"/>
            <a:ext cx="9144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C39A"/>
              </a:buClr>
              <a:buSzPts val="1000"/>
              <a:buFont typeface="Calibri"/>
              <a:buNone/>
            </a:pPr>
            <a:r>
              <a:rPr lang="en-US" sz="1000">
                <a:solidFill>
                  <a:srgbClr val="02C39A"/>
                </a:solidFill>
                <a:latin typeface="Calibri"/>
                <a:ea typeface="Calibri"/>
                <a:cs typeface="Calibri"/>
                <a:sym typeface="Calibri"/>
              </a:rPr>
              <a:t>▶</a:t>
            </a:r>
            <a:endParaRPr sz="1000">
              <a:solidFill>
                <a:schemeClr val="dk1"/>
              </a:solidFill>
              <a:latin typeface="Calibri"/>
              <a:ea typeface="Calibri"/>
              <a:cs typeface="Calibri"/>
              <a:sym typeface="Calibri"/>
            </a:endParaRPr>
          </a:p>
        </p:txBody>
      </p:sp>
      <p:sp>
        <p:nvSpPr>
          <p:cNvPr id="503" name="Google Shape;503;p11"/>
          <p:cNvSpPr/>
          <p:nvPr/>
        </p:nvSpPr>
        <p:spPr>
          <a:xfrm>
            <a:off x="6986016" y="4242816"/>
            <a:ext cx="2011680" cy="1353312"/>
          </a:xfrm>
          <a:prstGeom prst="roundRect">
            <a:avLst>
              <a:gd fmla="val 5405" name="adj"/>
            </a:avLst>
          </a:prstGeom>
          <a:solidFill>
            <a:srgbClr val="0D3B41"/>
          </a:solidFill>
          <a:ln cap="flat" cmpd="sng" w="9525">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1"/>
          <p:cNvSpPr/>
          <p:nvPr/>
        </p:nvSpPr>
        <p:spPr>
          <a:xfrm>
            <a:off x="7114032" y="4334256"/>
            <a:ext cx="292608" cy="292608"/>
          </a:xfrm>
          <a:prstGeom prst="ellipse">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1"/>
          <p:cNvSpPr txBox="1"/>
          <p:nvPr/>
        </p:nvSpPr>
        <p:spPr>
          <a:xfrm>
            <a:off x="7114032" y="4334256"/>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4</a:t>
            </a:r>
            <a:endParaRPr sz="1000">
              <a:solidFill>
                <a:schemeClr val="dk1"/>
              </a:solidFill>
              <a:latin typeface="Calibri"/>
              <a:ea typeface="Calibri"/>
              <a:cs typeface="Calibri"/>
              <a:sym typeface="Calibri"/>
            </a:endParaRPr>
          </a:p>
        </p:txBody>
      </p:sp>
      <p:sp>
        <p:nvSpPr>
          <p:cNvPr id="506" name="Google Shape;506;p11"/>
          <p:cNvSpPr txBox="1"/>
          <p:nvPr/>
        </p:nvSpPr>
        <p:spPr>
          <a:xfrm>
            <a:off x="7059168" y="4700016"/>
            <a:ext cx="1865376" cy="804672"/>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Clr>
                <a:srgbClr val="D2EFEB"/>
              </a:buClr>
              <a:buSzPts val="1050"/>
              <a:buFont typeface="Calibri"/>
              <a:buNone/>
            </a:pPr>
            <a:r>
              <a:rPr lang="en-US" sz="1050">
                <a:solidFill>
                  <a:srgbClr val="D2EFEB"/>
                </a:solidFill>
                <a:latin typeface="Calibri"/>
                <a:ea typeface="Calibri"/>
                <a:cs typeface="Calibri"/>
                <a:sym typeface="Calibri"/>
              </a:rPr>
              <a:t>Remainder gets</a:t>
            </a:r>
            <a:endParaRPr sz="1050">
              <a:solidFill>
                <a:schemeClr val="dk1"/>
              </a:solidFill>
              <a:latin typeface="Calibri"/>
              <a:ea typeface="Calibri"/>
              <a:cs typeface="Calibri"/>
              <a:sym typeface="Calibri"/>
            </a:endParaRPr>
          </a:p>
          <a:p>
            <a:pPr indent="0" lvl="0" marL="0" marR="0" rtl="0" algn="ctr">
              <a:lnSpc>
                <a:spcPct val="110000"/>
              </a:lnSpc>
              <a:spcBef>
                <a:spcPts val="0"/>
              </a:spcBef>
              <a:spcAft>
                <a:spcPts val="0"/>
              </a:spcAft>
              <a:buClr>
                <a:srgbClr val="D2EFEB"/>
              </a:buClr>
              <a:buSzPts val="1050"/>
              <a:buFont typeface="Calibri"/>
              <a:buNone/>
            </a:pPr>
            <a:r>
              <a:rPr lang="en-US" sz="1050">
                <a:solidFill>
                  <a:srgbClr val="D2EFEB"/>
                </a:solidFill>
                <a:latin typeface="Calibri"/>
                <a:ea typeface="Calibri"/>
                <a:cs typeface="Calibri"/>
                <a:sym typeface="Calibri"/>
              </a:rPr>
              <a:t>new QR: BTA-30</a:t>
            </a:r>
            <a:endParaRPr sz="1050">
              <a:solidFill>
                <a:schemeClr val="dk1"/>
              </a:solidFill>
              <a:latin typeface="Calibri"/>
              <a:ea typeface="Calibri"/>
              <a:cs typeface="Calibri"/>
              <a:sym typeface="Calibri"/>
            </a:endParaRPr>
          </a:p>
          <a:p>
            <a:pPr indent="0" lvl="0" marL="0" marR="0" rtl="0" algn="ctr">
              <a:lnSpc>
                <a:spcPct val="110000"/>
              </a:lnSpc>
              <a:spcBef>
                <a:spcPts val="0"/>
              </a:spcBef>
              <a:spcAft>
                <a:spcPts val="0"/>
              </a:spcAft>
              <a:buClr>
                <a:srgbClr val="D2EFEB"/>
              </a:buClr>
              <a:buSzPts val="1050"/>
              <a:buFont typeface="Calibri"/>
              <a:buNone/>
            </a:pPr>
            <a:r>
              <a:rPr lang="en-US" sz="1050">
                <a:solidFill>
                  <a:srgbClr val="D2EFEB"/>
                </a:solidFill>
                <a:latin typeface="Calibri"/>
                <a:ea typeface="Calibri"/>
                <a:cs typeface="Calibri"/>
                <a:sym typeface="Calibri"/>
              </a:rPr>
              <a:t>→ stays in warehouse</a:t>
            </a:r>
            <a:endParaRPr sz="1050">
              <a:solidFill>
                <a:schemeClr val="dk1"/>
              </a:solidFill>
              <a:latin typeface="Calibri"/>
              <a:ea typeface="Calibri"/>
              <a:cs typeface="Calibri"/>
              <a:sym typeface="Calibri"/>
            </a:endParaRPr>
          </a:p>
        </p:txBody>
      </p:sp>
      <p:sp>
        <p:nvSpPr>
          <p:cNvPr id="507" name="Google Shape;507;p11"/>
          <p:cNvSpPr txBox="1"/>
          <p:nvPr/>
        </p:nvSpPr>
        <p:spPr>
          <a:xfrm>
            <a:off x="9015984" y="4754880"/>
            <a:ext cx="9144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C39A"/>
              </a:buClr>
              <a:buSzPts val="1000"/>
              <a:buFont typeface="Calibri"/>
              <a:buNone/>
            </a:pPr>
            <a:r>
              <a:rPr lang="en-US" sz="1000">
                <a:solidFill>
                  <a:srgbClr val="02C39A"/>
                </a:solidFill>
                <a:latin typeface="Calibri"/>
                <a:ea typeface="Calibri"/>
                <a:cs typeface="Calibri"/>
                <a:sym typeface="Calibri"/>
              </a:rPr>
              <a:t>▶</a:t>
            </a:r>
            <a:endParaRPr sz="1000">
              <a:solidFill>
                <a:schemeClr val="dk1"/>
              </a:solidFill>
              <a:latin typeface="Calibri"/>
              <a:ea typeface="Calibri"/>
              <a:cs typeface="Calibri"/>
              <a:sym typeface="Calibri"/>
            </a:endParaRPr>
          </a:p>
        </p:txBody>
      </p:sp>
      <p:sp>
        <p:nvSpPr>
          <p:cNvPr id="508" name="Google Shape;508;p11"/>
          <p:cNvSpPr/>
          <p:nvPr/>
        </p:nvSpPr>
        <p:spPr>
          <a:xfrm>
            <a:off x="9107424" y="4242816"/>
            <a:ext cx="2011680" cy="1353312"/>
          </a:xfrm>
          <a:prstGeom prst="roundRect">
            <a:avLst>
              <a:gd fmla="val 5405" name="adj"/>
            </a:avLst>
          </a:prstGeom>
          <a:solidFill>
            <a:srgbClr val="0D3B41"/>
          </a:solidFill>
          <a:ln cap="flat" cmpd="sng" w="9525">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1"/>
          <p:cNvSpPr/>
          <p:nvPr/>
        </p:nvSpPr>
        <p:spPr>
          <a:xfrm>
            <a:off x="9235440" y="4334256"/>
            <a:ext cx="292608" cy="292608"/>
          </a:xfrm>
          <a:prstGeom prst="ellipse">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1"/>
          <p:cNvSpPr txBox="1"/>
          <p:nvPr/>
        </p:nvSpPr>
        <p:spPr>
          <a:xfrm>
            <a:off x="9235440" y="4334256"/>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5</a:t>
            </a:r>
            <a:endParaRPr sz="1000">
              <a:solidFill>
                <a:schemeClr val="dk1"/>
              </a:solidFill>
              <a:latin typeface="Calibri"/>
              <a:ea typeface="Calibri"/>
              <a:cs typeface="Calibri"/>
              <a:sym typeface="Calibri"/>
            </a:endParaRPr>
          </a:p>
        </p:txBody>
      </p:sp>
      <p:sp>
        <p:nvSpPr>
          <p:cNvPr id="511" name="Google Shape;511;p11"/>
          <p:cNvSpPr txBox="1"/>
          <p:nvPr/>
        </p:nvSpPr>
        <p:spPr>
          <a:xfrm>
            <a:off x="9180576" y="4700016"/>
            <a:ext cx="1865376" cy="804672"/>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Clr>
                <a:srgbClr val="D2EFEB"/>
              </a:buClr>
              <a:buSzPts val="1050"/>
              <a:buFont typeface="Calibri"/>
              <a:buNone/>
            </a:pPr>
            <a:r>
              <a:rPr lang="en-US" sz="1050">
                <a:solidFill>
                  <a:srgbClr val="D2EFEB"/>
                </a:solidFill>
                <a:latin typeface="Calibri"/>
                <a:ea typeface="Calibri"/>
                <a:cs typeface="Calibri"/>
                <a:sym typeface="Calibri"/>
              </a:rPr>
              <a:t>Retailer scans BTA-70</a:t>
            </a:r>
            <a:endParaRPr sz="1050">
              <a:solidFill>
                <a:schemeClr val="dk1"/>
              </a:solidFill>
              <a:latin typeface="Calibri"/>
              <a:ea typeface="Calibri"/>
              <a:cs typeface="Calibri"/>
              <a:sym typeface="Calibri"/>
            </a:endParaRPr>
          </a:p>
          <a:p>
            <a:pPr indent="0" lvl="0" marL="0" marR="0" rtl="0" algn="ctr">
              <a:lnSpc>
                <a:spcPct val="110000"/>
              </a:lnSpc>
              <a:spcBef>
                <a:spcPts val="0"/>
              </a:spcBef>
              <a:spcAft>
                <a:spcPts val="0"/>
              </a:spcAft>
              <a:buClr>
                <a:srgbClr val="D2EFEB"/>
              </a:buClr>
              <a:buSzPts val="1050"/>
              <a:buFont typeface="Calibri"/>
              <a:buNone/>
            </a:pPr>
            <a:r>
              <a:rPr lang="en-US" sz="1050">
                <a:solidFill>
                  <a:srgbClr val="D2EFEB"/>
                </a:solidFill>
                <a:latin typeface="Calibri"/>
                <a:ea typeface="Calibri"/>
                <a:cs typeface="Calibri"/>
                <a:sym typeface="Calibri"/>
              </a:rPr>
              <a:t>in app to confirm</a:t>
            </a:r>
            <a:endParaRPr sz="1050">
              <a:solidFill>
                <a:schemeClr val="dk1"/>
              </a:solidFill>
              <a:latin typeface="Calibri"/>
              <a:ea typeface="Calibri"/>
              <a:cs typeface="Calibri"/>
              <a:sym typeface="Calibri"/>
            </a:endParaRPr>
          </a:p>
          <a:p>
            <a:pPr indent="0" lvl="0" marL="0" marR="0" rtl="0" algn="ctr">
              <a:lnSpc>
                <a:spcPct val="110000"/>
              </a:lnSpc>
              <a:spcBef>
                <a:spcPts val="0"/>
              </a:spcBef>
              <a:spcAft>
                <a:spcPts val="0"/>
              </a:spcAft>
              <a:buClr>
                <a:srgbClr val="D2EFEB"/>
              </a:buClr>
              <a:buSzPts val="1050"/>
              <a:buFont typeface="Calibri"/>
              <a:buNone/>
            </a:pPr>
            <a:r>
              <a:rPr lang="en-US" sz="1050">
                <a:solidFill>
                  <a:srgbClr val="D2EFEB"/>
                </a:solidFill>
                <a:latin typeface="Calibri"/>
                <a:ea typeface="Calibri"/>
                <a:cs typeface="Calibri"/>
                <a:sym typeface="Calibri"/>
              </a:rPr>
              <a:t>receipt</a:t>
            </a:r>
            <a:endParaRPr sz="1050">
              <a:solidFill>
                <a:schemeClr val="dk1"/>
              </a:solidFill>
              <a:latin typeface="Calibri"/>
              <a:ea typeface="Calibri"/>
              <a:cs typeface="Calibri"/>
              <a:sym typeface="Calibri"/>
            </a:endParaRPr>
          </a:p>
        </p:txBody>
      </p:sp>
      <p:sp>
        <p:nvSpPr>
          <p:cNvPr id="512" name="Google Shape;512;p11"/>
          <p:cNvSpPr txBox="1"/>
          <p:nvPr/>
        </p:nvSpPr>
        <p:spPr>
          <a:xfrm>
            <a:off x="502920" y="6510528"/>
            <a:ext cx="73152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C5C0"/>
              </a:buClr>
              <a:buSzPts val="850"/>
              <a:buFont typeface="Calibri"/>
              <a:buNone/>
            </a:pPr>
            <a:r>
              <a:rPr lang="en-US" sz="850">
                <a:solidFill>
                  <a:srgbClr val="A8C5C0"/>
                </a:solidFill>
                <a:latin typeface="Calibri"/>
                <a:ea typeface="Calibri"/>
                <a:cs typeface="Calibri"/>
                <a:sym typeface="Calibri"/>
              </a:rPr>
              <a:t>FSCM  ·  Capstone Project Overview  ·  FA26SE083</a:t>
            </a:r>
            <a:endParaRPr sz="850">
              <a:solidFill>
                <a:schemeClr val="dk1"/>
              </a:solidFill>
              <a:latin typeface="Calibri"/>
              <a:ea typeface="Calibri"/>
              <a:cs typeface="Calibri"/>
              <a:sym typeface="Calibri"/>
            </a:endParaRPr>
          </a:p>
        </p:txBody>
      </p:sp>
      <p:sp>
        <p:nvSpPr>
          <p:cNvPr id="513" name="Google Shape;513;p11"/>
          <p:cNvSpPr txBox="1"/>
          <p:nvPr/>
        </p:nvSpPr>
        <p:spPr>
          <a:xfrm>
            <a:off x="11338560"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8C5C0"/>
              </a:buClr>
              <a:buSzPts val="850"/>
              <a:buFont typeface="Calibri"/>
              <a:buNone/>
            </a:pPr>
            <a:r>
              <a:rPr lang="en-US" sz="850">
                <a:solidFill>
                  <a:srgbClr val="A8C5C0"/>
                </a:solidFill>
                <a:latin typeface="Calibri"/>
                <a:ea typeface="Calibri"/>
                <a:cs typeface="Calibri"/>
                <a:sym typeface="Calibri"/>
              </a:rPr>
              <a:t>11</a:t>
            </a:r>
            <a:endParaRPr sz="85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E33"/>
        </a:solidFill>
      </p:bgPr>
    </p:bg>
    <p:spTree>
      <p:nvGrpSpPr>
        <p:cNvPr id="518" name="Shape 518"/>
        <p:cNvGrpSpPr/>
        <p:nvPr/>
      </p:nvGrpSpPr>
      <p:grpSpPr>
        <a:xfrm>
          <a:off x="0" y="0"/>
          <a:ext cx="0" cy="0"/>
          <a:chOff x="0" y="0"/>
          <a:chExt cx="0" cy="0"/>
        </a:xfrm>
      </p:grpSpPr>
      <p:sp>
        <p:nvSpPr>
          <p:cNvPr id="519" name="Google Shape;519;p12"/>
          <p:cNvSpPr txBox="1"/>
          <p:nvPr/>
        </p:nvSpPr>
        <p:spPr>
          <a:xfrm>
            <a:off x="502920" y="402336"/>
            <a:ext cx="10058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100"/>
              <a:buFont typeface="Calibri"/>
              <a:buNone/>
            </a:pPr>
            <a:r>
              <a:rPr b="1" lang="en-US" sz="1100">
                <a:solidFill>
                  <a:srgbClr val="02C39A"/>
                </a:solidFill>
                <a:latin typeface="Calibri"/>
                <a:ea typeface="Calibri"/>
                <a:cs typeface="Calibri"/>
                <a:sym typeface="Calibri"/>
              </a:rPr>
              <a:t>05 · SYSTEM FLOW</a:t>
            </a:r>
            <a:endParaRPr sz="1100">
              <a:solidFill>
                <a:schemeClr val="dk1"/>
              </a:solidFill>
              <a:latin typeface="Calibri"/>
              <a:ea typeface="Calibri"/>
              <a:cs typeface="Calibri"/>
              <a:sym typeface="Calibri"/>
            </a:endParaRPr>
          </a:p>
        </p:txBody>
      </p:sp>
      <p:sp>
        <p:nvSpPr>
          <p:cNvPr id="520" name="Google Shape;520;p12"/>
          <p:cNvSpPr/>
          <p:nvPr/>
        </p:nvSpPr>
        <p:spPr>
          <a:xfrm>
            <a:off x="502920" y="731520"/>
            <a:ext cx="11201400" cy="13716"/>
          </a:xfrm>
          <a:prstGeom prst="rect">
            <a:avLst/>
          </a:prstGeom>
          <a:solidFill>
            <a:srgbClr val="1C5A60"/>
          </a:solidFill>
          <a:ln cap="flat" cmpd="sng" w="12700">
            <a:solidFill>
              <a:srgbClr val="1C5A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2"/>
          <p:cNvSpPr txBox="1"/>
          <p:nvPr/>
        </p:nvSpPr>
        <p:spPr>
          <a:xfrm>
            <a:off x="502920" y="777240"/>
            <a:ext cx="11201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mbria"/>
              <a:buNone/>
            </a:pPr>
            <a:r>
              <a:rPr b="1" lang="en-US" sz="3000">
                <a:solidFill>
                  <a:srgbClr val="FFFFFF"/>
                </a:solidFill>
                <a:latin typeface="Cambria"/>
                <a:ea typeface="Cambria"/>
                <a:cs typeface="Cambria"/>
                <a:sym typeface="Cambria"/>
              </a:rPr>
              <a:t>Order Status Lifecycle</a:t>
            </a:r>
            <a:endParaRPr sz="3000">
              <a:solidFill>
                <a:schemeClr val="dk1"/>
              </a:solidFill>
              <a:latin typeface="Calibri"/>
              <a:ea typeface="Calibri"/>
              <a:cs typeface="Calibri"/>
              <a:sym typeface="Calibri"/>
            </a:endParaRPr>
          </a:p>
        </p:txBody>
      </p:sp>
      <p:sp>
        <p:nvSpPr>
          <p:cNvPr id="522" name="Google Shape;522;p12"/>
          <p:cNvSpPr/>
          <p:nvPr/>
        </p:nvSpPr>
        <p:spPr>
          <a:xfrm>
            <a:off x="530352" y="1572768"/>
            <a:ext cx="1874520" cy="1207008"/>
          </a:xfrm>
          <a:prstGeom prst="roundRect">
            <a:avLst>
              <a:gd fmla="val 6818" name="adj"/>
            </a:avLst>
          </a:prstGeom>
          <a:solidFill>
            <a:srgbClr val="1A3A4A"/>
          </a:solidFill>
          <a:ln cap="flat" cmpd="sng" w="17775">
            <a:solidFill>
              <a:srgbClr val="4A7A9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2"/>
          <p:cNvSpPr txBox="1"/>
          <p:nvPr/>
        </p:nvSpPr>
        <p:spPr>
          <a:xfrm>
            <a:off x="621792" y="1664208"/>
            <a:ext cx="1691640" cy="6517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Chờ đồng bộ</a:t>
            </a:r>
            <a:endParaRPr sz="11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(Pending Sync)</a:t>
            </a:r>
            <a:endParaRPr sz="1100">
              <a:solidFill>
                <a:schemeClr val="dk1"/>
              </a:solidFill>
              <a:latin typeface="Calibri"/>
              <a:ea typeface="Calibri"/>
              <a:cs typeface="Calibri"/>
              <a:sym typeface="Calibri"/>
            </a:endParaRPr>
          </a:p>
        </p:txBody>
      </p:sp>
      <p:sp>
        <p:nvSpPr>
          <p:cNvPr id="524" name="Google Shape;524;p12"/>
          <p:cNvSpPr txBox="1"/>
          <p:nvPr/>
        </p:nvSpPr>
        <p:spPr>
          <a:xfrm>
            <a:off x="621792" y="2236622"/>
            <a:ext cx="1691640" cy="494873"/>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Clr>
                <a:srgbClr val="A0C8CC"/>
              </a:buClr>
              <a:buSzPts val="850"/>
              <a:buFont typeface="Calibri"/>
              <a:buNone/>
            </a:pPr>
            <a:r>
              <a:rPr lang="en-US" sz="850">
                <a:solidFill>
                  <a:srgbClr val="A0C8CC"/>
                </a:solidFill>
                <a:latin typeface="Calibri"/>
                <a:ea typeface="Calibri"/>
                <a:cs typeface="Calibri"/>
                <a:sym typeface="Calibri"/>
              </a:rPr>
              <a:t>Offline order on device</a:t>
            </a:r>
            <a:endParaRPr sz="850">
              <a:solidFill>
                <a:schemeClr val="dk1"/>
              </a:solidFill>
              <a:latin typeface="Calibri"/>
              <a:ea typeface="Calibri"/>
              <a:cs typeface="Calibri"/>
              <a:sym typeface="Calibri"/>
            </a:endParaRPr>
          </a:p>
        </p:txBody>
      </p:sp>
      <p:sp>
        <p:nvSpPr>
          <p:cNvPr id="525" name="Google Shape;525;p12"/>
          <p:cNvSpPr/>
          <p:nvPr/>
        </p:nvSpPr>
        <p:spPr>
          <a:xfrm>
            <a:off x="2697480" y="1572768"/>
            <a:ext cx="1874520" cy="1207008"/>
          </a:xfrm>
          <a:prstGeom prst="roundRect">
            <a:avLst>
              <a:gd fmla="val 6818" name="adj"/>
            </a:avLst>
          </a:prstGeom>
          <a:solidFill>
            <a:srgbClr val="0F3D42"/>
          </a:solidFill>
          <a:ln cap="flat" cmpd="sng" w="17775">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2"/>
          <p:cNvSpPr txBox="1"/>
          <p:nvPr/>
        </p:nvSpPr>
        <p:spPr>
          <a:xfrm>
            <a:off x="2788920" y="1664208"/>
            <a:ext cx="1691640" cy="6517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Chờ duyệt</a:t>
            </a:r>
            <a:endParaRPr sz="11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(Pending Approval)</a:t>
            </a:r>
            <a:endParaRPr sz="1100">
              <a:solidFill>
                <a:schemeClr val="dk1"/>
              </a:solidFill>
              <a:latin typeface="Calibri"/>
              <a:ea typeface="Calibri"/>
              <a:cs typeface="Calibri"/>
              <a:sym typeface="Calibri"/>
            </a:endParaRPr>
          </a:p>
        </p:txBody>
      </p:sp>
      <p:sp>
        <p:nvSpPr>
          <p:cNvPr id="527" name="Google Shape;527;p12"/>
          <p:cNvSpPr txBox="1"/>
          <p:nvPr/>
        </p:nvSpPr>
        <p:spPr>
          <a:xfrm>
            <a:off x="2788920" y="2236622"/>
            <a:ext cx="1691640" cy="494873"/>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Clr>
                <a:srgbClr val="A0C8CC"/>
              </a:buClr>
              <a:buSzPts val="850"/>
              <a:buFont typeface="Calibri"/>
              <a:buNone/>
            </a:pPr>
            <a:r>
              <a:rPr lang="en-US" sz="850">
                <a:solidFill>
                  <a:srgbClr val="A0C8CC"/>
                </a:solidFill>
                <a:latin typeface="Calibri"/>
                <a:ea typeface="Calibri"/>
                <a:cs typeface="Calibri"/>
                <a:sym typeface="Calibri"/>
              </a:rPr>
              <a:t>Stock held; awaiting review</a:t>
            </a:r>
            <a:endParaRPr sz="850">
              <a:solidFill>
                <a:schemeClr val="dk1"/>
              </a:solidFill>
              <a:latin typeface="Calibri"/>
              <a:ea typeface="Calibri"/>
              <a:cs typeface="Calibri"/>
              <a:sym typeface="Calibri"/>
            </a:endParaRPr>
          </a:p>
        </p:txBody>
      </p:sp>
      <p:sp>
        <p:nvSpPr>
          <p:cNvPr id="528" name="Google Shape;528;p12"/>
          <p:cNvSpPr/>
          <p:nvPr/>
        </p:nvSpPr>
        <p:spPr>
          <a:xfrm>
            <a:off x="4864608" y="1572768"/>
            <a:ext cx="1874520" cy="1207008"/>
          </a:xfrm>
          <a:prstGeom prst="roundRect">
            <a:avLst>
              <a:gd fmla="val 6818" name="adj"/>
            </a:avLst>
          </a:prstGeom>
          <a:solidFill>
            <a:srgbClr val="0F3D42"/>
          </a:solidFill>
          <a:ln cap="flat" cmpd="sng" w="17775">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2"/>
          <p:cNvSpPr txBox="1"/>
          <p:nvPr/>
        </p:nvSpPr>
        <p:spPr>
          <a:xfrm>
            <a:off x="4956048" y="1664208"/>
            <a:ext cx="1691640" cy="6517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Đã duyệt</a:t>
            </a:r>
            <a:endParaRPr sz="11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(Approved)</a:t>
            </a:r>
            <a:endParaRPr sz="1100">
              <a:solidFill>
                <a:schemeClr val="dk1"/>
              </a:solidFill>
              <a:latin typeface="Calibri"/>
              <a:ea typeface="Calibri"/>
              <a:cs typeface="Calibri"/>
              <a:sym typeface="Calibri"/>
            </a:endParaRPr>
          </a:p>
        </p:txBody>
      </p:sp>
      <p:sp>
        <p:nvSpPr>
          <p:cNvPr id="530" name="Google Shape;530;p12"/>
          <p:cNvSpPr txBox="1"/>
          <p:nvPr/>
        </p:nvSpPr>
        <p:spPr>
          <a:xfrm>
            <a:off x="4956048" y="2236622"/>
            <a:ext cx="1691640" cy="494873"/>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Clr>
                <a:srgbClr val="A0C8CC"/>
              </a:buClr>
              <a:buSzPts val="850"/>
              <a:buFont typeface="Calibri"/>
              <a:buNone/>
            </a:pPr>
            <a:r>
              <a:rPr lang="en-US" sz="850">
                <a:solidFill>
                  <a:srgbClr val="A0C8CC"/>
                </a:solidFill>
                <a:latin typeface="Calibri"/>
                <a:ea typeface="Calibri"/>
                <a:cs typeface="Calibri"/>
                <a:sym typeface="Calibri"/>
              </a:rPr>
              <a:t>Batch → Reserved; picking list sent</a:t>
            </a:r>
            <a:endParaRPr sz="850">
              <a:solidFill>
                <a:schemeClr val="dk1"/>
              </a:solidFill>
              <a:latin typeface="Calibri"/>
              <a:ea typeface="Calibri"/>
              <a:cs typeface="Calibri"/>
              <a:sym typeface="Calibri"/>
            </a:endParaRPr>
          </a:p>
        </p:txBody>
      </p:sp>
      <p:sp>
        <p:nvSpPr>
          <p:cNvPr id="531" name="Google Shape;531;p12"/>
          <p:cNvSpPr/>
          <p:nvPr/>
        </p:nvSpPr>
        <p:spPr>
          <a:xfrm>
            <a:off x="7031736" y="1572768"/>
            <a:ext cx="1874520" cy="1207008"/>
          </a:xfrm>
          <a:prstGeom prst="roundRect">
            <a:avLst>
              <a:gd fmla="val 6818" name="adj"/>
            </a:avLst>
          </a:prstGeom>
          <a:solidFill>
            <a:srgbClr val="0F3D42"/>
          </a:solidFill>
          <a:ln cap="flat" cmpd="sng" w="17775">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2"/>
          <p:cNvSpPr txBox="1"/>
          <p:nvPr/>
        </p:nvSpPr>
        <p:spPr>
          <a:xfrm>
            <a:off x="7123176" y="1664208"/>
            <a:ext cx="1691640" cy="6517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Đã xuất kho</a:t>
            </a:r>
            <a:endParaRPr sz="11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(Dispatched)</a:t>
            </a:r>
            <a:endParaRPr sz="1100">
              <a:solidFill>
                <a:schemeClr val="dk1"/>
              </a:solidFill>
              <a:latin typeface="Calibri"/>
              <a:ea typeface="Calibri"/>
              <a:cs typeface="Calibri"/>
              <a:sym typeface="Calibri"/>
            </a:endParaRPr>
          </a:p>
        </p:txBody>
      </p:sp>
      <p:sp>
        <p:nvSpPr>
          <p:cNvPr id="533" name="Google Shape;533;p12"/>
          <p:cNvSpPr txBox="1"/>
          <p:nvPr/>
        </p:nvSpPr>
        <p:spPr>
          <a:xfrm>
            <a:off x="7123176" y="2236622"/>
            <a:ext cx="1691640" cy="494873"/>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Clr>
                <a:srgbClr val="A0C8CC"/>
              </a:buClr>
              <a:buSzPts val="850"/>
              <a:buFont typeface="Calibri"/>
              <a:buNone/>
            </a:pPr>
            <a:r>
              <a:rPr lang="en-US" sz="850">
                <a:solidFill>
                  <a:srgbClr val="A0C8CC"/>
                </a:solidFill>
                <a:latin typeface="Calibri"/>
                <a:ea typeface="Calibri"/>
                <a:cs typeface="Calibri"/>
                <a:sym typeface="Calibri"/>
              </a:rPr>
              <a:t>Actual stock deducted</a:t>
            </a:r>
            <a:endParaRPr sz="850">
              <a:solidFill>
                <a:schemeClr val="dk1"/>
              </a:solidFill>
              <a:latin typeface="Calibri"/>
              <a:ea typeface="Calibri"/>
              <a:cs typeface="Calibri"/>
              <a:sym typeface="Calibri"/>
            </a:endParaRPr>
          </a:p>
        </p:txBody>
      </p:sp>
      <p:sp>
        <p:nvSpPr>
          <p:cNvPr id="534" name="Google Shape;534;p12"/>
          <p:cNvSpPr/>
          <p:nvPr/>
        </p:nvSpPr>
        <p:spPr>
          <a:xfrm>
            <a:off x="9198864" y="1572768"/>
            <a:ext cx="1874520" cy="1207008"/>
          </a:xfrm>
          <a:prstGeom prst="roundRect">
            <a:avLst>
              <a:gd fmla="val 6818" name="adj"/>
            </a:avLst>
          </a:prstGeom>
          <a:solidFill>
            <a:srgbClr val="0F3D42"/>
          </a:solidFill>
          <a:ln cap="flat" cmpd="sng" w="17775">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2"/>
          <p:cNvSpPr txBox="1"/>
          <p:nvPr/>
        </p:nvSpPr>
        <p:spPr>
          <a:xfrm>
            <a:off x="9290304" y="1664208"/>
            <a:ext cx="1691640" cy="6517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Đang giao</a:t>
            </a:r>
            <a:endParaRPr sz="11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(In Delivery)</a:t>
            </a:r>
            <a:endParaRPr sz="1100">
              <a:solidFill>
                <a:schemeClr val="dk1"/>
              </a:solidFill>
              <a:latin typeface="Calibri"/>
              <a:ea typeface="Calibri"/>
              <a:cs typeface="Calibri"/>
              <a:sym typeface="Calibri"/>
            </a:endParaRPr>
          </a:p>
        </p:txBody>
      </p:sp>
      <p:sp>
        <p:nvSpPr>
          <p:cNvPr id="536" name="Google Shape;536;p12"/>
          <p:cNvSpPr txBox="1"/>
          <p:nvPr/>
        </p:nvSpPr>
        <p:spPr>
          <a:xfrm>
            <a:off x="9290304" y="2236622"/>
            <a:ext cx="1691640" cy="494873"/>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Clr>
                <a:srgbClr val="A0C8CC"/>
              </a:buClr>
              <a:buSzPts val="850"/>
              <a:buFont typeface="Calibri"/>
              <a:buNone/>
            </a:pPr>
            <a:r>
              <a:rPr lang="en-US" sz="850">
                <a:solidFill>
                  <a:srgbClr val="A0C8CC"/>
                </a:solidFill>
                <a:latin typeface="Calibri"/>
                <a:ea typeface="Calibri"/>
                <a:cs typeface="Calibri"/>
                <a:sym typeface="Calibri"/>
              </a:rPr>
              <a:t>Operator marks in transit</a:t>
            </a:r>
            <a:endParaRPr sz="850">
              <a:solidFill>
                <a:schemeClr val="dk1"/>
              </a:solidFill>
              <a:latin typeface="Calibri"/>
              <a:ea typeface="Calibri"/>
              <a:cs typeface="Calibri"/>
              <a:sym typeface="Calibri"/>
            </a:endParaRPr>
          </a:p>
        </p:txBody>
      </p:sp>
      <p:sp>
        <p:nvSpPr>
          <p:cNvPr id="537" name="Google Shape;537;p12"/>
          <p:cNvSpPr/>
          <p:nvPr/>
        </p:nvSpPr>
        <p:spPr>
          <a:xfrm>
            <a:off x="2697480" y="3977640"/>
            <a:ext cx="1874520" cy="1207008"/>
          </a:xfrm>
          <a:prstGeom prst="roundRect">
            <a:avLst>
              <a:gd fmla="val 6818" name="adj"/>
            </a:avLst>
          </a:prstGeom>
          <a:solidFill>
            <a:srgbClr val="3D1515"/>
          </a:solidFill>
          <a:ln cap="flat" cmpd="sng" w="17775">
            <a:solidFill>
              <a:srgbClr val="E05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12"/>
          <p:cNvSpPr txBox="1"/>
          <p:nvPr/>
        </p:nvSpPr>
        <p:spPr>
          <a:xfrm>
            <a:off x="2788920" y="4069080"/>
            <a:ext cx="1691640" cy="6517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Bị từ chối</a:t>
            </a:r>
            <a:endParaRPr sz="11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(Rejected)</a:t>
            </a:r>
            <a:endParaRPr sz="1100">
              <a:solidFill>
                <a:schemeClr val="dk1"/>
              </a:solidFill>
              <a:latin typeface="Calibri"/>
              <a:ea typeface="Calibri"/>
              <a:cs typeface="Calibri"/>
              <a:sym typeface="Calibri"/>
            </a:endParaRPr>
          </a:p>
        </p:txBody>
      </p:sp>
      <p:sp>
        <p:nvSpPr>
          <p:cNvPr id="539" name="Google Shape;539;p12"/>
          <p:cNvSpPr txBox="1"/>
          <p:nvPr/>
        </p:nvSpPr>
        <p:spPr>
          <a:xfrm>
            <a:off x="2788920" y="4641494"/>
            <a:ext cx="1691640" cy="494873"/>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Clr>
                <a:srgbClr val="A0C8CC"/>
              </a:buClr>
              <a:buSzPts val="850"/>
              <a:buFont typeface="Calibri"/>
              <a:buNone/>
            </a:pPr>
            <a:r>
              <a:rPr lang="en-US" sz="850">
                <a:solidFill>
                  <a:srgbClr val="A0C8CC"/>
                </a:solidFill>
                <a:latin typeface="Calibri"/>
                <a:ea typeface="Calibri"/>
                <a:cs typeface="Calibri"/>
                <a:sym typeface="Calibri"/>
              </a:rPr>
              <a:t>System (no stock) or Admin/Op (reason)</a:t>
            </a:r>
            <a:endParaRPr sz="850">
              <a:solidFill>
                <a:schemeClr val="dk1"/>
              </a:solidFill>
              <a:latin typeface="Calibri"/>
              <a:ea typeface="Calibri"/>
              <a:cs typeface="Calibri"/>
              <a:sym typeface="Calibri"/>
            </a:endParaRPr>
          </a:p>
        </p:txBody>
      </p:sp>
      <p:sp>
        <p:nvSpPr>
          <p:cNvPr id="540" name="Google Shape;540;p12"/>
          <p:cNvSpPr/>
          <p:nvPr/>
        </p:nvSpPr>
        <p:spPr>
          <a:xfrm>
            <a:off x="4864608" y="3977640"/>
            <a:ext cx="1874520" cy="1207008"/>
          </a:xfrm>
          <a:prstGeom prst="roundRect">
            <a:avLst>
              <a:gd fmla="val 6818" name="adj"/>
            </a:avLst>
          </a:prstGeom>
          <a:solidFill>
            <a:srgbClr val="2E2A10"/>
          </a:solidFill>
          <a:ln cap="flat" cmpd="sng" w="17775">
            <a:solidFill>
              <a:srgbClr val="C8A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12"/>
          <p:cNvSpPr txBox="1"/>
          <p:nvPr/>
        </p:nvSpPr>
        <p:spPr>
          <a:xfrm>
            <a:off x="4956048" y="4069080"/>
            <a:ext cx="1691640" cy="6517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Đã hủy</a:t>
            </a:r>
            <a:endParaRPr sz="11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(Cancelled)</a:t>
            </a:r>
            <a:endParaRPr sz="1100">
              <a:solidFill>
                <a:schemeClr val="dk1"/>
              </a:solidFill>
              <a:latin typeface="Calibri"/>
              <a:ea typeface="Calibri"/>
              <a:cs typeface="Calibri"/>
              <a:sym typeface="Calibri"/>
            </a:endParaRPr>
          </a:p>
        </p:txBody>
      </p:sp>
      <p:sp>
        <p:nvSpPr>
          <p:cNvPr id="542" name="Google Shape;542;p12"/>
          <p:cNvSpPr txBox="1"/>
          <p:nvPr/>
        </p:nvSpPr>
        <p:spPr>
          <a:xfrm>
            <a:off x="4956048" y="4641494"/>
            <a:ext cx="1691640" cy="494873"/>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Clr>
                <a:srgbClr val="A0C8CC"/>
              </a:buClr>
              <a:buSzPts val="850"/>
              <a:buFont typeface="Calibri"/>
              <a:buNone/>
            </a:pPr>
            <a:r>
              <a:rPr lang="en-US" sz="850">
                <a:solidFill>
                  <a:srgbClr val="A0C8CC"/>
                </a:solidFill>
                <a:latin typeface="Calibri"/>
                <a:ea typeface="Calibri"/>
                <a:cs typeface="Calibri"/>
                <a:sym typeface="Calibri"/>
              </a:rPr>
              <a:t>Sales or Admin before dispatch</a:t>
            </a:r>
            <a:endParaRPr sz="850">
              <a:solidFill>
                <a:schemeClr val="dk1"/>
              </a:solidFill>
              <a:latin typeface="Calibri"/>
              <a:ea typeface="Calibri"/>
              <a:cs typeface="Calibri"/>
              <a:sym typeface="Calibri"/>
            </a:endParaRPr>
          </a:p>
        </p:txBody>
      </p:sp>
      <p:grpSp>
        <p:nvGrpSpPr>
          <p:cNvPr id="543" name="Google Shape;543;p12"/>
          <p:cNvGrpSpPr/>
          <p:nvPr/>
        </p:nvGrpSpPr>
        <p:grpSpPr>
          <a:xfrm>
            <a:off x="9209837" y="3982720"/>
            <a:ext cx="1874520" cy="1207008"/>
            <a:chOff x="8092440" y="3977640"/>
            <a:chExt cx="1874520" cy="1207008"/>
          </a:xfrm>
        </p:grpSpPr>
        <p:sp>
          <p:nvSpPr>
            <p:cNvPr id="544" name="Google Shape;544;p12"/>
            <p:cNvSpPr/>
            <p:nvPr/>
          </p:nvSpPr>
          <p:spPr>
            <a:xfrm>
              <a:off x="8092440" y="3977640"/>
              <a:ext cx="1874520" cy="1207008"/>
            </a:xfrm>
            <a:prstGeom prst="roundRect">
              <a:avLst>
                <a:gd fmla="val 6818" name="adj"/>
              </a:avLst>
            </a:prstGeom>
            <a:solidFill>
              <a:srgbClr val="0A3020"/>
            </a:solidFill>
            <a:ln cap="flat" cmpd="sng" w="17775">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2"/>
            <p:cNvSpPr txBox="1"/>
            <p:nvPr/>
          </p:nvSpPr>
          <p:spPr>
            <a:xfrm>
              <a:off x="8183880" y="4069080"/>
              <a:ext cx="1691640" cy="6517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Đã giao</a:t>
              </a:r>
              <a:endParaRPr sz="11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(Delivered)</a:t>
              </a:r>
              <a:endParaRPr sz="1100">
                <a:solidFill>
                  <a:schemeClr val="dk1"/>
                </a:solidFill>
                <a:latin typeface="Calibri"/>
                <a:ea typeface="Calibri"/>
                <a:cs typeface="Calibri"/>
                <a:sym typeface="Calibri"/>
              </a:endParaRPr>
            </a:p>
          </p:txBody>
        </p:sp>
        <p:sp>
          <p:nvSpPr>
            <p:cNvPr id="546" name="Google Shape;546;p12"/>
            <p:cNvSpPr txBox="1"/>
            <p:nvPr/>
          </p:nvSpPr>
          <p:spPr>
            <a:xfrm>
              <a:off x="8183880" y="4641494"/>
              <a:ext cx="1691640" cy="494873"/>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Clr>
                  <a:srgbClr val="A0C8CC"/>
                </a:buClr>
                <a:buSzPts val="850"/>
                <a:buFont typeface="Calibri"/>
                <a:buNone/>
              </a:pPr>
              <a:r>
                <a:rPr lang="en-US" sz="850">
                  <a:solidFill>
                    <a:srgbClr val="A0C8CC"/>
                  </a:solidFill>
                  <a:latin typeface="Calibri"/>
                  <a:ea typeface="Calibri"/>
                  <a:cs typeface="Calibri"/>
                  <a:sym typeface="Calibri"/>
                </a:rPr>
                <a:t>Retailer scans QR to confirm</a:t>
              </a:r>
              <a:endParaRPr sz="850">
                <a:solidFill>
                  <a:schemeClr val="dk1"/>
                </a:solidFill>
                <a:latin typeface="Calibri"/>
                <a:ea typeface="Calibri"/>
                <a:cs typeface="Calibri"/>
                <a:sym typeface="Calibri"/>
              </a:endParaRPr>
            </a:p>
          </p:txBody>
        </p:sp>
      </p:grpSp>
      <p:sp>
        <p:nvSpPr>
          <p:cNvPr id="547" name="Google Shape;547;p12"/>
          <p:cNvSpPr txBox="1"/>
          <p:nvPr/>
        </p:nvSpPr>
        <p:spPr>
          <a:xfrm>
            <a:off x="2423160" y="2011680"/>
            <a:ext cx="256032"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A896"/>
              </a:buClr>
              <a:buSzPts val="1000"/>
              <a:buFont typeface="Calibri"/>
              <a:buNone/>
            </a:pPr>
            <a:r>
              <a:rPr lang="en-US" sz="1000">
                <a:solidFill>
                  <a:srgbClr val="00A896"/>
                </a:solidFill>
                <a:latin typeface="Calibri"/>
                <a:ea typeface="Calibri"/>
                <a:cs typeface="Calibri"/>
                <a:sym typeface="Calibri"/>
              </a:rPr>
              <a:t>▶</a:t>
            </a:r>
            <a:endParaRPr sz="1000">
              <a:solidFill>
                <a:schemeClr val="dk1"/>
              </a:solidFill>
              <a:latin typeface="Calibri"/>
              <a:ea typeface="Calibri"/>
              <a:cs typeface="Calibri"/>
              <a:sym typeface="Calibri"/>
            </a:endParaRPr>
          </a:p>
        </p:txBody>
      </p:sp>
      <p:sp>
        <p:nvSpPr>
          <p:cNvPr id="548" name="Google Shape;548;p12"/>
          <p:cNvSpPr txBox="1"/>
          <p:nvPr/>
        </p:nvSpPr>
        <p:spPr>
          <a:xfrm>
            <a:off x="4590288" y="2011680"/>
            <a:ext cx="256032"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A896"/>
              </a:buClr>
              <a:buSzPts val="1000"/>
              <a:buFont typeface="Calibri"/>
              <a:buNone/>
            </a:pPr>
            <a:r>
              <a:rPr lang="en-US" sz="1000">
                <a:solidFill>
                  <a:srgbClr val="00A896"/>
                </a:solidFill>
                <a:latin typeface="Calibri"/>
                <a:ea typeface="Calibri"/>
                <a:cs typeface="Calibri"/>
                <a:sym typeface="Calibri"/>
              </a:rPr>
              <a:t>▶</a:t>
            </a:r>
            <a:endParaRPr sz="1000">
              <a:solidFill>
                <a:schemeClr val="dk1"/>
              </a:solidFill>
              <a:latin typeface="Calibri"/>
              <a:ea typeface="Calibri"/>
              <a:cs typeface="Calibri"/>
              <a:sym typeface="Calibri"/>
            </a:endParaRPr>
          </a:p>
        </p:txBody>
      </p:sp>
      <p:sp>
        <p:nvSpPr>
          <p:cNvPr id="549" name="Google Shape;549;p12"/>
          <p:cNvSpPr txBox="1"/>
          <p:nvPr/>
        </p:nvSpPr>
        <p:spPr>
          <a:xfrm>
            <a:off x="6757416" y="2011680"/>
            <a:ext cx="256032"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A896"/>
              </a:buClr>
              <a:buSzPts val="1000"/>
              <a:buFont typeface="Calibri"/>
              <a:buNone/>
            </a:pPr>
            <a:r>
              <a:rPr lang="en-US" sz="1000">
                <a:solidFill>
                  <a:srgbClr val="00A896"/>
                </a:solidFill>
                <a:latin typeface="Calibri"/>
                <a:ea typeface="Calibri"/>
                <a:cs typeface="Calibri"/>
                <a:sym typeface="Calibri"/>
              </a:rPr>
              <a:t>▶</a:t>
            </a:r>
            <a:endParaRPr sz="1000">
              <a:solidFill>
                <a:schemeClr val="dk1"/>
              </a:solidFill>
              <a:latin typeface="Calibri"/>
              <a:ea typeface="Calibri"/>
              <a:cs typeface="Calibri"/>
              <a:sym typeface="Calibri"/>
            </a:endParaRPr>
          </a:p>
        </p:txBody>
      </p:sp>
      <p:sp>
        <p:nvSpPr>
          <p:cNvPr id="550" name="Google Shape;550;p12"/>
          <p:cNvSpPr txBox="1"/>
          <p:nvPr/>
        </p:nvSpPr>
        <p:spPr>
          <a:xfrm>
            <a:off x="8924544" y="2011680"/>
            <a:ext cx="256032"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A896"/>
              </a:buClr>
              <a:buSzPts val="1000"/>
              <a:buFont typeface="Calibri"/>
              <a:buNone/>
            </a:pPr>
            <a:r>
              <a:rPr lang="en-US" sz="1000">
                <a:solidFill>
                  <a:srgbClr val="00A896"/>
                </a:solidFill>
                <a:latin typeface="Calibri"/>
                <a:ea typeface="Calibri"/>
                <a:cs typeface="Calibri"/>
                <a:sym typeface="Calibri"/>
              </a:rPr>
              <a:t>▶</a:t>
            </a:r>
            <a:endParaRPr sz="1000">
              <a:solidFill>
                <a:schemeClr val="dk1"/>
              </a:solidFill>
              <a:latin typeface="Calibri"/>
              <a:ea typeface="Calibri"/>
              <a:cs typeface="Calibri"/>
              <a:sym typeface="Calibri"/>
            </a:endParaRPr>
          </a:p>
        </p:txBody>
      </p:sp>
      <p:sp>
        <p:nvSpPr>
          <p:cNvPr id="551" name="Google Shape;551;p12"/>
          <p:cNvSpPr/>
          <p:nvPr/>
        </p:nvSpPr>
        <p:spPr>
          <a:xfrm>
            <a:off x="3623767" y="2779776"/>
            <a:ext cx="21946" cy="1197864"/>
          </a:xfrm>
          <a:prstGeom prst="rect">
            <a:avLst/>
          </a:prstGeom>
          <a:solidFill>
            <a:srgbClr val="E05A5A"/>
          </a:solidFill>
          <a:ln cap="flat" cmpd="sng" w="12700">
            <a:solidFill>
              <a:srgbClr val="E05A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12"/>
          <p:cNvSpPr txBox="1"/>
          <p:nvPr/>
        </p:nvSpPr>
        <p:spPr>
          <a:xfrm>
            <a:off x="3689604" y="3177540"/>
            <a:ext cx="6400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5A5A"/>
              </a:buClr>
              <a:buSzPts val="900"/>
              <a:buFont typeface="Calibri"/>
              <a:buNone/>
            </a:pPr>
            <a:r>
              <a:rPr lang="en-US" sz="900">
                <a:solidFill>
                  <a:srgbClr val="E05A5A"/>
                </a:solidFill>
                <a:latin typeface="Calibri"/>
                <a:ea typeface="Calibri"/>
                <a:cs typeface="Calibri"/>
                <a:sym typeface="Calibri"/>
              </a:rPr>
              <a:t>Reject</a:t>
            </a:r>
            <a:endParaRPr sz="900">
              <a:solidFill>
                <a:schemeClr val="dk1"/>
              </a:solidFill>
              <a:latin typeface="Calibri"/>
              <a:ea typeface="Calibri"/>
              <a:cs typeface="Calibri"/>
              <a:sym typeface="Calibri"/>
            </a:endParaRPr>
          </a:p>
        </p:txBody>
      </p:sp>
      <p:sp>
        <p:nvSpPr>
          <p:cNvPr id="553" name="Google Shape;553;p12"/>
          <p:cNvSpPr/>
          <p:nvPr/>
        </p:nvSpPr>
        <p:spPr>
          <a:xfrm>
            <a:off x="5790895" y="2779776"/>
            <a:ext cx="21946" cy="1197864"/>
          </a:xfrm>
          <a:prstGeom prst="rect">
            <a:avLst/>
          </a:prstGeom>
          <a:solidFill>
            <a:srgbClr val="C8A800"/>
          </a:solidFill>
          <a:ln cap="flat" cmpd="sng" w="12700">
            <a:solidFill>
              <a:srgbClr val="C8A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2"/>
          <p:cNvSpPr txBox="1"/>
          <p:nvPr/>
        </p:nvSpPr>
        <p:spPr>
          <a:xfrm>
            <a:off x="5856732" y="3177540"/>
            <a:ext cx="6400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A800"/>
              </a:buClr>
              <a:buSzPts val="900"/>
              <a:buFont typeface="Calibri"/>
              <a:buNone/>
            </a:pPr>
            <a:r>
              <a:rPr lang="en-US" sz="900">
                <a:solidFill>
                  <a:srgbClr val="C8A800"/>
                </a:solidFill>
                <a:latin typeface="Calibri"/>
                <a:ea typeface="Calibri"/>
                <a:cs typeface="Calibri"/>
                <a:sym typeface="Calibri"/>
              </a:rPr>
              <a:t>Cancel</a:t>
            </a:r>
            <a:endParaRPr sz="900">
              <a:solidFill>
                <a:schemeClr val="dk1"/>
              </a:solidFill>
              <a:latin typeface="Calibri"/>
              <a:ea typeface="Calibri"/>
              <a:cs typeface="Calibri"/>
              <a:sym typeface="Calibri"/>
            </a:endParaRPr>
          </a:p>
        </p:txBody>
      </p:sp>
      <p:sp>
        <p:nvSpPr>
          <p:cNvPr id="555" name="Google Shape;555;p12"/>
          <p:cNvSpPr/>
          <p:nvPr/>
        </p:nvSpPr>
        <p:spPr>
          <a:xfrm>
            <a:off x="10125150" y="2779776"/>
            <a:ext cx="45719" cy="1184656"/>
          </a:xfrm>
          <a:prstGeom prst="rect">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2"/>
          <p:cNvSpPr txBox="1"/>
          <p:nvPr/>
        </p:nvSpPr>
        <p:spPr>
          <a:xfrm>
            <a:off x="9737598" y="3172714"/>
            <a:ext cx="6400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900"/>
              <a:buFont typeface="Calibri"/>
              <a:buNone/>
            </a:pPr>
            <a:r>
              <a:rPr lang="en-US" sz="900">
                <a:solidFill>
                  <a:srgbClr val="02C39A"/>
                </a:solidFill>
                <a:latin typeface="Calibri"/>
                <a:ea typeface="Calibri"/>
                <a:cs typeface="Calibri"/>
                <a:sym typeface="Calibri"/>
              </a:rPr>
              <a:t>Deliver</a:t>
            </a:r>
            <a:endParaRPr sz="900">
              <a:solidFill>
                <a:schemeClr val="dk1"/>
              </a:solidFill>
              <a:latin typeface="Calibri"/>
              <a:ea typeface="Calibri"/>
              <a:cs typeface="Calibri"/>
              <a:sym typeface="Calibri"/>
            </a:endParaRPr>
          </a:p>
        </p:txBody>
      </p:sp>
      <p:sp>
        <p:nvSpPr>
          <p:cNvPr id="557" name="Google Shape;557;p12"/>
          <p:cNvSpPr/>
          <p:nvPr/>
        </p:nvSpPr>
        <p:spPr>
          <a:xfrm>
            <a:off x="502920" y="5486400"/>
            <a:ext cx="11201400" cy="777240"/>
          </a:xfrm>
          <a:prstGeom prst="roundRect">
            <a:avLst>
              <a:gd fmla="val 8235" name="adj"/>
            </a:avLst>
          </a:prstGeom>
          <a:solidFill>
            <a:srgbClr val="0F3D42"/>
          </a:solidFill>
          <a:ln cap="flat" cmpd="sng" w="9525">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2"/>
          <p:cNvSpPr txBox="1"/>
          <p:nvPr/>
        </p:nvSpPr>
        <p:spPr>
          <a:xfrm>
            <a:off x="685800" y="5614416"/>
            <a:ext cx="14630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100"/>
              <a:buFont typeface="Calibri"/>
              <a:buNone/>
            </a:pPr>
            <a:r>
              <a:rPr b="1" lang="en-US" sz="1100">
                <a:solidFill>
                  <a:srgbClr val="02C39A"/>
                </a:solidFill>
                <a:latin typeface="Calibri"/>
                <a:ea typeface="Calibri"/>
                <a:cs typeface="Calibri"/>
                <a:sym typeface="Calibri"/>
              </a:rPr>
              <a:t>Stock Impact</a:t>
            </a:r>
            <a:endParaRPr sz="1100">
              <a:solidFill>
                <a:schemeClr val="dk1"/>
              </a:solidFill>
              <a:latin typeface="Calibri"/>
              <a:ea typeface="Calibri"/>
              <a:cs typeface="Calibri"/>
              <a:sym typeface="Calibri"/>
            </a:endParaRPr>
          </a:p>
        </p:txBody>
      </p:sp>
      <p:sp>
        <p:nvSpPr>
          <p:cNvPr id="559" name="Google Shape;559;p12"/>
          <p:cNvSpPr txBox="1"/>
          <p:nvPr/>
        </p:nvSpPr>
        <p:spPr>
          <a:xfrm>
            <a:off x="2286000" y="5577840"/>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896"/>
              </a:buClr>
              <a:buSzPts val="950"/>
              <a:buFont typeface="Calibri"/>
              <a:buNone/>
            </a:pPr>
            <a:r>
              <a:rPr b="1" lang="en-US" sz="950">
                <a:solidFill>
                  <a:srgbClr val="00A896"/>
                </a:solidFill>
                <a:latin typeface="Calibri"/>
                <a:ea typeface="Calibri"/>
                <a:cs typeface="Calibri"/>
                <a:sym typeface="Calibri"/>
              </a:rPr>
              <a:t>Pending Approval</a:t>
            </a:r>
            <a:endParaRPr sz="950">
              <a:solidFill>
                <a:schemeClr val="dk1"/>
              </a:solidFill>
              <a:latin typeface="Calibri"/>
              <a:ea typeface="Calibri"/>
              <a:cs typeface="Calibri"/>
              <a:sym typeface="Calibri"/>
            </a:endParaRPr>
          </a:p>
        </p:txBody>
      </p:sp>
      <p:sp>
        <p:nvSpPr>
          <p:cNvPr id="560" name="Google Shape;560;p12"/>
          <p:cNvSpPr txBox="1"/>
          <p:nvPr/>
        </p:nvSpPr>
        <p:spPr>
          <a:xfrm>
            <a:off x="2286000" y="5870448"/>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C8CC"/>
              </a:buClr>
              <a:buSzPts val="900"/>
              <a:buFont typeface="Calibri"/>
              <a:buNone/>
            </a:pPr>
            <a:r>
              <a:rPr lang="en-US" sz="900">
                <a:solidFill>
                  <a:srgbClr val="A0C8CC"/>
                </a:solidFill>
                <a:latin typeface="Calibri"/>
                <a:ea typeface="Calibri"/>
                <a:cs typeface="Calibri"/>
                <a:sym typeface="Calibri"/>
              </a:rPr>
              <a:t>Qty temporarily held</a:t>
            </a:r>
            <a:endParaRPr sz="900">
              <a:solidFill>
                <a:schemeClr val="dk1"/>
              </a:solidFill>
              <a:latin typeface="Calibri"/>
              <a:ea typeface="Calibri"/>
              <a:cs typeface="Calibri"/>
              <a:sym typeface="Calibri"/>
            </a:endParaRPr>
          </a:p>
        </p:txBody>
      </p:sp>
      <p:sp>
        <p:nvSpPr>
          <p:cNvPr id="561" name="Google Shape;561;p12"/>
          <p:cNvSpPr txBox="1"/>
          <p:nvPr/>
        </p:nvSpPr>
        <p:spPr>
          <a:xfrm>
            <a:off x="4709160" y="5577840"/>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896"/>
              </a:buClr>
              <a:buSzPts val="950"/>
              <a:buFont typeface="Calibri"/>
              <a:buNone/>
            </a:pPr>
            <a:r>
              <a:rPr b="1" lang="en-US" sz="950">
                <a:solidFill>
                  <a:srgbClr val="00A896"/>
                </a:solidFill>
                <a:latin typeface="Calibri"/>
                <a:ea typeface="Calibri"/>
                <a:cs typeface="Calibri"/>
                <a:sym typeface="Calibri"/>
              </a:rPr>
              <a:t>Approved</a:t>
            </a:r>
            <a:endParaRPr sz="950">
              <a:solidFill>
                <a:schemeClr val="dk1"/>
              </a:solidFill>
              <a:latin typeface="Calibri"/>
              <a:ea typeface="Calibri"/>
              <a:cs typeface="Calibri"/>
              <a:sym typeface="Calibri"/>
            </a:endParaRPr>
          </a:p>
        </p:txBody>
      </p:sp>
      <p:sp>
        <p:nvSpPr>
          <p:cNvPr id="562" name="Google Shape;562;p12"/>
          <p:cNvSpPr txBox="1"/>
          <p:nvPr/>
        </p:nvSpPr>
        <p:spPr>
          <a:xfrm>
            <a:off x="4709160" y="5870448"/>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C8CC"/>
              </a:buClr>
              <a:buSzPts val="900"/>
              <a:buFont typeface="Calibri"/>
              <a:buNone/>
            </a:pPr>
            <a:r>
              <a:rPr lang="en-US" sz="900">
                <a:solidFill>
                  <a:srgbClr val="A0C8CC"/>
                </a:solidFill>
                <a:latin typeface="Calibri"/>
                <a:ea typeface="Calibri"/>
                <a:cs typeface="Calibri"/>
                <a:sym typeface="Calibri"/>
              </a:rPr>
              <a:t>Batch → Reserved status</a:t>
            </a:r>
            <a:endParaRPr sz="900">
              <a:solidFill>
                <a:schemeClr val="dk1"/>
              </a:solidFill>
              <a:latin typeface="Calibri"/>
              <a:ea typeface="Calibri"/>
              <a:cs typeface="Calibri"/>
              <a:sym typeface="Calibri"/>
            </a:endParaRPr>
          </a:p>
        </p:txBody>
      </p:sp>
      <p:sp>
        <p:nvSpPr>
          <p:cNvPr id="563" name="Google Shape;563;p12"/>
          <p:cNvSpPr txBox="1"/>
          <p:nvPr/>
        </p:nvSpPr>
        <p:spPr>
          <a:xfrm>
            <a:off x="7132320" y="5577840"/>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896"/>
              </a:buClr>
              <a:buSzPts val="950"/>
              <a:buFont typeface="Calibri"/>
              <a:buNone/>
            </a:pPr>
            <a:r>
              <a:rPr b="1" lang="en-US" sz="950">
                <a:solidFill>
                  <a:srgbClr val="00A896"/>
                </a:solidFill>
                <a:latin typeface="Calibri"/>
                <a:ea typeface="Calibri"/>
                <a:cs typeface="Calibri"/>
                <a:sym typeface="Calibri"/>
              </a:rPr>
              <a:t>Dispatched</a:t>
            </a:r>
            <a:endParaRPr sz="950">
              <a:solidFill>
                <a:schemeClr val="dk1"/>
              </a:solidFill>
              <a:latin typeface="Calibri"/>
              <a:ea typeface="Calibri"/>
              <a:cs typeface="Calibri"/>
              <a:sym typeface="Calibri"/>
            </a:endParaRPr>
          </a:p>
        </p:txBody>
      </p:sp>
      <p:sp>
        <p:nvSpPr>
          <p:cNvPr id="564" name="Google Shape;564;p12"/>
          <p:cNvSpPr txBox="1"/>
          <p:nvPr/>
        </p:nvSpPr>
        <p:spPr>
          <a:xfrm>
            <a:off x="7132320" y="5870448"/>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C8CC"/>
              </a:buClr>
              <a:buSzPts val="900"/>
              <a:buFont typeface="Calibri"/>
              <a:buNone/>
            </a:pPr>
            <a:r>
              <a:rPr lang="en-US" sz="900">
                <a:solidFill>
                  <a:srgbClr val="A0C8CC"/>
                </a:solidFill>
                <a:latin typeface="Calibri"/>
                <a:ea typeface="Calibri"/>
                <a:cs typeface="Calibri"/>
                <a:sym typeface="Calibri"/>
              </a:rPr>
              <a:t>Actual stock deducted</a:t>
            </a:r>
            <a:endParaRPr sz="900">
              <a:solidFill>
                <a:schemeClr val="dk1"/>
              </a:solidFill>
              <a:latin typeface="Calibri"/>
              <a:ea typeface="Calibri"/>
              <a:cs typeface="Calibri"/>
              <a:sym typeface="Calibri"/>
            </a:endParaRPr>
          </a:p>
        </p:txBody>
      </p:sp>
      <p:sp>
        <p:nvSpPr>
          <p:cNvPr id="565" name="Google Shape;565;p12"/>
          <p:cNvSpPr txBox="1"/>
          <p:nvPr/>
        </p:nvSpPr>
        <p:spPr>
          <a:xfrm>
            <a:off x="9555480" y="5577840"/>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896"/>
              </a:buClr>
              <a:buSzPts val="950"/>
              <a:buFont typeface="Calibri"/>
              <a:buNone/>
            </a:pPr>
            <a:r>
              <a:rPr b="1" lang="en-US" sz="950">
                <a:solidFill>
                  <a:srgbClr val="00A896"/>
                </a:solidFill>
                <a:latin typeface="Calibri"/>
                <a:ea typeface="Calibri"/>
                <a:cs typeface="Calibri"/>
                <a:sym typeface="Calibri"/>
              </a:rPr>
              <a:t>Rejected / Cancelled</a:t>
            </a:r>
            <a:endParaRPr sz="950">
              <a:solidFill>
                <a:schemeClr val="dk1"/>
              </a:solidFill>
              <a:latin typeface="Calibri"/>
              <a:ea typeface="Calibri"/>
              <a:cs typeface="Calibri"/>
              <a:sym typeface="Calibri"/>
            </a:endParaRPr>
          </a:p>
        </p:txBody>
      </p:sp>
      <p:sp>
        <p:nvSpPr>
          <p:cNvPr id="566" name="Google Shape;566;p12"/>
          <p:cNvSpPr txBox="1"/>
          <p:nvPr/>
        </p:nvSpPr>
        <p:spPr>
          <a:xfrm>
            <a:off x="9555480" y="5870448"/>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C8CC"/>
              </a:buClr>
              <a:buSzPts val="900"/>
              <a:buFont typeface="Calibri"/>
              <a:buNone/>
            </a:pPr>
            <a:r>
              <a:rPr lang="en-US" sz="900">
                <a:solidFill>
                  <a:srgbClr val="A0C8CC"/>
                </a:solidFill>
                <a:latin typeface="Calibri"/>
                <a:ea typeface="Calibri"/>
                <a:cs typeface="Calibri"/>
                <a:sym typeface="Calibri"/>
              </a:rPr>
              <a:t>Held qty released</a:t>
            </a:r>
            <a:endParaRPr sz="900">
              <a:solidFill>
                <a:schemeClr val="dk1"/>
              </a:solidFill>
              <a:latin typeface="Calibri"/>
              <a:ea typeface="Calibri"/>
              <a:cs typeface="Calibri"/>
              <a:sym typeface="Calibri"/>
            </a:endParaRPr>
          </a:p>
        </p:txBody>
      </p:sp>
      <p:sp>
        <p:nvSpPr>
          <p:cNvPr id="567" name="Google Shape;567;p12"/>
          <p:cNvSpPr txBox="1"/>
          <p:nvPr/>
        </p:nvSpPr>
        <p:spPr>
          <a:xfrm>
            <a:off x="502920" y="6510528"/>
            <a:ext cx="73152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E6E74"/>
              </a:buClr>
              <a:buSzPts val="850"/>
              <a:buFont typeface="Calibri"/>
              <a:buNone/>
            </a:pPr>
            <a:r>
              <a:rPr lang="en-US" sz="850">
                <a:solidFill>
                  <a:srgbClr val="3E6E74"/>
                </a:solidFill>
                <a:latin typeface="Calibri"/>
                <a:ea typeface="Calibri"/>
                <a:cs typeface="Calibri"/>
                <a:sym typeface="Calibri"/>
              </a:rPr>
              <a:t>FSCM  ·  Capstone Project Overview  ·  FA26SE083</a:t>
            </a:r>
            <a:endParaRPr sz="850">
              <a:solidFill>
                <a:schemeClr val="dk1"/>
              </a:solidFill>
              <a:latin typeface="Calibri"/>
              <a:ea typeface="Calibri"/>
              <a:cs typeface="Calibri"/>
              <a:sym typeface="Calibri"/>
            </a:endParaRPr>
          </a:p>
        </p:txBody>
      </p:sp>
      <p:sp>
        <p:nvSpPr>
          <p:cNvPr id="568" name="Google Shape;568;p12"/>
          <p:cNvSpPr txBox="1"/>
          <p:nvPr/>
        </p:nvSpPr>
        <p:spPr>
          <a:xfrm>
            <a:off x="11338560" y="6510528"/>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3E6E74"/>
              </a:buClr>
              <a:buSzPts val="850"/>
              <a:buFont typeface="Calibri"/>
              <a:buNone/>
            </a:pPr>
            <a:r>
              <a:rPr lang="en-US" sz="850">
                <a:solidFill>
                  <a:srgbClr val="3E6E74"/>
                </a:solidFill>
                <a:latin typeface="Calibri"/>
                <a:ea typeface="Calibri"/>
                <a:cs typeface="Calibri"/>
                <a:sym typeface="Calibri"/>
              </a:rPr>
              <a:t>12</a:t>
            </a:r>
            <a:endParaRPr sz="85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2026-09-29T13:57:57Z</dcterms:created>
  <dc:creator>PptxGenJS</dc:creator>
</cp:coreProperties>
</file>