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966" y="-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011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SOFTWARE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FSCM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Shelf-Life FMCG Supply Chain Management and Distribution Coordination System with FEFO Optimization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trị và Điều phối Chuỗi Cung ứng FMCG Ngắn hạn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927348"/>
            <a:ext cx="9966960" cy="9144"/>
          </a:xfrm>
          <a:prstGeom prst="rect">
            <a:avLst/>
          </a:prstGeom>
          <a:solidFill>
            <a:srgbClr val="1C5A60"/>
          </a:solidFill>
          <a:ln w="12700">
            <a:solidFill>
              <a:srgbClr val="1C5A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Thi Quynh Chi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Thien Nhan (Leader)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464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Ngoc Khiet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Duc Hai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Minh 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55321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0B2E33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0" y="5532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Truong Le Huy Hoang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5880" y="1463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 orders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Warehouses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network · no central-branch hierarchy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463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confirms receipt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05656" y="1737360"/>
            <a:ext cx="338328" cy="237744"/>
          </a:xfrm>
          <a:prstGeom prst="rightArrow">
            <a:avLst/>
          </a:prstGeom>
          <a:solidFill>
            <a:srgbClr val="4C6764"/>
          </a:solidFill>
          <a:ln w="12700">
            <a:solidFill>
              <a:srgbClr val="4C67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63256" y="1737360"/>
            <a:ext cx="338328" cy="237744"/>
          </a:xfrm>
          <a:prstGeom prst="rightArrow">
            <a:avLst/>
          </a:prstGeom>
          <a:solidFill>
            <a:srgbClr val="4C6764"/>
          </a:solidFill>
          <a:ln w="12700">
            <a:solidFill>
              <a:srgbClr val="4C67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one FMCG distributor · multiple peer warehouses · the system does not manage retail-store inventory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Distributor, Peer Warehouse Network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shelf-life FMCG must be tracked by SKU, Batch/Lot, expiration date and warehouse — an earlier-received batch may expire later, so SKU-level stock and FIFO alone are insufficient.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are operating locations of the same enterprise. A Sales Representative creates orders for assigned retail stores; the Retailer confirms received batches and quantities via QR scan.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FEFO allocation, the system checks each warehouse’s service range and ETA against the receiving deadline and retailer-SKU MLOR. ETA is an eligibility estimate, not a delivery guarantee; vehicle and route coordination is optional.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27889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60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4107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Range + ETA + Deadline + MLOR, then rank by FEFO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361688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batches at eligible warehouses that still meet the receiving deadline and retailer-SKU MLOR at ETA are considered; they are ranked by FEFO, then distance and available quantity — one order line can be sourced from several warehouses.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5573268"/>
            <a:ext cx="4023360" cy="9144"/>
          </a:xfrm>
          <a:prstGeom prst="rect">
            <a:avLst/>
          </a:prstGeom>
          <a:solidFill>
            <a:srgbClr val="1C5A60"/>
          </a:solidFill>
          <a:ln w="12700">
            <a:solidFill>
              <a:srgbClr val="1C5A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5669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· ETA · Deadline · MLOR   →   FEFO ranking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KEY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to 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733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Tracking Across Warehouses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082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Batch-level quantity and expiration must be tracked across all warehouses of one distributor.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5087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9164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6733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Receipts, Reservation ≠ Issue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02082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may increase only after a goods receipt is approved; reservation must stay separate from physical goods issue.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3558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&amp; MLOR Rejection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8503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that cannot meet the receiving deadline or retailer-SKU MLOR at ETA must be rejected before allocation.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3172968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3558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Sourcing ≠ Partial Fulfillment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68503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one order from several eligible warehouses must not be confused with partially fulfilling 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37176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502005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0017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Concurrent Reservation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534924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must be reserved atomically under concurrent orders; physical stock drops only at goods issue.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45352" y="4837176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02005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50017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Receipt Reconciliation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534924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batch and quantity must be reconciled at the store with evidence — without managing retail-store inventory.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User Roles  ①  Portal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3144" y="1444752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3144" y="1444752"/>
            <a:ext cx="2651760" cy="731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736" y="16093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7736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21512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(WEB)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27736" y="20116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7736" y="23774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authority; manages users, data and approvals.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7736" y="2679192"/>
            <a:ext cx="23225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736" y="2752344"/>
            <a:ext cx="239572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Create/lock portal &amp; mobile accounts; assign roles and warehouse access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SKUs, prices, shelf-life rules, warehouses, MLOR and transit rules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goods receipts; manage promotions and retailer records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orders; review allocation, promotions and audit history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dashboards, sales leaderboard and rewards for top Sales Reps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4360" y="1444752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4360" y="1444752"/>
            <a:ext cx="2651760" cy="7315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8952" y="1609344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8952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92728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(WEB)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498952" y="20116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98952" y="23774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orders and handles operational follow-up.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98952" y="2679192"/>
            <a:ext cx="23225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98952" y="2752344"/>
            <a:ext cx="239572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Create/import retailers; approve retailers declared by Sales Reps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Pending Approval orders (rejection reason required)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issued orders as Delivering; follow up on prepaid payments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receipt discrepancies reported by Retailers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05576" y="1444752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5576" y="1444752"/>
            <a:ext cx="2651760" cy="731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0168" y="16093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0168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63944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(WEB)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370168" y="20116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70168" y="23774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regional sales groups and performance.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70168" y="2679192"/>
            <a:ext cx="23225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70168" y="2752344"/>
            <a:ext cx="239572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regions and sales groups; assign or rotate Sales Representatives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group retailers, orders and sales performance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team performance across all assigned regions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76792" y="1444752"/>
            <a:ext cx="2651760" cy="4663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76792" y="1444752"/>
            <a:ext cx="2651760" cy="7315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41384" y="1609344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41384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73516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(WEB)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9241384" y="20116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Keeper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241384" y="23774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receipts, picking and goods issue at assigned warehouse.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241384" y="2679192"/>
            <a:ext cx="23225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41384" y="2752344"/>
            <a:ext cx="239572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goods receipts (warehouse, SKU, Batch ID, expiry, qty) → QR labels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receipt history and batch inventory at assigned warehouse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picking list after order approval; pick specified batches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batch QR; system generates split QR labels for issued and remaining qty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goods issue → physical stock deducted, order moves to Dispatched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User Roles  ②  Mobile &amp;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008" y="1444752"/>
            <a:ext cx="3383280" cy="4663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8008" y="1444752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600" y="16093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260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6376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APP (MOBILE)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826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2600" y="23774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online and offline orders for assigned retailers.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2600" y="2679192"/>
            <a:ext cx="305409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2600" y="2752344"/>
            <a:ext cx="3127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assigned active retailers and shared orders within sales group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new retailer for Administrator or Operator review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orders online or from locally cached products, prices and promotions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orders in local SQLite when offline; auto-sync on reconnect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applied promotions, order history, own revenue and sales leaderboard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04208" y="1444752"/>
            <a:ext cx="3383280" cy="4663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04208" y="1444752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8800" y="1609344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880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62576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APP (MOBILE)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5688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68800" y="23774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orders and confirms receipt via QR scan.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68800" y="2679192"/>
            <a:ext cx="305409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8800" y="2752344"/>
            <a:ext cx="3127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account issued by Admin/Operator (no self-registration)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orders, promotions received and delivery notifications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issued QR labels to confirm received Batch ID and quantity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delivery (COD) when applicable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total orders and total amount paid by time period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90408" y="1444752"/>
            <a:ext cx="3383280" cy="4663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90408" y="1444752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5000" y="16093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500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948776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84550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System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55000" y="23774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services — no login role.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55000" y="2679192"/>
            <a:ext cx="305409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5000" y="2752344"/>
            <a:ext cx="3127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maintain batch-quantity QR mappings and daily expiry status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submissions by server arrival time; validate, estimate ETA, filter MLOR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eligible stock across warehouses by FEFO; hold complete allocation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and notify if insufficient; reserve and generate picking list on approval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transactions, optimistic locking and idempotency to prevent duplicates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Must-have MVP  ①  FE-01 – FE-07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2763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276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81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Access Management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9384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portal accounts (Admin, Operator, Sales Manager, Warehouse Keeper) and mobile accounts (Sales Rep, Retailer); assigns roles and warehouse access.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6946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69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237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71216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SKUs, prices, shelf-life thresholds, warehouses with location data, retailer-SKU MLOR and distance-based transit rules.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511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11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&amp; Sales-Territory Management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13048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Admin/Operator creates or imports retailer profiles; Sales Rep may declare a new retailer pending approval; regions and sales groups control access.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45312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453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407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Receipt, Batch/Lot &amp; QR Labels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754880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receipts by warehouse, SKU, Batch ID, expiry and qty; system generates batch-quantity QR labels; stock increases after approval.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45352" y="1444752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162763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16276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FE-05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1581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Management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1929384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promotions by validity and eligible retailers; supports per-SKU and product-group promotions; server recalculates offline estimates on sync.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5352" y="2386584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256946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82512" y="2569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FE-06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25237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Sales Ordering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28232" y="2871216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selects retailer, adds products, reviews promotions, delivery address and payment method; submits confirmed order to server.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45352" y="3328416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82512" y="3511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82512" y="3511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FE-07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205472" y="34655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Ordering &amp; Sync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28232" y="3813048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 authorized retailer, product, price and promotion data in SQLite; queued offline orders sync on reconnect; FCFS ordering at server.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Must-have MVP  ②  FE-08 – FE-13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2763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276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FE-08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81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FEFO-MLOR Multi-Warehouse Allocation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9384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batches (range + ETA ≤ deadline + MLOR met) ranked by FEFO then distance then qty; one line can draw from multiple warehouses.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6946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69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FE-09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237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Approval &amp; Lifecycle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71216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Admin/Operator reviews allocation and promotions; approval converts holds to reservations and generates picking list; rejection releases held stock.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511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11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FE-10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&amp; Goods Issue with QR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13048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Keeper follows picking list, scans batch QR and confirms issued qty; system generates split QR labels; physical stock deducted at issue.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45352" y="1444752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162763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16276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FE-11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1581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Status, Receipt Confirmation &amp; Payment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1929384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marks order as Delivering; Retailer scans QR to confirm receipt → Delivered; payment method and status tracked separately.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45352" y="2386584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256946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2569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FE-12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5237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&amp; Notifications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2871216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and Retailers view permitted order histories, status timelines and received promotions; push notifications for key state changes.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5352" y="3328416"/>
            <a:ext cx="54864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351129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82512" y="35112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FE-13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4655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Sales Performance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28232" y="3813048"/>
            <a:ext cx="5166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orders and revenue by status, retailer, Sales Rep and period; Sales Reps view own metrics and leaderboard.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Nice-to-have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only after the six-role, full-order FEFO-MLOR and offline sales-order MVP is complete.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90195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6FAFA6"/>
          </a:solidFill>
          <a:ln w="12700">
            <a:solidFill>
              <a:srgbClr val="6FAF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901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562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Coordination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2128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consolidation, vehicle and driver assignment, route planning, live GPS tracking, late-delivery analysis and cold-chain temperature monitoring. Optional Distributor Driver role.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" y="2779776"/>
            <a:ext cx="50657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87121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87121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Driver Assignment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9544" y="287121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9544" y="287121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 &amp; Optimization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36499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9544" y="336499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9544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Monitoring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7373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2" y="190195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6FAFA6"/>
          </a:solidFill>
          <a:ln w="12700">
            <a:solidFill>
              <a:srgbClr val="6FAF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45352" y="1901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OP-02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8562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Analytics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22128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by SKU and retailer, forecast-versus-actual reporting, safety-stock or reorder suggestions and deeper stockout/spoilage analysis. Optional Supply Chain Analyst role.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45352" y="2779776"/>
            <a:ext cx="50657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5352" y="287121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45352" y="287121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33104" y="287121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33104" y="287121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 Actual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5352" y="336499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45352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Suggestions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33104" y="336499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33104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Analysis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50799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6FAFA6"/>
          </a:solidFill>
          <a:ln w="12700">
            <a:solidFill>
              <a:srgbClr val="6FAF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5079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OP-03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44622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Exception Workflow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48188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reports and controlled multi-level write-off of unusable or expired batches with photo evidence and stock validation before final deduction.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" y="5385816"/>
            <a:ext cx="50657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547725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5477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Reporting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9544" y="547725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09544" y="5477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Write-off Approval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" y="597103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1792" y="59710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Stock Validation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9544" y="597103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09544" y="59710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0760" y="43434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45352" y="450799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6FAFA6"/>
          </a:solidFill>
          <a:ln w="12700">
            <a:solidFill>
              <a:srgbClr val="6FAFA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45352" y="45079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OP-04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7040880" y="44622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Intelligence &amp; Traceability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245352" y="48188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OCR/LLM assistance for product labels, shelf-image analysis, expanded batch recall, additional promotion types and external payment or transport integrations.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45352" y="5385816"/>
            <a:ext cx="5065776" cy="7315"/>
          </a:xfrm>
          <a:prstGeom prst="rect">
            <a:avLst/>
          </a:prstGeom>
          <a:solidFill>
            <a:srgbClr val="BFE8DC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45352" y="547725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45352" y="5477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LLM Label Assist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833104" y="5477256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833104" y="547725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Shelf-Image Analysis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45352" y="597103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245352" y="59710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Batch Recall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833104" y="5971032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EAF3F1"/>
          </a:solidFill>
          <a:ln w="12700">
            <a:solidFill>
              <a:srgbClr val="BFE8D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833104" y="59710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Promotion Types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REST API, React + TypeScript portal, Flutter app, Azure Database for PostgreSQL.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2015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4895" y="16642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4895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943807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&amp; App Roles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04895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sign-in; application roles restrict business actions and warehouse access.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6830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9710" y="1664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971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08622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69710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reservation, availability checks and stock ledgers prevent negative availability and double-booking.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1646" y="1481328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4526" y="16642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4526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73438" y="1664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Audit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34526" y="21214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sync and reservation processing with audit history protect critical transitions.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284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Web &amp; Mobile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interfaces support each actor’s core actions according to role.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2015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04895" y="332841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04895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943807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04895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 and offline order queue; sync on reconnect — the server validates current stock.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6830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9710" y="332841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971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08622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Storage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69710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keeps dispatch and receipt evidence with restricted access.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51646" y="3145536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4526" y="332841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34526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673438" y="33284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Key Vault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34526" y="37856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database backups; secrets protected with Azure Key Vault.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99262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078992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Events &amp; Scheduling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transactional outbox + worker; date checks via Azure Functions Timer Trigger.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22015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4895" y="4992624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504895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3943807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CI/CD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504895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diagnostics, GitHub Actions CI/CD, web hosting on Vercel.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86830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69710" y="499262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69710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6808622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Testing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369710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ETA-MLOR boundaries, FEFO, offline sync, concurrent reservation, goods issue, write-off and receipt discrepancies.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051646" y="4809744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34526" y="4992624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4526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9673438" y="49926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9234526" y="54498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API specifications, test evidence and user guidance are maintained.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SYSTEM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Placement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0" y="141732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417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AF3F1"/>
          </a:solidFill>
          <a:ln w="1524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" y="1956816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Retailer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258568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retailers in assigned area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901952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53128" y="1956816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Product Catalog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2258568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SKUs; online or cached data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AF3F1"/>
          </a:solidFill>
          <a:ln w="1524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6928" y="2798064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Products &amp; Qty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to Cart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AF3F1"/>
          </a:solidFill>
          <a:ln w="1524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66928" y="3639312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Order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941064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· Promotion · Payment method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(Pre-pay QR / Cash / COD)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3584448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453128" y="3639312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FEFO Allocation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53128" y="3941064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warehouse + batch for each SKU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4425696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453128" y="4480560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stock?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Pending Approval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3128" y="4782312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allocated qty; tag "Offline" if synced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425696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E8F7F4"/>
          </a:solidFill>
          <a:ln w="1524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39328" y="4480560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Reviews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782312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requires reason; releases reservation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43400" y="5266944"/>
            <a:ext cx="3474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453128" y="5321808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Auto-Reject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453128" y="5623560"/>
            <a:ext cx="3255264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Sales &amp; Retailer; no partial fulfillment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" y="5458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053328"/>
            <a:ext cx="7498080" cy="347472"/>
          </a:xfrm>
          <a:prstGeom prst="roundRect">
            <a:avLst>
              <a:gd name="adj" fmla="val 13158"/>
            </a:avLst>
          </a:prstGeom>
          <a:solidFill>
            <a:srgbClr val="FFF3CD"/>
          </a:solidFill>
          <a:ln w="12700">
            <a:solidFill>
              <a:srgbClr val="E5C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60533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Offline mode: order saved locally (Chờ đồng bộ) → auto-synced on reconnect → processed in server-arrival order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SYSTEM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&amp; Delivery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9768" y="214884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585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2679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Reserved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list created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6746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645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14884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EAF3F1"/>
          </a:solidFill>
          <a:ln w="1778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22585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679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Goods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picking list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to confirm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26746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1645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79392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42232" y="214884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EAF3F1"/>
          </a:solidFill>
          <a:ln w="17780">
            <a:solidFill>
              <a:srgbClr val="BFE8DC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9392" y="22585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79392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33672" y="2679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33672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→ split batch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actual stock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861304" y="26746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35624" y="1645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35624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98464" y="214884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E8F7F4"/>
          </a:solidFill>
          <a:ln w="1778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22585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35624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089904" y="2679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Delivery"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089904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Retailer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717536" y="26746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91856" y="1645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91856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54696" y="214884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00A896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91856" y="22585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91856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946136" y="2679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Scan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946136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Batch ID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Quantity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573768" y="26746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48088" y="1645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48088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710928" y="214884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0B2E33"/>
          </a:solidFill>
          <a:ln w="1778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3B3B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848088" y="225856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48088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802368" y="26791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"Delivered"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802368" y="3200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ledger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order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840480"/>
            <a:ext cx="11292840" cy="1965960"/>
          </a:xfrm>
          <a:prstGeom prst="roundRect">
            <a:avLst>
              <a:gd name="adj" fmla="val 4651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Batch Split on Dispatch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94360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D3B4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" y="440740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479145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Keeper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(e.g. BTA 100)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2624328" y="4800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15768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D3B4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52928" y="440740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85292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2807208" y="479145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qty to dispatch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70 units)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4745736" y="4800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37176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D3B4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74336" y="440740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97433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4928616" y="479145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generates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QR: BTA-70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label outgoing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867144" y="4800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58584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D3B4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95744" y="440740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095744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7050024" y="479145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gets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QR: BTA-30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stays in warehouse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8988552" y="48006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079992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D3B4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17152" y="440740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217152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9171432" y="479145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scans BTA-70</a:t>
            </a:r>
            <a:endParaRPr lang="en-US" sz="10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D2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receipt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SYSTEM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2A4A5A"/>
          </a:solidFill>
          <a:ln w="19050">
            <a:solidFill>
              <a:srgbClr val="4A7A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4592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đồng bộ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 Sync)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7137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order on device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F3D4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64592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duyệt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 Approval)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227137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reserved; awaiting review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5544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F3D42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76672" y="164592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duyệt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(Approved)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76672" y="227137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 Reserved; picking list created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15544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F3D42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36992" y="164592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xuất kho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(Dispatched)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227137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stock deducted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0" y="15544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F3D4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31552" y="164592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giao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Delivery)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227137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marks in transit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41148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3D1515"/>
          </a:solidFill>
          <a:ln w="19050">
            <a:solidFill>
              <a:srgbClr val="E05A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16352" y="420624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 từ chối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(Rejected)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816352" y="483169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(no stock) or Admin/Op (with reason)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41148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2E2A10"/>
          </a:solidFill>
          <a:ln w="19050">
            <a:solidFill>
              <a:srgbClr val="C8A8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76672" y="4206240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hủy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(Cancelled)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376672" y="4831690"/>
            <a:ext cx="168249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 Admin before dispatch</a:t>
            </a:r>
            <a:endParaRPr lang="en-US" sz="9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0299518-7CB5-45ED-9C55-9D3EDB62FF65}"/>
              </a:ext>
            </a:extLst>
          </p:cNvPr>
          <p:cNvGrpSpPr/>
          <p:nvPr/>
        </p:nvGrpSpPr>
        <p:grpSpPr>
          <a:xfrm>
            <a:off x="10044684" y="4111583"/>
            <a:ext cx="1828800" cy="1280160"/>
            <a:chOff x="8961120" y="4114800"/>
            <a:chExt cx="1828800" cy="1280160"/>
          </a:xfrm>
        </p:grpSpPr>
        <p:sp>
          <p:nvSpPr>
            <p:cNvPr id="25" name="Shape 23"/>
            <p:cNvSpPr/>
            <p:nvPr/>
          </p:nvSpPr>
          <p:spPr>
            <a:xfrm>
              <a:off x="8961120" y="4114800"/>
              <a:ext cx="1828800" cy="1280160"/>
            </a:xfrm>
            <a:prstGeom prst="roundRect">
              <a:avLst>
                <a:gd name="adj" fmla="val 7143"/>
              </a:avLst>
            </a:prstGeom>
            <a:solidFill>
              <a:srgbClr val="093B28"/>
            </a:solidFill>
            <a:ln w="19050">
              <a:solidFill>
                <a:srgbClr val="02C39A"/>
              </a:solidFill>
              <a:prstDash val="solid"/>
            </a:ln>
          </p:spPr>
        </p:sp>
        <p:sp>
          <p:nvSpPr>
            <p:cNvPr id="26" name="Text 24"/>
            <p:cNvSpPr txBox="1"/>
            <p:nvPr/>
          </p:nvSpPr>
          <p:spPr>
            <a:xfrm>
              <a:off x="9034272" y="4206240"/>
              <a:ext cx="1682496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Đã giao</a:t>
              </a:r>
              <a:endParaRPr lang="en-US" sz="1150" dirty="0"/>
            </a:p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(Delivered)</a:t>
              </a:r>
              <a:endParaRPr lang="en-US" sz="115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9034272" y="4831690"/>
              <a:ext cx="1682496" cy="5248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B0CDD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Retailer scans QR to confirm</a:t>
              </a:r>
              <a:endParaRPr lang="en-US" sz="900" dirty="0"/>
            </a:p>
          </p:txBody>
        </p:sp>
      </p:grpSp>
      <p:sp>
        <p:nvSpPr>
          <p:cNvPr id="28" name="Text 26"/>
          <p:cNvSpPr txBox="1"/>
          <p:nvPr/>
        </p:nvSpPr>
        <p:spPr>
          <a:xfrm>
            <a:off x="2404872" y="20116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201168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159752" y="201168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20116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43884" y="2834640"/>
            <a:ext cx="27432" cy="128016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21608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4204" y="2834640"/>
            <a:ext cx="27432" cy="1280160"/>
          </a:xfrm>
          <a:prstGeom prst="rect">
            <a:avLst/>
          </a:prstGeom>
          <a:solidFill>
            <a:srgbClr val="C8A800"/>
          </a:solidFill>
          <a:ln w="12700">
            <a:solidFill>
              <a:srgbClr val="C8A8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81928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59084" y="2834640"/>
            <a:ext cx="27432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59084" y="3289217"/>
            <a:ext cx="27432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577840"/>
            <a:ext cx="11247120" cy="731520"/>
          </a:xfrm>
          <a:prstGeom prst="roundRect">
            <a:avLst>
              <a:gd name="adj" fmla="val 8750"/>
            </a:avLst>
          </a:prstGeom>
          <a:solidFill>
            <a:srgbClr val="0F3D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5669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Impact: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103120" y="5669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Approval: 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2103120" y="5897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temporarily held (reserved)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5669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Approved: 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0" y="5897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status → Reserved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040880" y="5669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Dispatched: 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040880" y="5897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stock deducted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509760" y="5669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Rejected / Cancelled: 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509760" y="5897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qty released back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FSCM — Capstone Project Overview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274552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2198</Words>
  <Application>Microsoft Office PowerPoint</Application>
  <PresentationFormat>Widescreen</PresentationFormat>
  <Paragraphs>393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FSCM – Capstone Project Overview</dc:title>
  <dc:subject>PptxGenJS Presentation</dc:subject>
  <dc:creator>PptxGenJS</dc:creator>
  <cp:lastModifiedBy>VO MINH SON</cp:lastModifiedBy>
  <cp:revision>2</cp:revision>
  <dcterms:created xsi:type="dcterms:W3CDTF">2026-09-27T14:09:48Z</dcterms:created>
  <dcterms:modified xsi:type="dcterms:W3CDTF">2026-09-27T15:35:06Z</dcterms:modified>
</cp:coreProperties>
</file>