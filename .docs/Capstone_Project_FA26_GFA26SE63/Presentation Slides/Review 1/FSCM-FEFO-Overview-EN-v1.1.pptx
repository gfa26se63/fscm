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68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•  SOFTWARE ENGINEERING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23444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FSCM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3172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6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Shelf-Life FMCG Supply Chain Management and Distribution Coordination System with FEFO Optimization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546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FA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Quản trị và Điều phối Chuỗi Cung ứng FMCG Ngắn hạn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931920"/>
            <a:ext cx="9966960" cy="0"/>
          </a:xfrm>
          <a:prstGeom prst="line">
            <a:avLst/>
          </a:prstGeom>
          <a:noFill/>
          <a:ln w="12700">
            <a:solidFill>
              <a:srgbClr val="1C5A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4434840"/>
            <a:ext cx="3017520" cy="502920"/>
          </a:xfrm>
          <a:prstGeom prst="roundRect">
            <a:avLst>
              <a:gd name="adj" fmla="val 49091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434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Thi Quynh Chi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212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553212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0B2E33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532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Nguyen Thien Nhan (Leader)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834640" y="553212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0B2E33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34640" y="5532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 Ngoc Khiet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46320" y="553212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0B2E33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5532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 Duc Hai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0" y="553212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0B2E33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0" y="5532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 Minh Son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69680" y="553212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0B2E33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69680" y="5532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Truong Le Huy Hoang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PROJECT BACKGROUND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25880" y="146304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25880" y="1463040"/>
            <a:ext cx="2651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Representative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mobile orders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463040"/>
            <a:ext cx="3063240" cy="777240"/>
          </a:xfrm>
          <a:prstGeom prst="roundRect">
            <a:avLst>
              <a:gd name="adj" fmla="val 9412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463040"/>
            <a:ext cx="30632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Warehouses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network · no central-branch hierarchy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0" y="146304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0" y="1463040"/>
            <a:ext cx="2651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Manager confirms receipt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05656" y="1737360"/>
            <a:ext cx="338328" cy="237744"/>
          </a:xfrm>
          <a:prstGeom prst="rightArrow">
            <a:avLst/>
          </a:prstGeom>
          <a:solidFill>
            <a:srgbClr val="4C6764"/>
          </a:solidFill>
          <a:ln w="12700">
            <a:solidFill>
              <a:srgbClr val="4C67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63256" y="1737360"/>
            <a:ext cx="338328" cy="237744"/>
          </a:xfrm>
          <a:prstGeom prst="rightArrow">
            <a:avLst/>
          </a:prstGeom>
          <a:solidFill>
            <a:srgbClr val="4C6764"/>
          </a:solidFill>
          <a:ln w="12700">
            <a:solidFill>
              <a:srgbClr val="4C676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331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one FMCG distributor · multiple peer warehouses · the system does not manage retail-store inventory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7889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Distributor, Peer Warehouse Network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200400"/>
            <a:ext cx="6126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shelf-life FMCG must be tracked by SKU, Batch/Lot, expiration date and warehouse — an earlier-received batch may expire later, so SKU-level stock and FIFO alone are insufficient.</a:t>
            </a:r>
            <a:endParaRPr lang="en-US" sz="13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 are operating locations of the same enterprise. A Sales Representative creates orders for retail stores; a Retail Store Manager confirms the batches and quantities received.</a:t>
            </a:r>
            <a:endParaRPr lang="en-US" sz="13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FEFO allocation, the system checks each warehouse’s service range and ETA against the receiving deadline and retailer-SKU MLOR. ETA is an eligibility estimate, not a delivery guarantee; vehicle and route coordination is optional.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95160" y="2788920"/>
            <a:ext cx="4754880" cy="3429000"/>
          </a:xfrm>
          <a:prstGeom prst="roundRect">
            <a:avLst>
              <a:gd name="adj" fmla="val 2133"/>
            </a:avLst>
          </a:prstGeom>
          <a:solidFill>
            <a:srgbClr val="0B2E33"/>
          </a:solidFill>
          <a:ln w="12700">
            <a:solidFill>
              <a:srgbClr val="0B2E33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B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36092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3410712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by Range + ETA + Deadline + MLOR, then rank by FEFO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7360920" y="4361688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batches at eligible warehouses that still meet the receiving deadline and retailer-SKU MLOR at ETA are considered; they are ranked by FEFO, then distance and available quantity — one order line can be sourced from several warehouses.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60920" y="5577840"/>
            <a:ext cx="4023360" cy="0"/>
          </a:xfrm>
          <a:prstGeom prst="line">
            <a:avLst/>
          </a:prstGeom>
          <a:noFill/>
          <a:ln w="12700">
            <a:solidFill>
              <a:srgbClr val="1C5A6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60920" y="5669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· ETA · Deadline · MLOR   →   FEFO ranking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FSCM — Capstone Project Overview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KEY CHALLENGES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to Solve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4864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691640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7335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Tracking Across Warehouses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020824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Batch-level quantity and expiration must be tracked across all warehouses of one distributor.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1508760"/>
            <a:ext cx="54864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691640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22592" y="167335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Receipts, Reservation ≠ Issue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22592" y="2020824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may increase only after a goods receipt is approved; reservation must stay separate from physical goods issue.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172968"/>
            <a:ext cx="54864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B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3355848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3355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33756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&amp; MLOR Rejection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685032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that cannot meet the receiving deadline or retailer-SKU MLOR at ETA must be rejected before allocation.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45352" y="3172968"/>
            <a:ext cx="54864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B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3355848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3355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22592" y="333756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Sourcing ≠ Partial Fulfillment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22592" y="3685032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one order from several eligible warehouses must not be confused with partially fulfilling it.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837176"/>
            <a:ext cx="54864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B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" y="5020056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5001768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Concurrent Reservation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234440" y="5349240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must be reserved atomically under concurrent orders; physical stock drops only at goods issue.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45352" y="4837176"/>
            <a:ext cx="54864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B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46520" y="5020056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46520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22592" y="5001768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Receipt Reconciliation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022592" y="5349240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batch and quantity must be reconciled at the store with evidence — without managing retail-store inventory.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FSCM — Capstone Project Overview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4552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FUNCTIONAL REQUIREMENTS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Actors &amp; User Roles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51760" cy="48006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3736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/ Manager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974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policy, access and approvals.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3227832"/>
            <a:ext cx="2194560" cy="0"/>
          </a:xfrm>
          <a:prstGeom prst="line">
            <a:avLst/>
          </a:prstGeom>
          <a:noFill/>
          <a:ln w="12700">
            <a:solidFill>
              <a:srgbClr val="BFE8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337560"/>
            <a:ext cx="2240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SKUs, warehouses, service ranges, retailer-SKU MLOR and partial policies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 goods receipts and sales orders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users, roles and warehouse access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write-offs through required levels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near-date stock, exceptions, backorders, discrepancies and audit history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22015" y="1508760"/>
            <a:ext cx="2651760" cy="48006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B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50615" y="1737360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50615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144975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550615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Keeper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3550615" y="26974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stock at assigned warehouses.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550615" y="3227832"/>
            <a:ext cx="2194560" cy="0"/>
          </a:xfrm>
          <a:prstGeom prst="line">
            <a:avLst/>
          </a:prstGeom>
          <a:noFill/>
          <a:ln w="12700">
            <a:solidFill>
              <a:srgbClr val="BFE8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50615" y="3337560"/>
            <a:ext cx="2240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batch-level goods receipts for approval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batch inventory and date status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damaged, defective or expired stock with photo evidence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reserved Batch/Lot and quantity; capture dispatch evidence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goods issue — only then does physical stock decrease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86830" y="1508760"/>
            <a:ext cx="2651760" cy="48006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B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15430" y="173736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1543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09790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MOBILE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15430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Representative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6415430" y="26974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retailer orders on an offline-first app.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15430" y="3227832"/>
            <a:ext cx="2194560" cy="0"/>
          </a:xfrm>
          <a:prstGeom prst="line">
            <a:avLst/>
          </a:prstGeom>
          <a:noFill/>
          <a:ln w="12700">
            <a:solidFill>
              <a:srgbClr val="BFE8D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15430" y="3337560"/>
            <a:ext cx="2240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cached catalog and availability while offline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orders in local SQLite; sync on reconnect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retailer, address, SKU lines, quantities and receiving deadline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partial-fulfillment policy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approval, allocation, backorder and dispatch outcomes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051646" y="1508760"/>
            <a:ext cx="2651760" cy="48006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B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280246" y="1737360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280246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874606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RECEIPT FLOW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9280246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Manager</a:t>
            </a:r>
            <a:endParaRPr lang="en-US" sz="1550" dirty="0"/>
          </a:p>
        </p:txBody>
      </p:sp>
      <p:sp>
        <p:nvSpPr>
          <p:cNvPr id="33" name="Text 31"/>
          <p:cNvSpPr txBox="1"/>
          <p:nvPr/>
        </p:nvSpPr>
        <p:spPr>
          <a:xfrm>
            <a:off x="9280246" y="26974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and reconciles received goods.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280246" y="3227832"/>
            <a:ext cx="2194560" cy="0"/>
          </a:xfrm>
          <a:prstGeom prst="line">
            <a:avLst/>
          </a:prstGeom>
          <a:noFill/>
          <a:ln w="12700">
            <a:solidFill>
              <a:srgbClr val="BFE8D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280246" y="3337560"/>
            <a:ext cx="2240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 dispatch record for incoming goods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or enter received Batch/Lot and actual quantity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discrepancies and quality notes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 receipt photo and confirm receipt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reconciliation — no store inventory is created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FSCM — Capstone Project Overview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274552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FUNCTIONAL REQUIREMENTS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 — Must-have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600200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8191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Goods Receipt &amp; Batch Inventory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929384"/>
            <a:ext cx="4526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Keeper records SKU, Batch/Lot, expiration date and quantity; physical batch stock increases only after Administrator approval.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45352" y="1417320"/>
            <a:ext cx="5486400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600200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22592" y="158191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Date-tracker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022592" y="1929384"/>
            <a:ext cx="4526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daily checks classify batches as Normal, Near-date or Expired, and block expired stock from allocation and goods issue.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88336"/>
            <a:ext cx="5486400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B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2871216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2871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852928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Sales Orders &amp; Order State Control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200400"/>
            <a:ext cx="4526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catalog, local order queue and sync on reconnect. Administrator approves or rejects: Pending Approval → Confirmed → Dispatched.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45352" y="2688336"/>
            <a:ext cx="5486400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B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2871216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2871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22592" y="2852928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ETA-MLOR Filter &amp; Multi-Warehouse FEFO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022592" y="3200400"/>
            <a:ext cx="4526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meeting service range, deadline and MLOR at ETA enter FEFO ranking; distance and quantity break ties; several warehouses can supply one line.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959352"/>
            <a:ext cx="5486400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B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" y="4142232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" y="4142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123944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Reservation &amp; Partial Fulfillment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234440" y="4471416"/>
            <a:ext cx="4526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Recheck ETA and availability, then reserve atomically. No partial → line awaits stock; partial → reserve eligible qty, backorder or cancel remainder.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45352" y="3959352"/>
            <a:ext cx="5486400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B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46520" y="4142232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46520" y="4142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22592" y="4123944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Picking, Goods Issue &amp; Receipt Reconciliation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022592" y="4471416"/>
            <a:ext cx="4526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assigned batches with dispatch photo; stock drops only at goods issue. Store Manager confirms Batch/Lot, quantity, photo and discrepancies.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5230368"/>
            <a:ext cx="5486400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B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8368" y="5413248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8368" y="5413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234440" y="539496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Write-off &amp; Operational Dashboard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234440" y="5742432"/>
            <a:ext cx="4526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Write-off requests (batch, quantity, reason, photo) are checked and need multi-level approval; dashboard shows batch inventory and near-date ratio.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45352" y="5230368"/>
            <a:ext cx="5486400" cy="1161288"/>
          </a:xfrm>
          <a:prstGeom prst="roundRect">
            <a:avLst>
              <a:gd name="adj" fmla="val 6299"/>
            </a:avLst>
          </a:prstGeom>
          <a:solidFill>
            <a:srgbClr val="0B2E33"/>
          </a:solidFill>
          <a:ln w="12700">
            <a:solidFill>
              <a:srgbClr val="0B2E33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B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46520" y="5413248"/>
            <a:ext cx="420624" cy="42062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46520" y="5413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7022592" y="539496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System Processes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7022592" y="5742432"/>
            <a:ext cx="4526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6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ID generation on approval · daily date checks · ETA-MLOR validation · atomic reserve with retry and release · audit of all order, stock and receipt outcomes.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FSCM — Capstone Project Overview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274552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FUNCTIONAL REQUIREMENTS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 — Nice-to-have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started after the FEFO-MLOR and offline sales-order MVP is complete.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74552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103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Coordination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5603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ETA in the MVP is only an estimate for batch eligibility, not a delivery guarantee.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0" y="3017520"/>
            <a:ext cx="2395728" cy="96012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BFE8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36192" y="3017520"/>
            <a:ext cx="2066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&amp; Driver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vehicles and drivers to dispatches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950208" y="3017520"/>
            <a:ext cx="2395728" cy="96012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BFE8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0" y="3017520"/>
            <a:ext cx="2066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Planning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delivery routes across stores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28816" y="3017520"/>
            <a:ext cx="2395728" cy="96012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BFE8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93408" y="3017520"/>
            <a:ext cx="2066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States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In-transit · Delivered · Failed delivery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07424" y="3017520"/>
            <a:ext cx="2395728" cy="96012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BFE8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72016" y="3017520"/>
            <a:ext cx="2066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Completion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orders after confirmed delivery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572000"/>
            <a:ext cx="11274552" cy="1600200"/>
          </a:xfrm>
          <a:prstGeom prst="roundRect">
            <a:avLst>
              <a:gd name="adj" fmla="val 4571"/>
            </a:avLst>
          </a:prstGeom>
          <a:solidFill>
            <a:srgbClr val="EAF3F1"/>
          </a:solidFill>
          <a:ln w="12700">
            <a:solidFill>
              <a:srgbClr val="BFE8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846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— OUTSIDE THE MVP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530352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303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530352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74720" y="5303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26480" y="530352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26480" y="5303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Label Processing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778240" y="530352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778240" y="5303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 Analysis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FSCM — Capstone Project Overview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SYSTEM QUALITY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0F3D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64208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64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078992" y="16642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Stack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REST API, React + TypeScript portal, Flutter app, Azure Database for PostgreSQL.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22015" y="1481328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0F3D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04895" y="1664208"/>
            <a:ext cx="347472" cy="3474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04895" y="1664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943807" y="16642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&amp; App Roles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04895" y="21214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 sign-in; application roles restrict business actions and warehouse access.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6830" y="1481328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0F3D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69710" y="1664208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69710" y="1664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808622" y="16642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Integrity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69710" y="21214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reservation, availability checks and stock ledgers prevent negative availability and double-booking.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51646" y="1481328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0F3D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4526" y="1664208"/>
            <a:ext cx="347472" cy="3474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34526" y="1664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673438" y="16642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&amp; Audit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234526" y="21214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sync and reservation processing with audit history protect critical transitions.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145536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0F3D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328416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328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078992" y="332841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Web &amp; Mobile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3785616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and mobile interfaces support each actor’s core actions according to role.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22015" y="3145536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0F3D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04895" y="3328416"/>
            <a:ext cx="347472" cy="3474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504895" y="3328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3943807" y="332841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Sync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3504895" y="3785616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cache and offline order queue; sync on reconnect — the server validates current stock.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86830" y="3145536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0F3D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69710" y="3328416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69710" y="3328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808622" y="332841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Storage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369710" y="3785616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 keeps dispatch and receipt evidence with restricted access.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051646" y="3145536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0F3D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34526" y="3328416"/>
            <a:ext cx="347472" cy="3474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234526" y="3328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9673438" y="332841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Key Vault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9234526" y="3785616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database backups; secrets protected with Azure Key Vault.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4809744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0F3D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" y="4992624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0080" y="4992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1078992" y="499262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Events &amp; Scheduling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640080" y="5449824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transactional outbox + worker; date checks via Azure Functions Timer Trigger.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322015" y="4809744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0F3D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04895" y="4992624"/>
            <a:ext cx="347472" cy="3474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504895" y="4992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3943807" y="499262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CI/CD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3504895" y="5449824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 diagnostics, GitHub Actions CI/CD, web hosting on Vercel.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186830" y="4809744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0F3D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69710" y="4992624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369710" y="4992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50" dirty="0"/>
          </a:p>
        </p:txBody>
      </p:sp>
      <p:sp>
        <p:nvSpPr>
          <p:cNvPr id="57" name="Text 55"/>
          <p:cNvSpPr txBox="1"/>
          <p:nvPr/>
        </p:nvSpPr>
        <p:spPr>
          <a:xfrm>
            <a:off x="6808622" y="499262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Testing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6369710" y="5449824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ETA-MLOR boundaries, FEFO, offline sync, concurrent reservation, goods issue, write-off and receipt discrepancies.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9051646" y="4809744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0F3D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234526" y="4992624"/>
            <a:ext cx="347472" cy="3474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234526" y="4992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50" dirty="0"/>
          </a:p>
        </p:txBody>
      </p:sp>
      <p:sp>
        <p:nvSpPr>
          <p:cNvPr id="62" name="Text 60"/>
          <p:cNvSpPr txBox="1"/>
          <p:nvPr/>
        </p:nvSpPr>
        <p:spPr>
          <a:xfrm>
            <a:off x="9673438" y="499262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9234526" y="5449824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API specifications, test evidence and user guidance are maintained.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A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FSCM — Capstone Project Overview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11274552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A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FSCM – Capstone Project Overview</dc:title>
  <dc:subject>PptxGenJS Presentation</dc:subject>
  <dc:creator>PptxGenJS</dc:creator>
  <cp:lastModifiedBy>PptxGenJS</cp:lastModifiedBy>
  <cp:revision>1</cp:revision>
  <dcterms:created xsi:type="dcterms:W3CDTF">2026-09-25T14:28:24Z</dcterms:created>
  <dcterms:modified xsi:type="dcterms:W3CDTF">2026-09-25T14:28:24Z</dcterms:modified>
</cp:coreProperties>
</file>