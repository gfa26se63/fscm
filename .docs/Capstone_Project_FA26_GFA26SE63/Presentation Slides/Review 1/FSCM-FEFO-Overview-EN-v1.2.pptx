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r7w5h4exvpW1rWcEslxqjqVRy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CAPSTONE PROJECT  •  SOFTWARE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77240" y="1234440"/>
            <a:ext cx="10058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FSCM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23317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FE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6EFEA"/>
                </a:solidFill>
                <a:latin typeface="Calibri"/>
                <a:ea typeface="Calibri"/>
                <a:cs typeface="Calibri"/>
                <a:sym typeface="Calibri"/>
              </a:rPr>
              <a:t>Short Shelf-Life FMCG Supply Chain Management and Distribution Coordination System with FEFO Optimization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31546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Hệ thống Quản trị và Điều phối Chuỗi Cung ứng FMCG Ngắn hạn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927348"/>
            <a:ext cx="9966960" cy="9144"/>
          </a:xfrm>
          <a:prstGeom prst="rect">
            <a:avLst/>
          </a:prstGeom>
          <a:solidFill>
            <a:srgbClr val="1C5A60"/>
          </a:solidFill>
          <a:ln cap="flat" cmpd="sng" w="12700">
            <a:solidFill>
              <a:srgbClr val="1C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4434840"/>
            <a:ext cx="3017520" cy="502920"/>
          </a:xfrm>
          <a:prstGeom prst="roundRect">
            <a:avLst>
              <a:gd fmla="val 49091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44348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Le Thi Quynh Chi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5212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553212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0B2E33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822960" y="5532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Nguyen Thien Nhan (Leader)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834640" y="553212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0B2E33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2834640" y="5532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 Ngoc Khiet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553212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0B2E33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4846320" y="5532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Doan Duc Hai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858000" y="553212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0B2E33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6858000" y="5532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 Minh Son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869680" y="553212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0B2E33"/>
          </a:solidFill>
          <a:ln cap="flat" cmpd="sng" w="158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8869680" y="5532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Truong Le Huy Hoang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01 · PROJECT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Context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25880" y="1463040"/>
            <a:ext cx="2651760" cy="777240"/>
          </a:xfrm>
          <a:prstGeom prst="roundRect">
            <a:avLst>
              <a:gd fmla="val 9412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1325880" y="14630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Representative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Offline-first mobile orders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0" y="1463040"/>
            <a:ext cx="3063240" cy="777240"/>
          </a:xfrm>
          <a:prstGeom prst="roundRect">
            <a:avLst>
              <a:gd fmla="val 9412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4572000" y="146304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Distributor Warehouses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Peer network · no central-branch hierarchy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229600" y="1463040"/>
            <a:ext cx="2651760" cy="777240"/>
          </a:xfrm>
          <a:prstGeom prst="roundRect">
            <a:avLst>
              <a:gd fmla="val 9412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8229600" y="14630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Stores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Manager confirms receipt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05656" y="1737360"/>
            <a:ext cx="33832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C6764"/>
          </a:solidFill>
          <a:ln cap="flat" cmpd="sng" w="12700">
            <a:solidFill>
              <a:srgbClr val="4C6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763256" y="1737360"/>
            <a:ext cx="338328" cy="23774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C6764"/>
          </a:solidFill>
          <a:ln cap="flat" cmpd="sng" w="12700">
            <a:solidFill>
              <a:srgbClr val="4C67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Scope: one FMCG distributor · multiple peer warehouses · the system does not manage retail-store inventory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457200" y="278892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One Distributor, Peer Warehouse Network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457200" y="3200400"/>
            <a:ext cx="6126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Short shelf-life FMCG must be tracked by SKU, Batch/Lot, expiration date and warehouse — an earlier-received batch may expire later, so SKU-level stock and FIFO alone are insufficient.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Warehouses are operating locations of the same enterprise. A Sales Representative creates orders for retail stores; a Retail Store Manager confirms the batches and quantities received.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Before FEFO allocation, the system checks each warehouse’s service range and ETA against the receiving deadline and retailer-SKU MLOR. ETA is an eligibility estimate, not a delivery guarantee; vehicle and route coordination is optional.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995160" y="2788920"/>
            <a:ext cx="4754880" cy="3429000"/>
          </a:xfrm>
          <a:prstGeom prst="roundRect">
            <a:avLst>
              <a:gd fmla="val 2133" name="adj"/>
            </a:avLst>
          </a:prstGeom>
          <a:solidFill>
            <a:srgbClr val="0B2E33"/>
          </a:solidFill>
          <a:ln cap="flat" cmpd="sng" w="12700">
            <a:solidFill>
              <a:srgbClr val="0B2E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7360920" y="3063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360920" y="3410712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Filter by Range + ETA + Deadline + MLOR, then rank by FEFO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7360920" y="4361688"/>
            <a:ext cx="4023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6EF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FEA"/>
                </a:solidFill>
                <a:latin typeface="Calibri"/>
                <a:ea typeface="Calibri"/>
                <a:cs typeface="Calibri"/>
                <a:sym typeface="Calibri"/>
              </a:rPr>
              <a:t>Only batches at eligible warehouses that still meet the receiving deadline and retailer-SKU MLOR at ETA are considered; they are ranked by FEFO, then distance and available quantity — one order line can be sourced from several warehouses.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360920" y="5573268"/>
            <a:ext cx="4023360" cy="9144"/>
          </a:xfrm>
          <a:prstGeom prst="rect">
            <a:avLst/>
          </a:prstGeom>
          <a:solidFill>
            <a:srgbClr val="1C5A60"/>
          </a:solidFill>
          <a:ln cap="flat" cmpd="sng" w="12700">
            <a:solidFill>
              <a:srgbClr val="1C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7360920" y="5669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Range · ETA · Deadline · MLOR   →   FEFO ranking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02 · KEY CHALLENGES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Problems to Solve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1508760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234440" y="167335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Batch Tracking Across Warehouses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234440" y="2020824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Batch-level quantity and expiration must be tracked across all warehouses of one distributor.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245352" y="1508760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46520" y="1691640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6446520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7022592" y="167335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Approved Receipts, Reservation ≠ Issue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022592" y="2020824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Stock may increase only after a goods receipt is approved; reservation must stay separate from physical goods issue.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3172968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58368" y="3355848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658368" y="33558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1234440" y="333756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Deadline &amp; MLOR Rejection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234440" y="3685032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Batches that cannot meet the receiving deadline or retailer-SKU MLOR at ETA must be rejected before allocation.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245352" y="3172968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446520" y="3355848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6446520" y="33558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7022592" y="333756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Split Sourcing ≠ Partial Fulfillment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7022592" y="3685032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Sourcing one order from several eligible warehouses must not be confused with partially fulfilling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4837176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58368" y="5020056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658368" y="50200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234440" y="500176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Atomic Concurrent Reservation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1234440" y="5349240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Stock must be reserved atomically under concurrent orders; physical stock drops only at goods issue.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245352" y="4837176"/>
            <a:ext cx="5486400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446520" y="5020056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6446520" y="50200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7022592" y="500176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Retail Receipt Reconciliation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022592" y="5349240"/>
            <a:ext cx="4526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Received batch and quantity must be reconciled at the store with evidence — without managing retail-store inventory.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 · FUNCTIONAL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Actors &amp; User Roles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1508760"/>
            <a:ext cx="2651760" cy="48006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280160" y="1783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WEB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85800" y="23317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Administrator / Manager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8580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Controls policy, access and approvals.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85800" y="3223260"/>
            <a:ext cx="2194560" cy="9144"/>
          </a:xfrm>
          <a:prstGeom prst="rect">
            <a:avLst/>
          </a:prstGeom>
          <a:solidFill>
            <a:srgbClr val="BFE8DC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685800" y="3337560"/>
            <a:ext cx="2240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Manage SKUs, warehouses, service ranges, retailer-SKU MLOR and partial policies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Approve or reject goods receipts and sales orders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Manage users, roles and warehouse access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Approve write-offs through required levels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Review near-date stock, exceptions, backorders, discrepancies and audit history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322015" y="1508760"/>
            <a:ext cx="2651760" cy="48006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550615" y="1737360"/>
            <a:ext cx="457200" cy="4572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3550615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144975" y="1783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WEB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550615" y="23317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Warehouse Keeper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550615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Handles stock at assigned warehouses.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550615" y="3223260"/>
            <a:ext cx="2194560" cy="9144"/>
          </a:xfrm>
          <a:prstGeom prst="rect">
            <a:avLst/>
          </a:prstGeom>
          <a:solidFill>
            <a:srgbClr val="BFE8DC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3550615" y="3337560"/>
            <a:ext cx="2240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Record batch-level goods receipts for approval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View batch inventory and date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Report damaged, defective or expired stock with photo 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Pick reserved Batch/Lot and quantity; capture dispatch evidence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Confirm goods issue — only then does physical stock decrease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86830" y="1508760"/>
            <a:ext cx="2651760" cy="48006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415430" y="1737360"/>
            <a:ext cx="457200" cy="457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41543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009790" y="1783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FLUTTER MOBILE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415430" y="23317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Sales Representative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41543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Creates retailer orders on an offline-first app.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415430" y="3223260"/>
            <a:ext cx="2194560" cy="9144"/>
          </a:xfrm>
          <a:prstGeom prst="rect">
            <a:avLst/>
          </a:prstGeom>
          <a:solidFill>
            <a:srgbClr val="BFE8DC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415430" y="3337560"/>
            <a:ext cx="2240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Use cached catalog and availability while offline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Queue orders in local SQLite; sync on reconnect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Enter retailer, address, SKU lines, quantities and receiving deadline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Record partial-fulfillment policy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Track approval, allocation, backorder and dispatch outcomes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051646" y="1508760"/>
            <a:ext cx="2651760" cy="48006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280246" y="1737360"/>
            <a:ext cx="457200" cy="4572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9280246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874606" y="1783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MOBILE RECEIPT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280246" y="23317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Retail Store Manager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280246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Confirms and reconciles received goods.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280246" y="3223260"/>
            <a:ext cx="2194560" cy="9144"/>
          </a:xfrm>
          <a:prstGeom prst="rect">
            <a:avLst/>
          </a:prstGeom>
          <a:solidFill>
            <a:srgbClr val="BFE8DC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280246" y="3337560"/>
            <a:ext cx="2240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View the dispatch record for incoming goods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Scan or enter received Batch/Lot and actual quantity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Report discrepancies and quality notes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Capture a receipt photo and confirm receipt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1329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Review reconciliation — no store inventory is created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 · FUNCTIONAL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Functional Requirements — Must-have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1417320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58368" y="1600200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58368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234440" y="158191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Approved Goods Receipt &amp; Batch Inventory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234440" y="1929384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Warehouse Keeper records SKU, Batch/Lot, expiration date and quantity; physical batch stock increases only after Administrator approval.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245352" y="1417320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446520" y="1600200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644652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022592" y="158191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Batch Date-tracker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022592" y="1929384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Scheduled daily checks classify batches as Normal, Near-date or Expired, and block expired stock from allocation and goods issue.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2688336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58368" y="2871216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658368" y="2871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234440" y="28529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Offline Sales Orders &amp; Order State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234440" y="3200400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Cached catalog, local order queue and sync on reconnect. Administrator approves or rejects: Pending Approval → Confirmed → Dispatched.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245352" y="2688336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446520" y="2871216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6446520" y="2871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022592" y="285292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ETA-MLOR Filter &amp; Multi-Warehouse FEFO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022592" y="3200400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Batches meeting service range, deadline and MLOR at ETA enter FEFO ranking; distance and quantity break ties; several warehouses can supply one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3959352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58368" y="4142232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658368" y="41422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1234440" y="41239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Atomic Reservation &amp; Partial Fulfillment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234440" y="4471416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Recheck ETA and availability, then reserve atomically. No partial → line awaits stock; partial → reserve eligible qty, backorder or cancel remainder.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245352" y="3959352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446520" y="4142232"/>
            <a:ext cx="420624" cy="42062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6446520" y="41422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022592" y="41239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Picking, Goods Issue &amp; Receipt Reconciliation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022592" y="4471416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Pick assigned batches with dispatch photo; stock drops only at goods issue. Store Manager confirms Batch/Lot, quantity, photo and discrepancies.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57200" y="5230368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58368" y="5413248"/>
            <a:ext cx="420624" cy="420624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658368" y="5413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234440" y="539496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Controlled Write-off &amp; Operational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234440" y="5742432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Write-off requests (batch, quantity, reason, photo) are checked and need multi-level approval; dashboard shows batch inventory and near-date ratio.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245352" y="5230368"/>
            <a:ext cx="5486400" cy="1161288"/>
          </a:xfrm>
          <a:prstGeom prst="roundRect">
            <a:avLst>
              <a:gd fmla="val 6299" name="adj"/>
            </a:avLst>
          </a:prstGeom>
          <a:solidFill>
            <a:srgbClr val="0B2E33"/>
          </a:solidFill>
          <a:ln cap="flat" cmpd="sng" w="12700">
            <a:solidFill>
              <a:srgbClr val="0B2E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446520" y="5413248"/>
            <a:ext cx="420624" cy="420624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6446520" y="5413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7022592" y="539496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System Processes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7022592" y="5742432"/>
            <a:ext cx="4526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6EFE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6EFEA"/>
                </a:solidFill>
                <a:latin typeface="Calibri"/>
                <a:ea typeface="Calibri"/>
                <a:cs typeface="Calibri"/>
                <a:sym typeface="Calibri"/>
              </a:rPr>
              <a:t>Batch ID generation on approval · daily date checks · ETA-MLOR validation · atomic reserve with retry and release · audit of all order, stock and receipt outcomes.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 · FUNCTIONAL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Functional Requirements — Nice-to-have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57200" y="13258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Only started after the FEFO-MLOR and offline sales-order MVP is complete.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1828800"/>
            <a:ext cx="11274552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137160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Transportation Coordination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1371600" y="256032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Optional — ETA in the MVP is only an estimate for batch eligibility, not a delivery guarantee.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371600" y="3017520"/>
            <a:ext cx="2395728" cy="960120"/>
          </a:xfrm>
          <a:prstGeom prst="roundRect">
            <a:avLst>
              <a:gd fmla="val 7619" name="adj"/>
            </a:avLst>
          </a:prstGeom>
          <a:solidFill>
            <a:srgbClr val="EAF3F1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1536192" y="3017520"/>
            <a:ext cx="20665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Vehicle &amp; Driver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Assign vehicles and drivers to dispatches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950208" y="3017520"/>
            <a:ext cx="2395728" cy="960120"/>
          </a:xfrm>
          <a:prstGeom prst="roundRect">
            <a:avLst>
              <a:gd fmla="val 7619" name="adj"/>
            </a:avLst>
          </a:prstGeom>
          <a:solidFill>
            <a:srgbClr val="EAF3F1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4114800" y="3017520"/>
            <a:ext cx="20665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Route Planning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Plan delivery routes across stores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528816" y="3017520"/>
            <a:ext cx="2395728" cy="960120"/>
          </a:xfrm>
          <a:prstGeom prst="roundRect">
            <a:avLst>
              <a:gd fmla="val 7619" name="adj"/>
            </a:avLst>
          </a:prstGeom>
          <a:solidFill>
            <a:srgbClr val="EAF3F1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6693408" y="3017520"/>
            <a:ext cx="20665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Delivery States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In-transit · Delivered · Failed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107424" y="3017520"/>
            <a:ext cx="2395728" cy="960120"/>
          </a:xfrm>
          <a:prstGeom prst="roundRect">
            <a:avLst>
              <a:gd fmla="val 7619" name="adj"/>
            </a:avLst>
          </a:prstGeom>
          <a:solidFill>
            <a:srgbClr val="EAF3F1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9272016" y="3017520"/>
            <a:ext cx="20665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Order Completion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C67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Complete orders after confirmed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4572000"/>
            <a:ext cx="11274552" cy="1600200"/>
          </a:xfrm>
          <a:prstGeom prst="roundRect">
            <a:avLst>
              <a:gd fmla="val 4571" name="adj"/>
            </a:avLst>
          </a:prstGeom>
          <a:solidFill>
            <a:srgbClr val="EAF3F1"/>
          </a:solidFill>
          <a:ln cap="flat" cmpd="sng" w="12700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822960" y="4846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DEFERRED — OUTSIDE THE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22960" y="5303520"/>
            <a:ext cx="2468880" cy="50292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22960" y="5303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Demand 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474720" y="5303520"/>
            <a:ext cx="2468880" cy="50292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3474720" y="5303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Promotions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126480" y="5303520"/>
            <a:ext cx="2468880" cy="50292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6126480" y="5303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AI Label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778240" y="5303520"/>
            <a:ext cx="2468880" cy="50292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8778240" y="53035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Shelf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3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04 · SYSTEM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Non-Functional Requirements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57200" y="1481328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40080" y="1664208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40080" y="1664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078992" y="166420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640080" y="2121408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ASP.NET Core REST API, React + TypeScript portal, Flutter app, Azure Database for PostgreSQL.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322015" y="1481328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504895" y="1664208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3504895" y="1664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3943807" y="166420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 ID &amp; App Roles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3504895" y="2121408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Microsoft Entra ID sign-in; application roles restrict business actions and warehouse access.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186830" y="1481328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369710" y="1664208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6369710" y="1664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6808622" y="166420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 Integrity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6369710" y="2121408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Transactional reservation, availability checks and stock ledgers prevent negative availability and double-booking.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9051646" y="1481328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9234526" y="1664208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9234526" y="1664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9673438" y="166420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Idempotency &amp; Audit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9234526" y="2121408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Idempotent sync and reservation processing with audit history protect critical transitions.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3145536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640080" y="3328416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640080" y="33284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1078992" y="332841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Web &amp; Mobile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40080" y="3785616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Web and mobile interfaces support each actor’s core actions according to role.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322015" y="3145536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504895" y="3328416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3504895" y="33284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3943807" y="332841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Offline-First Sync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3504895" y="3785616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SQLite cache and offline order queue; sync on reconnect — the server validates current stock.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186830" y="3145536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369710" y="3328416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6369710" y="33284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6808622" y="332841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6369710" y="3785616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Azure Blob Storage keeps dispatch and receipt evidence with restricted access.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051646" y="3145536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9234526" y="3328416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9234526" y="33284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9673438" y="332841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Backup &amp; Key Vault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9234526" y="3785616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Transactional database backups; secrets protected with Azure Key Vault.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57200" y="4809744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40080" y="4992624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640080" y="49926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1078992" y="499262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Async Events &amp; Scheduling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640080" y="544982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PostgreSQL transactional outbox + worker; date checks via Azure Functions Timer Trigger.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322015" y="4809744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504895" y="4992624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3504895" y="49926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3943807" y="499262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 &amp; CI/CD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3504895" y="544982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Azure Monitor diagnostics, GitHub Actions CI/CD, web hosting on Vercel.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186830" y="4809744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369710" y="4992624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6369710" y="49926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6808622" y="499262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6369710" y="544982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ETA-MLOR boundaries, FEFO, offline sync, concurrent reservation, goods issue, write-off and receipt discrepancies.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9051646" y="4809744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9234526" y="4992624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9234526" y="49926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673438" y="499262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9234526" y="544982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E4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DF"/>
                </a:solidFill>
                <a:latin typeface="Calibri"/>
                <a:ea typeface="Calibri"/>
                <a:cs typeface="Calibri"/>
                <a:sym typeface="Calibri"/>
              </a:rPr>
              <a:t>Requirements, API specifications, test evidence and user guidance are maintained.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05 · SYSTEM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Order Placement 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57200" y="1417320"/>
            <a:ext cx="3474720" cy="329184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457200" y="141732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Rep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343400" y="1417320"/>
            <a:ext cx="3474720" cy="329184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4343400" y="141732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229600" y="1417320"/>
            <a:ext cx="3474720" cy="329184"/>
          </a:xfrm>
          <a:prstGeom prst="roundRect">
            <a:avLst>
              <a:gd fmla="val 500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 txBox="1"/>
          <p:nvPr/>
        </p:nvSpPr>
        <p:spPr>
          <a:xfrm>
            <a:off x="8229600" y="141732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Admin / Operator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57200" y="1901952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EAF3F1"/>
          </a:solidFill>
          <a:ln cap="flat" cmpd="sng" w="15225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566928" y="1956816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Select Retailer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566928" y="2258568"/>
            <a:ext cx="3255264" cy="33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Active retailers in assigned area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343400" y="1901952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4453128" y="1956816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Load Product Catalog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4453128" y="2258568"/>
            <a:ext cx="3255264" cy="33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All SKUs; online or cached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54864" y="20939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7200" y="2743200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EAF3F1"/>
          </a:solidFill>
          <a:ln cap="flat" cmpd="sng" w="15225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566928" y="2798064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Pick Products &amp; Qty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→ Add to Cart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54864" y="29352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57200" y="3584448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EAF3F1"/>
          </a:solidFill>
          <a:ln cap="flat" cmpd="sng" w="15225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566928" y="3639312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Confirm Order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566928" y="3941064"/>
            <a:ext cx="3255264" cy="33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Address · Promotion · Payment 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(Pre-pay QR / Cash / COD)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343400" y="3584448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4453128" y="3639312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Run FEFO Allocation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4453128" y="3941064"/>
            <a:ext cx="3255264" cy="33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Find warehouse + batch for each SKU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54864" y="37764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343400" y="4425696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4453128" y="4480560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Enough stock?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Yes → Pending Approval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4453128" y="4884462"/>
            <a:ext cx="32553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Reserve allocated qty; tag "Offline" if synced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8229600" y="4425696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E8F7F4"/>
          </a:solidFill>
          <a:ln cap="flat" cmpd="sng" w="152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8339328" y="4480560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Operator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8339328" y="4884400"/>
            <a:ext cx="32553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Reject requires reason; releases reservation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54864" y="46177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343400" y="5266944"/>
            <a:ext cx="34747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 txBox="1"/>
          <p:nvPr/>
        </p:nvSpPr>
        <p:spPr>
          <a:xfrm>
            <a:off x="4453128" y="5321808"/>
            <a:ext cx="32552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No → Auto-Reject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4453128" y="5623560"/>
            <a:ext cx="3255264" cy="335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Notify Sales &amp; Retailer; no partial fulfillment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54864" y="54589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57200" y="6053328"/>
            <a:ext cx="7498080" cy="347472"/>
          </a:xfrm>
          <a:prstGeom prst="roundRect">
            <a:avLst>
              <a:gd fmla="val 13158" name="adj"/>
            </a:avLst>
          </a:prstGeom>
          <a:solidFill>
            <a:srgbClr val="FFF3CD"/>
          </a:solidFill>
          <a:ln cap="flat" cmpd="sng" w="12700">
            <a:solidFill>
              <a:srgbClr val="E5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548640" y="6053328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6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4600"/>
                </a:solidFill>
                <a:latin typeface="Calibri"/>
                <a:ea typeface="Calibri"/>
                <a:cs typeface="Calibri"/>
                <a:sym typeface="Calibri"/>
              </a:rPr>
              <a:t>⚡ Offline mode: order saved locally (Chờ đồng bộ) → auto-synced on reconnect → processed in server-arrival 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05 · SYSTEM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3292C"/>
                </a:solidFill>
                <a:latin typeface="Cambria"/>
                <a:ea typeface="Cambria"/>
                <a:cs typeface="Cambria"/>
                <a:sym typeface="Cambria"/>
              </a:rPr>
              <a:t>Order Fulfillment &amp; Delivery 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66928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EAF3F1"/>
          </a:solidFill>
          <a:ln cap="flat" cmpd="sng" w="12700">
            <a:solidFill>
              <a:srgbClr val="EAF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566928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29768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77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566928" y="2258568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 txBox="1"/>
          <p:nvPr/>
        </p:nvSpPr>
        <p:spPr>
          <a:xfrm>
            <a:off x="566928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521208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Allocation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521208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Batch Reserved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Picking list created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2148840" y="267462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2423160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EAF3F1"/>
          </a:solidFill>
          <a:ln cap="flat" cmpd="sng" w="12700">
            <a:solidFill>
              <a:srgbClr val="EAF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2423160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2286000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EAF3F1"/>
          </a:solidFill>
          <a:ln cap="flat" cmpd="sng" w="17775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2423160" y="2258568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2423160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2377440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Pick Goods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2377440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Follow picking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Scan QR to confirm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4005072" y="267462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279392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EAF3F1"/>
          </a:solidFill>
          <a:ln cap="flat" cmpd="sng" w="12700">
            <a:solidFill>
              <a:srgbClr val="EAF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4279392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142232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EAF3F1"/>
          </a:solidFill>
          <a:ln cap="flat" cmpd="sng" w="17775">
            <a:solidFill>
              <a:srgbClr val="BFE8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4279392" y="2258568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4279392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4233672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Confirm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Dispatch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4233672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Scan QR → split batch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Deduct actual stock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5861304" y="267462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135624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EAF3F1"/>
          </a:solidFill>
          <a:ln cap="flat" cmpd="sng" w="12700">
            <a:solidFill>
              <a:srgbClr val="EAF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6135624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5998464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E8F7F4"/>
          </a:solidFill>
          <a:ln cap="flat" cmpd="sng" w="1777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135624" y="2258568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6135624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6089904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Mark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"In Delivery"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6089904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Notify Retailer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 txBox="1"/>
          <p:nvPr/>
        </p:nvSpPr>
        <p:spPr>
          <a:xfrm>
            <a:off x="7717536" y="267462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7991856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EAF3F1"/>
          </a:solidFill>
          <a:ln cap="flat" cmpd="sng" w="12700">
            <a:solidFill>
              <a:srgbClr val="EAF3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7991856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Retailer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7854696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FFFFFF"/>
          </a:solidFill>
          <a:ln cap="flat" cmpd="sng" w="1777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7991856" y="2258568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7991856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7946136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Receive &amp; Scan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92C"/>
                </a:solidFill>
                <a:latin typeface="Calibri"/>
                <a:ea typeface="Calibri"/>
                <a:cs typeface="Calibri"/>
                <a:sym typeface="Calibri"/>
              </a:rPr>
              <a:t>QR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7946136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Match Batch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+ Quantity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9573768" y="2674620"/>
            <a:ext cx="128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9848088" y="164592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 txBox="1"/>
          <p:nvPr/>
        </p:nvSpPr>
        <p:spPr>
          <a:xfrm>
            <a:off x="9848088" y="16459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9710928" y="2148840"/>
            <a:ext cx="1691640" cy="1417320"/>
          </a:xfrm>
          <a:prstGeom prst="roundRect">
            <a:avLst>
              <a:gd fmla="val 5806" name="adj"/>
            </a:avLst>
          </a:prstGeom>
          <a:solidFill>
            <a:srgbClr val="0B2E33"/>
          </a:solidFill>
          <a:ln cap="flat" cmpd="sng" w="177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B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9848088" y="2258568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9848088" y="2258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9802368" y="267919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"Delivered"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9802368" y="32004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Update ledger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Close order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57200" y="3840480"/>
            <a:ext cx="11292840" cy="1965960"/>
          </a:xfrm>
          <a:prstGeom prst="roundRect">
            <a:avLst>
              <a:gd fmla="val 4651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 txBox="1"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QR Batch Split on Dispatch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594360" y="4297680"/>
            <a:ext cx="2011680" cy="1371600"/>
          </a:xfrm>
          <a:prstGeom prst="roundRect">
            <a:avLst>
              <a:gd fmla="val 5333" name="adj"/>
            </a:avLst>
          </a:prstGeom>
          <a:solidFill>
            <a:srgbClr val="0D3B41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731520" y="4407408"/>
            <a:ext cx="310896" cy="31089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 txBox="1"/>
          <p:nvPr/>
        </p:nvSpPr>
        <p:spPr>
          <a:xfrm>
            <a:off x="731520" y="4407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685800" y="4791456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Warehouse Keeper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scans QR (e.g. BTA 100)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2624328" y="4800600"/>
            <a:ext cx="9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2715768" y="4297680"/>
            <a:ext cx="2011680" cy="1371600"/>
          </a:xfrm>
          <a:prstGeom prst="roundRect">
            <a:avLst>
              <a:gd fmla="val 5333" name="adj"/>
            </a:avLst>
          </a:prstGeom>
          <a:solidFill>
            <a:srgbClr val="0D3B41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2852928" y="4407408"/>
            <a:ext cx="310896" cy="31089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2852928" y="4407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2807208" y="4791456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Enters qty to dispatch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(e.g. 70 units)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4745736" y="4800600"/>
            <a:ext cx="9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837176" y="4297680"/>
            <a:ext cx="2011680" cy="1371600"/>
          </a:xfrm>
          <a:prstGeom prst="roundRect">
            <a:avLst>
              <a:gd fmla="val 5333" name="adj"/>
            </a:avLst>
          </a:prstGeom>
          <a:solidFill>
            <a:srgbClr val="0D3B41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4974336" y="4407408"/>
            <a:ext cx="310896" cy="31089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4974336" y="4407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4928616" y="4791456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System generates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new QR: BTA-70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→ label outgoing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6867144" y="4800600"/>
            <a:ext cx="9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6958584" y="4297680"/>
            <a:ext cx="2011680" cy="1371600"/>
          </a:xfrm>
          <a:prstGeom prst="roundRect">
            <a:avLst>
              <a:gd fmla="val 5333" name="adj"/>
            </a:avLst>
          </a:prstGeom>
          <a:solidFill>
            <a:srgbClr val="0D3B41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7095744" y="4407408"/>
            <a:ext cx="310896" cy="31089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 txBox="1"/>
          <p:nvPr/>
        </p:nvSpPr>
        <p:spPr>
          <a:xfrm>
            <a:off x="7095744" y="4407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7050024" y="4791456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Remainder gets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new QR: BTA-30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→ stays in warehouse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8988552" y="4800600"/>
            <a:ext cx="9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9079992" y="4297680"/>
            <a:ext cx="2011680" cy="1371600"/>
          </a:xfrm>
          <a:prstGeom prst="roundRect">
            <a:avLst>
              <a:gd fmla="val 5333" name="adj"/>
            </a:avLst>
          </a:prstGeom>
          <a:solidFill>
            <a:srgbClr val="0D3B41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9217152" y="4407408"/>
            <a:ext cx="310896" cy="31089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9217152" y="44074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9171432" y="4791456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Retailer scans BTA-70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2EF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2EFEB"/>
                </a:solidFill>
                <a:latin typeface="Calibri"/>
                <a:ea typeface="Calibri"/>
                <a:cs typeface="Calibri"/>
                <a:sym typeface="Calibri"/>
              </a:rPr>
              <a:t>to confirm receipt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76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76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3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05 · SYSTEM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Order Status Lifecycle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48640" y="155448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2A4A5A"/>
          </a:solidFill>
          <a:ln cap="flat" cmpd="sng" w="19050">
            <a:solidFill>
              <a:srgbClr val="4A7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 txBox="1"/>
          <p:nvPr/>
        </p:nvSpPr>
        <p:spPr>
          <a:xfrm>
            <a:off x="621792" y="164592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Chờ đồng bộ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(Pending Sync)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 txBox="1"/>
          <p:nvPr/>
        </p:nvSpPr>
        <p:spPr>
          <a:xfrm>
            <a:off x="621792" y="227137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Offline order on device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743200" y="155448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0F3D42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 txBox="1"/>
          <p:nvPr/>
        </p:nvSpPr>
        <p:spPr>
          <a:xfrm>
            <a:off x="2816352" y="164592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Chờ duyệt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(Pending Approval)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2816352" y="227137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Stock reserved; awaiting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5303520" y="155448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0F3D42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5376672" y="164592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Đã duyệt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(Approved)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5376672" y="227137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Batch → Reserved; picking list created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7863840" y="155448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0F3D42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 txBox="1"/>
          <p:nvPr/>
        </p:nvSpPr>
        <p:spPr>
          <a:xfrm>
            <a:off x="7936992" y="164592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Đã xuất kho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(Dispatched)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7936992" y="227137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Actual stock deducted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10058400" y="155448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0F3D42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 txBox="1"/>
          <p:nvPr/>
        </p:nvSpPr>
        <p:spPr>
          <a:xfrm>
            <a:off x="10131552" y="164592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Đang giao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(In Delivery)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 txBox="1"/>
          <p:nvPr/>
        </p:nvSpPr>
        <p:spPr>
          <a:xfrm>
            <a:off x="10131552" y="227137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Operator marks in transit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743200" y="411480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3D1515"/>
          </a:solidFill>
          <a:ln cap="flat" cmpd="sng" w="1905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2816352" y="420624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Bị từ chối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(Rejected)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2816352" y="483169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System (no stock) or Admin/Op (with reason)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5303520" y="411480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2E2A10"/>
          </a:solidFill>
          <a:ln cap="flat" cmpd="sng" w="19050">
            <a:solidFill>
              <a:srgbClr val="C8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 txBox="1"/>
          <p:nvPr/>
        </p:nvSpPr>
        <p:spPr>
          <a:xfrm>
            <a:off x="5376672" y="420624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Đã hủy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(Cancelled)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5376672" y="483169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Sales or Admin before dispatch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8961120" y="4114800"/>
            <a:ext cx="1828800" cy="1280160"/>
          </a:xfrm>
          <a:prstGeom prst="roundRect">
            <a:avLst>
              <a:gd fmla="val 7143" name="adj"/>
            </a:avLst>
          </a:prstGeom>
          <a:solidFill>
            <a:srgbClr val="093B28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 txBox="1"/>
          <p:nvPr/>
        </p:nvSpPr>
        <p:spPr>
          <a:xfrm>
            <a:off x="9034272" y="4206240"/>
            <a:ext cx="168249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Đã giao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(Delivered)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 txBox="1"/>
          <p:nvPr/>
        </p:nvSpPr>
        <p:spPr>
          <a:xfrm>
            <a:off x="9034272" y="4831690"/>
            <a:ext cx="1682496" cy="524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Retailer scans QR to confirm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2404872" y="201168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4599432" y="2011680"/>
            <a:ext cx="676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7159752" y="2011680"/>
            <a:ext cx="6766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9720072" y="201168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3643884" y="2834640"/>
            <a:ext cx="27432" cy="1280160"/>
          </a:xfrm>
          <a:prstGeom prst="rect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3721608" y="33375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A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5A5A"/>
                </a:solidFill>
                <a:latin typeface="Calibri"/>
                <a:ea typeface="Calibri"/>
                <a:cs typeface="Calibri"/>
                <a:sym typeface="Calibri"/>
              </a:rPr>
              <a:t>Reject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6204204" y="2834640"/>
            <a:ext cx="27432" cy="1280160"/>
          </a:xfrm>
          <a:prstGeom prst="rect">
            <a:avLst/>
          </a:prstGeom>
          <a:solidFill>
            <a:srgbClr val="C8A800"/>
          </a:solidFill>
          <a:ln cap="flat" cmpd="sng" w="12700">
            <a:solidFill>
              <a:srgbClr val="C8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6281928" y="33375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0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A800"/>
                </a:solidFill>
                <a:latin typeface="Calibri"/>
                <a:ea typeface="Calibri"/>
                <a:cs typeface="Calibri"/>
                <a:sym typeface="Calibri"/>
              </a:rPr>
              <a:t>Cancel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10959084" y="2834640"/>
            <a:ext cx="27432" cy="4572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9875520" y="3278124"/>
            <a:ext cx="109728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9861804" y="3291840"/>
            <a:ext cx="27432" cy="82296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457200" y="5577840"/>
            <a:ext cx="11247120" cy="731520"/>
          </a:xfrm>
          <a:prstGeom prst="roundRect">
            <a:avLst>
              <a:gd fmla="val 8750" name="adj"/>
            </a:avLst>
          </a:prstGeom>
          <a:solidFill>
            <a:srgbClr val="0F3D42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640080" y="56692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Stock Impact: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 txBox="1"/>
          <p:nvPr/>
        </p:nvSpPr>
        <p:spPr>
          <a:xfrm>
            <a:off x="2103120" y="56692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• Pending Approval: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 txBox="1"/>
          <p:nvPr/>
        </p:nvSpPr>
        <p:spPr>
          <a:xfrm>
            <a:off x="2103120" y="58978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Qty temporarily held (reserved)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 txBox="1"/>
          <p:nvPr/>
        </p:nvSpPr>
        <p:spPr>
          <a:xfrm>
            <a:off x="4572000" y="56692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• Approved: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4572000" y="58978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Batch status → Reserved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 txBox="1"/>
          <p:nvPr/>
        </p:nvSpPr>
        <p:spPr>
          <a:xfrm>
            <a:off x="7040880" y="56692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• Dispatched: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 txBox="1"/>
          <p:nvPr/>
        </p:nvSpPr>
        <p:spPr>
          <a:xfrm>
            <a:off x="7040880" y="58978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Actual stock deducted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 txBox="1"/>
          <p:nvPr/>
        </p:nvSpPr>
        <p:spPr>
          <a:xfrm>
            <a:off x="9509760" y="56692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• Rejected / Cancelled: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 txBox="1"/>
          <p:nvPr/>
        </p:nvSpPr>
        <p:spPr>
          <a:xfrm>
            <a:off x="9509760" y="58978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D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CDD0"/>
                </a:solidFill>
                <a:latin typeface="Calibri"/>
                <a:ea typeface="Calibri"/>
                <a:cs typeface="Calibri"/>
                <a:sym typeface="Calibri"/>
              </a:rPr>
              <a:t>Reserved qty released 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FSCM — Capstone 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A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FAFA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2026-09-26T15:07:23Z</dcterms:created>
  <dc:creator>PptxGenJS</dc:creator>
</cp:coreProperties>
</file>