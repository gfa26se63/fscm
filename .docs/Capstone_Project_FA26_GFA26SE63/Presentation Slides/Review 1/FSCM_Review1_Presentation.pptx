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IBM Plex Sans Bold" charset="1" panose="020B0803050203000203"/>
      <p:regular r:id="rId32"/>
    </p:embeddedFont>
    <p:embeddedFont>
      <p:font typeface="Arimo Bold" charset="1" panose="020B0704020202020204"/>
      <p:regular r:id="rId33"/>
    </p:embeddedFont>
    <p:embeddedFont>
      <p:font typeface="Arimo" charset="1" panose="020B0604020202020204"/>
      <p:regular r:id="rId34"/>
    </p:embeddedFont>
    <p:embeddedFont>
      <p:font typeface="IBM Plex Sans" charset="1" panose="020B0503050203000203"/>
      <p:regular r:id="rId35"/>
    </p:embeddedFont>
    <p:embeddedFont>
      <p:font typeface="IBM Plex Mono" charset="1" panose="020B0509050203000203"/>
      <p:regular r:id="rId47"/>
    </p:embeddedFont>
    <p:embeddedFont>
      <p:font typeface="IBM Plex Mono Bold" charset="1" panose="020B0809050203000203"/>
      <p:regular r:id="rId50"/>
    </p:embeddedFont>
    <p:embeddedFont>
      <p:font typeface="IBM Plex Sans Italics" charset="1" panose="020B0503050203000203"/>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notesSlides/notesSlide2.xml" Type="http://schemas.openxmlformats.org/officeDocument/2006/relationships/notesSlide"/><Relationship Id="rId37" Target="notesSlides/notesSlide3.xml" Type="http://schemas.openxmlformats.org/officeDocument/2006/relationships/notesSlide"/><Relationship Id="rId38" Target="notesSlides/notesSlide4.xml" Type="http://schemas.openxmlformats.org/officeDocument/2006/relationships/notesSlide"/><Relationship Id="rId39" Target="notesSlides/notesSlide5.xml" Type="http://schemas.openxmlformats.org/officeDocument/2006/relationships/notesSlide"/><Relationship Id="rId4" Target="theme/theme1.xml" Type="http://schemas.openxmlformats.org/officeDocument/2006/relationships/theme"/><Relationship Id="rId40" Target="notesSlides/notesSlide6.xml" Type="http://schemas.openxmlformats.org/officeDocument/2006/relationships/notesSlide"/><Relationship Id="rId41" Target="notesSlides/notesSlide7.xml" Type="http://schemas.openxmlformats.org/officeDocument/2006/relationships/notesSlide"/><Relationship Id="rId42" Target="notesSlides/notesSlide8.xml" Type="http://schemas.openxmlformats.org/officeDocument/2006/relationships/notesSlide"/><Relationship Id="rId43" Target="notesSlides/notesSlide9.xml" Type="http://schemas.openxmlformats.org/officeDocument/2006/relationships/notesSlide"/><Relationship Id="rId44" Target="notesSlides/notesSlide10.xml" Type="http://schemas.openxmlformats.org/officeDocument/2006/relationships/notesSlide"/><Relationship Id="rId45" Target="notesSlides/notesSlide11.xml" Type="http://schemas.openxmlformats.org/officeDocument/2006/relationships/notesSlide"/><Relationship Id="rId46" Target="notesSlides/notesSlide12.xml" Type="http://schemas.openxmlformats.org/officeDocument/2006/relationships/notesSlide"/><Relationship Id="rId47" Target="fonts/font47.fntdata" Type="http://schemas.openxmlformats.org/officeDocument/2006/relationships/font"/><Relationship Id="rId48" Target="notesSlides/notesSlide13.xml" Type="http://schemas.openxmlformats.org/officeDocument/2006/relationships/notesSlide"/><Relationship Id="rId49" Target="notesSlides/notesSlide14.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notesSlides/notesSlide15.xml" Type="http://schemas.openxmlformats.org/officeDocument/2006/relationships/notesSlide"/><Relationship Id="rId53" Target="notesSlides/notesSlide16.xml" Type="http://schemas.openxmlformats.org/officeDocument/2006/relationships/notesSlide"/><Relationship Id="rId54" Target="notesSlides/notesSlide17.xml" Type="http://schemas.openxmlformats.org/officeDocument/2006/relationships/notesSlide"/><Relationship Id="rId55" Target="notesSlides/notesSlide18.xml" Type="http://schemas.openxmlformats.org/officeDocument/2006/relationships/notesSlide"/><Relationship Id="rId56" Target="notesSlides/notesSlide19.xml" Type="http://schemas.openxmlformats.org/officeDocument/2006/relationships/notesSlide"/><Relationship Id="rId57" Target="notesSlides/notesSlide20.xml" Type="http://schemas.openxmlformats.org/officeDocument/2006/relationships/notesSlide"/><Relationship Id="rId58" Target="notesSlides/notesSlide21.xml" Type="http://schemas.openxmlformats.org/officeDocument/2006/relationships/notesSlide"/><Relationship Id="rId59" Target="notesSlides/notesSlide22.xml" Type="http://schemas.openxmlformats.org/officeDocument/2006/relationships/notesSlide"/><Relationship Id="rId6" Target="slides/slide1.xml" Type="http://schemas.openxmlformats.org/officeDocument/2006/relationships/slide"/><Relationship Id="rId60" Target="notesSlides/notesSlide23.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We are group GFA26SE63 presenting FSCM, project FA26SE083, supervised by Ms. Le Thi Quynh Chi. FSCM is a web portal and mobile system that helps an FMCG distributor manage short shelf-life stock by batch and allocate every order with FEFO across several warehouses.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setting: one FMCG distributor, several warehouses, field sales staff organised in regional groups. Products like yoghurt and sandwich bread live only one to eight weeks, so every day of shelf life matters. Sales staff order at the store, and retailers only receive and pay.</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concrete problems. The first three are about freshness: FIFO is not enough, totals hide batches, and the retailer judges freshness on arrival. The next two are about correctness: concurrent and offline orders double-book stock, and there is no proof from warehouse to store. The last one is manual promotions and reporting.</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enterprise products that already handle batches and FEFO. They are strong, but they are built for large warehouses and long implementations. None of them offers, out of the box, one light flow where a field order, possibly captured offline, is allocated by FEFO and MLOR across warehouses before approval. Sources are the official documentation listed in Report 1.</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table summarises the gap. Enterprise suites can do most of it with heavy configuration. DMS tools are light but stop at the order. FSCM sits between them: as light as a DMS, but it keeps batch, expiry and MLOR in the allocation, and it traces every label to the retailer.</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product vision in one sentence. Everything else in the presentation supports this: batch-level decisions and end-to-end traceability, for one distributor with field sales.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Four product objectives. Fresher shipments through FEFO plus MLOR; no double-booking through first-come-first-served processing and atomic holds; offline selling with promotion estimates; and full traceability with QR labels.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These are the functional requirements from Report 1, section 6.1, thirteen features in total. The first six set up the system: accounts, roles and warehouse scope with an audit trail; master data including the retailer-SKU MLOR and the distance-based transit rules; retailers with 8-digit codes and sales territories; goods receipt where the Batch ID is warehouse plus SKU plus expiry date and every pallet gets a QR label; per-SKU and product-group promotions; and mobile ordering, where the quantity offered never exceeds available stock.</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remaining seven cover the order after it is placed: offline capture with an idempotency key and first-come-first-served processing on the server; the FEFO-MLOR allocation, which rejects the order if stock is short; approval, which turns the hold into a reservation and creates picking lists, while an Operator can still cancel a pending order; QR picking with child labels; retailer receipt by scanning; tracking and notifications; and dashboards with revenue counted before discounts.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Eight quality attributes. The most important are data consistency, so that no stock is ever reserved twice, and offline operation without duplicate orders when the app re-syncs. Performance, security, traceability, reliability, usability and maintainability complete the list. The numeric targets are our proposals for this review; the 70 percent unit-test coverage comes from the quality plan in Report 2.</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full flow in ten steps, from goods receipt with QR labels to retailer receipt and payment. Steps 3 and 4 are automatic. Approval turns the hold into a reservation and creates one picking list per warehouse; the warehouse keeper scans and, when only part of a pallet is taken, splits a child label. The retailer scans every label to close the order.</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Offline is the hardest sub-flow. The app keeps a local database and estimates promotions on the device. When the order syncs, the server decides by arrival time, not device time, so the rule is fair and deterministic. The device time is still stored so the Operator can check manually. If the stock is gone, the later order is rejected and both the Sales Representative and the retailer are told why.</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Six user roles plus the system itself. Four roles use the web portal, three use the mobile app: Sales, Retailer and Warehouse Keeper. Retailers cannot register or order by themselves; their accounts are created by the distributor.</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algorithm runs per SKU in five steps. B1 collects candidates, B2 removes anything that cannot reach the retailer in time or fresh enough, B3 ranks the rest by expiry, B4 allocates greedily across warehouses, and B5 holds or rejects. Inputs come from the order, the batches, the service rules and the dispatch schedule.</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B1 keeps batches of the right SKU that can ship and still have free quantity after other orders' holds. In our example, seven SKU001 batches exist; one is expired and one is fully held, so five remain. B2a then measures the road distance with Dijkstra and compares it with the warehouse's maximum service distance.</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service-distance rule as a lookup table. Up to ten kilometres means one day in transit, ten to twenty means two days, and beyond the twenty-kilometre maximum the warehouse cannot serve this retailer at all. The scale shows our example: four warehouses are in range, Củ Chi at 28.6 km is excluded. Both thresholds are settings per warehouse, and the values shown are pilot assumptions.</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After the distance filter, we estimate the arrival. Dispatch is the next run after preparation and buffer; ETA adds the transit time from the table. A batch stays only if it arrives by the promised date and still has at least m times the total shelf life. For SKU001, m is 0.3 and shelf life is 45 days, so the batch must have 13.5 days left on arrival. Gò Vấp fails with 7 days, even though it is close.</a:t>
            </a:r>
          </a:p>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Eligible batches are ranked by expiry first. Distance only decides between batches with the same expiry, and available quantity only after that. Then we take greedily: 40 from Thới An, the remaining 20 from Thủ Đức. Tân Chánh Hiệp is closer than Thủ Đức but expires three days later, so it is not used. Splitting across warehouses is normal here and is not a partial shipment.</a:t>
            </a:r>
          </a:p>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B5 turns the calculation into a commitment. With enough stock, we re-read availability and hold exact quantities; approval converts the hold to a reservation. If anything is missing after scanning the whole network, our MVP rejects the order rather than shipping part of it. Optimistic locking, transactions and idempotency keys make sure two orders never take the same cartons.</a:t>
            </a:r>
          </a:p>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Two clients share one backend. The React portal serves the office roles; the Flutter app serves Sales, Retailers and Warehouse Keepers and works offline with SQLite. The backend is an ASP.NET Core modular monolith with Clean Architecture inside each module. PostgreSQL holds the data with row versions for optimistic locking and an outbox table; a background worker publishes events and notifications, and a timer function updates batch expiry status every day.</a:t>
            </a:r>
          </a:p>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stack by layer, with the reason for each choice. The key decisions are Flutter with SQLite for offline-first selling, and PostgreSQL transactions with optimistic locking for safe reservations.</a:t>
            </a:r>
          </a:p>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follow Scrum with six sprints and a final testing sprint. The order is deliberate: master data and inventory first, then allocation, picking, offline sync and automation. The three biggest risks are all technical, and each has a concrete response.</a:t>
            </a:r>
          </a:p>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 you. We are happy to take questions, and we can demo the prototype for the Sales, Retailer and Warehouse apps and the web portal.</a:t>
            </a:r>
          </a:p>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2.png" Type="http://schemas.openxmlformats.org/officeDocument/2006/relationships/image"/><Relationship Id="rId4" Target="../media/image7.png" Type="http://schemas.openxmlformats.org/officeDocument/2006/relationships/image"/><Relationship Id="rId5"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14302B"/>
        </a:solidFill>
      </p:bgPr>
    </p:bg>
    <p:spTree>
      <p:nvGrpSpPr>
        <p:cNvPr id="1" name=""/>
        <p:cNvGrpSpPr/>
        <p:nvPr/>
      </p:nvGrpSpPr>
      <p:grpSpPr>
        <a:xfrm>
          <a:off x="0" y="0"/>
          <a:ext cx="0" cy="0"/>
          <a:chOff x="0" y="0"/>
          <a:chExt cx="0" cy="0"/>
        </a:xfrm>
      </p:grpSpPr>
      <p:grpSp>
        <p:nvGrpSpPr>
          <p:cNvPr name="Group 2" id="2"/>
          <p:cNvGrpSpPr/>
          <p:nvPr/>
        </p:nvGrpSpPr>
        <p:grpSpPr>
          <a:xfrm rot="0">
            <a:off x="0" y="0"/>
            <a:ext cx="228600" cy="10287000"/>
            <a:chOff x="0" y="0"/>
            <a:chExt cx="304800" cy="13716000"/>
          </a:xfrm>
        </p:grpSpPr>
        <p:sp>
          <p:nvSpPr>
            <p:cNvPr name="Freeform 3" id="3"/>
            <p:cNvSpPr/>
            <p:nvPr/>
          </p:nvSpPr>
          <p:spPr>
            <a:xfrm flipH="false" flipV="false" rot="0">
              <a:off x="0" y="0"/>
              <a:ext cx="304800" cy="13716000"/>
            </a:xfrm>
            <a:custGeom>
              <a:avLst/>
              <a:gdLst/>
              <a:ahLst/>
              <a:cxnLst/>
              <a:rect r="r" b="b" t="t" l="l"/>
              <a:pathLst>
                <a:path h="13716000" w="304800">
                  <a:moveTo>
                    <a:pt x="0" y="0"/>
                  </a:moveTo>
                  <a:lnTo>
                    <a:pt x="304800" y="0"/>
                  </a:lnTo>
                  <a:lnTo>
                    <a:pt x="304800" y="13716000"/>
                  </a:lnTo>
                  <a:lnTo>
                    <a:pt x="0" y="13716000"/>
                  </a:lnTo>
                  <a:close/>
                </a:path>
              </a:pathLst>
            </a:custGeom>
            <a:solidFill>
              <a:srgbClr val="14655B"/>
            </a:solidFill>
          </p:spPr>
        </p:sp>
      </p:grpSp>
      <p:sp>
        <p:nvSpPr>
          <p:cNvPr name="TextBox 4" id="4"/>
          <p:cNvSpPr txBox="true"/>
          <p:nvPr/>
        </p:nvSpPr>
        <p:spPr>
          <a:xfrm rot="0">
            <a:off x="1219200" y="1095375"/>
            <a:ext cx="16325088" cy="459105"/>
          </a:xfrm>
          <a:prstGeom prst="rect">
            <a:avLst/>
          </a:prstGeom>
        </p:spPr>
        <p:txBody>
          <a:bodyPr anchor="t" rtlCol="false" tIns="0" lIns="0" bIns="0" rIns="0">
            <a:spAutoFit/>
          </a:bodyPr>
          <a:lstStyle/>
          <a:p>
            <a:pPr algn="l">
              <a:lnSpc>
                <a:spcPts val="2940"/>
              </a:lnSpc>
            </a:pPr>
            <a:r>
              <a:rPr lang="en-US" b="true" sz="2100" spc="225">
                <a:solidFill>
                  <a:srgbClr val="7FD1B9"/>
                </a:solidFill>
                <a:latin typeface="IBM Plex Sans Bold"/>
                <a:ea typeface="IBM Plex Sans Bold"/>
                <a:cs typeface="IBM Plex Sans Bold"/>
                <a:sym typeface="IBM Plex Sans Bold"/>
              </a:rPr>
              <a:t>CAPSTONE PROJECT · REVIEW 1 · 02 OCTOBER 2026</a:t>
            </a:r>
          </a:p>
        </p:txBody>
      </p:sp>
      <p:sp>
        <p:nvSpPr>
          <p:cNvPr name="TextBox 5" id="5"/>
          <p:cNvSpPr txBox="true"/>
          <p:nvPr/>
        </p:nvSpPr>
        <p:spPr>
          <a:xfrm rot="0">
            <a:off x="1219200" y="1973580"/>
            <a:ext cx="16325088" cy="1447800"/>
          </a:xfrm>
          <a:prstGeom prst="rect">
            <a:avLst/>
          </a:prstGeom>
        </p:spPr>
        <p:txBody>
          <a:bodyPr anchor="t" rtlCol="false" tIns="0" lIns="0" bIns="0" rIns="0">
            <a:spAutoFit/>
          </a:bodyPr>
          <a:lstStyle/>
          <a:p>
            <a:pPr algn="l">
              <a:lnSpc>
                <a:spcPts val="12600"/>
              </a:lnSpc>
            </a:pPr>
            <a:r>
              <a:rPr lang="en-US" sz="12600" b="true">
                <a:solidFill>
                  <a:srgbClr val="F2F1EA"/>
                </a:solidFill>
                <a:latin typeface="Arimo Bold"/>
                <a:ea typeface="Arimo Bold"/>
                <a:cs typeface="Arimo Bold"/>
                <a:sym typeface="Arimo Bold"/>
              </a:rPr>
              <a:t>FSCM</a:t>
            </a:r>
          </a:p>
        </p:txBody>
      </p:sp>
      <p:sp>
        <p:nvSpPr>
          <p:cNvPr name="TextBox 6" id="6"/>
          <p:cNvSpPr txBox="true"/>
          <p:nvPr/>
        </p:nvSpPr>
        <p:spPr>
          <a:xfrm rot="0">
            <a:off x="1219200" y="3630930"/>
            <a:ext cx="14716125" cy="1337310"/>
          </a:xfrm>
          <a:prstGeom prst="rect">
            <a:avLst/>
          </a:prstGeom>
        </p:spPr>
        <p:txBody>
          <a:bodyPr anchor="t" rtlCol="false" tIns="0" lIns="0" bIns="0" rIns="0">
            <a:spAutoFit/>
          </a:bodyPr>
          <a:lstStyle/>
          <a:p>
            <a:pPr algn="l">
              <a:lnSpc>
                <a:spcPts val="5040"/>
              </a:lnSpc>
            </a:pPr>
            <a:r>
              <a:rPr lang="en-US" sz="4200">
                <a:solidFill>
                  <a:srgbClr val="F2F1EA"/>
                </a:solidFill>
                <a:latin typeface="Arimo"/>
                <a:ea typeface="Arimo"/>
                <a:cs typeface="Arimo"/>
                <a:sym typeface="Arimo"/>
              </a:rPr>
              <a:t>Short Shelf-Life FMCG Supply Chain Management and Distribution Coordination with FEFO Optimization</a:t>
            </a:r>
          </a:p>
        </p:txBody>
      </p:sp>
      <p:sp>
        <p:nvSpPr>
          <p:cNvPr name="AutoShape 7" id="7"/>
          <p:cNvSpPr/>
          <p:nvPr/>
        </p:nvSpPr>
        <p:spPr>
          <a:xfrm rot="4140">
            <a:off x="1209665" y="7693343"/>
            <a:ext cx="15868660" cy="0"/>
          </a:xfrm>
          <a:prstGeom prst="line">
            <a:avLst/>
          </a:prstGeom>
          <a:ln cap="rnd" w="9525">
            <a:solidFill>
              <a:srgbClr val="2E5A51"/>
            </a:solidFill>
            <a:prstDash val="solid"/>
            <a:headEnd type="none" len="sm" w="sm"/>
            <a:tailEnd type="none" len="sm" w="sm"/>
          </a:ln>
        </p:spPr>
      </p:sp>
      <p:sp>
        <p:nvSpPr>
          <p:cNvPr name="TextBox 8" id="8"/>
          <p:cNvSpPr txBox="true"/>
          <p:nvPr/>
        </p:nvSpPr>
        <p:spPr>
          <a:xfrm rot="0">
            <a:off x="1219200" y="8008620"/>
            <a:ext cx="4273077" cy="396240"/>
          </a:xfrm>
          <a:prstGeom prst="rect">
            <a:avLst/>
          </a:prstGeom>
        </p:spPr>
        <p:txBody>
          <a:bodyPr anchor="t" rtlCol="false" tIns="0" lIns="0" bIns="0" rIns="0">
            <a:spAutoFit/>
          </a:bodyPr>
          <a:lstStyle/>
          <a:p>
            <a:pPr algn="l">
              <a:lnSpc>
                <a:spcPts val="2520"/>
              </a:lnSpc>
            </a:pPr>
            <a:r>
              <a:rPr lang="en-US" sz="1800">
                <a:solidFill>
                  <a:srgbClr val="9FBDB5"/>
                </a:solidFill>
                <a:latin typeface="IBM Plex Sans"/>
                <a:ea typeface="IBM Plex Sans"/>
                <a:cs typeface="IBM Plex Sans"/>
                <a:sym typeface="IBM Plex Sans"/>
              </a:rPr>
              <a:t>Project code · Group</a:t>
            </a:r>
          </a:p>
        </p:txBody>
      </p:sp>
      <p:sp>
        <p:nvSpPr>
          <p:cNvPr name="TextBox 9" id="9"/>
          <p:cNvSpPr txBox="true"/>
          <p:nvPr/>
        </p:nvSpPr>
        <p:spPr>
          <a:xfrm rot="0">
            <a:off x="1219200" y="8385810"/>
            <a:ext cx="4273077" cy="476250"/>
          </a:xfrm>
          <a:prstGeom prst="rect">
            <a:avLst/>
          </a:prstGeom>
        </p:spPr>
        <p:txBody>
          <a:bodyPr anchor="t" rtlCol="false" tIns="0" lIns="0" bIns="0" rIns="0">
            <a:spAutoFit/>
          </a:bodyPr>
          <a:lstStyle/>
          <a:p>
            <a:pPr algn="l">
              <a:lnSpc>
                <a:spcPts val="3149"/>
              </a:lnSpc>
            </a:pPr>
            <a:r>
              <a:rPr lang="en-US" sz="2250" b="true">
                <a:solidFill>
                  <a:srgbClr val="F2F1EA"/>
                </a:solidFill>
                <a:latin typeface="IBM Plex Sans Bold"/>
                <a:ea typeface="IBM Plex Sans Bold"/>
                <a:cs typeface="IBM Plex Sans Bold"/>
                <a:sym typeface="IBM Plex Sans Bold"/>
              </a:rPr>
              <a:t>FA26SE083 · GFA26SE63</a:t>
            </a:r>
          </a:p>
        </p:txBody>
      </p:sp>
      <p:sp>
        <p:nvSpPr>
          <p:cNvPr name="TextBox 10" id="10"/>
          <p:cNvSpPr txBox="true"/>
          <p:nvPr/>
        </p:nvSpPr>
        <p:spPr>
          <a:xfrm rot="0">
            <a:off x="5825014" y="8008620"/>
            <a:ext cx="4273077" cy="396240"/>
          </a:xfrm>
          <a:prstGeom prst="rect">
            <a:avLst/>
          </a:prstGeom>
        </p:spPr>
        <p:txBody>
          <a:bodyPr anchor="t" rtlCol="false" tIns="0" lIns="0" bIns="0" rIns="0">
            <a:spAutoFit/>
          </a:bodyPr>
          <a:lstStyle/>
          <a:p>
            <a:pPr algn="l">
              <a:lnSpc>
                <a:spcPts val="2520"/>
              </a:lnSpc>
            </a:pPr>
            <a:r>
              <a:rPr lang="en-US" sz="1800">
                <a:solidFill>
                  <a:srgbClr val="9FBDB5"/>
                </a:solidFill>
                <a:latin typeface="IBM Plex Sans"/>
                <a:ea typeface="IBM Plex Sans"/>
                <a:cs typeface="IBM Plex Sans"/>
                <a:sym typeface="IBM Plex Sans"/>
              </a:rPr>
              <a:t>Supervisor</a:t>
            </a:r>
          </a:p>
        </p:txBody>
      </p:sp>
      <p:sp>
        <p:nvSpPr>
          <p:cNvPr name="TextBox 11" id="11"/>
          <p:cNvSpPr txBox="true"/>
          <p:nvPr/>
        </p:nvSpPr>
        <p:spPr>
          <a:xfrm rot="0">
            <a:off x="5825014" y="8385810"/>
            <a:ext cx="4273077" cy="476250"/>
          </a:xfrm>
          <a:prstGeom prst="rect">
            <a:avLst/>
          </a:prstGeom>
        </p:spPr>
        <p:txBody>
          <a:bodyPr anchor="t" rtlCol="false" tIns="0" lIns="0" bIns="0" rIns="0">
            <a:spAutoFit/>
          </a:bodyPr>
          <a:lstStyle/>
          <a:p>
            <a:pPr algn="l">
              <a:lnSpc>
                <a:spcPts val="3149"/>
              </a:lnSpc>
            </a:pPr>
            <a:r>
              <a:rPr lang="en-US" sz="2250" b="true">
                <a:solidFill>
                  <a:srgbClr val="F2F1EA"/>
                </a:solidFill>
                <a:latin typeface="IBM Plex Sans Bold"/>
                <a:ea typeface="IBM Plex Sans Bold"/>
                <a:cs typeface="IBM Plex Sans Bold"/>
                <a:sym typeface="IBM Plex Sans Bold"/>
              </a:rPr>
              <a:t>MSc. Le Thi Quynh Chi</a:t>
            </a:r>
          </a:p>
        </p:txBody>
      </p:sp>
      <p:sp>
        <p:nvSpPr>
          <p:cNvPr name="TextBox 12" id="12"/>
          <p:cNvSpPr txBox="true"/>
          <p:nvPr/>
        </p:nvSpPr>
        <p:spPr>
          <a:xfrm rot="0">
            <a:off x="10430828" y="8008620"/>
            <a:ext cx="6837112" cy="396240"/>
          </a:xfrm>
          <a:prstGeom prst="rect">
            <a:avLst/>
          </a:prstGeom>
        </p:spPr>
        <p:txBody>
          <a:bodyPr anchor="t" rtlCol="false" tIns="0" lIns="0" bIns="0" rIns="0">
            <a:spAutoFit/>
          </a:bodyPr>
          <a:lstStyle/>
          <a:p>
            <a:pPr algn="l">
              <a:lnSpc>
                <a:spcPts val="2520"/>
              </a:lnSpc>
            </a:pPr>
            <a:r>
              <a:rPr lang="en-US" sz="1800">
                <a:solidFill>
                  <a:srgbClr val="9FBDB5"/>
                </a:solidFill>
                <a:latin typeface="IBM Plex Sans"/>
                <a:ea typeface="IBM Plex Sans"/>
                <a:cs typeface="IBM Plex Sans"/>
                <a:sym typeface="IBM Plex Sans"/>
              </a:rPr>
              <a:t>Team</a:t>
            </a:r>
          </a:p>
        </p:txBody>
      </p:sp>
      <p:sp>
        <p:nvSpPr>
          <p:cNvPr name="TextBox 13" id="13"/>
          <p:cNvSpPr txBox="true"/>
          <p:nvPr/>
        </p:nvSpPr>
        <p:spPr>
          <a:xfrm rot="0">
            <a:off x="10430828" y="8385810"/>
            <a:ext cx="6837112" cy="796290"/>
          </a:xfrm>
          <a:prstGeom prst="rect">
            <a:avLst/>
          </a:prstGeom>
        </p:spPr>
        <p:txBody>
          <a:bodyPr anchor="t" rtlCol="false" tIns="0" lIns="0" bIns="0" rIns="0">
            <a:spAutoFit/>
          </a:bodyPr>
          <a:lstStyle/>
          <a:p>
            <a:pPr algn="l">
              <a:lnSpc>
                <a:spcPts val="2835"/>
              </a:lnSpc>
            </a:pPr>
            <a:r>
              <a:rPr lang="en-US" sz="2100">
                <a:solidFill>
                  <a:srgbClr val="F2F1EA"/>
                </a:solidFill>
                <a:latin typeface="IBM Plex Sans"/>
                <a:ea typeface="IBM Plex Sans"/>
                <a:cs typeface="IBM Plex Sans"/>
                <a:sym typeface="IBM Plex Sans"/>
              </a:rPr>
              <a:t>Nguyen Thien Nhan (Leader) · Tran Ngoc Khiet · Doan Duc Hai · Vo Minh Son · Truong Le Huy Hoang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BUSINESS CONTEXT</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Short shelf-life FMCG distribution</a:t>
            </a:r>
          </a:p>
        </p:txBody>
      </p:sp>
      <p:grpSp>
        <p:nvGrpSpPr>
          <p:cNvPr name="Group 4" id="4"/>
          <p:cNvGrpSpPr/>
          <p:nvPr/>
        </p:nvGrpSpPr>
        <p:grpSpPr>
          <a:xfrm rot="0">
            <a:off x="1219200" y="2358390"/>
            <a:ext cx="7791450" cy="3068955"/>
            <a:chOff x="0" y="0"/>
            <a:chExt cx="10388600" cy="4091940"/>
          </a:xfrm>
        </p:grpSpPr>
        <p:sp>
          <p:nvSpPr>
            <p:cNvPr name="Freeform 5" id="5"/>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grpSp>
        <p:nvGrpSpPr>
          <p:cNvPr name="Group 6" id="6"/>
          <p:cNvGrpSpPr/>
          <p:nvPr/>
        </p:nvGrpSpPr>
        <p:grpSpPr>
          <a:xfrm rot="0">
            <a:off x="1531620" y="2670810"/>
            <a:ext cx="419100" cy="419100"/>
            <a:chOff x="0" y="0"/>
            <a:chExt cx="558800" cy="558800"/>
          </a:xfrm>
        </p:grpSpPr>
        <p:sp>
          <p:nvSpPr>
            <p:cNvPr name="Freeform 7" id="7" descr="Clock"/>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3"/>
              <a:stretch>
                <a:fillRect l="0" t="0" r="0" b="0"/>
              </a:stretch>
            </a:blipFill>
          </p:spPr>
        </p:sp>
      </p:grpSp>
      <p:sp>
        <p:nvSpPr>
          <p:cNvPr name="TextBox 8" id="8"/>
          <p:cNvSpPr txBox="true"/>
          <p:nvPr/>
        </p:nvSpPr>
        <p:spPr>
          <a:xfrm rot="0">
            <a:off x="1531620" y="3194685"/>
            <a:ext cx="7381608" cy="413385"/>
          </a:xfrm>
          <a:prstGeom prst="rect">
            <a:avLst/>
          </a:prstGeom>
        </p:spPr>
        <p:txBody>
          <a:bodyPr anchor="t" rtlCol="false" tIns="0" lIns="0" bIns="0" rIns="0">
            <a:spAutoFit/>
          </a:bodyPr>
          <a:lstStyle/>
          <a:p>
            <a:pPr algn="l">
              <a:lnSpc>
                <a:spcPts val="2879"/>
              </a:lnSpc>
            </a:pPr>
            <a:r>
              <a:rPr lang="en-US" sz="2400" b="true">
                <a:solidFill>
                  <a:srgbClr val="1B2420"/>
                </a:solidFill>
                <a:latin typeface="Arimo Bold"/>
                <a:ea typeface="Arimo Bold"/>
                <a:cs typeface="Arimo Bold"/>
                <a:sym typeface="Arimo Bold"/>
              </a:rPr>
              <a:t>Products expire in days, not months</a:t>
            </a:r>
          </a:p>
        </p:txBody>
      </p:sp>
      <p:sp>
        <p:nvSpPr>
          <p:cNvPr name="TextBox 9" id="9"/>
          <p:cNvSpPr txBox="true"/>
          <p:nvPr/>
        </p:nvSpPr>
        <p:spPr>
          <a:xfrm rot="0">
            <a:off x="1531620" y="3646170"/>
            <a:ext cx="7381608"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Dairy, fresh bakery and chilled goods are tracked by Batch/Lot and expiry date. In our dataset, total shelf life ranges from 7 to 60 days.</a:t>
            </a:r>
          </a:p>
        </p:txBody>
      </p:sp>
      <p:grpSp>
        <p:nvGrpSpPr>
          <p:cNvPr name="Group 10" id="10"/>
          <p:cNvGrpSpPr/>
          <p:nvPr/>
        </p:nvGrpSpPr>
        <p:grpSpPr>
          <a:xfrm rot="0">
            <a:off x="9277350" y="2358390"/>
            <a:ext cx="7791450" cy="3068955"/>
            <a:chOff x="0" y="0"/>
            <a:chExt cx="10388600" cy="4091940"/>
          </a:xfrm>
        </p:grpSpPr>
        <p:sp>
          <p:nvSpPr>
            <p:cNvPr name="Freeform 11" id="11"/>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grpSp>
        <p:nvGrpSpPr>
          <p:cNvPr name="Group 12" id="12"/>
          <p:cNvGrpSpPr/>
          <p:nvPr/>
        </p:nvGrpSpPr>
        <p:grpSpPr>
          <a:xfrm rot="0">
            <a:off x="9589770" y="2670810"/>
            <a:ext cx="419100" cy="419100"/>
            <a:chOff x="0" y="0"/>
            <a:chExt cx="558800" cy="558800"/>
          </a:xfrm>
        </p:grpSpPr>
        <p:sp>
          <p:nvSpPr>
            <p:cNvPr name="Freeform 13" id="13" descr="Home"/>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4"/>
              <a:stretch>
                <a:fillRect l="0" t="0" r="0" b="0"/>
              </a:stretch>
            </a:blipFill>
          </p:spPr>
        </p:sp>
      </p:grpSp>
      <p:sp>
        <p:nvSpPr>
          <p:cNvPr name="TextBox 14" id="14"/>
          <p:cNvSpPr txBox="true"/>
          <p:nvPr/>
        </p:nvSpPr>
        <p:spPr>
          <a:xfrm rot="0">
            <a:off x="9589770" y="3194685"/>
            <a:ext cx="7381608" cy="413385"/>
          </a:xfrm>
          <a:prstGeom prst="rect">
            <a:avLst/>
          </a:prstGeom>
        </p:spPr>
        <p:txBody>
          <a:bodyPr anchor="t" rtlCol="false" tIns="0" lIns="0" bIns="0" rIns="0">
            <a:spAutoFit/>
          </a:bodyPr>
          <a:lstStyle/>
          <a:p>
            <a:pPr algn="l">
              <a:lnSpc>
                <a:spcPts val="2879"/>
              </a:lnSpc>
            </a:pPr>
            <a:r>
              <a:rPr lang="en-US" sz="2400" b="true">
                <a:solidFill>
                  <a:srgbClr val="1B2420"/>
                </a:solidFill>
                <a:latin typeface="Arimo Bold"/>
                <a:ea typeface="Arimo Bold"/>
                <a:cs typeface="Arimo Bold"/>
                <a:sym typeface="Arimo Bold"/>
              </a:rPr>
              <a:t>One distributor, several warehouses</a:t>
            </a:r>
          </a:p>
        </p:txBody>
      </p:sp>
      <p:sp>
        <p:nvSpPr>
          <p:cNvPr name="TextBox 15" id="15"/>
          <p:cNvSpPr txBox="true"/>
          <p:nvPr/>
        </p:nvSpPr>
        <p:spPr>
          <a:xfrm rot="0">
            <a:off x="9589770" y="3646170"/>
            <a:ext cx="7381608"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The same SKU sits in different batches across warehouses, each with its own expiry date and available quantity.</a:t>
            </a:r>
          </a:p>
        </p:txBody>
      </p:sp>
      <p:grpSp>
        <p:nvGrpSpPr>
          <p:cNvPr name="Group 16" id="16"/>
          <p:cNvGrpSpPr/>
          <p:nvPr/>
        </p:nvGrpSpPr>
        <p:grpSpPr>
          <a:xfrm rot="0">
            <a:off x="1219200" y="5694045"/>
            <a:ext cx="7791450" cy="3068955"/>
            <a:chOff x="0" y="0"/>
            <a:chExt cx="10388600" cy="4091940"/>
          </a:xfrm>
        </p:grpSpPr>
        <p:sp>
          <p:nvSpPr>
            <p:cNvPr name="Freeform 17" id="17"/>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grpSp>
        <p:nvGrpSpPr>
          <p:cNvPr name="Group 18" id="18"/>
          <p:cNvGrpSpPr/>
          <p:nvPr/>
        </p:nvGrpSpPr>
        <p:grpSpPr>
          <a:xfrm rot="0">
            <a:off x="1531620" y="6006465"/>
            <a:ext cx="419100" cy="419100"/>
            <a:chOff x="0" y="0"/>
            <a:chExt cx="558800" cy="558800"/>
          </a:xfrm>
        </p:grpSpPr>
        <p:sp>
          <p:nvSpPr>
            <p:cNvPr name="Freeform 19" id="19" descr="Users"/>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5"/>
              <a:stretch>
                <a:fillRect l="0" t="0" r="0" b="0"/>
              </a:stretch>
            </a:blipFill>
          </p:spPr>
        </p:sp>
      </p:grpSp>
      <p:sp>
        <p:nvSpPr>
          <p:cNvPr name="TextBox 20" id="20"/>
          <p:cNvSpPr txBox="true"/>
          <p:nvPr/>
        </p:nvSpPr>
        <p:spPr>
          <a:xfrm rot="0">
            <a:off x="1531620" y="6530340"/>
            <a:ext cx="7381608" cy="413385"/>
          </a:xfrm>
          <a:prstGeom prst="rect">
            <a:avLst/>
          </a:prstGeom>
        </p:spPr>
        <p:txBody>
          <a:bodyPr anchor="t" rtlCol="false" tIns="0" lIns="0" bIns="0" rIns="0">
            <a:spAutoFit/>
          </a:bodyPr>
          <a:lstStyle/>
          <a:p>
            <a:pPr algn="l">
              <a:lnSpc>
                <a:spcPts val="2879"/>
              </a:lnSpc>
            </a:pPr>
            <a:r>
              <a:rPr lang="en-US" sz="2400" b="true">
                <a:solidFill>
                  <a:srgbClr val="1B2420"/>
                </a:solidFill>
                <a:latin typeface="Arimo Bold"/>
                <a:ea typeface="Arimo Bold"/>
                <a:cs typeface="Arimo Bold"/>
                <a:sym typeface="Arimo Bold"/>
              </a:rPr>
              <a:t>Field Sales order for the retailer</a:t>
            </a:r>
          </a:p>
        </p:txBody>
      </p:sp>
      <p:sp>
        <p:nvSpPr>
          <p:cNvPr name="TextBox 21" id="21"/>
          <p:cNvSpPr txBox="true"/>
          <p:nvPr/>
        </p:nvSpPr>
        <p:spPr>
          <a:xfrm rot="0">
            <a:off x="1531620" y="6981825"/>
            <a:ext cx="7381608"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Sales Representatives visit grocery stores and minimarts and place orders on the retailer's behalf, often where mobile signal is weak.</a:t>
            </a:r>
          </a:p>
        </p:txBody>
      </p:sp>
      <p:grpSp>
        <p:nvGrpSpPr>
          <p:cNvPr name="Group 22" id="22"/>
          <p:cNvGrpSpPr/>
          <p:nvPr/>
        </p:nvGrpSpPr>
        <p:grpSpPr>
          <a:xfrm rot="0">
            <a:off x="9277350" y="5694045"/>
            <a:ext cx="7791450" cy="3068955"/>
            <a:chOff x="0" y="0"/>
            <a:chExt cx="10388600" cy="4091940"/>
          </a:xfrm>
        </p:grpSpPr>
        <p:sp>
          <p:nvSpPr>
            <p:cNvPr name="Freeform 23" id="23"/>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grpSp>
        <p:nvGrpSpPr>
          <p:cNvPr name="Group 24" id="24"/>
          <p:cNvGrpSpPr/>
          <p:nvPr/>
        </p:nvGrpSpPr>
        <p:grpSpPr>
          <a:xfrm rot="0">
            <a:off x="9589770" y="6006465"/>
            <a:ext cx="419100" cy="419100"/>
            <a:chOff x="0" y="0"/>
            <a:chExt cx="558800" cy="558800"/>
          </a:xfrm>
        </p:grpSpPr>
        <p:sp>
          <p:nvSpPr>
            <p:cNvPr name="Freeform 25" id="25" descr="Verified"/>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6"/>
              <a:stretch>
                <a:fillRect l="0" t="0" r="0" b="0"/>
              </a:stretch>
            </a:blipFill>
          </p:spPr>
        </p:sp>
      </p:grpSp>
      <p:sp>
        <p:nvSpPr>
          <p:cNvPr name="TextBox 26" id="26"/>
          <p:cNvSpPr txBox="true"/>
          <p:nvPr/>
        </p:nvSpPr>
        <p:spPr>
          <a:xfrm rot="0">
            <a:off x="9589770" y="6530340"/>
            <a:ext cx="7381608" cy="413385"/>
          </a:xfrm>
          <a:prstGeom prst="rect">
            <a:avLst/>
          </a:prstGeom>
        </p:spPr>
        <p:txBody>
          <a:bodyPr anchor="t" rtlCol="false" tIns="0" lIns="0" bIns="0" rIns="0">
            <a:spAutoFit/>
          </a:bodyPr>
          <a:lstStyle/>
          <a:p>
            <a:pPr algn="l">
              <a:lnSpc>
                <a:spcPts val="2879"/>
              </a:lnSpc>
            </a:pPr>
            <a:r>
              <a:rPr lang="en-US" sz="2400" b="true">
                <a:solidFill>
                  <a:srgbClr val="1B2420"/>
                </a:solidFill>
                <a:latin typeface="Arimo Bold"/>
                <a:ea typeface="Arimo Bold"/>
                <a:cs typeface="Arimo Bold"/>
                <a:sym typeface="Arimo Bold"/>
              </a:rPr>
              <a:t>Retailers receive, confirm and pay</a:t>
            </a:r>
          </a:p>
        </p:txBody>
      </p:sp>
      <p:sp>
        <p:nvSpPr>
          <p:cNvPr name="TextBox 27" id="27"/>
          <p:cNvSpPr txBox="true"/>
          <p:nvPr/>
        </p:nvSpPr>
        <p:spPr>
          <a:xfrm rot="0">
            <a:off x="9589770" y="6981825"/>
            <a:ext cx="7381608"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Retailers do not order themselves. They receive the goods, confirm receipt and pay in advance (QR transfer or cash) or on delivery.</a:t>
            </a:r>
          </a:p>
        </p:txBody>
      </p:sp>
      <p:sp>
        <p:nvSpPr>
          <p:cNvPr name="TextBox 28" id="28"/>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29" id="29"/>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PROBLEM STATEMENT</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Problems to solve</a:t>
            </a:r>
          </a:p>
        </p:txBody>
      </p:sp>
      <p:grpSp>
        <p:nvGrpSpPr>
          <p:cNvPr name="Group 4" id="4"/>
          <p:cNvGrpSpPr/>
          <p:nvPr/>
        </p:nvGrpSpPr>
        <p:grpSpPr>
          <a:xfrm rot="0">
            <a:off x="1219200" y="2358390"/>
            <a:ext cx="5105400" cy="3057525"/>
            <a:chOff x="0" y="0"/>
            <a:chExt cx="6807200" cy="4076700"/>
          </a:xfrm>
        </p:grpSpPr>
        <p:sp>
          <p:nvSpPr>
            <p:cNvPr name="Freeform 5" id="5"/>
            <p:cNvSpPr/>
            <p:nvPr/>
          </p:nvSpPr>
          <p:spPr>
            <a:xfrm flipH="false" flipV="false" rot="0">
              <a:off x="0" y="0"/>
              <a:ext cx="6807200" cy="4076700"/>
            </a:xfrm>
            <a:custGeom>
              <a:avLst/>
              <a:gdLst/>
              <a:ahLst/>
              <a:cxnLst/>
              <a:rect r="r" b="b" t="t" l="l"/>
              <a:pathLst>
                <a:path h="4076700" w="6807200">
                  <a:moveTo>
                    <a:pt x="0" y="197485"/>
                  </a:moveTo>
                  <a:cubicBezTo>
                    <a:pt x="0" y="88392"/>
                    <a:pt x="88392" y="0"/>
                    <a:pt x="197485" y="0"/>
                  </a:cubicBezTo>
                  <a:lnTo>
                    <a:pt x="6609715" y="0"/>
                  </a:lnTo>
                  <a:cubicBezTo>
                    <a:pt x="6718808" y="0"/>
                    <a:pt x="6807200" y="88392"/>
                    <a:pt x="6807200" y="197485"/>
                  </a:cubicBezTo>
                  <a:lnTo>
                    <a:pt x="6807200" y="3879215"/>
                  </a:lnTo>
                  <a:cubicBezTo>
                    <a:pt x="6807200" y="3988308"/>
                    <a:pt x="6718808" y="4076700"/>
                    <a:pt x="6609715" y="4076700"/>
                  </a:cubicBezTo>
                  <a:lnTo>
                    <a:pt x="197485" y="4076700"/>
                  </a:lnTo>
                  <a:cubicBezTo>
                    <a:pt x="88392" y="4076700"/>
                    <a:pt x="0" y="3988308"/>
                    <a:pt x="0" y="3879215"/>
                  </a:cubicBezTo>
                  <a:close/>
                </a:path>
              </a:pathLst>
            </a:custGeom>
            <a:solidFill>
              <a:srgbClr val="FFFFFF"/>
            </a:solidFill>
            <a:ln w="9525" cap="sq">
              <a:solidFill>
                <a:srgbClr val="D5DCD7"/>
              </a:solidFill>
              <a:prstDash val="solid"/>
              <a:miter/>
            </a:ln>
          </p:spPr>
        </p:sp>
      </p:grpSp>
      <p:grpSp>
        <p:nvGrpSpPr>
          <p:cNvPr name="Group 6" id="6"/>
          <p:cNvGrpSpPr/>
          <p:nvPr/>
        </p:nvGrpSpPr>
        <p:grpSpPr>
          <a:xfrm rot="0">
            <a:off x="1531620" y="2670810"/>
            <a:ext cx="419100" cy="419100"/>
            <a:chOff x="0" y="0"/>
            <a:chExt cx="558800" cy="558800"/>
          </a:xfrm>
        </p:grpSpPr>
        <p:sp>
          <p:nvSpPr>
            <p:cNvPr name="Freeform 7" id="7" descr="Lightning"/>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3"/>
              <a:stretch>
                <a:fillRect l="0" t="0" r="0" b="0"/>
              </a:stretch>
            </a:blipFill>
          </p:spPr>
        </p:sp>
      </p:grpSp>
      <p:sp>
        <p:nvSpPr>
          <p:cNvPr name="TextBox 8" id="8"/>
          <p:cNvSpPr txBox="true"/>
          <p:nvPr/>
        </p:nvSpPr>
        <p:spPr>
          <a:xfrm rot="0">
            <a:off x="15316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FIFO is not enough</a:t>
            </a:r>
          </a:p>
        </p:txBody>
      </p:sp>
      <p:sp>
        <p:nvSpPr>
          <p:cNvPr name="TextBox 9" id="9"/>
          <p:cNvSpPr txBox="true"/>
          <p:nvPr/>
        </p:nvSpPr>
        <p:spPr>
          <a:xfrm rot="0">
            <a:off x="1531620" y="3623310"/>
            <a:ext cx="4614977" cy="103632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 later receipt can expire earlier than older stock. Orders must follow the expiry date (FEFO).</a:t>
            </a:r>
          </a:p>
        </p:txBody>
      </p:sp>
      <p:grpSp>
        <p:nvGrpSpPr>
          <p:cNvPr name="Group 10" id="10"/>
          <p:cNvGrpSpPr/>
          <p:nvPr/>
        </p:nvGrpSpPr>
        <p:grpSpPr>
          <a:xfrm rot="0">
            <a:off x="6591300" y="2358390"/>
            <a:ext cx="5105400" cy="3057525"/>
            <a:chOff x="0" y="0"/>
            <a:chExt cx="6807200" cy="4076700"/>
          </a:xfrm>
        </p:grpSpPr>
        <p:sp>
          <p:nvSpPr>
            <p:cNvPr name="Freeform 11" id="11"/>
            <p:cNvSpPr/>
            <p:nvPr/>
          </p:nvSpPr>
          <p:spPr>
            <a:xfrm flipH="false" flipV="false" rot="0">
              <a:off x="0" y="0"/>
              <a:ext cx="6807200" cy="4076700"/>
            </a:xfrm>
            <a:custGeom>
              <a:avLst/>
              <a:gdLst/>
              <a:ahLst/>
              <a:cxnLst/>
              <a:rect r="r" b="b" t="t" l="l"/>
              <a:pathLst>
                <a:path h="4076700" w="6807200">
                  <a:moveTo>
                    <a:pt x="0" y="197485"/>
                  </a:moveTo>
                  <a:cubicBezTo>
                    <a:pt x="0" y="88392"/>
                    <a:pt x="88392" y="0"/>
                    <a:pt x="197485" y="0"/>
                  </a:cubicBezTo>
                  <a:lnTo>
                    <a:pt x="6609715" y="0"/>
                  </a:lnTo>
                  <a:cubicBezTo>
                    <a:pt x="6718808" y="0"/>
                    <a:pt x="6807200" y="88392"/>
                    <a:pt x="6807200" y="197485"/>
                  </a:cubicBezTo>
                  <a:lnTo>
                    <a:pt x="6807200" y="3879215"/>
                  </a:lnTo>
                  <a:cubicBezTo>
                    <a:pt x="6807200" y="3988308"/>
                    <a:pt x="6718808" y="4076700"/>
                    <a:pt x="6609715" y="4076700"/>
                  </a:cubicBezTo>
                  <a:lnTo>
                    <a:pt x="197485" y="4076700"/>
                  </a:lnTo>
                  <a:cubicBezTo>
                    <a:pt x="88392" y="4076700"/>
                    <a:pt x="0" y="3988308"/>
                    <a:pt x="0" y="3879215"/>
                  </a:cubicBezTo>
                  <a:close/>
                </a:path>
              </a:pathLst>
            </a:custGeom>
            <a:solidFill>
              <a:srgbClr val="FFFFFF"/>
            </a:solidFill>
            <a:ln w="9525" cap="sq">
              <a:solidFill>
                <a:srgbClr val="D5DCD7"/>
              </a:solidFill>
              <a:prstDash val="solid"/>
              <a:miter/>
            </a:ln>
          </p:spPr>
        </p:sp>
      </p:grpSp>
      <p:grpSp>
        <p:nvGrpSpPr>
          <p:cNvPr name="Group 12" id="12"/>
          <p:cNvGrpSpPr/>
          <p:nvPr/>
        </p:nvGrpSpPr>
        <p:grpSpPr>
          <a:xfrm rot="0">
            <a:off x="6903720" y="2670810"/>
            <a:ext cx="419100" cy="419100"/>
            <a:chOff x="0" y="0"/>
            <a:chExt cx="558800" cy="558800"/>
          </a:xfrm>
        </p:grpSpPr>
        <p:sp>
          <p:nvSpPr>
            <p:cNvPr name="Freeform 13" id="13" descr="Search"/>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4"/>
              <a:stretch>
                <a:fillRect l="0" t="0" r="0" b="0"/>
              </a:stretch>
            </a:blipFill>
          </p:spPr>
        </p:sp>
      </p:grpSp>
      <p:sp>
        <p:nvSpPr>
          <p:cNvPr name="TextBox 14" id="14"/>
          <p:cNvSpPr txBox="true"/>
          <p:nvPr/>
        </p:nvSpPr>
        <p:spPr>
          <a:xfrm rot="0">
            <a:off x="69037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No batch-level visibility</a:t>
            </a:r>
          </a:p>
        </p:txBody>
      </p:sp>
      <p:sp>
        <p:nvSpPr>
          <p:cNvPr name="TextBox 15" id="15"/>
          <p:cNvSpPr txBox="true"/>
          <p:nvPr/>
        </p:nvSpPr>
        <p:spPr>
          <a:xfrm rot="0">
            <a:off x="6903720" y="3623310"/>
            <a:ext cx="4614977" cy="103632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Stock totals do not say which batch, in which warehouse, should serve a given order.</a:t>
            </a:r>
          </a:p>
        </p:txBody>
      </p:sp>
      <p:grpSp>
        <p:nvGrpSpPr>
          <p:cNvPr name="Group 16" id="16"/>
          <p:cNvGrpSpPr/>
          <p:nvPr/>
        </p:nvGrpSpPr>
        <p:grpSpPr>
          <a:xfrm rot="0">
            <a:off x="11963400" y="2358390"/>
            <a:ext cx="5105400" cy="3057525"/>
            <a:chOff x="0" y="0"/>
            <a:chExt cx="6807200" cy="4076700"/>
          </a:xfrm>
        </p:grpSpPr>
        <p:sp>
          <p:nvSpPr>
            <p:cNvPr name="Freeform 17" id="17"/>
            <p:cNvSpPr/>
            <p:nvPr/>
          </p:nvSpPr>
          <p:spPr>
            <a:xfrm flipH="false" flipV="false" rot="0">
              <a:off x="0" y="0"/>
              <a:ext cx="6807200" cy="4076700"/>
            </a:xfrm>
            <a:custGeom>
              <a:avLst/>
              <a:gdLst/>
              <a:ahLst/>
              <a:cxnLst/>
              <a:rect r="r" b="b" t="t" l="l"/>
              <a:pathLst>
                <a:path h="4076700" w="6807200">
                  <a:moveTo>
                    <a:pt x="0" y="197485"/>
                  </a:moveTo>
                  <a:cubicBezTo>
                    <a:pt x="0" y="88392"/>
                    <a:pt x="88392" y="0"/>
                    <a:pt x="197485" y="0"/>
                  </a:cubicBezTo>
                  <a:lnTo>
                    <a:pt x="6609715" y="0"/>
                  </a:lnTo>
                  <a:cubicBezTo>
                    <a:pt x="6718808" y="0"/>
                    <a:pt x="6807200" y="88392"/>
                    <a:pt x="6807200" y="197485"/>
                  </a:cubicBezTo>
                  <a:lnTo>
                    <a:pt x="6807200" y="3879215"/>
                  </a:lnTo>
                  <a:cubicBezTo>
                    <a:pt x="6807200" y="3988308"/>
                    <a:pt x="6718808" y="4076700"/>
                    <a:pt x="6609715" y="4076700"/>
                  </a:cubicBezTo>
                  <a:lnTo>
                    <a:pt x="197485" y="4076700"/>
                  </a:lnTo>
                  <a:cubicBezTo>
                    <a:pt x="88392" y="4076700"/>
                    <a:pt x="0" y="3988308"/>
                    <a:pt x="0" y="3879215"/>
                  </a:cubicBezTo>
                  <a:close/>
                </a:path>
              </a:pathLst>
            </a:custGeom>
            <a:solidFill>
              <a:srgbClr val="FFFFFF"/>
            </a:solidFill>
            <a:ln w="9525" cap="sq">
              <a:solidFill>
                <a:srgbClr val="D5DCD7"/>
              </a:solidFill>
              <a:prstDash val="solid"/>
              <a:miter/>
            </a:ln>
          </p:spPr>
        </p:sp>
      </p:grpSp>
      <p:grpSp>
        <p:nvGrpSpPr>
          <p:cNvPr name="Group 18" id="18"/>
          <p:cNvGrpSpPr/>
          <p:nvPr/>
        </p:nvGrpSpPr>
        <p:grpSpPr>
          <a:xfrm rot="0">
            <a:off x="12275820" y="2670810"/>
            <a:ext cx="419100" cy="419100"/>
            <a:chOff x="0" y="0"/>
            <a:chExt cx="558800" cy="558800"/>
          </a:xfrm>
        </p:grpSpPr>
        <p:sp>
          <p:nvSpPr>
            <p:cNvPr name="Freeform 19" id="19" descr="Warning"/>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5"/>
              <a:stretch>
                <a:fillRect l="0" t="0" r="0" b="0"/>
              </a:stretch>
            </a:blipFill>
          </p:spPr>
        </p:sp>
      </p:grpSp>
      <p:sp>
        <p:nvSpPr>
          <p:cNvPr name="TextBox 20" id="20"/>
          <p:cNvSpPr txBox="true"/>
          <p:nvPr/>
        </p:nvSpPr>
        <p:spPr>
          <a:xfrm rot="0">
            <a:off x="122758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Near-expiry deliveries</a:t>
            </a:r>
          </a:p>
        </p:txBody>
      </p:sp>
      <p:sp>
        <p:nvSpPr>
          <p:cNvPr name="TextBox 21" id="21"/>
          <p:cNvSpPr txBox="true"/>
          <p:nvPr/>
        </p:nvSpPr>
        <p:spPr>
          <a:xfrm rot="0">
            <a:off x="12275820" y="3623310"/>
            <a:ext cx="4614977" cy="103632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Retailers require a minimum remaining life on receipt (MLOR), which depends on the arrival date.</a:t>
            </a:r>
          </a:p>
        </p:txBody>
      </p:sp>
      <p:grpSp>
        <p:nvGrpSpPr>
          <p:cNvPr name="Group 22" id="22"/>
          <p:cNvGrpSpPr/>
          <p:nvPr/>
        </p:nvGrpSpPr>
        <p:grpSpPr>
          <a:xfrm rot="0">
            <a:off x="1219200" y="5682615"/>
            <a:ext cx="5105400" cy="3080385"/>
            <a:chOff x="0" y="0"/>
            <a:chExt cx="6807200" cy="4107180"/>
          </a:xfrm>
        </p:grpSpPr>
        <p:sp>
          <p:nvSpPr>
            <p:cNvPr name="Freeform 23" id="23"/>
            <p:cNvSpPr/>
            <p:nvPr/>
          </p:nvSpPr>
          <p:spPr>
            <a:xfrm flipH="false" flipV="false" rot="0">
              <a:off x="0" y="0"/>
              <a:ext cx="6807200" cy="4107180"/>
            </a:xfrm>
            <a:custGeom>
              <a:avLst/>
              <a:gdLst/>
              <a:ahLst/>
              <a:cxnLst/>
              <a:rect r="r" b="b" t="t" l="l"/>
              <a:pathLst>
                <a:path h="4107180" w="6807200">
                  <a:moveTo>
                    <a:pt x="0" y="197485"/>
                  </a:moveTo>
                  <a:cubicBezTo>
                    <a:pt x="0" y="88392"/>
                    <a:pt x="88392" y="0"/>
                    <a:pt x="197485" y="0"/>
                  </a:cubicBezTo>
                  <a:lnTo>
                    <a:pt x="6609715" y="0"/>
                  </a:lnTo>
                  <a:cubicBezTo>
                    <a:pt x="6718808" y="0"/>
                    <a:pt x="6807200" y="88392"/>
                    <a:pt x="6807200" y="197485"/>
                  </a:cubicBezTo>
                  <a:lnTo>
                    <a:pt x="6807200" y="3909695"/>
                  </a:lnTo>
                  <a:cubicBezTo>
                    <a:pt x="6807200" y="4018788"/>
                    <a:pt x="6718808" y="4107180"/>
                    <a:pt x="6609715" y="4107180"/>
                  </a:cubicBezTo>
                  <a:lnTo>
                    <a:pt x="197485" y="4107180"/>
                  </a:lnTo>
                  <a:cubicBezTo>
                    <a:pt x="88392" y="4107180"/>
                    <a:pt x="0" y="4018788"/>
                    <a:pt x="0" y="3909695"/>
                  </a:cubicBezTo>
                  <a:close/>
                </a:path>
              </a:pathLst>
            </a:custGeom>
            <a:solidFill>
              <a:srgbClr val="FFFFFF"/>
            </a:solidFill>
            <a:ln w="9525" cap="sq">
              <a:solidFill>
                <a:srgbClr val="D5DCD7"/>
              </a:solidFill>
              <a:prstDash val="solid"/>
              <a:miter/>
            </a:ln>
          </p:spPr>
        </p:sp>
      </p:grpSp>
      <p:grpSp>
        <p:nvGrpSpPr>
          <p:cNvPr name="Group 24" id="24"/>
          <p:cNvGrpSpPr/>
          <p:nvPr/>
        </p:nvGrpSpPr>
        <p:grpSpPr>
          <a:xfrm rot="0">
            <a:off x="1531620" y="5995035"/>
            <a:ext cx="419100" cy="419100"/>
            <a:chOff x="0" y="0"/>
            <a:chExt cx="558800" cy="558800"/>
          </a:xfrm>
        </p:grpSpPr>
        <p:sp>
          <p:nvSpPr>
            <p:cNvPr name="Freeform 25" id="25" descr="Lock"/>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6"/>
              <a:stretch>
                <a:fillRect l="0" t="0" r="0" b="0"/>
              </a:stretch>
            </a:blipFill>
          </p:spPr>
        </p:sp>
      </p:grpSp>
      <p:sp>
        <p:nvSpPr>
          <p:cNvPr name="TextBox 26" id="26"/>
          <p:cNvSpPr txBox="true"/>
          <p:nvPr/>
        </p:nvSpPr>
        <p:spPr>
          <a:xfrm rot="0">
            <a:off x="1531620" y="6509385"/>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Double-booking</a:t>
            </a:r>
          </a:p>
        </p:txBody>
      </p:sp>
      <p:sp>
        <p:nvSpPr>
          <p:cNvPr name="TextBox 27" id="27"/>
          <p:cNvSpPr txBox="true"/>
          <p:nvPr/>
        </p:nvSpPr>
        <p:spPr>
          <a:xfrm rot="0">
            <a:off x="1531620" y="6947535"/>
            <a:ext cx="4614977"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Several Sales submit orders for the same stock, especially after working offline.</a:t>
            </a:r>
          </a:p>
        </p:txBody>
      </p:sp>
      <p:grpSp>
        <p:nvGrpSpPr>
          <p:cNvPr name="Group 28" id="28"/>
          <p:cNvGrpSpPr/>
          <p:nvPr/>
        </p:nvGrpSpPr>
        <p:grpSpPr>
          <a:xfrm rot="0">
            <a:off x="6591300" y="5682615"/>
            <a:ext cx="5105400" cy="3080385"/>
            <a:chOff x="0" y="0"/>
            <a:chExt cx="6807200" cy="4107180"/>
          </a:xfrm>
        </p:grpSpPr>
        <p:sp>
          <p:nvSpPr>
            <p:cNvPr name="Freeform 29" id="29"/>
            <p:cNvSpPr/>
            <p:nvPr/>
          </p:nvSpPr>
          <p:spPr>
            <a:xfrm flipH="false" flipV="false" rot="0">
              <a:off x="0" y="0"/>
              <a:ext cx="6807200" cy="4107180"/>
            </a:xfrm>
            <a:custGeom>
              <a:avLst/>
              <a:gdLst/>
              <a:ahLst/>
              <a:cxnLst/>
              <a:rect r="r" b="b" t="t" l="l"/>
              <a:pathLst>
                <a:path h="4107180" w="6807200">
                  <a:moveTo>
                    <a:pt x="0" y="197485"/>
                  </a:moveTo>
                  <a:cubicBezTo>
                    <a:pt x="0" y="88392"/>
                    <a:pt x="88392" y="0"/>
                    <a:pt x="197485" y="0"/>
                  </a:cubicBezTo>
                  <a:lnTo>
                    <a:pt x="6609715" y="0"/>
                  </a:lnTo>
                  <a:cubicBezTo>
                    <a:pt x="6718808" y="0"/>
                    <a:pt x="6807200" y="88392"/>
                    <a:pt x="6807200" y="197485"/>
                  </a:cubicBezTo>
                  <a:lnTo>
                    <a:pt x="6807200" y="3909695"/>
                  </a:lnTo>
                  <a:cubicBezTo>
                    <a:pt x="6807200" y="4018788"/>
                    <a:pt x="6718808" y="4107180"/>
                    <a:pt x="6609715" y="4107180"/>
                  </a:cubicBezTo>
                  <a:lnTo>
                    <a:pt x="197485" y="4107180"/>
                  </a:lnTo>
                  <a:cubicBezTo>
                    <a:pt x="88392" y="4107180"/>
                    <a:pt x="0" y="4018788"/>
                    <a:pt x="0" y="3909695"/>
                  </a:cubicBezTo>
                  <a:close/>
                </a:path>
              </a:pathLst>
            </a:custGeom>
            <a:solidFill>
              <a:srgbClr val="FFFFFF"/>
            </a:solidFill>
            <a:ln w="9525" cap="sq">
              <a:solidFill>
                <a:srgbClr val="D5DCD7"/>
              </a:solidFill>
              <a:prstDash val="solid"/>
              <a:miter/>
            </a:ln>
          </p:spPr>
        </p:sp>
      </p:grpSp>
      <p:grpSp>
        <p:nvGrpSpPr>
          <p:cNvPr name="Group 30" id="30"/>
          <p:cNvGrpSpPr/>
          <p:nvPr/>
        </p:nvGrpSpPr>
        <p:grpSpPr>
          <a:xfrm rot="0">
            <a:off x="6903720" y="5995035"/>
            <a:ext cx="419100" cy="419100"/>
            <a:chOff x="0" y="0"/>
            <a:chExt cx="558800" cy="558800"/>
          </a:xfrm>
        </p:grpSpPr>
        <p:sp>
          <p:nvSpPr>
            <p:cNvPr name="Freeform 31" id="31" descr="Link"/>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7"/>
              <a:stretch>
                <a:fillRect l="0" t="0" r="0" b="0"/>
              </a:stretch>
            </a:blipFill>
          </p:spPr>
        </p:sp>
      </p:grpSp>
      <p:sp>
        <p:nvSpPr>
          <p:cNvPr name="TextBox 32" id="32"/>
          <p:cNvSpPr txBox="true"/>
          <p:nvPr/>
        </p:nvSpPr>
        <p:spPr>
          <a:xfrm rot="0">
            <a:off x="6903720" y="6509385"/>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Weak traceability</a:t>
            </a:r>
          </a:p>
        </p:txBody>
      </p:sp>
      <p:sp>
        <p:nvSpPr>
          <p:cNvPr name="TextBox 33" id="33"/>
          <p:cNvSpPr txBox="true"/>
          <p:nvPr/>
        </p:nvSpPr>
        <p:spPr>
          <a:xfrm rot="0">
            <a:off x="6903720" y="6947535"/>
            <a:ext cx="4614977" cy="103632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Nothing links the batch quantity that left the warehouse to what the retailer received.</a:t>
            </a:r>
          </a:p>
        </p:txBody>
      </p:sp>
      <p:grpSp>
        <p:nvGrpSpPr>
          <p:cNvPr name="Group 34" id="34"/>
          <p:cNvGrpSpPr/>
          <p:nvPr/>
        </p:nvGrpSpPr>
        <p:grpSpPr>
          <a:xfrm rot="0">
            <a:off x="11963400" y="5682615"/>
            <a:ext cx="5105400" cy="3080385"/>
            <a:chOff x="0" y="0"/>
            <a:chExt cx="6807200" cy="4107180"/>
          </a:xfrm>
        </p:grpSpPr>
        <p:sp>
          <p:nvSpPr>
            <p:cNvPr name="Freeform 35" id="35"/>
            <p:cNvSpPr/>
            <p:nvPr/>
          </p:nvSpPr>
          <p:spPr>
            <a:xfrm flipH="false" flipV="false" rot="0">
              <a:off x="0" y="0"/>
              <a:ext cx="6807200" cy="4107180"/>
            </a:xfrm>
            <a:custGeom>
              <a:avLst/>
              <a:gdLst/>
              <a:ahLst/>
              <a:cxnLst/>
              <a:rect r="r" b="b" t="t" l="l"/>
              <a:pathLst>
                <a:path h="4107180" w="6807200">
                  <a:moveTo>
                    <a:pt x="0" y="197485"/>
                  </a:moveTo>
                  <a:cubicBezTo>
                    <a:pt x="0" y="88392"/>
                    <a:pt x="88392" y="0"/>
                    <a:pt x="197485" y="0"/>
                  </a:cubicBezTo>
                  <a:lnTo>
                    <a:pt x="6609715" y="0"/>
                  </a:lnTo>
                  <a:cubicBezTo>
                    <a:pt x="6718808" y="0"/>
                    <a:pt x="6807200" y="88392"/>
                    <a:pt x="6807200" y="197485"/>
                  </a:cubicBezTo>
                  <a:lnTo>
                    <a:pt x="6807200" y="3909695"/>
                  </a:lnTo>
                  <a:cubicBezTo>
                    <a:pt x="6807200" y="4018788"/>
                    <a:pt x="6718808" y="4107180"/>
                    <a:pt x="6609715" y="4107180"/>
                  </a:cubicBezTo>
                  <a:lnTo>
                    <a:pt x="197485" y="4107180"/>
                  </a:lnTo>
                  <a:cubicBezTo>
                    <a:pt x="88392" y="4107180"/>
                    <a:pt x="0" y="4018788"/>
                    <a:pt x="0" y="3909695"/>
                  </a:cubicBezTo>
                  <a:close/>
                </a:path>
              </a:pathLst>
            </a:custGeom>
            <a:solidFill>
              <a:srgbClr val="FFFFFF"/>
            </a:solidFill>
            <a:ln w="9525" cap="sq">
              <a:solidFill>
                <a:srgbClr val="D5DCD7"/>
              </a:solidFill>
              <a:prstDash val="solid"/>
              <a:miter/>
            </a:ln>
          </p:spPr>
        </p:sp>
      </p:grpSp>
      <p:grpSp>
        <p:nvGrpSpPr>
          <p:cNvPr name="Group 36" id="36"/>
          <p:cNvGrpSpPr/>
          <p:nvPr/>
        </p:nvGrpSpPr>
        <p:grpSpPr>
          <a:xfrm rot="0">
            <a:off x="12275820" y="5995035"/>
            <a:ext cx="419100" cy="419100"/>
            <a:chOff x="0" y="0"/>
            <a:chExt cx="558800" cy="558800"/>
          </a:xfrm>
        </p:grpSpPr>
        <p:sp>
          <p:nvSpPr>
            <p:cNvPr name="Freeform 37" id="37" descr="Chart"/>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8"/>
              <a:stretch>
                <a:fillRect l="0" t="0" r="0" b="0"/>
              </a:stretch>
            </a:blipFill>
          </p:spPr>
        </p:sp>
      </p:grpSp>
      <p:sp>
        <p:nvSpPr>
          <p:cNvPr name="TextBox 38" id="38"/>
          <p:cNvSpPr txBox="true"/>
          <p:nvPr/>
        </p:nvSpPr>
        <p:spPr>
          <a:xfrm rot="0">
            <a:off x="12275820" y="6509385"/>
            <a:ext cx="4614977" cy="7429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Manual promotions and reporting</a:t>
            </a:r>
          </a:p>
        </p:txBody>
      </p:sp>
      <p:sp>
        <p:nvSpPr>
          <p:cNvPr name="TextBox 39" id="39"/>
          <p:cNvSpPr txBox="true"/>
          <p:nvPr/>
        </p:nvSpPr>
        <p:spPr>
          <a:xfrm rot="0">
            <a:off x="12275820" y="7290435"/>
            <a:ext cx="4614977"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Discounts are calculated by hand and sales performance is not visible in real time.</a:t>
            </a:r>
          </a:p>
        </p:txBody>
      </p:sp>
      <p:sp>
        <p:nvSpPr>
          <p:cNvPr name="TextBox 40" id="40"/>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41" id="41"/>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CURRENT COMPETITORS</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Existing enterprise systems</a:t>
            </a:r>
          </a:p>
        </p:txBody>
      </p:sp>
      <p:grpSp>
        <p:nvGrpSpPr>
          <p:cNvPr name="Group 4" id="4"/>
          <p:cNvGrpSpPr/>
          <p:nvPr/>
        </p:nvGrpSpPr>
        <p:grpSpPr>
          <a:xfrm rot="0">
            <a:off x="1219200" y="2358390"/>
            <a:ext cx="15849600" cy="4968240"/>
            <a:chOff x="0" y="0"/>
            <a:chExt cx="21132800" cy="6624320"/>
          </a:xfrm>
        </p:grpSpPr>
        <p:sp>
          <p:nvSpPr>
            <p:cNvPr name="Freeform 5" id="5"/>
            <p:cNvSpPr/>
            <p:nvPr/>
          </p:nvSpPr>
          <p:spPr>
            <a:xfrm flipH="false" flipV="false" rot="0">
              <a:off x="0" y="0"/>
              <a:ext cx="21132800" cy="6624320"/>
            </a:xfrm>
            <a:custGeom>
              <a:avLst/>
              <a:gdLst/>
              <a:ahLst/>
              <a:cxnLst/>
              <a:rect r="r" b="b" t="t" l="l"/>
              <a:pathLst>
                <a:path h="6624320" w="21132800">
                  <a:moveTo>
                    <a:pt x="0" y="152400"/>
                  </a:moveTo>
                  <a:cubicBezTo>
                    <a:pt x="0" y="68199"/>
                    <a:pt x="68199" y="0"/>
                    <a:pt x="152400" y="0"/>
                  </a:cubicBezTo>
                  <a:lnTo>
                    <a:pt x="20980400" y="0"/>
                  </a:lnTo>
                  <a:cubicBezTo>
                    <a:pt x="21064601" y="0"/>
                    <a:pt x="21132800" y="68199"/>
                    <a:pt x="21132800" y="152400"/>
                  </a:cubicBezTo>
                  <a:lnTo>
                    <a:pt x="21132800" y="6471920"/>
                  </a:lnTo>
                  <a:cubicBezTo>
                    <a:pt x="21132800" y="6556121"/>
                    <a:pt x="21064601" y="6624320"/>
                    <a:pt x="20980400" y="6624320"/>
                  </a:cubicBezTo>
                  <a:lnTo>
                    <a:pt x="152400" y="6624320"/>
                  </a:lnTo>
                  <a:cubicBezTo>
                    <a:pt x="68199" y="6624320"/>
                    <a:pt x="0" y="6556121"/>
                    <a:pt x="0" y="6471920"/>
                  </a:cubicBezTo>
                  <a:close/>
                </a:path>
              </a:pathLst>
            </a:custGeom>
            <a:solidFill>
              <a:srgbClr val="FFFFFF"/>
            </a:solidFill>
          </p:spPr>
        </p:sp>
      </p:grpSp>
      <p:grpSp>
        <p:nvGrpSpPr>
          <p:cNvPr name="Group 6" id="6"/>
          <p:cNvGrpSpPr/>
          <p:nvPr/>
        </p:nvGrpSpPr>
        <p:grpSpPr>
          <a:xfrm rot="0">
            <a:off x="1219200" y="2358390"/>
            <a:ext cx="15849600" cy="4968240"/>
            <a:chOff x="0" y="0"/>
            <a:chExt cx="21132800" cy="6624320"/>
          </a:xfrm>
        </p:grpSpPr>
        <p:sp>
          <p:nvSpPr>
            <p:cNvPr name="Freeform 7" id="7"/>
            <p:cNvSpPr/>
            <p:nvPr/>
          </p:nvSpPr>
          <p:spPr>
            <a:xfrm flipH="false" flipV="false" rot="0">
              <a:off x="0" y="0"/>
              <a:ext cx="21132800" cy="6624320"/>
            </a:xfrm>
            <a:custGeom>
              <a:avLst/>
              <a:gdLst/>
              <a:ahLst/>
              <a:cxnLst/>
              <a:rect r="r" b="b" t="t" l="l"/>
              <a:pathLst>
                <a:path h="6624320" w="21132800">
                  <a:moveTo>
                    <a:pt x="20980400" y="0"/>
                  </a:moveTo>
                  <a:cubicBezTo>
                    <a:pt x="21064601" y="0"/>
                    <a:pt x="21132800" y="68199"/>
                    <a:pt x="21132800" y="152400"/>
                  </a:cubicBezTo>
                  <a:lnTo>
                    <a:pt x="21132800" y="6471920"/>
                  </a:lnTo>
                  <a:cubicBezTo>
                    <a:pt x="21132800" y="6556121"/>
                    <a:pt x="21064601" y="6624320"/>
                    <a:pt x="20980400" y="6624320"/>
                  </a:cubicBezTo>
                  <a:lnTo>
                    <a:pt x="152400" y="6624320"/>
                  </a:lnTo>
                  <a:cubicBezTo>
                    <a:pt x="68199" y="6624320"/>
                    <a:pt x="0" y="6556121"/>
                    <a:pt x="0" y="6471920"/>
                  </a:cubicBezTo>
                  <a:cubicBezTo>
                    <a:pt x="0" y="6549136"/>
                    <a:pt x="62484" y="6611620"/>
                    <a:pt x="139700" y="6611620"/>
                  </a:cubicBezTo>
                  <a:lnTo>
                    <a:pt x="20980400" y="6611620"/>
                  </a:lnTo>
                  <a:cubicBezTo>
                    <a:pt x="21057615" y="6611620"/>
                    <a:pt x="21120100" y="6549136"/>
                    <a:pt x="21120100" y="647192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390"/>
            <a:ext cx="15849600" cy="4968240"/>
            <a:chOff x="0" y="0"/>
            <a:chExt cx="21132800" cy="6624320"/>
          </a:xfrm>
        </p:grpSpPr>
        <p:sp>
          <p:nvSpPr>
            <p:cNvPr name="Freeform 9" id="9"/>
            <p:cNvSpPr/>
            <p:nvPr/>
          </p:nvSpPr>
          <p:spPr>
            <a:xfrm flipH="false" flipV="false" rot="0">
              <a:off x="0" y="0"/>
              <a:ext cx="21132800" cy="6624320"/>
            </a:xfrm>
            <a:custGeom>
              <a:avLst/>
              <a:gdLst/>
              <a:ahLst/>
              <a:cxnLst/>
              <a:rect r="r" b="b" t="t" l="l"/>
              <a:pathLst>
                <a:path h="6624320" w="21132800">
                  <a:moveTo>
                    <a:pt x="152400" y="6624320"/>
                  </a:moveTo>
                  <a:cubicBezTo>
                    <a:pt x="68199" y="6624320"/>
                    <a:pt x="0" y="6556121"/>
                    <a:pt x="0" y="647192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6471920"/>
                  </a:lnTo>
                  <a:cubicBezTo>
                    <a:pt x="20320" y="6556121"/>
                    <a:pt x="88519" y="6624320"/>
                    <a:pt x="172720" y="662432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2"/>
          <a:ext cx="15563850" cy="4667250"/>
        </p:xfrm>
        <a:graphic>
          <a:graphicData uri="http://schemas.openxmlformats.org/drawingml/2006/table">
            <a:tbl>
              <a:tblPr/>
              <a:tblGrid>
                <a:gridCol w="2642273"/>
                <a:gridCol w="4358632"/>
                <a:gridCol w="3741354"/>
                <a:gridCol w="4821590"/>
              </a:tblGrid>
              <a:tr h="491098">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System</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Relevant capabilities</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Strength</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Gap for our case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112043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SAP Extended Warehouse Management</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Batch stock, shelf-life expiration dates, delivery scheduling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Mature control of complex enterprise warehouses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Breadth and configuration effort exceed an SME distributor's MVP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12043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Microsoft Dynamics 365 SCM</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Sales-order reservation, batch control, warehouse reservation policies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Integrated order and inventory visibility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 lightweight flow that allocates offline field orders by FEFO and MLOR before approval</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12043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Odoo Inventory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Lot tracking, expiration dates, FEFO removal strategy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Modular and comparatively accessible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Standard FEFO removal does not combine an ETA-based MLOR filter, atomic reservation and multi-warehouse split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1485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Oracle NetSuite WMS</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Lot-numbered inventory, FEFO lot assignment, expiry validation</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FEFO inside a broad cloud ERP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ERP scope is not tailored to a lightweight SME field-sales workflow</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2" id="12"/>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POSITIONING</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Where FSCM fits</a:t>
            </a:r>
          </a:p>
        </p:txBody>
      </p:sp>
      <p:grpSp>
        <p:nvGrpSpPr>
          <p:cNvPr name="Group 4" id="4"/>
          <p:cNvGrpSpPr/>
          <p:nvPr/>
        </p:nvGrpSpPr>
        <p:grpSpPr>
          <a:xfrm rot="0">
            <a:off x="1219200" y="2358390"/>
            <a:ext cx="15849600" cy="4678680"/>
            <a:chOff x="0" y="0"/>
            <a:chExt cx="21132800" cy="6238240"/>
          </a:xfrm>
        </p:grpSpPr>
        <p:sp>
          <p:nvSpPr>
            <p:cNvPr name="Freeform 5" id="5"/>
            <p:cNvSpPr/>
            <p:nvPr/>
          </p:nvSpPr>
          <p:spPr>
            <a:xfrm flipH="false" flipV="false" rot="0">
              <a:off x="0" y="0"/>
              <a:ext cx="21132800" cy="6238240"/>
            </a:xfrm>
            <a:custGeom>
              <a:avLst/>
              <a:gdLst/>
              <a:ahLst/>
              <a:cxnLst/>
              <a:rect r="r" b="b" t="t" l="l"/>
              <a:pathLst>
                <a:path h="6238240" w="21132800">
                  <a:moveTo>
                    <a:pt x="0" y="152400"/>
                  </a:moveTo>
                  <a:cubicBezTo>
                    <a:pt x="0" y="68199"/>
                    <a:pt x="68199" y="0"/>
                    <a:pt x="152400" y="0"/>
                  </a:cubicBezTo>
                  <a:lnTo>
                    <a:pt x="20980400" y="0"/>
                  </a:lnTo>
                  <a:cubicBezTo>
                    <a:pt x="21064601" y="0"/>
                    <a:pt x="21132800" y="68199"/>
                    <a:pt x="21132800" y="152400"/>
                  </a:cubicBezTo>
                  <a:lnTo>
                    <a:pt x="21132800" y="6085840"/>
                  </a:lnTo>
                  <a:cubicBezTo>
                    <a:pt x="21132800" y="6170041"/>
                    <a:pt x="21064601" y="6238240"/>
                    <a:pt x="20980400" y="6238240"/>
                  </a:cubicBezTo>
                  <a:lnTo>
                    <a:pt x="152400" y="6238240"/>
                  </a:lnTo>
                  <a:cubicBezTo>
                    <a:pt x="68199" y="6238240"/>
                    <a:pt x="0" y="6170041"/>
                    <a:pt x="0" y="6085840"/>
                  </a:cubicBezTo>
                  <a:close/>
                </a:path>
              </a:pathLst>
            </a:custGeom>
            <a:solidFill>
              <a:srgbClr val="FFFFFF"/>
            </a:solidFill>
          </p:spPr>
        </p:sp>
      </p:grpSp>
      <p:grpSp>
        <p:nvGrpSpPr>
          <p:cNvPr name="Group 6" id="6"/>
          <p:cNvGrpSpPr/>
          <p:nvPr/>
        </p:nvGrpSpPr>
        <p:grpSpPr>
          <a:xfrm rot="0">
            <a:off x="1219200" y="2358390"/>
            <a:ext cx="15849600" cy="4678680"/>
            <a:chOff x="0" y="0"/>
            <a:chExt cx="21132800" cy="6238240"/>
          </a:xfrm>
        </p:grpSpPr>
        <p:sp>
          <p:nvSpPr>
            <p:cNvPr name="Freeform 7" id="7"/>
            <p:cNvSpPr/>
            <p:nvPr/>
          </p:nvSpPr>
          <p:spPr>
            <a:xfrm flipH="false" flipV="false" rot="0">
              <a:off x="0" y="0"/>
              <a:ext cx="21132800" cy="6238240"/>
            </a:xfrm>
            <a:custGeom>
              <a:avLst/>
              <a:gdLst/>
              <a:ahLst/>
              <a:cxnLst/>
              <a:rect r="r" b="b" t="t" l="l"/>
              <a:pathLst>
                <a:path h="6238240" w="21132800">
                  <a:moveTo>
                    <a:pt x="20980400" y="0"/>
                  </a:moveTo>
                  <a:cubicBezTo>
                    <a:pt x="21064601" y="0"/>
                    <a:pt x="21132800" y="68199"/>
                    <a:pt x="21132800" y="152400"/>
                  </a:cubicBezTo>
                  <a:lnTo>
                    <a:pt x="21132800" y="6085840"/>
                  </a:lnTo>
                  <a:cubicBezTo>
                    <a:pt x="21132800" y="6170041"/>
                    <a:pt x="21064601" y="6238240"/>
                    <a:pt x="20980400" y="6238240"/>
                  </a:cubicBezTo>
                  <a:lnTo>
                    <a:pt x="152400" y="6238240"/>
                  </a:lnTo>
                  <a:cubicBezTo>
                    <a:pt x="68199" y="6238240"/>
                    <a:pt x="0" y="6170041"/>
                    <a:pt x="0" y="6085840"/>
                  </a:cubicBezTo>
                  <a:cubicBezTo>
                    <a:pt x="0" y="6163056"/>
                    <a:pt x="62484" y="6225540"/>
                    <a:pt x="139700" y="6225540"/>
                  </a:cubicBezTo>
                  <a:lnTo>
                    <a:pt x="20980400" y="6225540"/>
                  </a:lnTo>
                  <a:cubicBezTo>
                    <a:pt x="21057615" y="6225540"/>
                    <a:pt x="21120100" y="6163056"/>
                    <a:pt x="21120100" y="608584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390"/>
            <a:ext cx="15849600" cy="4678680"/>
            <a:chOff x="0" y="0"/>
            <a:chExt cx="21132800" cy="6238240"/>
          </a:xfrm>
        </p:grpSpPr>
        <p:sp>
          <p:nvSpPr>
            <p:cNvPr name="Freeform 9" id="9"/>
            <p:cNvSpPr/>
            <p:nvPr/>
          </p:nvSpPr>
          <p:spPr>
            <a:xfrm flipH="false" flipV="false" rot="0">
              <a:off x="0" y="0"/>
              <a:ext cx="21132800" cy="6238240"/>
            </a:xfrm>
            <a:custGeom>
              <a:avLst/>
              <a:gdLst/>
              <a:ahLst/>
              <a:cxnLst/>
              <a:rect r="r" b="b" t="t" l="l"/>
              <a:pathLst>
                <a:path h="6238240" w="21132800">
                  <a:moveTo>
                    <a:pt x="152400" y="6238240"/>
                  </a:moveTo>
                  <a:cubicBezTo>
                    <a:pt x="68199" y="6238240"/>
                    <a:pt x="0" y="6170041"/>
                    <a:pt x="0" y="608584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6085840"/>
                  </a:lnTo>
                  <a:cubicBezTo>
                    <a:pt x="20320" y="6170041"/>
                    <a:pt x="88519" y="6238240"/>
                    <a:pt x="172720" y="623824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2"/>
          <a:ext cx="15544800" cy="4381500"/>
        </p:xfrm>
        <a:graphic>
          <a:graphicData uri="http://schemas.openxmlformats.org/drawingml/2006/table">
            <a:tbl>
              <a:tblPr/>
              <a:tblGrid>
                <a:gridCol w="4631517"/>
                <a:gridCol w="2805200"/>
                <a:gridCol w="2651442"/>
                <a:gridCol w="2343926"/>
                <a:gridCol w="3112716"/>
              </a:tblGrid>
              <a:tr h="482072">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Capability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Enterprise WMS / ERP</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Odoo Inventory</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Field-sales DMS</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FSCM</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499927">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Batch / expiry tracking</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Not described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79988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FEFO allocation across several warehouses</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 heavy setup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Per warehouse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Not described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9927">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MLOR checked at the estimated arrival</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Via configuration</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Not in standard FEFO</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 per retailer-SKU</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79988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Offline field ordering, first-come-first-served sync</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Not core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Not core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Mobile ordering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 local DB + idempotent sync</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79988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QR label from goods issue to retailer receipt</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Warehouse scanning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Warehouse barcodes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 label-level trace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9927">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Effort to adopt for an SME distributor</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High</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Medium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Low</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Yes, focused MVP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7341870"/>
            <a:ext cx="16325088"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Comparison based on vendors' public documentation; “Not described” = not found in public product descriptions.</a:t>
            </a:r>
          </a:p>
        </p:txBody>
      </p:sp>
      <p:sp>
        <p:nvSpPr>
          <p:cNvPr name="TextBox 12" id="12"/>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3" id="13"/>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06</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14302B"/>
        </a:solidFill>
      </p:bgPr>
    </p:bg>
    <p:spTree>
      <p:nvGrpSpPr>
        <p:cNvPr id="1" name=""/>
        <p:cNvGrpSpPr/>
        <p:nvPr/>
      </p:nvGrpSpPr>
      <p:grpSpPr>
        <a:xfrm>
          <a:off x="0" y="0"/>
          <a:ext cx="0" cy="0"/>
          <a:chOff x="0" y="0"/>
          <a:chExt cx="0" cy="0"/>
        </a:xfrm>
      </p:grpSpPr>
      <p:sp>
        <p:nvSpPr>
          <p:cNvPr name="TextBox 2" id="2"/>
          <p:cNvSpPr txBox="true"/>
          <p:nvPr/>
        </p:nvSpPr>
        <p:spPr>
          <a:xfrm rot="0">
            <a:off x="1219200" y="2280285"/>
            <a:ext cx="16325088" cy="459105"/>
          </a:xfrm>
          <a:prstGeom prst="rect">
            <a:avLst/>
          </a:prstGeom>
        </p:spPr>
        <p:txBody>
          <a:bodyPr anchor="t" rtlCol="false" tIns="0" lIns="0" bIns="0" rIns="0">
            <a:spAutoFit/>
          </a:bodyPr>
          <a:lstStyle/>
          <a:p>
            <a:pPr algn="l">
              <a:lnSpc>
                <a:spcPts val="2940"/>
              </a:lnSpc>
            </a:pPr>
            <a:r>
              <a:rPr lang="en-US" b="true" sz="2100" spc="225">
                <a:solidFill>
                  <a:srgbClr val="7FD1B9"/>
                </a:solidFill>
                <a:latin typeface="IBM Plex Sans Bold"/>
                <a:ea typeface="IBM Plex Sans Bold"/>
                <a:cs typeface="IBM Plex Sans Bold"/>
                <a:sym typeface="IBM Plex Sans Bold"/>
              </a:rPr>
              <a:t>PRODUCT VISION</a:t>
            </a:r>
          </a:p>
        </p:txBody>
      </p:sp>
      <p:sp>
        <p:nvSpPr>
          <p:cNvPr name="TextBox 3" id="3"/>
          <p:cNvSpPr txBox="true"/>
          <p:nvPr/>
        </p:nvSpPr>
        <p:spPr>
          <a:xfrm rot="0">
            <a:off x="1219200" y="3034665"/>
            <a:ext cx="15697200" cy="3202305"/>
          </a:xfrm>
          <a:prstGeom prst="rect">
            <a:avLst/>
          </a:prstGeom>
        </p:spPr>
        <p:txBody>
          <a:bodyPr anchor="t" rtlCol="false" tIns="0" lIns="0" bIns="0" rIns="0">
            <a:spAutoFit/>
          </a:bodyPr>
          <a:lstStyle/>
          <a:p>
            <a:pPr algn="l">
              <a:lnSpc>
                <a:spcPts val="6209"/>
              </a:lnSpc>
            </a:pPr>
            <a:r>
              <a:rPr lang="en-US" sz="5400" b="true">
                <a:solidFill>
                  <a:srgbClr val="F2F1EA"/>
                </a:solidFill>
                <a:latin typeface="Arimo Bold"/>
                <a:ea typeface="Arimo Bold"/>
                <a:cs typeface="Arimo Bold"/>
                <a:sym typeface="Arimo Bold"/>
              </a:rPr>
              <a:t>FSCM decides which batch, in which warehouse, serves each order, and keeps a traceable link from goods receipt to the retailer's confirmation.</a:t>
            </a:r>
          </a:p>
        </p:txBody>
      </p:sp>
      <p:sp>
        <p:nvSpPr>
          <p:cNvPr name="TextBox 4" id="4"/>
          <p:cNvSpPr txBox="true"/>
          <p:nvPr/>
        </p:nvSpPr>
        <p:spPr>
          <a:xfrm rot="0">
            <a:off x="1219200" y="6484620"/>
            <a:ext cx="13735050" cy="979170"/>
          </a:xfrm>
          <a:prstGeom prst="rect">
            <a:avLst/>
          </a:prstGeom>
        </p:spPr>
        <p:txBody>
          <a:bodyPr anchor="t" rtlCol="false" tIns="0" lIns="0" bIns="0" rIns="0">
            <a:spAutoFit/>
          </a:bodyPr>
          <a:lstStyle/>
          <a:p>
            <a:pPr algn="l">
              <a:lnSpc>
                <a:spcPts val="3479"/>
              </a:lnSpc>
            </a:pPr>
            <a:r>
              <a:rPr lang="en-US" sz="2400">
                <a:solidFill>
                  <a:srgbClr val="BFD8D5"/>
                </a:solidFill>
                <a:latin typeface="IBM Plex Sans"/>
                <a:ea typeface="IBM Plex Sans"/>
                <a:cs typeface="IBM Plex Sans"/>
                <a:sym typeface="IBM Plex Sans"/>
              </a:rPr>
              <a:t>For an FMCG distributor that sells short shelf-life products through field Sales Representatives: one web portal and one mobile app, working online and offline.</a:t>
            </a:r>
          </a:p>
        </p:txBody>
      </p:sp>
      <p:sp>
        <p:nvSpPr>
          <p:cNvPr name="TextBox 5" id="5"/>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9FBDB5"/>
                </a:solidFill>
                <a:latin typeface="IBM Plex Sans"/>
                <a:ea typeface="IBM Plex Sans"/>
                <a:cs typeface="IBM Plex Sans"/>
                <a:sym typeface="IBM Plex Sans"/>
              </a:rPr>
              <a:t>FSCM · FA26SE083 · Review 1</a:t>
            </a:r>
          </a:p>
        </p:txBody>
      </p:sp>
      <p:sp>
        <p:nvSpPr>
          <p:cNvPr name="TextBox 6" id="6"/>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9FBDB5"/>
                </a:solidFill>
                <a:latin typeface="IBM Plex Sans"/>
                <a:ea typeface="IBM Plex Sans"/>
                <a:cs typeface="IBM Plex Sans"/>
                <a:sym typeface="IBM Plex Sans"/>
              </a:rPr>
              <a:t>07</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PROJECT OBJECTIVES</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What FSCM sets out to achieve</a:t>
            </a:r>
          </a:p>
        </p:txBody>
      </p:sp>
      <p:grpSp>
        <p:nvGrpSpPr>
          <p:cNvPr name="Group 4" id="4"/>
          <p:cNvGrpSpPr/>
          <p:nvPr/>
        </p:nvGrpSpPr>
        <p:grpSpPr>
          <a:xfrm rot="0">
            <a:off x="1219200" y="2358390"/>
            <a:ext cx="7791450" cy="3068955"/>
            <a:chOff x="0" y="0"/>
            <a:chExt cx="10388600" cy="4091940"/>
          </a:xfrm>
        </p:grpSpPr>
        <p:sp>
          <p:nvSpPr>
            <p:cNvPr name="Freeform 5" id="5"/>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sp>
        <p:nvSpPr>
          <p:cNvPr name="TextBox 6" id="6"/>
          <p:cNvSpPr txBox="true"/>
          <p:nvPr/>
        </p:nvSpPr>
        <p:spPr>
          <a:xfrm rot="0">
            <a:off x="1531620" y="2737485"/>
            <a:ext cx="7381608" cy="581025"/>
          </a:xfrm>
          <a:prstGeom prst="rect">
            <a:avLst/>
          </a:prstGeom>
        </p:spPr>
        <p:txBody>
          <a:bodyPr anchor="t" rtlCol="false" tIns="0" lIns="0" bIns="0" rIns="0">
            <a:spAutoFit/>
          </a:bodyPr>
          <a:lstStyle/>
          <a:p>
            <a:pPr algn="l">
              <a:lnSpc>
                <a:spcPts val="4800"/>
              </a:lnSpc>
            </a:pPr>
            <a:r>
              <a:rPr lang="en-US" sz="4800" b="true">
                <a:solidFill>
                  <a:srgbClr val="14655B"/>
                </a:solidFill>
                <a:latin typeface="Arimo Bold"/>
                <a:ea typeface="Arimo Bold"/>
                <a:cs typeface="Arimo Bold"/>
                <a:sym typeface="Arimo Bold"/>
              </a:rPr>
              <a:t>01</a:t>
            </a:r>
          </a:p>
        </p:txBody>
      </p:sp>
      <p:sp>
        <p:nvSpPr>
          <p:cNvPr name="TextBox 7" id="7"/>
          <p:cNvSpPr txBox="true"/>
          <p:nvPr/>
        </p:nvSpPr>
        <p:spPr>
          <a:xfrm rot="0">
            <a:off x="1531620" y="3375660"/>
            <a:ext cx="7381608" cy="468630"/>
          </a:xfrm>
          <a:prstGeom prst="rect">
            <a:avLst/>
          </a:prstGeom>
        </p:spPr>
        <p:txBody>
          <a:bodyPr anchor="t" rtlCol="false" tIns="0" lIns="0" bIns="0" rIns="0">
            <a:spAutoFit/>
          </a:bodyPr>
          <a:lstStyle/>
          <a:p>
            <a:pPr algn="l">
              <a:lnSpc>
                <a:spcPts val="3240"/>
              </a:lnSpc>
            </a:pPr>
            <a:r>
              <a:rPr lang="en-US" sz="2700" b="true">
                <a:solidFill>
                  <a:srgbClr val="1B2420"/>
                </a:solidFill>
                <a:latin typeface="Arimo Bold"/>
                <a:ea typeface="Arimo Bold"/>
                <a:cs typeface="Arimo Bold"/>
                <a:sym typeface="Arimo Bold"/>
              </a:rPr>
              <a:t>Ship fresher goods</a:t>
            </a:r>
          </a:p>
        </p:txBody>
      </p:sp>
      <p:sp>
        <p:nvSpPr>
          <p:cNvPr name="TextBox 8" id="8"/>
          <p:cNvSpPr txBox="true"/>
          <p:nvPr/>
        </p:nvSpPr>
        <p:spPr>
          <a:xfrm rot="0">
            <a:off x="1531620" y="3882390"/>
            <a:ext cx="7381608" cy="769620"/>
          </a:xfrm>
          <a:prstGeom prst="rect">
            <a:avLst/>
          </a:prstGeom>
        </p:spPr>
        <p:txBody>
          <a:bodyPr anchor="t" rtlCol="false" tIns="0" lIns="0" bIns="0" rIns="0">
            <a:spAutoFit/>
          </a:bodyPr>
          <a:lstStyle/>
          <a:p>
            <a:pPr algn="l">
              <a:lnSpc>
                <a:spcPts val="2729"/>
              </a:lnSpc>
            </a:pPr>
            <a:r>
              <a:rPr lang="en-US" sz="1950">
                <a:solidFill>
                  <a:srgbClr val="4A5550"/>
                </a:solidFill>
                <a:latin typeface="IBM Plex Sans"/>
                <a:ea typeface="IBM Plex Sans"/>
                <a:cs typeface="IBM Plex Sans"/>
                <a:sym typeface="IBM Plex Sans"/>
              </a:rPr>
              <a:t>Allocate by FEFO and exclude any batch that would arrive below the retailer's MLOR.</a:t>
            </a:r>
          </a:p>
        </p:txBody>
      </p:sp>
      <p:grpSp>
        <p:nvGrpSpPr>
          <p:cNvPr name="Group 9" id="9"/>
          <p:cNvGrpSpPr/>
          <p:nvPr/>
        </p:nvGrpSpPr>
        <p:grpSpPr>
          <a:xfrm rot="0">
            <a:off x="9277350" y="2358390"/>
            <a:ext cx="7791450" cy="3068955"/>
            <a:chOff x="0" y="0"/>
            <a:chExt cx="10388600" cy="4091940"/>
          </a:xfrm>
        </p:grpSpPr>
        <p:sp>
          <p:nvSpPr>
            <p:cNvPr name="Freeform 10" id="10"/>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sp>
        <p:nvSpPr>
          <p:cNvPr name="TextBox 11" id="11"/>
          <p:cNvSpPr txBox="true"/>
          <p:nvPr/>
        </p:nvSpPr>
        <p:spPr>
          <a:xfrm rot="0">
            <a:off x="9589770" y="2737485"/>
            <a:ext cx="7381608" cy="581025"/>
          </a:xfrm>
          <a:prstGeom prst="rect">
            <a:avLst/>
          </a:prstGeom>
        </p:spPr>
        <p:txBody>
          <a:bodyPr anchor="t" rtlCol="false" tIns="0" lIns="0" bIns="0" rIns="0">
            <a:spAutoFit/>
          </a:bodyPr>
          <a:lstStyle/>
          <a:p>
            <a:pPr algn="l">
              <a:lnSpc>
                <a:spcPts val="4800"/>
              </a:lnSpc>
            </a:pPr>
            <a:r>
              <a:rPr lang="en-US" sz="4800" b="true">
                <a:solidFill>
                  <a:srgbClr val="14655B"/>
                </a:solidFill>
                <a:latin typeface="Arimo Bold"/>
                <a:ea typeface="Arimo Bold"/>
                <a:cs typeface="Arimo Bold"/>
                <a:sym typeface="Arimo Bold"/>
              </a:rPr>
              <a:t>02</a:t>
            </a:r>
          </a:p>
        </p:txBody>
      </p:sp>
      <p:sp>
        <p:nvSpPr>
          <p:cNvPr name="TextBox 12" id="12"/>
          <p:cNvSpPr txBox="true"/>
          <p:nvPr/>
        </p:nvSpPr>
        <p:spPr>
          <a:xfrm rot="0">
            <a:off x="9589770" y="3375660"/>
            <a:ext cx="7381608" cy="468630"/>
          </a:xfrm>
          <a:prstGeom prst="rect">
            <a:avLst/>
          </a:prstGeom>
        </p:spPr>
        <p:txBody>
          <a:bodyPr anchor="t" rtlCol="false" tIns="0" lIns="0" bIns="0" rIns="0">
            <a:spAutoFit/>
          </a:bodyPr>
          <a:lstStyle/>
          <a:p>
            <a:pPr algn="l">
              <a:lnSpc>
                <a:spcPts val="3240"/>
              </a:lnSpc>
            </a:pPr>
            <a:r>
              <a:rPr lang="en-US" sz="2700" b="true">
                <a:solidFill>
                  <a:srgbClr val="1B2420"/>
                </a:solidFill>
                <a:latin typeface="Arimo Bold"/>
                <a:ea typeface="Arimo Bold"/>
                <a:cs typeface="Arimo Bold"/>
                <a:sym typeface="Arimo Bold"/>
              </a:rPr>
              <a:t>No double-booking</a:t>
            </a:r>
          </a:p>
        </p:txBody>
      </p:sp>
      <p:sp>
        <p:nvSpPr>
          <p:cNvPr name="TextBox 13" id="13"/>
          <p:cNvSpPr txBox="true"/>
          <p:nvPr/>
        </p:nvSpPr>
        <p:spPr>
          <a:xfrm rot="0">
            <a:off x="9589770" y="3882390"/>
            <a:ext cx="7381608" cy="769620"/>
          </a:xfrm>
          <a:prstGeom prst="rect">
            <a:avLst/>
          </a:prstGeom>
        </p:spPr>
        <p:txBody>
          <a:bodyPr anchor="t" rtlCol="false" tIns="0" lIns="0" bIns="0" rIns="0">
            <a:spAutoFit/>
          </a:bodyPr>
          <a:lstStyle/>
          <a:p>
            <a:pPr algn="l">
              <a:lnSpc>
                <a:spcPts val="2729"/>
              </a:lnSpc>
            </a:pPr>
            <a:r>
              <a:rPr lang="en-US" sz="1950">
                <a:solidFill>
                  <a:srgbClr val="4A5550"/>
                </a:solidFill>
                <a:latin typeface="IBM Plex Sans"/>
                <a:ea typeface="IBM Plex Sans"/>
                <a:cs typeface="IBM Plex Sans"/>
                <a:sym typeface="IBM Plex Sans"/>
              </a:rPr>
              <a:t>Process orders in server-arrival order, hold stock atomically, reject with a clear reason.</a:t>
            </a:r>
          </a:p>
        </p:txBody>
      </p:sp>
      <p:grpSp>
        <p:nvGrpSpPr>
          <p:cNvPr name="Group 14" id="14"/>
          <p:cNvGrpSpPr/>
          <p:nvPr/>
        </p:nvGrpSpPr>
        <p:grpSpPr>
          <a:xfrm rot="0">
            <a:off x="1219200" y="5694045"/>
            <a:ext cx="7791450" cy="3068955"/>
            <a:chOff x="0" y="0"/>
            <a:chExt cx="10388600" cy="4091940"/>
          </a:xfrm>
        </p:grpSpPr>
        <p:sp>
          <p:nvSpPr>
            <p:cNvPr name="Freeform 15" id="15"/>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sp>
        <p:nvSpPr>
          <p:cNvPr name="TextBox 16" id="16"/>
          <p:cNvSpPr txBox="true"/>
          <p:nvPr/>
        </p:nvSpPr>
        <p:spPr>
          <a:xfrm rot="0">
            <a:off x="1531620" y="6073140"/>
            <a:ext cx="7381608" cy="581025"/>
          </a:xfrm>
          <a:prstGeom prst="rect">
            <a:avLst/>
          </a:prstGeom>
        </p:spPr>
        <p:txBody>
          <a:bodyPr anchor="t" rtlCol="false" tIns="0" lIns="0" bIns="0" rIns="0">
            <a:spAutoFit/>
          </a:bodyPr>
          <a:lstStyle/>
          <a:p>
            <a:pPr algn="l">
              <a:lnSpc>
                <a:spcPts val="4800"/>
              </a:lnSpc>
            </a:pPr>
            <a:r>
              <a:rPr lang="en-US" sz="4800" b="true">
                <a:solidFill>
                  <a:srgbClr val="14655B"/>
                </a:solidFill>
                <a:latin typeface="Arimo Bold"/>
                <a:ea typeface="Arimo Bold"/>
                <a:cs typeface="Arimo Bold"/>
                <a:sym typeface="Arimo Bold"/>
              </a:rPr>
              <a:t>03</a:t>
            </a:r>
          </a:p>
        </p:txBody>
      </p:sp>
      <p:sp>
        <p:nvSpPr>
          <p:cNvPr name="TextBox 17" id="17"/>
          <p:cNvSpPr txBox="true"/>
          <p:nvPr/>
        </p:nvSpPr>
        <p:spPr>
          <a:xfrm rot="0">
            <a:off x="1531620" y="6711325"/>
            <a:ext cx="7381608" cy="468630"/>
          </a:xfrm>
          <a:prstGeom prst="rect">
            <a:avLst/>
          </a:prstGeom>
        </p:spPr>
        <p:txBody>
          <a:bodyPr anchor="t" rtlCol="false" tIns="0" lIns="0" bIns="0" rIns="0">
            <a:spAutoFit/>
          </a:bodyPr>
          <a:lstStyle/>
          <a:p>
            <a:pPr algn="l">
              <a:lnSpc>
                <a:spcPts val="3240"/>
              </a:lnSpc>
            </a:pPr>
            <a:r>
              <a:rPr lang="en-US" sz="2700" b="true">
                <a:solidFill>
                  <a:srgbClr val="1B2420"/>
                </a:solidFill>
                <a:latin typeface="Arimo Bold"/>
                <a:ea typeface="Arimo Bold"/>
                <a:cs typeface="Arimo Bold"/>
                <a:sym typeface="Arimo Bold"/>
              </a:rPr>
              <a:t>Sell anywhere</a:t>
            </a:r>
          </a:p>
        </p:txBody>
      </p:sp>
      <p:sp>
        <p:nvSpPr>
          <p:cNvPr name="TextBox 18" id="18"/>
          <p:cNvSpPr txBox="true"/>
          <p:nvPr/>
        </p:nvSpPr>
        <p:spPr>
          <a:xfrm rot="0">
            <a:off x="1531620" y="7218045"/>
            <a:ext cx="7381608" cy="769620"/>
          </a:xfrm>
          <a:prstGeom prst="rect">
            <a:avLst/>
          </a:prstGeom>
        </p:spPr>
        <p:txBody>
          <a:bodyPr anchor="t" rtlCol="false" tIns="0" lIns="0" bIns="0" rIns="0">
            <a:spAutoFit/>
          </a:bodyPr>
          <a:lstStyle/>
          <a:p>
            <a:pPr algn="l">
              <a:lnSpc>
                <a:spcPts val="2729"/>
              </a:lnSpc>
            </a:pPr>
            <a:r>
              <a:rPr lang="en-US" sz="1950">
                <a:solidFill>
                  <a:srgbClr val="4A5550"/>
                </a:solidFill>
                <a:latin typeface="IBM Plex Sans"/>
                <a:ea typeface="IBM Plex Sans"/>
                <a:cs typeface="IBM Plex Sans"/>
                <a:sym typeface="IBM Plex Sans"/>
              </a:rPr>
              <a:t>Sales order offline with locally estimated promotions; the server recalculates on sync.</a:t>
            </a:r>
          </a:p>
        </p:txBody>
      </p:sp>
      <p:grpSp>
        <p:nvGrpSpPr>
          <p:cNvPr name="Group 19" id="19"/>
          <p:cNvGrpSpPr/>
          <p:nvPr/>
        </p:nvGrpSpPr>
        <p:grpSpPr>
          <a:xfrm rot="0">
            <a:off x="9277350" y="5694045"/>
            <a:ext cx="7791450" cy="3068955"/>
            <a:chOff x="0" y="0"/>
            <a:chExt cx="10388600" cy="4091940"/>
          </a:xfrm>
        </p:grpSpPr>
        <p:sp>
          <p:nvSpPr>
            <p:cNvPr name="Freeform 20" id="20"/>
            <p:cNvSpPr/>
            <p:nvPr/>
          </p:nvSpPr>
          <p:spPr>
            <a:xfrm flipH="false" flipV="false" rot="0">
              <a:off x="0" y="0"/>
              <a:ext cx="10388600" cy="4091940"/>
            </a:xfrm>
            <a:custGeom>
              <a:avLst/>
              <a:gdLst/>
              <a:ahLst/>
              <a:cxnLst/>
              <a:rect r="r" b="b" t="t" l="l"/>
              <a:pathLst>
                <a:path h="4091940" w="10388600">
                  <a:moveTo>
                    <a:pt x="0" y="197485"/>
                  </a:moveTo>
                  <a:cubicBezTo>
                    <a:pt x="0" y="88392"/>
                    <a:pt x="88392" y="0"/>
                    <a:pt x="197485" y="0"/>
                  </a:cubicBezTo>
                  <a:lnTo>
                    <a:pt x="10191115" y="0"/>
                  </a:lnTo>
                  <a:cubicBezTo>
                    <a:pt x="10300208" y="0"/>
                    <a:pt x="10388600" y="88392"/>
                    <a:pt x="10388600" y="197485"/>
                  </a:cubicBezTo>
                  <a:lnTo>
                    <a:pt x="10388600" y="3894455"/>
                  </a:lnTo>
                  <a:cubicBezTo>
                    <a:pt x="10388600" y="4003548"/>
                    <a:pt x="10300208" y="4091940"/>
                    <a:pt x="10191115" y="4091940"/>
                  </a:cubicBezTo>
                  <a:lnTo>
                    <a:pt x="197485" y="4091940"/>
                  </a:lnTo>
                  <a:cubicBezTo>
                    <a:pt x="88392" y="4091940"/>
                    <a:pt x="0" y="4003548"/>
                    <a:pt x="0" y="3894455"/>
                  </a:cubicBezTo>
                  <a:close/>
                </a:path>
              </a:pathLst>
            </a:custGeom>
            <a:solidFill>
              <a:srgbClr val="FFFFFF"/>
            </a:solidFill>
            <a:ln w="9525" cap="sq">
              <a:solidFill>
                <a:srgbClr val="D5DCD7"/>
              </a:solidFill>
              <a:prstDash val="solid"/>
              <a:miter/>
            </a:ln>
          </p:spPr>
        </p:sp>
      </p:grpSp>
      <p:sp>
        <p:nvSpPr>
          <p:cNvPr name="TextBox 21" id="21"/>
          <p:cNvSpPr txBox="true"/>
          <p:nvPr/>
        </p:nvSpPr>
        <p:spPr>
          <a:xfrm rot="0">
            <a:off x="9589770" y="6073140"/>
            <a:ext cx="7381608" cy="581025"/>
          </a:xfrm>
          <a:prstGeom prst="rect">
            <a:avLst/>
          </a:prstGeom>
        </p:spPr>
        <p:txBody>
          <a:bodyPr anchor="t" rtlCol="false" tIns="0" lIns="0" bIns="0" rIns="0">
            <a:spAutoFit/>
          </a:bodyPr>
          <a:lstStyle/>
          <a:p>
            <a:pPr algn="l">
              <a:lnSpc>
                <a:spcPts val="4800"/>
              </a:lnSpc>
            </a:pPr>
            <a:r>
              <a:rPr lang="en-US" sz="4800" b="true">
                <a:solidFill>
                  <a:srgbClr val="14655B"/>
                </a:solidFill>
                <a:latin typeface="Arimo Bold"/>
                <a:ea typeface="Arimo Bold"/>
                <a:cs typeface="Arimo Bold"/>
                <a:sym typeface="Arimo Bold"/>
              </a:rPr>
              <a:t>04</a:t>
            </a:r>
          </a:p>
        </p:txBody>
      </p:sp>
      <p:sp>
        <p:nvSpPr>
          <p:cNvPr name="TextBox 22" id="22"/>
          <p:cNvSpPr txBox="true"/>
          <p:nvPr/>
        </p:nvSpPr>
        <p:spPr>
          <a:xfrm rot="0">
            <a:off x="9589770" y="6711325"/>
            <a:ext cx="7381608" cy="468630"/>
          </a:xfrm>
          <a:prstGeom prst="rect">
            <a:avLst/>
          </a:prstGeom>
        </p:spPr>
        <p:txBody>
          <a:bodyPr anchor="t" rtlCol="false" tIns="0" lIns="0" bIns="0" rIns="0">
            <a:spAutoFit/>
          </a:bodyPr>
          <a:lstStyle/>
          <a:p>
            <a:pPr algn="l">
              <a:lnSpc>
                <a:spcPts val="3240"/>
              </a:lnSpc>
            </a:pPr>
            <a:r>
              <a:rPr lang="en-US" sz="2700" b="true">
                <a:solidFill>
                  <a:srgbClr val="1B2420"/>
                </a:solidFill>
                <a:latin typeface="Arimo Bold"/>
                <a:ea typeface="Arimo Bold"/>
                <a:cs typeface="Arimo Bold"/>
                <a:sym typeface="Arimo Bold"/>
              </a:rPr>
              <a:t>Trace every carton</a:t>
            </a:r>
          </a:p>
        </p:txBody>
      </p:sp>
      <p:sp>
        <p:nvSpPr>
          <p:cNvPr name="TextBox 23" id="23"/>
          <p:cNvSpPr txBox="true"/>
          <p:nvPr/>
        </p:nvSpPr>
        <p:spPr>
          <a:xfrm rot="0">
            <a:off x="9589770" y="7218045"/>
            <a:ext cx="7381608" cy="769620"/>
          </a:xfrm>
          <a:prstGeom prst="rect">
            <a:avLst/>
          </a:prstGeom>
        </p:spPr>
        <p:txBody>
          <a:bodyPr anchor="t" rtlCol="false" tIns="0" lIns="0" bIns="0" rIns="0">
            <a:spAutoFit/>
          </a:bodyPr>
          <a:lstStyle/>
          <a:p>
            <a:pPr algn="l">
              <a:lnSpc>
                <a:spcPts val="2729"/>
              </a:lnSpc>
            </a:pPr>
            <a:r>
              <a:rPr lang="en-US" sz="1950">
                <a:solidFill>
                  <a:srgbClr val="4A5550"/>
                </a:solidFill>
                <a:latin typeface="IBM Plex Sans"/>
                <a:ea typeface="IBM Plex Sans"/>
                <a:cs typeface="IBM Plex Sans"/>
                <a:sym typeface="IBM Plex Sans"/>
              </a:rPr>
              <a:t>QR labels from goods receipt to picking and retailer receipt, plus payment and sales dashboards.</a:t>
            </a:r>
          </a:p>
        </p:txBody>
      </p:sp>
      <p:sp>
        <p:nvSpPr>
          <p:cNvPr name="TextBox 24" id="24"/>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25" id="25"/>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08</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FUNCTIONAL REQUIREMENTS · 1 / 2</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Set-up, inventory and ordering</a:t>
            </a:r>
          </a:p>
        </p:txBody>
      </p:sp>
      <p:grpSp>
        <p:nvGrpSpPr>
          <p:cNvPr name="Group 4" id="4"/>
          <p:cNvGrpSpPr/>
          <p:nvPr/>
        </p:nvGrpSpPr>
        <p:grpSpPr>
          <a:xfrm rot="0">
            <a:off x="1219200" y="2358400"/>
            <a:ext cx="15849600" cy="3718560"/>
            <a:chOff x="0" y="0"/>
            <a:chExt cx="21132800" cy="4958080"/>
          </a:xfrm>
        </p:grpSpPr>
        <p:sp>
          <p:nvSpPr>
            <p:cNvPr name="Freeform 5" id="5"/>
            <p:cNvSpPr/>
            <p:nvPr/>
          </p:nvSpPr>
          <p:spPr>
            <a:xfrm flipH="false" flipV="false" rot="0">
              <a:off x="0" y="0"/>
              <a:ext cx="21132800" cy="4958080"/>
            </a:xfrm>
            <a:custGeom>
              <a:avLst/>
              <a:gdLst/>
              <a:ahLst/>
              <a:cxnLst/>
              <a:rect r="r" b="b" t="t" l="l"/>
              <a:pathLst>
                <a:path h="4958080" w="21132800">
                  <a:moveTo>
                    <a:pt x="0" y="152400"/>
                  </a:moveTo>
                  <a:cubicBezTo>
                    <a:pt x="0" y="68199"/>
                    <a:pt x="68199" y="0"/>
                    <a:pt x="152400" y="0"/>
                  </a:cubicBezTo>
                  <a:lnTo>
                    <a:pt x="20980400" y="0"/>
                  </a:lnTo>
                  <a:cubicBezTo>
                    <a:pt x="21064601" y="0"/>
                    <a:pt x="21132800" y="68199"/>
                    <a:pt x="21132800" y="152400"/>
                  </a:cubicBezTo>
                  <a:lnTo>
                    <a:pt x="21132800" y="4805680"/>
                  </a:lnTo>
                  <a:cubicBezTo>
                    <a:pt x="21132800" y="4889881"/>
                    <a:pt x="21064601" y="4958080"/>
                    <a:pt x="20980400" y="4958080"/>
                  </a:cubicBezTo>
                  <a:lnTo>
                    <a:pt x="152400" y="4958080"/>
                  </a:lnTo>
                  <a:cubicBezTo>
                    <a:pt x="68199" y="4958080"/>
                    <a:pt x="0" y="4889881"/>
                    <a:pt x="0" y="4805680"/>
                  </a:cubicBezTo>
                  <a:close/>
                </a:path>
              </a:pathLst>
            </a:custGeom>
            <a:solidFill>
              <a:srgbClr val="FFFFFF"/>
            </a:solidFill>
          </p:spPr>
        </p:sp>
      </p:grpSp>
      <p:grpSp>
        <p:nvGrpSpPr>
          <p:cNvPr name="Group 6" id="6"/>
          <p:cNvGrpSpPr/>
          <p:nvPr/>
        </p:nvGrpSpPr>
        <p:grpSpPr>
          <a:xfrm rot="0">
            <a:off x="1219200" y="2358400"/>
            <a:ext cx="15849600" cy="3718560"/>
            <a:chOff x="0" y="0"/>
            <a:chExt cx="21132800" cy="4958080"/>
          </a:xfrm>
        </p:grpSpPr>
        <p:sp>
          <p:nvSpPr>
            <p:cNvPr name="Freeform 7" id="7"/>
            <p:cNvSpPr/>
            <p:nvPr/>
          </p:nvSpPr>
          <p:spPr>
            <a:xfrm flipH="false" flipV="false" rot="0">
              <a:off x="0" y="0"/>
              <a:ext cx="21132800" cy="4958080"/>
            </a:xfrm>
            <a:custGeom>
              <a:avLst/>
              <a:gdLst/>
              <a:ahLst/>
              <a:cxnLst/>
              <a:rect r="r" b="b" t="t" l="l"/>
              <a:pathLst>
                <a:path h="4958080" w="21132800">
                  <a:moveTo>
                    <a:pt x="20980400" y="0"/>
                  </a:moveTo>
                  <a:cubicBezTo>
                    <a:pt x="21064601" y="0"/>
                    <a:pt x="21132800" y="68199"/>
                    <a:pt x="21132800" y="152400"/>
                  </a:cubicBezTo>
                  <a:lnTo>
                    <a:pt x="21132800" y="4805680"/>
                  </a:lnTo>
                  <a:cubicBezTo>
                    <a:pt x="21132800" y="4889881"/>
                    <a:pt x="21064601" y="4958080"/>
                    <a:pt x="20980400" y="4958080"/>
                  </a:cubicBezTo>
                  <a:lnTo>
                    <a:pt x="152400" y="4958080"/>
                  </a:lnTo>
                  <a:cubicBezTo>
                    <a:pt x="68199" y="4958080"/>
                    <a:pt x="0" y="4889881"/>
                    <a:pt x="0" y="4805680"/>
                  </a:cubicBezTo>
                  <a:cubicBezTo>
                    <a:pt x="0" y="4882896"/>
                    <a:pt x="62484" y="4945380"/>
                    <a:pt x="139700" y="4945380"/>
                  </a:cubicBezTo>
                  <a:lnTo>
                    <a:pt x="20980400" y="4945380"/>
                  </a:lnTo>
                  <a:cubicBezTo>
                    <a:pt x="21057615" y="4945380"/>
                    <a:pt x="21120100" y="4882896"/>
                    <a:pt x="21120100" y="480568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400"/>
            <a:ext cx="15849600" cy="3718560"/>
            <a:chOff x="0" y="0"/>
            <a:chExt cx="21132800" cy="4958080"/>
          </a:xfrm>
        </p:grpSpPr>
        <p:sp>
          <p:nvSpPr>
            <p:cNvPr name="Freeform 9" id="9"/>
            <p:cNvSpPr/>
            <p:nvPr/>
          </p:nvSpPr>
          <p:spPr>
            <a:xfrm flipH="false" flipV="false" rot="0">
              <a:off x="0" y="0"/>
              <a:ext cx="21132800" cy="4958080"/>
            </a:xfrm>
            <a:custGeom>
              <a:avLst/>
              <a:gdLst/>
              <a:ahLst/>
              <a:cxnLst/>
              <a:rect r="r" b="b" t="t" l="l"/>
              <a:pathLst>
                <a:path h="4958080" w="21132800">
                  <a:moveTo>
                    <a:pt x="152400" y="4958080"/>
                  </a:moveTo>
                  <a:cubicBezTo>
                    <a:pt x="68199" y="4958080"/>
                    <a:pt x="0" y="4889881"/>
                    <a:pt x="0" y="480568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4805680"/>
                  </a:lnTo>
                  <a:cubicBezTo>
                    <a:pt x="20320" y="4889881"/>
                    <a:pt x="88519" y="4958080"/>
                    <a:pt x="172720" y="495808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6"/>
          <a:ext cx="15563850" cy="3467100"/>
        </p:xfrm>
        <a:graphic>
          <a:graphicData uri="http://schemas.openxmlformats.org/drawingml/2006/table">
            <a:tbl>
              <a:tblPr/>
              <a:tblGrid>
                <a:gridCol w="1099081"/>
                <a:gridCol w="4204312"/>
                <a:gridCol w="7907974"/>
                <a:gridCol w="2352482"/>
              </a:tblGrid>
              <a:tr h="480060">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ID</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Feature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What the system must do</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Actors</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User and access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Accounts, roles, warehouse scope, audit trail</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Master data</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SKUs, warehouses with coordinates, MLOR, transit rules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Retailers and territory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8-digit retailer codes, declare → approve, sales groups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 OP, SM, SR</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FR-04</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Goods receipt, QR labels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Batch ID = warehouse + SKU + expiry; QR label per pallet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 WK</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FR-05</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Promotions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Per-SKU and product-group; best one per order line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840">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FR-06</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Mobile sales ordering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Catalog search, cart, promotions, stock-capped quantity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SR</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8404860"/>
            <a:ext cx="16325088" cy="396240"/>
          </a:xfrm>
          <a:prstGeom prst="rect">
            <a:avLst/>
          </a:prstGeom>
        </p:spPr>
        <p:txBody>
          <a:bodyPr anchor="t" rtlCol="false" tIns="0" lIns="0" bIns="0" rIns="0">
            <a:spAutoFit/>
          </a:bodyPr>
          <a:lstStyle/>
          <a:p>
            <a:pPr algn="l">
              <a:lnSpc>
                <a:spcPts val="2520"/>
              </a:lnSpc>
            </a:pPr>
            <a:r>
              <a:rPr lang="en-US" sz="1800" b="true">
                <a:solidFill>
                  <a:srgbClr val="4A5550"/>
                </a:solidFill>
                <a:latin typeface="IBM Plex Sans Bold"/>
                <a:ea typeface="IBM Plex Sans Bold"/>
                <a:cs typeface="IBM Plex Sans Bold"/>
                <a:sym typeface="IBM Plex Sans Bold"/>
              </a:rPr>
              <a:t>AD</a:t>
            </a:r>
            <a:r>
              <a:rPr lang="en-US" sz="1800">
                <a:solidFill>
                  <a:srgbClr val="4A5550"/>
                </a:solidFill>
                <a:latin typeface="IBM Plex Sans"/>
                <a:ea typeface="IBM Plex Sans"/>
                <a:cs typeface="IBM Plex Sans"/>
                <a:sym typeface="IBM Plex Sans"/>
              </a:rPr>
              <a:t> Admin · </a:t>
            </a:r>
            <a:r>
              <a:rPr lang="en-US" sz="1800" b="true">
                <a:solidFill>
                  <a:srgbClr val="4A5550"/>
                </a:solidFill>
                <a:latin typeface="IBM Plex Sans Bold"/>
                <a:ea typeface="IBM Plex Sans Bold"/>
                <a:cs typeface="IBM Plex Sans Bold"/>
                <a:sym typeface="IBM Plex Sans Bold"/>
              </a:rPr>
              <a:t>OP</a:t>
            </a:r>
            <a:r>
              <a:rPr lang="en-US" sz="1800">
                <a:solidFill>
                  <a:srgbClr val="4A5550"/>
                </a:solidFill>
                <a:latin typeface="IBM Plex Sans"/>
                <a:ea typeface="IBM Plex Sans"/>
                <a:cs typeface="IBM Plex Sans"/>
                <a:sym typeface="IBM Plex Sans"/>
              </a:rPr>
              <a:t> Operator · </a:t>
            </a:r>
            <a:r>
              <a:rPr lang="en-US" sz="1800" b="true">
                <a:solidFill>
                  <a:srgbClr val="4A5550"/>
                </a:solidFill>
                <a:latin typeface="IBM Plex Sans Bold"/>
                <a:ea typeface="IBM Plex Sans Bold"/>
                <a:cs typeface="IBM Plex Sans Bold"/>
                <a:sym typeface="IBM Plex Sans Bold"/>
              </a:rPr>
              <a:t>SM</a:t>
            </a:r>
            <a:r>
              <a:rPr lang="en-US" sz="1800">
                <a:solidFill>
                  <a:srgbClr val="4A5550"/>
                </a:solidFill>
                <a:latin typeface="IBM Plex Sans"/>
                <a:ea typeface="IBM Plex Sans"/>
                <a:cs typeface="IBM Plex Sans"/>
                <a:sym typeface="IBM Plex Sans"/>
              </a:rPr>
              <a:t> Sales Manager · </a:t>
            </a:r>
            <a:r>
              <a:rPr lang="en-US" sz="1800" b="true">
                <a:solidFill>
                  <a:srgbClr val="4A5550"/>
                </a:solidFill>
                <a:latin typeface="IBM Plex Sans Bold"/>
                <a:ea typeface="IBM Plex Sans Bold"/>
                <a:cs typeface="IBM Plex Sans Bold"/>
                <a:sym typeface="IBM Plex Sans Bold"/>
              </a:rPr>
              <a:t>WK</a:t>
            </a:r>
            <a:r>
              <a:rPr lang="en-US" sz="1800">
                <a:solidFill>
                  <a:srgbClr val="4A5550"/>
                </a:solidFill>
                <a:latin typeface="IBM Plex Sans"/>
                <a:ea typeface="IBM Plex Sans"/>
                <a:cs typeface="IBM Plex Sans"/>
                <a:sym typeface="IBM Plex Sans"/>
              </a:rPr>
              <a:t> Warehouse Keeper · </a:t>
            </a:r>
            <a:r>
              <a:rPr lang="en-US" sz="1800" b="true">
                <a:solidFill>
                  <a:srgbClr val="4A5550"/>
                </a:solidFill>
                <a:latin typeface="IBM Plex Sans Bold"/>
                <a:ea typeface="IBM Plex Sans Bold"/>
                <a:cs typeface="IBM Plex Sans Bold"/>
                <a:sym typeface="IBM Plex Sans Bold"/>
              </a:rPr>
              <a:t>SR</a:t>
            </a:r>
            <a:r>
              <a:rPr lang="en-US" sz="1800">
                <a:solidFill>
                  <a:srgbClr val="4A5550"/>
                </a:solidFill>
                <a:latin typeface="IBM Plex Sans"/>
                <a:ea typeface="IBM Plex Sans"/>
                <a:cs typeface="IBM Plex Sans"/>
                <a:sym typeface="IBM Plex Sans"/>
              </a:rPr>
              <a:t> Sales Rep · </a:t>
            </a:r>
            <a:r>
              <a:rPr lang="en-US" sz="1800" b="true">
                <a:solidFill>
                  <a:srgbClr val="4A5550"/>
                </a:solidFill>
                <a:latin typeface="IBM Plex Sans Bold"/>
                <a:ea typeface="IBM Plex Sans Bold"/>
                <a:cs typeface="IBM Plex Sans Bold"/>
                <a:sym typeface="IBM Plex Sans Bold"/>
              </a:rPr>
              <a:t>RT</a:t>
            </a:r>
            <a:r>
              <a:rPr lang="en-US" sz="1800">
                <a:solidFill>
                  <a:srgbClr val="4A5550"/>
                </a:solidFill>
                <a:latin typeface="IBM Plex Sans"/>
                <a:ea typeface="IBM Plex Sans"/>
                <a:cs typeface="IBM Plex Sans"/>
                <a:sym typeface="IBM Plex Sans"/>
              </a:rPr>
              <a:t> Retailer · </a:t>
            </a:r>
            <a:r>
              <a:rPr lang="en-US" sz="1800" b="true">
                <a:solidFill>
                  <a:srgbClr val="4A5550"/>
                </a:solidFill>
                <a:latin typeface="IBM Plex Sans Bold"/>
                <a:ea typeface="IBM Plex Sans Bold"/>
                <a:cs typeface="IBM Plex Sans Bold"/>
                <a:sym typeface="IBM Plex Sans Bold"/>
              </a:rPr>
              <a:t>SYS</a:t>
            </a:r>
            <a:r>
              <a:rPr lang="en-US" sz="1800">
                <a:solidFill>
                  <a:srgbClr val="4A5550"/>
                </a:solidFill>
                <a:latin typeface="IBM Plex Sans"/>
                <a:ea typeface="IBM Plex Sans"/>
                <a:cs typeface="IBM Plex Sans"/>
                <a:sym typeface="IBM Plex Sans"/>
              </a:rPr>
              <a:t> System</a:t>
            </a:r>
          </a:p>
        </p:txBody>
      </p:sp>
      <p:sp>
        <p:nvSpPr>
          <p:cNvPr name="TextBox 12" id="12"/>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3" id="13"/>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09</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FUNCTIONAL REQUIREMENTS · 2 / 2</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Allocation, fulfilment and tracking</a:t>
            </a:r>
          </a:p>
        </p:txBody>
      </p:sp>
      <p:grpSp>
        <p:nvGrpSpPr>
          <p:cNvPr name="Group 4" id="4"/>
          <p:cNvGrpSpPr/>
          <p:nvPr/>
        </p:nvGrpSpPr>
        <p:grpSpPr>
          <a:xfrm rot="0">
            <a:off x="1219200" y="2358400"/>
            <a:ext cx="15849600" cy="4213860"/>
            <a:chOff x="0" y="0"/>
            <a:chExt cx="21132800" cy="5618480"/>
          </a:xfrm>
        </p:grpSpPr>
        <p:sp>
          <p:nvSpPr>
            <p:cNvPr name="Freeform 5" id="5"/>
            <p:cNvSpPr/>
            <p:nvPr/>
          </p:nvSpPr>
          <p:spPr>
            <a:xfrm flipH="false" flipV="false" rot="0">
              <a:off x="0" y="0"/>
              <a:ext cx="21132800" cy="5618480"/>
            </a:xfrm>
            <a:custGeom>
              <a:avLst/>
              <a:gdLst/>
              <a:ahLst/>
              <a:cxnLst/>
              <a:rect r="r" b="b" t="t" l="l"/>
              <a:pathLst>
                <a:path h="5618480" w="21132800">
                  <a:moveTo>
                    <a:pt x="0" y="152400"/>
                  </a:moveTo>
                  <a:cubicBezTo>
                    <a:pt x="0" y="68199"/>
                    <a:pt x="68199" y="0"/>
                    <a:pt x="152400" y="0"/>
                  </a:cubicBezTo>
                  <a:lnTo>
                    <a:pt x="20980400" y="0"/>
                  </a:lnTo>
                  <a:cubicBezTo>
                    <a:pt x="21064601" y="0"/>
                    <a:pt x="21132800" y="68199"/>
                    <a:pt x="21132800" y="152400"/>
                  </a:cubicBezTo>
                  <a:lnTo>
                    <a:pt x="21132800" y="5466080"/>
                  </a:lnTo>
                  <a:cubicBezTo>
                    <a:pt x="21132800" y="5550281"/>
                    <a:pt x="21064601" y="5618480"/>
                    <a:pt x="20980400" y="5618480"/>
                  </a:cubicBezTo>
                  <a:lnTo>
                    <a:pt x="152400" y="5618480"/>
                  </a:lnTo>
                  <a:cubicBezTo>
                    <a:pt x="68199" y="5618480"/>
                    <a:pt x="0" y="5550281"/>
                    <a:pt x="0" y="5466080"/>
                  </a:cubicBezTo>
                  <a:close/>
                </a:path>
              </a:pathLst>
            </a:custGeom>
            <a:solidFill>
              <a:srgbClr val="FFFFFF"/>
            </a:solidFill>
          </p:spPr>
        </p:sp>
      </p:grpSp>
      <p:grpSp>
        <p:nvGrpSpPr>
          <p:cNvPr name="Group 6" id="6"/>
          <p:cNvGrpSpPr/>
          <p:nvPr/>
        </p:nvGrpSpPr>
        <p:grpSpPr>
          <a:xfrm rot="0">
            <a:off x="1219200" y="2358400"/>
            <a:ext cx="15849600" cy="4213860"/>
            <a:chOff x="0" y="0"/>
            <a:chExt cx="21132800" cy="5618480"/>
          </a:xfrm>
        </p:grpSpPr>
        <p:sp>
          <p:nvSpPr>
            <p:cNvPr name="Freeform 7" id="7"/>
            <p:cNvSpPr/>
            <p:nvPr/>
          </p:nvSpPr>
          <p:spPr>
            <a:xfrm flipH="false" flipV="false" rot="0">
              <a:off x="0" y="0"/>
              <a:ext cx="21132800" cy="5618480"/>
            </a:xfrm>
            <a:custGeom>
              <a:avLst/>
              <a:gdLst/>
              <a:ahLst/>
              <a:cxnLst/>
              <a:rect r="r" b="b" t="t" l="l"/>
              <a:pathLst>
                <a:path h="5618480" w="21132800">
                  <a:moveTo>
                    <a:pt x="20980400" y="0"/>
                  </a:moveTo>
                  <a:cubicBezTo>
                    <a:pt x="21064601" y="0"/>
                    <a:pt x="21132800" y="68199"/>
                    <a:pt x="21132800" y="152400"/>
                  </a:cubicBezTo>
                  <a:lnTo>
                    <a:pt x="21132800" y="5466080"/>
                  </a:lnTo>
                  <a:cubicBezTo>
                    <a:pt x="21132800" y="5550281"/>
                    <a:pt x="21064601" y="5618480"/>
                    <a:pt x="20980400" y="5618480"/>
                  </a:cubicBezTo>
                  <a:lnTo>
                    <a:pt x="152400" y="5618480"/>
                  </a:lnTo>
                  <a:cubicBezTo>
                    <a:pt x="68199" y="5618480"/>
                    <a:pt x="0" y="5550281"/>
                    <a:pt x="0" y="5466080"/>
                  </a:cubicBezTo>
                  <a:cubicBezTo>
                    <a:pt x="0" y="5543296"/>
                    <a:pt x="62484" y="5605780"/>
                    <a:pt x="139700" y="5605780"/>
                  </a:cubicBezTo>
                  <a:lnTo>
                    <a:pt x="20980400" y="5605780"/>
                  </a:lnTo>
                  <a:cubicBezTo>
                    <a:pt x="21057615" y="5605780"/>
                    <a:pt x="21120100" y="5543296"/>
                    <a:pt x="21120100" y="546608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400"/>
            <a:ext cx="15849600" cy="4213860"/>
            <a:chOff x="0" y="0"/>
            <a:chExt cx="21132800" cy="5618480"/>
          </a:xfrm>
        </p:grpSpPr>
        <p:sp>
          <p:nvSpPr>
            <p:cNvPr name="Freeform 9" id="9"/>
            <p:cNvSpPr/>
            <p:nvPr/>
          </p:nvSpPr>
          <p:spPr>
            <a:xfrm flipH="false" flipV="false" rot="0">
              <a:off x="0" y="0"/>
              <a:ext cx="21132800" cy="5618480"/>
            </a:xfrm>
            <a:custGeom>
              <a:avLst/>
              <a:gdLst/>
              <a:ahLst/>
              <a:cxnLst/>
              <a:rect r="r" b="b" t="t" l="l"/>
              <a:pathLst>
                <a:path h="5618480" w="21132800">
                  <a:moveTo>
                    <a:pt x="152400" y="5618480"/>
                  </a:moveTo>
                  <a:cubicBezTo>
                    <a:pt x="68199" y="5618480"/>
                    <a:pt x="0" y="5550281"/>
                    <a:pt x="0" y="546608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5466080"/>
                  </a:lnTo>
                  <a:cubicBezTo>
                    <a:pt x="20320" y="5550281"/>
                    <a:pt x="88519" y="5618480"/>
                    <a:pt x="172720" y="561848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6"/>
          <a:ext cx="15563850" cy="3962400"/>
        </p:xfrm>
        <a:graphic>
          <a:graphicData uri="http://schemas.openxmlformats.org/drawingml/2006/table">
            <a:tbl>
              <a:tblPr/>
              <a:tblGrid>
                <a:gridCol w="1099081"/>
                <a:gridCol w="4204312"/>
                <a:gridCol w="7907974"/>
                <a:gridCol w="2352482"/>
              </a:tblGrid>
              <a:tr h="479752">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ID</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Feature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What the system must do</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Actors</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FR-07</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Offline ordering and sync</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Offline capture, idempotency key, server FCFS is final</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SR, SYS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FR-08</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FEFO-MLOR allocation</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Filter → rank by expiry → split; shortfall → reject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FR-09</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Approval and lifecycle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Approve: hold → reserve, picking lists; reject, cancel</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 OP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FR-10</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Picking and goods issue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Scan QR, confirm quantity, split child label</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WK</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FR-11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Delivery, receipt, payment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Retailer scans labels → Delivered; payment status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OP, RT, SR</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FR-12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Tracking, notifications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History, search, time filter, status timeline, push</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SR, RT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52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FR-13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Dashboards, performance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Revenue before discount, leaderboard, rewards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AD, SM, SR</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8404860"/>
            <a:ext cx="16325088" cy="396240"/>
          </a:xfrm>
          <a:prstGeom prst="rect">
            <a:avLst/>
          </a:prstGeom>
        </p:spPr>
        <p:txBody>
          <a:bodyPr anchor="t" rtlCol="false" tIns="0" lIns="0" bIns="0" rIns="0">
            <a:spAutoFit/>
          </a:bodyPr>
          <a:lstStyle/>
          <a:p>
            <a:pPr algn="l">
              <a:lnSpc>
                <a:spcPts val="2520"/>
              </a:lnSpc>
            </a:pPr>
            <a:r>
              <a:rPr lang="en-US" sz="1800" b="true">
                <a:solidFill>
                  <a:srgbClr val="4A5550"/>
                </a:solidFill>
                <a:latin typeface="IBM Plex Sans Bold"/>
                <a:ea typeface="IBM Plex Sans Bold"/>
                <a:cs typeface="IBM Plex Sans Bold"/>
                <a:sym typeface="IBM Plex Sans Bold"/>
              </a:rPr>
              <a:t>AD</a:t>
            </a:r>
            <a:r>
              <a:rPr lang="en-US" sz="1800">
                <a:solidFill>
                  <a:srgbClr val="4A5550"/>
                </a:solidFill>
                <a:latin typeface="IBM Plex Sans"/>
                <a:ea typeface="IBM Plex Sans"/>
                <a:cs typeface="IBM Plex Sans"/>
                <a:sym typeface="IBM Plex Sans"/>
              </a:rPr>
              <a:t> Admin · </a:t>
            </a:r>
            <a:r>
              <a:rPr lang="en-US" sz="1800" b="true">
                <a:solidFill>
                  <a:srgbClr val="4A5550"/>
                </a:solidFill>
                <a:latin typeface="IBM Plex Sans Bold"/>
                <a:ea typeface="IBM Plex Sans Bold"/>
                <a:cs typeface="IBM Plex Sans Bold"/>
                <a:sym typeface="IBM Plex Sans Bold"/>
              </a:rPr>
              <a:t>OP</a:t>
            </a:r>
            <a:r>
              <a:rPr lang="en-US" sz="1800">
                <a:solidFill>
                  <a:srgbClr val="4A5550"/>
                </a:solidFill>
                <a:latin typeface="IBM Plex Sans"/>
                <a:ea typeface="IBM Plex Sans"/>
                <a:cs typeface="IBM Plex Sans"/>
                <a:sym typeface="IBM Plex Sans"/>
              </a:rPr>
              <a:t> Operator · </a:t>
            </a:r>
            <a:r>
              <a:rPr lang="en-US" sz="1800" b="true">
                <a:solidFill>
                  <a:srgbClr val="4A5550"/>
                </a:solidFill>
                <a:latin typeface="IBM Plex Sans Bold"/>
                <a:ea typeface="IBM Plex Sans Bold"/>
                <a:cs typeface="IBM Plex Sans Bold"/>
                <a:sym typeface="IBM Plex Sans Bold"/>
              </a:rPr>
              <a:t>SM</a:t>
            </a:r>
            <a:r>
              <a:rPr lang="en-US" sz="1800">
                <a:solidFill>
                  <a:srgbClr val="4A5550"/>
                </a:solidFill>
                <a:latin typeface="IBM Plex Sans"/>
                <a:ea typeface="IBM Plex Sans"/>
                <a:cs typeface="IBM Plex Sans"/>
                <a:sym typeface="IBM Plex Sans"/>
              </a:rPr>
              <a:t> Sales Manager · </a:t>
            </a:r>
            <a:r>
              <a:rPr lang="en-US" sz="1800" b="true">
                <a:solidFill>
                  <a:srgbClr val="4A5550"/>
                </a:solidFill>
                <a:latin typeface="IBM Plex Sans Bold"/>
                <a:ea typeface="IBM Plex Sans Bold"/>
                <a:cs typeface="IBM Plex Sans Bold"/>
                <a:sym typeface="IBM Plex Sans Bold"/>
              </a:rPr>
              <a:t>WK</a:t>
            </a:r>
            <a:r>
              <a:rPr lang="en-US" sz="1800">
                <a:solidFill>
                  <a:srgbClr val="4A5550"/>
                </a:solidFill>
                <a:latin typeface="IBM Plex Sans"/>
                <a:ea typeface="IBM Plex Sans"/>
                <a:cs typeface="IBM Plex Sans"/>
                <a:sym typeface="IBM Plex Sans"/>
              </a:rPr>
              <a:t> Warehouse Keeper · </a:t>
            </a:r>
            <a:r>
              <a:rPr lang="en-US" sz="1800" b="true">
                <a:solidFill>
                  <a:srgbClr val="4A5550"/>
                </a:solidFill>
                <a:latin typeface="IBM Plex Sans Bold"/>
                <a:ea typeface="IBM Plex Sans Bold"/>
                <a:cs typeface="IBM Plex Sans Bold"/>
                <a:sym typeface="IBM Plex Sans Bold"/>
              </a:rPr>
              <a:t>SR</a:t>
            </a:r>
            <a:r>
              <a:rPr lang="en-US" sz="1800">
                <a:solidFill>
                  <a:srgbClr val="4A5550"/>
                </a:solidFill>
                <a:latin typeface="IBM Plex Sans"/>
                <a:ea typeface="IBM Plex Sans"/>
                <a:cs typeface="IBM Plex Sans"/>
                <a:sym typeface="IBM Plex Sans"/>
              </a:rPr>
              <a:t> Sales Rep · </a:t>
            </a:r>
            <a:r>
              <a:rPr lang="en-US" sz="1800" b="true">
                <a:solidFill>
                  <a:srgbClr val="4A5550"/>
                </a:solidFill>
                <a:latin typeface="IBM Plex Sans Bold"/>
                <a:ea typeface="IBM Plex Sans Bold"/>
                <a:cs typeface="IBM Plex Sans Bold"/>
                <a:sym typeface="IBM Plex Sans Bold"/>
              </a:rPr>
              <a:t>RT</a:t>
            </a:r>
            <a:r>
              <a:rPr lang="en-US" sz="1800">
                <a:solidFill>
                  <a:srgbClr val="4A5550"/>
                </a:solidFill>
                <a:latin typeface="IBM Plex Sans"/>
                <a:ea typeface="IBM Plex Sans"/>
                <a:cs typeface="IBM Plex Sans"/>
                <a:sym typeface="IBM Plex Sans"/>
              </a:rPr>
              <a:t> Retailer · </a:t>
            </a:r>
            <a:r>
              <a:rPr lang="en-US" sz="1800" b="true">
                <a:solidFill>
                  <a:srgbClr val="4A5550"/>
                </a:solidFill>
                <a:latin typeface="IBM Plex Sans Bold"/>
                <a:ea typeface="IBM Plex Sans Bold"/>
                <a:cs typeface="IBM Plex Sans Bold"/>
                <a:sym typeface="IBM Plex Sans Bold"/>
              </a:rPr>
              <a:t>SYS</a:t>
            </a:r>
            <a:r>
              <a:rPr lang="en-US" sz="1800">
                <a:solidFill>
                  <a:srgbClr val="4A5550"/>
                </a:solidFill>
                <a:latin typeface="IBM Plex Sans"/>
                <a:ea typeface="IBM Plex Sans"/>
                <a:cs typeface="IBM Plex Sans"/>
                <a:sym typeface="IBM Plex Sans"/>
              </a:rPr>
              <a:t> System</a:t>
            </a:r>
          </a:p>
        </p:txBody>
      </p:sp>
      <p:sp>
        <p:nvSpPr>
          <p:cNvPr name="TextBox 12" id="12"/>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3" id="13"/>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10</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NON-FUNCTIONAL REQUIREMENTS</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Quality attributes and targets</a:t>
            </a:r>
          </a:p>
        </p:txBody>
      </p:sp>
      <p:grpSp>
        <p:nvGrpSpPr>
          <p:cNvPr name="Group 4" id="4"/>
          <p:cNvGrpSpPr/>
          <p:nvPr/>
        </p:nvGrpSpPr>
        <p:grpSpPr>
          <a:xfrm rot="0">
            <a:off x="1219200" y="2358400"/>
            <a:ext cx="15849600" cy="4709160"/>
            <a:chOff x="0" y="0"/>
            <a:chExt cx="21132800" cy="6278880"/>
          </a:xfrm>
        </p:grpSpPr>
        <p:sp>
          <p:nvSpPr>
            <p:cNvPr name="Freeform 5" id="5"/>
            <p:cNvSpPr/>
            <p:nvPr/>
          </p:nvSpPr>
          <p:spPr>
            <a:xfrm flipH="false" flipV="false" rot="0">
              <a:off x="0" y="0"/>
              <a:ext cx="21132800" cy="6278880"/>
            </a:xfrm>
            <a:custGeom>
              <a:avLst/>
              <a:gdLst/>
              <a:ahLst/>
              <a:cxnLst/>
              <a:rect r="r" b="b" t="t" l="l"/>
              <a:pathLst>
                <a:path h="6278880" w="21132800">
                  <a:moveTo>
                    <a:pt x="0" y="152400"/>
                  </a:moveTo>
                  <a:cubicBezTo>
                    <a:pt x="0" y="68199"/>
                    <a:pt x="68199" y="0"/>
                    <a:pt x="152400" y="0"/>
                  </a:cubicBezTo>
                  <a:lnTo>
                    <a:pt x="20980400" y="0"/>
                  </a:lnTo>
                  <a:cubicBezTo>
                    <a:pt x="21064601" y="0"/>
                    <a:pt x="21132800" y="68199"/>
                    <a:pt x="21132800" y="152400"/>
                  </a:cubicBezTo>
                  <a:lnTo>
                    <a:pt x="21132800" y="6126480"/>
                  </a:lnTo>
                  <a:cubicBezTo>
                    <a:pt x="21132800" y="6210681"/>
                    <a:pt x="21064601" y="6278880"/>
                    <a:pt x="20980400" y="6278880"/>
                  </a:cubicBezTo>
                  <a:lnTo>
                    <a:pt x="152400" y="6278880"/>
                  </a:lnTo>
                  <a:cubicBezTo>
                    <a:pt x="68199" y="6278880"/>
                    <a:pt x="0" y="6210681"/>
                    <a:pt x="0" y="6126480"/>
                  </a:cubicBezTo>
                  <a:close/>
                </a:path>
              </a:pathLst>
            </a:custGeom>
            <a:solidFill>
              <a:srgbClr val="FFFFFF"/>
            </a:solidFill>
          </p:spPr>
        </p:sp>
      </p:grpSp>
      <p:grpSp>
        <p:nvGrpSpPr>
          <p:cNvPr name="Group 6" id="6"/>
          <p:cNvGrpSpPr/>
          <p:nvPr/>
        </p:nvGrpSpPr>
        <p:grpSpPr>
          <a:xfrm rot="0">
            <a:off x="1219200" y="2358400"/>
            <a:ext cx="15849600" cy="4709160"/>
            <a:chOff x="0" y="0"/>
            <a:chExt cx="21132800" cy="6278880"/>
          </a:xfrm>
        </p:grpSpPr>
        <p:sp>
          <p:nvSpPr>
            <p:cNvPr name="Freeform 7" id="7"/>
            <p:cNvSpPr/>
            <p:nvPr/>
          </p:nvSpPr>
          <p:spPr>
            <a:xfrm flipH="false" flipV="false" rot="0">
              <a:off x="0" y="0"/>
              <a:ext cx="21132800" cy="6278880"/>
            </a:xfrm>
            <a:custGeom>
              <a:avLst/>
              <a:gdLst/>
              <a:ahLst/>
              <a:cxnLst/>
              <a:rect r="r" b="b" t="t" l="l"/>
              <a:pathLst>
                <a:path h="6278880" w="21132800">
                  <a:moveTo>
                    <a:pt x="20980400" y="0"/>
                  </a:moveTo>
                  <a:cubicBezTo>
                    <a:pt x="21064601" y="0"/>
                    <a:pt x="21132800" y="68199"/>
                    <a:pt x="21132800" y="152400"/>
                  </a:cubicBezTo>
                  <a:lnTo>
                    <a:pt x="21132800" y="6126480"/>
                  </a:lnTo>
                  <a:cubicBezTo>
                    <a:pt x="21132800" y="6210681"/>
                    <a:pt x="21064601" y="6278880"/>
                    <a:pt x="20980400" y="6278880"/>
                  </a:cubicBezTo>
                  <a:lnTo>
                    <a:pt x="152400" y="6278880"/>
                  </a:lnTo>
                  <a:cubicBezTo>
                    <a:pt x="68199" y="6278880"/>
                    <a:pt x="0" y="6210681"/>
                    <a:pt x="0" y="6126480"/>
                  </a:cubicBezTo>
                  <a:cubicBezTo>
                    <a:pt x="0" y="6203696"/>
                    <a:pt x="62484" y="6266180"/>
                    <a:pt x="139700" y="6266180"/>
                  </a:cubicBezTo>
                  <a:lnTo>
                    <a:pt x="20980400" y="6266180"/>
                  </a:lnTo>
                  <a:cubicBezTo>
                    <a:pt x="21057615" y="6266180"/>
                    <a:pt x="21120100" y="6203696"/>
                    <a:pt x="21120100" y="612648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400"/>
            <a:ext cx="15849600" cy="4709160"/>
            <a:chOff x="0" y="0"/>
            <a:chExt cx="21132800" cy="6278880"/>
          </a:xfrm>
        </p:grpSpPr>
        <p:sp>
          <p:nvSpPr>
            <p:cNvPr name="Freeform 9" id="9"/>
            <p:cNvSpPr/>
            <p:nvPr/>
          </p:nvSpPr>
          <p:spPr>
            <a:xfrm flipH="false" flipV="false" rot="0">
              <a:off x="0" y="0"/>
              <a:ext cx="21132800" cy="6278880"/>
            </a:xfrm>
            <a:custGeom>
              <a:avLst/>
              <a:gdLst/>
              <a:ahLst/>
              <a:cxnLst/>
              <a:rect r="r" b="b" t="t" l="l"/>
              <a:pathLst>
                <a:path h="6278880" w="21132800">
                  <a:moveTo>
                    <a:pt x="152400" y="6278880"/>
                  </a:moveTo>
                  <a:cubicBezTo>
                    <a:pt x="68199" y="6278880"/>
                    <a:pt x="0" y="6210681"/>
                    <a:pt x="0" y="612648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6126480"/>
                  </a:lnTo>
                  <a:cubicBezTo>
                    <a:pt x="20320" y="6210681"/>
                    <a:pt x="88519" y="6278880"/>
                    <a:pt x="172720" y="627888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6"/>
          <a:ext cx="15563850" cy="4457700"/>
        </p:xfrm>
        <a:graphic>
          <a:graphicData uri="http://schemas.openxmlformats.org/drawingml/2006/table">
            <a:tbl>
              <a:tblPr/>
              <a:tblGrid>
                <a:gridCol w="3112770"/>
                <a:gridCol w="8081866"/>
                <a:gridCol w="4369214"/>
              </a:tblGrid>
              <a:tr h="479514">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Attribute</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Requirement</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Target</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Data consistency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 stock reserved twice: one transaction, row-version lock</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 over-reservations in tests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Offline operation</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Order capture, cart and promo estimate with no network</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 duplicates on re-sync</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Performance</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Allocation and daily screens fast enough for field work</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Allocation ≤ 3 s, pages ≤ 2 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Security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Entra ID sign-in, role and warehouse scope, HTTPS only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100% APIs role-checked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Traceability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QR label links batch → picking → order → receipt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Every status change logged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Reliability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Transactional outbox; scheduled jobs and conflicts retry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 lost notifications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Usability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Vietnamese UI, QR camera scan; Android, Chrome, Edge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Reason shown on every reject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49727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Maintainability</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Modular monolith, Clean Architecture, CI, Azure Monitor</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 70% unit-test coverage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8404860"/>
            <a:ext cx="16325088"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Targets are team proposals for Review 1; the test-coverage target comes from the Report 2 quality plan. Performance targets are p95.</a:t>
            </a:r>
          </a:p>
        </p:txBody>
      </p:sp>
      <p:sp>
        <p:nvSpPr>
          <p:cNvPr name="TextBox 12" id="12"/>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3" id="13"/>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11</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62025"/>
            <a:ext cx="16325088" cy="343376"/>
          </a:xfrm>
          <a:prstGeom prst="rect">
            <a:avLst/>
          </a:prstGeom>
        </p:spPr>
        <p:txBody>
          <a:bodyPr anchor="t" rtlCol="false" tIns="0" lIns="0" bIns="0" rIns="0">
            <a:spAutoFit/>
          </a:bodyPr>
          <a:lstStyle/>
          <a:p>
            <a:pPr algn="l">
              <a:lnSpc>
                <a:spcPts val="2204"/>
              </a:lnSpc>
            </a:pPr>
            <a:r>
              <a:rPr lang="en-US" b="true" sz="1575" spc="150">
                <a:solidFill>
                  <a:srgbClr val="14655B"/>
                </a:solidFill>
                <a:latin typeface="IBM Plex Sans Bold"/>
                <a:ea typeface="IBM Plex Sans Bold"/>
                <a:cs typeface="IBM Plex Sans Bold"/>
                <a:sym typeface="IBM Plex Sans Bold"/>
              </a:rPr>
              <a:t>OVERALL PROCESS</a:t>
            </a:r>
          </a:p>
        </p:txBody>
      </p:sp>
      <p:sp>
        <p:nvSpPr>
          <p:cNvPr name="TextBox 3" id="3"/>
          <p:cNvSpPr txBox="true"/>
          <p:nvPr/>
        </p:nvSpPr>
        <p:spPr>
          <a:xfrm rot="0">
            <a:off x="1219200" y="1353026"/>
            <a:ext cx="16325088" cy="571976"/>
          </a:xfrm>
          <a:prstGeom prst="rect">
            <a:avLst/>
          </a:prstGeom>
        </p:spPr>
        <p:txBody>
          <a:bodyPr anchor="t" rtlCol="false" tIns="0" lIns="0" bIns="0" rIns="0">
            <a:spAutoFit/>
          </a:bodyPr>
          <a:lstStyle/>
          <a:p>
            <a:pPr algn="l">
              <a:lnSpc>
                <a:spcPts val="4300"/>
              </a:lnSpc>
            </a:pPr>
            <a:r>
              <a:rPr lang="en-US" sz="3908" b="true">
                <a:solidFill>
                  <a:srgbClr val="1B2420"/>
                </a:solidFill>
                <a:latin typeface="Arimo Bold"/>
                <a:ea typeface="Arimo Bold"/>
                <a:cs typeface="Arimo Bold"/>
                <a:sym typeface="Arimo Bold"/>
              </a:rPr>
              <a:t>End-to-end business flow</a:t>
            </a:r>
          </a:p>
        </p:txBody>
      </p:sp>
      <p:grpSp>
        <p:nvGrpSpPr>
          <p:cNvPr name="Group 4" id="4"/>
          <p:cNvGrpSpPr/>
          <p:nvPr/>
        </p:nvGrpSpPr>
        <p:grpSpPr>
          <a:xfrm rot="0">
            <a:off x="1219200" y="2229812"/>
            <a:ext cx="3017520" cy="2628786"/>
            <a:chOff x="0" y="0"/>
            <a:chExt cx="4023360" cy="3505048"/>
          </a:xfrm>
        </p:grpSpPr>
        <p:sp>
          <p:nvSpPr>
            <p:cNvPr name="Freeform 5" id="5"/>
            <p:cNvSpPr/>
            <p:nvPr/>
          </p:nvSpPr>
          <p:spPr>
            <a:xfrm flipH="false" flipV="false" rot="0">
              <a:off x="0" y="0"/>
              <a:ext cx="4023360" cy="3505073"/>
            </a:xfrm>
            <a:custGeom>
              <a:avLst/>
              <a:gdLst/>
              <a:ahLst/>
              <a:cxnLst/>
              <a:rect r="r" b="b" t="t" l="l"/>
              <a:pathLst>
                <a:path h="3505073" w="4023360">
                  <a:moveTo>
                    <a:pt x="0" y="172085"/>
                  </a:moveTo>
                  <a:cubicBezTo>
                    <a:pt x="0" y="77089"/>
                    <a:pt x="77089" y="0"/>
                    <a:pt x="172085" y="0"/>
                  </a:cubicBezTo>
                  <a:lnTo>
                    <a:pt x="3851275" y="0"/>
                  </a:lnTo>
                  <a:cubicBezTo>
                    <a:pt x="3946271" y="0"/>
                    <a:pt x="4023360" y="77089"/>
                    <a:pt x="4023360" y="172085"/>
                  </a:cubicBezTo>
                  <a:lnTo>
                    <a:pt x="4023360" y="3332988"/>
                  </a:lnTo>
                  <a:cubicBezTo>
                    <a:pt x="4023360" y="3427984"/>
                    <a:pt x="3946271" y="3505073"/>
                    <a:pt x="3851275" y="3505073"/>
                  </a:cubicBezTo>
                  <a:lnTo>
                    <a:pt x="172085" y="3505073"/>
                  </a:lnTo>
                  <a:cubicBezTo>
                    <a:pt x="77089" y="3505073"/>
                    <a:pt x="0" y="3427984"/>
                    <a:pt x="0" y="3332988"/>
                  </a:cubicBezTo>
                  <a:close/>
                </a:path>
              </a:pathLst>
            </a:custGeom>
            <a:solidFill>
              <a:srgbClr val="FFFFFF"/>
            </a:solidFill>
            <a:ln w="9525" cap="sq">
              <a:solidFill>
                <a:srgbClr val="D5DCD7"/>
              </a:solidFill>
              <a:prstDash val="solid"/>
              <a:miter/>
            </a:ln>
          </p:spPr>
        </p:sp>
      </p:grpSp>
      <p:grpSp>
        <p:nvGrpSpPr>
          <p:cNvPr name="Group 6" id="6"/>
          <p:cNvGrpSpPr/>
          <p:nvPr/>
        </p:nvGrpSpPr>
        <p:grpSpPr>
          <a:xfrm rot="0">
            <a:off x="1436370" y="2427922"/>
            <a:ext cx="495300" cy="495300"/>
            <a:chOff x="0" y="0"/>
            <a:chExt cx="660400" cy="660400"/>
          </a:xfrm>
        </p:grpSpPr>
        <p:sp>
          <p:nvSpPr>
            <p:cNvPr name="Freeform 7" id="7"/>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8" id="8"/>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1</a:t>
              </a:r>
            </a:p>
          </p:txBody>
        </p:sp>
      </p:grpSp>
      <p:sp>
        <p:nvSpPr>
          <p:cNvPr name="TextBox 9" id="9"/>
          <p:cNvSpPr txBox="true"/>
          <p:nvPr/>
        </p:nvSpPr>
        <p:spPr>
          <a:xfrm rot="0">
            <a:off x="1436370" y="2980372"/>
            <a:ext cx="2660675" cy="313134"/>
          </a:xfrm>
          <a:prstGeom prst="rect">
            <a:avLst/>
          </a:prstGeom>
        </p:spPr>
        <p:txBody>
          <a:bodyPr anchor="t" rtlCol="false" tIns="0" lIns="0" bIns="0" rIns="0">
            <a:spAutoFit/>
          </a:bodyPr>
          <a:lstStyle/>
          <a:p>
            <a:pPr algn="l">
              <a:lnSpc>
                <a:spcPts val="2055"/>
              </a:lnSpc>
            </a:pPr>
            <a:r>
              <a:rPr lang="en-US" sz="1713" b="true">
                <a:solidFill>
                  <a:srgbClr val="1B2420"/>
                </a:solidFill>
                <a:latin typeface="Arimo Bold"/>
                <a:ea typeface="Arimo Bold"/>
                <a:cs typeface="Arimo Bold"/>
                <a:sym typeface="Arimo Bold"/>
              </a:rPr>
              <a:t>Goods receipt</a:t>
            </a:r>
          </a:p>
        </p:txBody>
      </p:sp>
      <p:sp>
        <p:nvSpPr>
          <p:cNvPr name="TextBox 10" id="10"/>
          <p:cNvSpPr txBox="true"/>
          <p:nvPr/>
        </p:nvSpPr>
        <p:spPr>
          <a:xfrm rot="0">
            <a:off x="1436370" y="3303032"/>
            <a:ext cx="2790825" cy="578768"/>
          </a:xfrm>
          <a:prstGeom prst="rect">
            <a:avLst/>
          </a:prstGeom>
        </p:spPr>
        <p:txBody>
          <a:bodyPr anchor="t" rtlCol="false" tIns="0" lIns="0" bIns="0" rIns="0">
            <a:spAutoFit/>
          </a:bodyPr>
          <a:lstStyle/>
          <a:p>
            <a:pPr algn="l">
              <a:lnSpc>
                <a:spcPts val="2252"/>
              </a:lnSpc>
            </a:pPr>
            <a:r>
              <a:rPr lang="en-US" sz="1609" b="true">
                <a:solidFill>
                  <a:srgbClr val="B85C1E"/>
                </a:solidFill>
                <a:latin typeface="IBM Plex Sans Bold"/>
                <a:ea typeface="IBM Plex Sans Bold"/>
                <a:cs typeface="IBM Plex Sans Bold"/>
                <a:sym typeface="IBM Plex Sans Bold"/>
              </a:rPr>
              <a:t>Admin · Warehouse Keeper</a:t>
            </a:r>
          </a:p>
        </p:txBody>
      </p:sp>
      <p:sp>
        <p:nvSpPr>
          <p:cNvPr name="TextBox 11" id="11"/>
          <p:cNvSpPr txBox="true"/>
          <p:nvPr/>
        </p:nvSpPr>
        <p:spPr>
          <a:xfrm rot="0">
            <a:off x="1436370" y="3900849"/>
            <a:ext cx="2660675" cy="797719"/>
          </a:xfrm>
          <a:prstGeom prst="rect">
            <a:avLst/>
          </a:prstGeom>
        </p:spPr>
        <p:txBody>
          <a:bodyPr anchor="t" rtlCol="false" tIns="0" lIns="0" bIns="0" rIns="0">
            <a:spAutoFit/>
          </a:bodyPr>
          <a:lstStyle/>
          <a:p>
            <a:pPr algn="l">
              <a:lnSpc>
                <a:spcPts val="2127"/>
              </a:lnSpc>
            </a:pPr>
            <a:r>
              <a:rPr lang="en-US" sz="1575">
                <a:solidFill>
                  <a:srgbClr val="4A5550"/>
                </a:solidFill>
                <a:latin typeface="IBM Plex Sans"/>
                <a:ea typeface="IBM Plex Sans"/>
                <a:cs typeface="IBM Plex Sans"/>
                <a:sym typeface="IBM Plex Sans"/>
              </a:rPr>
              <a:t>Batch ID = warehouse + SKU + expiry; QR label per pallet</a:t>
            </a:r>
          </a:p>
        </p:txBody>
      </p:sp>
      <p:grpSp>
        <p:nvGrpSpPr>
          <p:cNvPr name="Group 12" id="12"/>
          <p:cNvGrpSpPr/>
          <p:nvPr/>
        </p:nvGrpSpPr>
        <p:grpSpPr>
          <a:xfrm rot="0">
            <a:off x="4427220" y="2229812"/>
            <a:ext cx="3017520" cy="2628786"/>
            <a:chOff x="0" y="0"/>
            <a:chExt cx="4023360" cy="3505048"/>
          </a:xfrm>
        </p:grpSpPr>
        <p:sp>
          <p:nvSpPr>
            <p:cNvPr name="Freeform 13" id="13"/>
            <p:cNvSpPr/>
            <p:nvPr/>
          </p:nvSpPr>
          <p:spPr>
            <a:xfrm flipH="false" flipV="false" rot="0">
              <a:off x="0" y="0"/>
              <a:ext cx="4023360" cy="3505073"/>
            </a:xfrm>
            <a:custGeom>
              <a:avLst/>
              <a:gdLst/>
              <a:ahLst/>
              <a:cxnLst/>
              <a:rect r="r" b="b" t="t" l="l"/>
              <a:pathLst>
                <a:path h="3505073" w="4023360">
                  <a:moveTo>
                    <a:pt x="0" y="172085"/>
                  </a:moveTo>
                  <a:cubicBezTo>
                    <a:pt x="0" y="77089"/>
                    <a:pt x="77089" y="0"/>
                    <a:pt x="172085" y="0"/>
                  </a:cubicBezTo>
                  <a:lnTo>
                    <a:pt x="3851275" y="0"/>
                  </a:lnTo>
                  <a:cubicBezTo>
                    <a:pt x="3946271" y="0"/>
                    <a:pt x="4023360" y="77089"/>
                    <a:pt x="4023360" y="172085"/>
                  </a:cubicBezTo>
                  <a:lnTo>
                    <a:pt x="4023360" y="3332988"/>
                  </a:lnTo>
                  <a:cubicBezTo>
                    <a:pt x="4023360" y="3427984"/>
                    <a:pt x="3946271" y="3505073"/>
                    <a:pt x="3851275" y="3505073"/>
                  </a:cubicBezTo>
                  <a:lnTo>
                    <a:pt x="172085" y="3505073"/>
                  </a:lnTo>
                  <a:cubicBezTo>
                    <a:pt x="77089" y="3505073"/>
                    <a:pt x="0" y="3427984"/>
                    <a:pt x="0" y="3332988"/>
                  </a:cubicBezTo>
                  <a:close/>
                </a:path>
              </a:pathLst>
            </a:custGeom>
            <a:solidFill>
              <a:srgbClr val="FFFFFF"/>
            </a:solidFill>
            <a:ln w="9525" cap="sq">
              <a:solidFill>
                <a:srgbClr val="D5DCD7"/>
              </a:solidFill>
              <a:prstDash val="solid"/>
              <a:miter/>
            </a:ln>
          </p:spPr>
        </p:sp>
      </p:grpSp>
      <p:grpSp>
        <p:nvGrpSpPr>
          <p:cNvPr name="Group 14" id="14"/>
          <p:cNvGrpSpPr/>
          <p:nvPr/>
        </p:nvGrpSpPr>
        <p:grpSpPr>
          <a:xfrm rot="0">
            <a:off x="4644390" y="2427922"/>
            <a:ext cx="495300" cy="495300"/>
            <a:chOff x="0" y="0"/>
            <a:chExt cx="660400" cy="660400"/>
          </a:xfrm>
        </p:grpSpPr>
        <p:sp>
          <p:nvSpPr>
            <p:cNvPr name="Freeform 15" id="15"/>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16" id="16"/>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2</a:t>
              </a:r>
            </a:p>
          </p:txBody>
        </p:sp>
      </p:grpSp>
      <p:sp>
        <p:nvSpPr>
          <p:cNvPr name="TextBox 17" id="17"/>
          <p:cNvSpPr txBox="true"/>
          <p:nvPr/>
        </p:nvSpPr>
        <p:spPr>
          <a:xfrm rot="0">
            <a:off x="4644390" y="2989897"/>
            <a:ext cx="266067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Sales order</a:t>
            </a:r>
          </a:p>
        </p:txBody>
      </p:sp>
      <p:sp>
        <p:nvSpPr>
          <p:cNvPr name="TextBox 18" id="18"/>
          <p:cNvSpPr txBox="true"/>
          <p:nvPr/>
        </p:nvSpPr>
        <p:spPr>
          <a:xfrm rot="0">
            <a:off x="4644390" y="3357562"/>
            <a:ext cx="2660675" cy="396240"/>
          </a:xfrm>
          <a:prstGeom prst="rect">
            <a:avLst/>
          </a:prstGeom>
        </p:spPr>
        <p:txBody>
          <a:bodyPr anchor="t" rtlCol="false" tIns="0" lIns="0" bIns="0" rIns="0">
            <a:spAutoFit/>
          </a:bodyPr>
          <a:lstStyle/>
          <a:p>
            <a:pPr algn="l">
              <a:lnSpc>
                <a:spcPts val="2520"/>
              </a:lnSpc>
            </a:pPr>
            <a:r>
              <a:rPr lang="en-US" sz="1800" b="true">
                <a:solidFill>
                  <a:srgbClr val="B85C1E"/>
                </a:solidFill>
                <a:latin typeface="IBM Plex Sans Bold"/>
                <a:ea typeface="IBM Plex Sans Bold"/>
                <a:cs typeface="IBM Plex Sans Bold"/>
                <a:sym typeface="IBM Plex Sans Bold"/>
              </a:rPr>
              <a:t>Sales Representative</a:t>
            </a:r>
          </a:p>
        </p:txBody>
      </p:sp>
      <p:sp>
        <p:nvSpPr>
          <p:cNvPr name="TextBox 19" id="19"/>
          <p:cNvSpPr txBox="true"/>
          <p:nvPr/>
        </p:nvSpPr>
        <p:spPr>
          <a:xfrm rot="0">
            <a:off x="4644390" y="3763337"/>
            <a:ext cx="2660675" cy="68389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Online or offline: retailer → products → cart</a:t>
            </a:r>
          </a:p>
        </p:txBody>
      </p:sp>
      <p:grpSp>
        <p:nvGrpSpPr>
          <p:cNvPr name="Group 20" id="20"/>
          <p:cNvGrpSpPr/>
          <p:nvPr/>
        </p:nvGrpSpPr>
        <p:grpSpPr>
          <a:xfrm rot="0">
            <a:off x="7635240" y="2229812"/>
            <a:ext cx="3017520" cy="2628786"/>
            <a:chOff x="0" y="0"/>
            <a:chExt cx="4023360" cy="3505048"/>
          </a:xfrm>
        </p:grpSpPr>
        <p:sp>
          <p:nvSpPr>
            <p:cNvPr name="Freeform 21" id="21"/>
            <p:cNvSpPr/>
            <p:nvPr/>
          </p:nvSpPr>
          <p:spPr>
            <a:xfrm flipH="false" flipV="false" rot="0">
              <a:off x="0" y="0"/>
              <a:ext cx="4023360" cy="3505073"/>
            </a:xfrm>
            <a:custGeom>
              <a:avLst/>
              <a:gdLst/>
              <a:ahLst/>
              <a:cxnLst/>
              <a:rect r="r" b="b" t="t" l="l"/>
              <a:pathLst>
                <a:path h="3505073" w="4023360">
                  <a:moveTo>
                    <a:pt x="0" y="172085"/>
                  </a:moveTo>
                  <a:cubicBezTo>
                    <a:pt x="0" y="77089"/>
                    <a:pt x="77089" y="0"/>
                    <a:pt x="172085" y="0"/>
                  </a:cubicBezTo>
                  <a:lnTo>
                    <a:pt x="3851275" y="0"/>
                  </a:lnTo>
                  <a:cubicBezTo>
                    <a:pt x="3946271" y="0"/>
                    <a:pt x="4023360" y="77089"/>
                    <a:pt x="4023360" y="172085"/>
                  </a:cubicBezTo>
                  <a:lnTo>
                    <a:pt x="4023360" y="3332988"/>
                  </a:lnTo>
                  <a:cubicBezTo>
                    <a:pt x="4023360" y="3427984"/>
                    <a:pt x="3946271" y="3505073"/>
                    <a:pt x="3851275" y="3505073"/>
                  </a:cubicBezTo>
                  <a:lnTo>
                    <a:pt x="172085" y="3505073"/>
                  </a:lnTo>
                  <a:cubicBezTo>
                    <a:pt x="77089" y="3505073"/>
                    <a:pt x="0" y="3427984"/>
                    <a:pt x="0" y="3332988"/>
                  </a:cubicBezTo>
                  <a:close/>
                </a:path>
              </a:pathLst>
            </a:custGeom>
            <a:solidFill>
              <a:srgbClr val="FFFFFF"/>
            </a:solidFill>
            <a:ln w="9525" cap="sq">
              <a:solidFill>
                <a:srgbClr val="D5DCD7"/>
              </a:solidFill>
              <a:prstDash val="solid"/>
              <a:miter/>
            </a:ln>
          </p:spPr>
        </p:sp>
      </p:grpSp>
      <p:grpSp>
        <p:nvGrpSpPr>
          <p:cNvPr name="Group 22" id="22"/>
          <p:cNvGrpSpPr/>
          <p:nvPr/>
        </p:nvGrpSpPr>
        <p:grpSpPr>
          <a:xfrm rot="0">
            <a:off x="7852410" y="2427922"/>
            <a:ext cx="495300" cy="495300"/>
            <a:chOff x="0" y="0"/>
            <a:chExt cx="660400" cy="660400"/>
          </a:xfrm>
        </p:grpSpPr>
        <p:sp>
          <p:nvSpPr>
            <p:cNvPr name="Freeform 23" id="23"/>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24" id="24"/>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3</a:t>
              </a:r>
            </a:p>
          </p:txBody>
        </p:sp>
      </p:grpSp>
      <p:sp>
        <p:nvSpPr>
          <p:cNvPr name="TextBox 25" id="25"/>
          <p:cNvSpPr txBox="true"/>
          <p:nvPr/>
        </p:nvSpPr>
        <p:spPr>
          <a:xfrm rot="0">
            <a:off x="7852410" y="2989897"/>
            <a:ext cx="2660675" cy="355997"/>
          </a:xfrm>
          <a:prstGeom prst="rect">
            <a:avLst/>
          </a:prstGeom>
        </p:spPr>
        <p:txBody>
          <a:bodyPr anchor="t" rtlCol="false" tIns="0" lIns="0" bIns="0" rIns="0">
            <a:spAutoFit/>
          </a:bodyPr>
          <a:lstStyle/>
          <a:p>
            <a:pPr algn="l">
              <a:lnSpc>
                <a:spcPts val="2432"/>
              </a:lnSpc>
            </a:pPr>
            <a:r>
              <a:rPr lang="en-US" sz="2028" b="true">
                <a:solidFill>
                  <a:srgbClr val="1B2420"/>
                </a:solidFill>
                <a:latin typeface="Arimo Bold"/>
                <a:ea typeface="Arimo Bold"/>
                <a:cs typeface="Arimo Bold"/>
                <a:sym typeface="Arimo Bold"/>
              </a:rPr>
              <a:t>Promotion</a:t>
            </a:r>
          </a:p>
        </p:txBody>
      </p:sp>
      <p:sp>
        <p:nvSpPr>
          <p:cNvPr name="TextBox 26" id="26"/>
          <p:cNvSpPr txBox="true"/>
          <p:nvPr/>
        </p:nvSpPr>
        <p:spPr>
          <a:xfrm rot="0">
            <a:off x="7852410" y="3345894"/>
            <a:ext cx="2660675" cy="384458"/>
          </a:xfrm>
          <a:prstGeom prst="rect">
            <a:avLst/>
          </a:prstGeom>
        </p:spPr>
        <p:txBody>
          <a:bodyPr anchor="t" rtlCol="false" tIns="0" lIns="0" bIns="0" rIns="0">
            <a:spAutoFit/>
          </a:bodyPr>
          <a:lstStyle/>
          <a:p>
            <a:pPr algn="l">
              <a:lnSpc>
                <a:spcPts val="2432"/>
              </a:lnSpc>
            </a:pPr>
            <a:r>
              <a:rPr lang="en-US" sz="1738" b="true">
                <a:solidFill>
                  <a:srgbClr val="B85C1E"/>
                </a:solidFill>
                <a:latin typeface="IBM Plex Sans Bold"/>
                <a:ea typeface="IBM Plex Sans Bold"/>
                <a:cs typeface="IBM Plex Sans Bold"/>
                <a:sym typeface="IBM Plex Sans Bold"/>
              </a:rPr>
              <a:t>System</a:t>
            </a:r>
          </a:p>
        </p:txBody>
      </p:sp>
      <p:sp>
        <p:nvSpPr>
          <p:cNvPr name="TextBox 27" id="27"/>
          <p:cNvSpPr txBox="true"/>
          <p:nvPr/>
        </p:nvSpPr>
        <p:spPr>
          <a:xfrm rot="0">
            <a:off x="7852410" y="3739877"/>
            <a:ext cx="2660675" cy="958691"/>
          </a:xfrm>
          <a:prstGeom prst="rect">
            <a:avLst/>
          </a:prstGeom>
        </p:spPr>
        <p:txBody>
          <a:bodyPr anchor="t" rtlCol="false" tIns="0" lIns="0" bIns="0" rIns="0">
            <a:spAutoFit/>
          </a:bodyPr>
          <a:lstStyle/>
          <a:p>
            <a:pPr algn="l">
              <a:lnSpc>
                <a:spcPts val="2360"/>
              </a:lnSpc>
            </a:pPr>
            <a:r>
              <a:rPr lang="en-US" sz="1749">
                <a:solidFill>
                  <a:srgbClr val="4A5550"/>
                </a:solidFill>
                <a:latin typeface="IBM Plex Sans"/>
                <a:ea typeface="IBM Plex Sans"/>
                <a:cs typeface="IBM Plex Sans"/>
                <a:sym typeface="IBM Plex Sans"/>
              </a:rPr>
              <a:t>Best discount per order line, shown before confirm</a:t>
            </a:r>
          </a:p>
        </p:txBody>
      </p:sp>
      <p:grpSp>
        <p:nvGrpSpPr>
          <p:cNvPr name="Group 28" id="28"/>
          <p:cNvGrpSpPr/>
          <p:nvPr/>
        </p:nvGrpSpPr>
        <p:grpSpPr>
          <a:xfrm rot="0">
            <a:off x="10843260" y="2229812"/>
            <a:ext cx="3017520" cy="2628786"/>
            <a:chOff x="0" y="0"/>
            <a:chExt cx="4023360" cy="3505048"/>
          </a:xfrm>
        </p:grpSpPr>
        <p:sp>
          <p:nvSpPr>
            <p:cNvPr name="Freeform 29" id="29"/>
            <p:cNvSpPr/>
            <p:nvPr/>
          </p:nvSpPr>
          <p:spPr>
            <a:xfrm flipH="false" flipV="false" rot="0">
              <a:off x="0" y="0"/>
              <a:ext cx="4023360" cy="3505073"/>
            </a:xfrm>
            <a:custGeom>
              <a:avLst/>
              <a:gdLst/>
              <a:ahLst/>
              <a:cxnLst/>
              <a:rect r="r" b="b" t="t" l="l"/>
              <a:pathLst>
                <a:path h="3505073" w="4023360">
                  <a:moveTo>
                    <a:pt x="0" y="172085"/>
                  </a:moveTo>
                  <a:cubicBezTo>
                    <a:pt x="0" y="77089"/>
                    <a:pt x="77089" y="0"/>
                    <a:pt x="172085" y="0"/>
                  </a:cubicBezTo>
                  <a:lnTo>
                    <a:pt x="3851275" y="0"/>
                  </a:lnTo>
                  <a:cubicBezTo>
                    <a:pt x="3946271" y="0"/>
                    <a:pt x="4023360" y="77089"/>
                    <a:pt x="4023360" y="172085"/>
                  </a:cubicBezTo>
                  <a:lnTo>
                    <a:pt x="4023360" y="3332988"/>
                  </a:lnTo>
                  <a:cubicBezTo>
                    <a:pt x="4023360" y="3427984"/>
                    <a:pt x="3946271" y="3505073"/>
                    <a:pt x="3851275" y="3505073"/>
                  </a:cubicBezTo>
                  <a:lnTo>
                    <a:pt x="172085" y="3505073"/>
                  </a:lnTo>
                  <a:cubicBezTo>
                    <a:pt x="77089" y="3505073"/>
                    <a:pt x="0" y="3427984"/>
                    <a:pt x="0" y="3332988"/>
                  </a:cubicBezTo>
                  <a:close/>
                </a:path>
              </a:pathLst>
            </a:custGeom>
            <a:solidFill>
              <a:srgbClr val="FFFFFF"/>
            </a:solidFill>
            <a:ln w="9525" cap="sq">
              <a:solidFill>
                <a:srgbClr val="D5DCD7"/>
              </a:solidFill>
              <a:prstDash val="solid"/>
              <a:miter/>
            </a:ln>
          </p:spPr>
        </p:sp>
      </p:grpSp>
      <p:grpSp>
        <p:nvGrpSpPr>
          <p:cNvPr name="Group 30" id="30"/>
          <p:cNvGrpSpPr/>
          <p:nvPr/>
        </p:nvGrpSpPr>
        <p:grpSpPr>
          <a:xfrm rot="0">
            <a:off x="11060430" y="2427922"/>
            <a:ext cx="495300" cy="495300"/>
            <a:chOff x="0" y="0"/>
            <a:chExt cx="660400" cy="660400"/>
          </a:xfrm>
        </p:grpSpPr>
        <p:sp>
          <p:nvSpPr>
            <p:cNvPr name="Freeform 31" id="31"/>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32" id="32"/>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4</a:t>
              </a:r>
            </a:p>
          </p:txBody>
        </p:sp>
      </p:grpSp>
      <p:sp>
        <p:nvSpPr>
          <p:cNvPr name="TextBox 33" id="33"/>
          <p:cNvSpPr txBox="true"/>
          <p:nvPr/>
        </p:nvSpPr>
        <p:spPr>
          <a:xfrm rot="0">
            <a:off x="11060430" y="2980372"/>
            <a:ext cx="2790825" cy="569243"/>
          </a:xfrm>
          <a:prstGeom prst="rect">
            <a:avLst/>
          </a:prstGeom>
        </p:spPr>
        <p:txBody>
          <a:bodyPr anchor="t" rtlCol="false" tIns="0" lIns="0" bIns="0" rIns="0">
            <a:spAutoFit/>
          </a:bodyPr>
          <a:lstStyle/>
          <a:p>
            <a:pPr algn="l">
              <a:lnSpc>
                <a:spcPts val="2323"/>
              </a:lnSpc>
            </a:pPr>
            <a:r>
              <a:rPr lang="en-US" sz="1936" b="true">
                <a:solidFill>
                  <a:srgbClr val="1B2420"/>
                </a:solidFill>
                <a:latin typeface="Arimo Bold"/>
                <a:ea typeface="Arimo Bold"/>
                <a:cs typeface="Arimo Bold"/>
                <a:sym typeface="Arimo Bold"/>
              </a:rPr>
              <a:t>FEFO-MLOR allocation</a:t>
            </a:r>
          </a:p>
        </p:txBody>
      </p:sp>
      <p:sp>
        <p:nvSpPr>
          <p:cNvPr name="TextBox 34" id="34"/>
          <p:cNvSpPr txBox="true"/>
          <p:nvPr/>
        </p:nvSpPr>
        <p:spPr>
          <a:xfrm rot="0">
            <a:off x="11060430" y="3568665"/>
            <a:ext cx="2660675" cy="313134"/>
          </a:xfrm>
          <a:prstGeom prst="rect">
            <a:avLst/>
          </a:prstGeom>
        </p:spPr>
        <p:txBody>
          <a:bodyPr anchor="t" rtlCol="false" tIns="0" lIns="0" bIns="0" rIns="0">
            <a:spAutoFit/>
          </a:bodyPr>
          <a:lstStyle/>
          <a:p>
            <a:pPr algn="l">
              <a:lnSpc>
                <a:spcPts val="2055"/>
              </a:lnSpc>
            </a:pPr>
            <a:r>
              <a:rPr lang="en-US" sz="1468" b="true">
                <a:solidFill>
                  <a:srgbClr val="B85C1E"/>
                </a:solidFill>
                <a:latin typeface="IBM Plex Sans Bold"/>
                <a:ea typeface="IBM Plex Sans Bold"/>
                <a:cs typeface="IBM Plex Sans Bold"/>
                <a:sym typeface="IBM Plex Sans Bold"/>
              </a:rPr>
              <a:t>System</a:t>
            </a:r>
          </a:p>
        </p:txBody>
      </p:sp>
      <p:sp>
        <p:nvSpPr>
          <p:cNvPr name="TextBox 35" id="35"/>
          <p:cNvSpPr txBox="true"/>
          <p:nvPr/>
        </p:nvSpPr>
        <p:spPr>
          <a:xfrm rot="0">
            <a:off x="11060430" y="3900849"/>
            <a:ext cx="2660675" cy="797719"/>
          </a:xfrm>
          <a:prstGeom prst="rect">
            <a:avLst/>
          </a:prstGeom>
        </p:spPr>
        <p:txBody>
          <a:bodyPr anchor="t" rtlCol="false" tIns="0" lIns="0" bIns="0" rIns="0">
            <a:spAutoFit/>
          </a:bodyPr>
          <a:lstStyle/>
          <a:p>
            <a:pPr algn="l">
              <a:lnSpc>
                <a:spcPts val="1973"/>
              </a:lnSpc>
            </a:pPr>
            <a:r>
              <a:rPr lang="en-US" sz="1462">
                <a:solidFill>
                  <a:srgbClr val="4A5550"/>
                </a:solidFill>
                <a:latin typeface="IBM Plex Sans"/>
                <a:ea typeface="IBM Plex Sans"/>
                <a:cs typeface="IBM Plex Sans"/>
                <a:sym typeface="IBM Plex Sans"/>
              </a:rPr>
              <a:t>Hold stock across warehouses, or reject automatically</a:t>
            </a:r>
          </a:p>
        </p:txBody>
      </p:sp>
      <p:grpSp>
        <p:nvGrpSpPr>
          <p:cNvPr name="Group 36" id="36"/>
          <p:cNvGrpSpPr/>
          <p:nvPr/>
        </p:nvGrpSpPr>
        <p:grpSpPr>
          <a:xfrm rot="0">
            <a:off x="14051280" y="2229812"/>
            <a:ext cx="3017520" cy="2628786"/>
            <a:chOff x="0" y="0"/>
            <a:chExt cx="4023360" cy="3505048"/>
          </a:xfrm>
        </p:grpSpPr>
        <p:sp>
          <p:nvSpPr>
            <p:cNvPr name="Freeform 37" id="37"/>
            <p:cNvSpPr/>
            <p:nvPr/>
          </p:nvSpPr>
          <p:spPr>
            <a:xfrm flipH="false" flipV="false" rot="0">
              <a:off x="0" y="0"/>
              <a:ext cx="4023360" cy="3505073"/>
            </a:xfrm>
            <a:custGeom>
              <a:avLst/>
              <a:gdLst/>
              <a:ahLst/>
              <a:cxnLst/>
              <a:rect r="r" b="b" t="t" l="l"/>
              <a:pathLst>
                <a:path h="3505073" w="4023360">
                  <a:moveTo>
                    <a:pt x="0" y="172085"/>
                  </a:moveTo>
                  <a:cubicBezTo>
                    <a:pt x="0" y="77089"/>
                    <a:pt x="77089" y="0"/>
                    <a:pt x="172085" y="0"/>
                  </a:cubicBezTo>
                  <a:lnTo>
                    <a:pt x="3851275" y="0"/>
                  </a:lnTo>
                  <a:cubicBezTo>
                    <a:pt x="3946271" y="0"/>
                    <a:pt x="4023360" y="77089"/>
                    <a:pt x="4023360" y="172085"/>
                  </a:cubicBezTo>
                  <a:lnTo>
                    <a:pt x="4023360" y="3332988"/>
                  </a:lnTo>
                  <a:cubicBezTo>
                    <a:pt x="4023360" y="3427984"/>
                    <a:pt x="3946271" y="3505073"/>
                    <a:pt x="3851275" y="3505073"/>
                  </a:cubicBezTo>
                  <a:lnTo>
                    <a:pt x="172085" y="3505073"/>
                  </a:lnTo>
                  <a:cubicBezTo>
                    <a:pt x="77089" y="3505073"/>
                    <a:pt x="0" y="3427984"/>
                    <a:pt x="0" y="3332988"/>
                  </a:cubicBezTo>
                  <a:close/>
                </a:path>
              </a:pathLst>
            </a:custGeom>
            <a:solidFill>
              <a:srgbClr val="FFFFFF"/>
            </a:solidFill>
            <a:ln w="9525" cap="sq">
              <a:solidFill>
                <a:srgbClr val="D5DCD7"/>
              </a:solidFill>
              <a:prstDash val="solid"/>
              <a:miter/>
            </a:ln>
          </p:spPr>
        </p:sp>
      </p:grpSp>
      <p:grpSp>
        <p:nvGrpSpPr>
          <p:cNvPr name="Group 38" id="38"/>
          <p:cNvGrpSpPr/>
          <p:nvPr/>
        </p:nvGrpSpPr>
        <p:grpSpPr>
          <a:xfrm rot="0">
            <a:off x="14268450" y="2427922"/>
            <a:ext cx="495300" cy="495300"/>
            <a:chOff x="0" y="0"/>
            <a:chExt cx="660400" cy="660400"/>
          </a:xfrm>
        </p:grpSpPr>
        <p:sp>
          <p:nvSpPr>
            <p:cNvPr name="Freeform 39" id="39"/>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40" id="40"/>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5</a:t>
              </a:r>
            </a:p>
          </p:txBody>
        </p:sp>
      </p:grpSp>
      <p:sp>
        <p:nvSpPr>
          <p:cNvPr name="TextBox 41" id="41"/>
          <p:cNvSpPr txBox="true"/>
          <p:nvPr/>
        </p:nvSpPr>
        <p:spPr>
          <a:xfrm rot="0">
            <a:off x="14268450" y="2989897"/>
            <a:ext cx="266067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Approval</a:t>
            </a:r>
          </a:p>
        </p:txBody>
      </p:sp>
      <p:sp>
        <p:nvSpPr>
          <p:cNvPr name="TextBox 42" id="42"/>
          <p:cNvSpPr txBox="true"/>
          <p:nvPr/>
        </p:nvSpPr>
        <p:spPr>
          <a:xfrm rot="0">
            <a:off x="14268450" y="3357562"/>
            <a:ext cx="2660675" cy="396240"/>
          </a:xfrm>
          <a:prstGeom prst="rect">
            <a:avLst/>
          </a:prstGeom>
        </p:spPr>
        <p:txBody>
          <a:bodyPr anchor="t" rtlCol="false" tIns="0" lIns="0" bIns="0" rIns="0">
            <a:spAutoFit/>
          </a:bodyPr>
          <a:lstStyle/>
          <a:p>
            <a:pPr algn="l">
              <a:lnSpc>
                <a:spcPts val="2520"/>
              </a:lnSpc>
            </a:pPr>
            <a:r>
              <a:rPr lang="en-US" sz="1800" b="true">
                <a:solidFill>
                  <a:srgbClr val="B85C1E"/>
                </a:solidFill>
                <a:latin typeface="IBM Plex Sans Bold"/>
                <a:ea typeface="IBM Plex Sans Bold"/>
                <a:cs typeface="IBM Plex Sans Bold"/>
                <a:sym typeface="IBM Plex Sans Bold"/>
              </a:rPr>
              <a:t>Admin · Operator</a:t>
            </a:r>
          </a:p>
        </p:txBody>
      </p:sp>
      <p:sp>
        <p:nvSpPr>
          <p:cNvPr name="TextBox 43" id="43"/>
          <p:cNvSpPr txBox="true"/>
          <p:nvPr/>
        </p:nvSpPr>
        <p:spPr>
          <a:xfrm rot="0">
            <a:off x="14268450" y="3763337"/>
            <a:ext cx="2660675" cy="68389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Approve → one picking list per warehouse</a:t>
            </a:r>
          </a:p>
        </p:txBody>
      </p:sp>
      <p:grpSp>
        <p:nvGrpSpPr>
          <p:cNvPr name="Group 44" id="44"/>
          <p:cNvGrpSpPr/>
          <p:nvPr/>
        </p:nvGrpSpPr>
        <p:grpSpPr>
          <a:xfrm rot="0">
            <a:off x="1219200" y="5201488"/>
            <a:ext cx="3017520" cy="2358990"/>
            <a:chOff x="0" y="0"/>
            <a:chExt cx="4023360" cy="3145320"/>
          </a:xfrm>
        </p:grpSpPr>
        <p:sp>
          <p:nvSpPr>
            <p:cNvPr name="Freeform 45" id="45"/>
            <p:cNvSpPr/>
            <p:nvPr/>
          </p:nvSpPr>
          <p:spPr>
            <a:xfrm flipH="false" flipV="false" rot="0">
              <a:off x="0" y="0"/>
              <a:ext cx="4023360" cy="3145282"/>
            </a:xfrm>
            <a:custGeom>
              <a:avLst/>
              <a:gdLst/>
              <a:ahLst/>
              <a:cxnLst/>
              <a:rect r="r" b="b" t="t" l="l"/>
              <a:pathLst>
                <a:path h="3145282" w="4023360">
                  <a:moveTo>
                    <a:pt x="0" y="172085"/>
                  </a:moveTo>
                  <a:cubicBezTo>
                    <a:pt x="0" y="77089"/>
                    <a:pt x="77089" y="0"/>
                    <a:pt x="172085" y="0"/>
                  </a:cubicBezTo>
                  <a:lnTo>
                    <a:pt x="3851275" y="0"/>
                  </a:lnTo>
                  <a:cubicBezTo>
                    <a:pt x="3946398" y="0"/>
                    <a:pt x="4023360" y="77089"/>
                    <a:pt x="4023360" y="172085"/>
                  </a:cubicBezTo>
                  <a:lnTo>
                    <a:pt x="4023360" y="2973197"/>
                  </a:lnTo>
                  <a:cubicBezTo>
                    <a:pt x="4023360" y="3068320"/>
                    <a:pt x="3946271" y="3145282"/>
                    <a:pt x="3851275" y="3145282"/>
                  </a:cubicBezTo>
                  <a:lnTo>
                    <a:pt x="172085" y="3145282"/>
                  </a:lnTo>
                  <a:cubicBezTo>
                    <a:pt x="77089" y="3145282"/>
                    <a:pt x="0" y="3068193"/>
                    <a:pt x="0" y="2973197"/>
                  </a:cubicBezTo>
                  <a:close/>
                </a:path>
              </a:pathLst>
            </a:custGeom>
            <a:solidFill>
              <a:srgbClr val="FFFFFF"/>
            </a:solidFill>
            <a:ln w="9525" cap="sq">
              <a:solidFill>
                <a:srgbClr val="D5DCD7"/>
              </a:solidFill>
              <a:prstDash val="solid"/>
              <a:miter/>
            </a:ln>
          </p:spPr>
        </p:sp>
      </p:grpSp>
      <p:grpSp>
        <p:nvGrpSpPr>
          <p:cNvPr name="Group 46" id="46"/>
          <p:cNvGrpSpPr/>
          <p:nvPr/>
        </p:nvGrpSpPr>
        <p:grpSpPr>
          <a:xfrm rot="0">
            <a:off x="1436370" y="5399608"/>
            <a:ext cx="495300" cy="495300"/>
            <a:chOff x="0" y="0"/>
            <a:chExt cx="660400" cy="660400"/>
          </a:xfrm>
        </p:grpSpPr>
        <p:sp>
          <p:nvSpPr>
            <p:cNvPr name="Freeform 47" id="47"/>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48" id="48"/>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6</a:t>
              </a:r>
            </a:p>
          </p:txBody>
        </p:sp>
      </p:grpSp>
      <p:sp>
        <p:nvSpPr>
          <p:cNvPr name="TextBox 49" id="49"/>
          <p:cNvSpPr txBox="true"/>
          <p:nvPr/>
        </p:nvSpPr>
        <p:spPr>
          <a:xfrm rot="0">
            <a:off x="1436370" y="5952058"/>
            <a:ext cx="2660675" cy="310401"/>
          </a:xfrm>
          <a:prstGeom prst="rect">
            <a:avLst/>
          </a:prstGeom>
        </p:spPr>
        <p:txBody>
          <a:bodyPr anchor="t" rtlCol="false" tIns="0" lIns="0" bIns="0" rIns="0">
            <a:spAutoFit/>
          </a:bodyPr>
          <a:lstStyle/>
          <a:p>
            <a:pPr algn="l">
              <a:lnSpc>
                <a:spcPts val="2055"/>
              </a:lnSpc>
            </a:pPr>
            <a:r>
              <a:rPr lang="en-US" sz="1713" b="true">
                <a:solidFill>
                  <a:srgbClr val="1B2420"/>
                </a:solidFill>
                <a:latin typeface="Arimo Bold"/>
                <a:ea typeface="Arimo Bold"/>
                <a:cs typeface="Arimo Bold"/>
                <a:sym typeface="Arimo Bold"/>
              </a:rPr>
              <a:t>Picking</a:t>
            </a:r>
          </a:p>
        </p:txBody>
      </p:sp>
      <p:sp>
        <p:nvSpPr>
          <p:cNvPr name="TextBox 50" id="50"/>
          <p:cNvSpPr txBox="true"/>
          <p:nvPr/>
        </p:nvSpPr>
        <p:spPr>
          <a:xfrm rot="0">
            <a:off x="1436370" y="6281509"/>
            <a:ext cx="2660675" cy="310277"/>
          </a:xfrm>
          <a:prstGeom prst="rect">
            <a:avLst/>
          </a:prstGeom>
        </p:spPr>
        <p:txBody>
          <a:bodyPr anchor="t" rtlCol="false" tIns="0" lIns="0" bIns="0" rIns="0">
            <a:spAutoFit/>
          </a:bodyPr>
          <a:lstStyle/>
          <a:p>
            <a:pPr algn="l">
              <a:lnSpc>
                <a:spcPts val="2055"/>
              </a:lnSpc>
            </a:pPr>
            <a:r>
              <a:rPr lang="en-US" sz="1468" b="true">
                <a:solidFill>
                  <a:srgbClr val="B85C1E"/>
                </a:solidFill>
                <a:latin typeface="IBM Plex Sans Bold"/>
                <a:ea typeface="IBM Plex Sans Bold"/>
                <a:cs typeface="IBM Plex Sans Bold"/>
                <a:sym typeface="IBM Plex Sans Bold"/>
              </a:rPr>
              <a:t>Warehouse Keeper</a:t>
            </a:r>
          </a:p>
        </p:txBody>
      </p:sp>
      <p:sp>
        <p:nvSpPr>
          <p:cNvPr name="TextBox 51" id="51"/>
          <p:cNvSpPr txBox="true"/>
          <p:nvPr/>
        </p:nvSpPr>
        <p:spPr>
          <a:xfrm rot="0">
            <a:off x="1436370" y="6601301"/>
            <a:ext cx="2660675" cy="799147"/>
          </a:xfrm>
          <a:prstGeom prst="rect">
            <a:avLst/>
          </a:prstGeom>
        </p:spPr>
        <p:txBody>
          <a:bodyPr anchor="t" rtlCol="false" tIns="0" lIns="0" bIns="0" rIns="0">
            <a:spAutoFit/>
          </a:bodyPr>
          <a:lstStyle/>
          <a:p>
            <a:pPr algn="l">
              <a:lnSpc>
                <a:spcPts val="2216"/>
              </a:lnSpc>
            </a:pPr>
            <a:r>
              <a:rPr lang="en-US" sz="1642">
                <a:solidFill>
                  <a:srgbClr val="4A5550"/>
                </a:solidFill>
                <a:latin typeface="IBM Plex Sans"/>
                <a:ea typeface="IBM Plex Sans"/>
                <a:cs typeface="IBM Plex Sans"/>
                <a:sym typeface="IBM Plex Sans"/>
              </a:rPr>
              <a:t>Scan source label; split a child label when taking part</a:t>
            </a:r>
          </a:p>
        </p:txBody>
      </p:sp>
      <p:grpSp>
        <p:nvGrpSpPr>
          <p:cNvPr name="Group 52" id="52"/>
          <p:cNvGrpSpPr/>
          <p:nvPr/>
        </p:nvGrpSpPr>
        <p:grpSpPr>
          <a:xfrm rot="0">
            <a:off x="4427220" y="5201488"/>
            <a:ext cx="3017520" cy="2358990"/>
            <a:chOff x="0" y="0"/>
            <a:chExt cx="4023360" cy="3145320"/>
          </a:xfrm>
        </p:grpSpPr>
        <p:sp>
          <p:nvSpPr>
            <p:cNvPr name="Freeform 53" id="53"/>
            <p:cNvSpPr/>
            <p:nvPr/>
          </p:nvSpPr>
          <p:spPr>
            <a:xfrm flipH="false" flipV="false" rot="0">
              <a:off x="0" y="0"/>
              <a:ext cx="4023360" cy="3145282"/>
            </a:xfrm>
            <a:custGeom>
              <a:avLst/>
              <a:gdLst/>
              <a:ahLst/>
              <a:cxnLst/>
              <a:rect r="r" b="b" t="t" l="l"/>
              <a:pathLst>
                <a:path h="3145282" w="4023360">
                  <a:moveTo>
                    <a:pt x="0" y="172085"/>
                  </a:moveTo>
                  <a:cubicBezTo>
                    <a:pt x="0" y="77089"/>
                    <a:pt x="77089" y="0"/>
                    <a:pt x="172085" y="0"/>
                  </a:cubicBezTo>
                  <a:lnTo>
                    <a:pt x="3851275" y="0"/>
                  </a:lnTo>
                  <a:cubicBezTo>
                    <a:pt x="3946398" y="0"/>
                    <a:pt x="4023360" y="77089"/>
                    <a:pt x="4023360" y="172085"/>
                  </a:cubicBezTo>
                  <a:lnTo>
                    <a:pt x="4023360" y="2973197"/>
                  </a:lnTo>
                  <a:cubicBezTo>
                    <a:pt x="4023360" y="3068320"/>
                    <a:pt x="3946271" y="3145282"/>
                    <a:pt x="3851275" y="3145282"/>
                  </a:cubicBezTo>
                  <a:lnTo>
                    <a:pt x="172085" y="3145282"/>
                  </a:lnTo>
                  <a:cubicBezTo>
                    <a:pt x="77089" y="3145282"/>
                    <a:pt x="0" y="3068193"/>
                    <a:pt x="0" y="2973197"/>
                  </a:cubicBezTo>
                  <a:close/>
                </a:path>
              </a:pathLst>
            </a:custGeom>
            <a:solidFill>
              <a:srgbClr val="FFFFFF"/>
            </a:solidFill>
            <a:ln w="9525" cap="sq">
              <a:solidFill>
                <a:srgbClr val="D5DCD7"/>
              </a:solidFill>
              <a:prstDash val="solid"/>
              <a:miter/>
            </a:ln>
          </p:spPr>
        </p:sp>
      </p:grpSp>
      <p:grpSp>
        <p:nvGrpSpPr>
          <p:cNvPr name="Group 54" id="54"/>
          <p:cNvGrpSpPr/>
          <p:nvPr/>
        </p:nvGrpSpPr>
        <p:grpSpPr>
          <a:xfrm rot="0">
            <a:off x="4644390" y="5399608"/>
            <a:ext cx="495300" cy="495300"/>
            <a:chOff x="0" y="0"/>
            <a:chExt cx="660400" cy="660400"/>
          </a:xfrm>
        </p:grpSpPr>
        <p:sp>
          <p:nvSpPr>
            <p:cNvPr name="Freeform 55" id="55"/>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56" id="56"/>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7</a:t>
              </a:r>
            </a:p>
          </p:txBody>
        </p:sp>
      </p:grpSp>
      <p:sp>
        <p:nvSpPr>
          <p:cNvPr name="TextBox 57" id="57"/>
          <p:cNvSpPr txBox="true"/>
          <p:nvPr/>
        </p:nvSpPr>
        <p:spPr>
          <a:xfrm rot="0">
            <a:off x="4644390" y="5952058"/>
            <a:ext cx="2660675" cy="276268"/>
          </a:xfrm>
          <a:prstGeom prst="rect">
            <a:avLst/>
          </a:prstGeom>
        </p:spPr>
        <p:txBody>
          <a:bodyPr anchor="t" rtlCol="false" tIns="0" lIns="0" bIns="0" rIns="0">
            <a:spAutoFit/>
          </a:bodyPr>
          <a:lstStyle/>
          <a:p>
            <a:pPr algn="l">
              <a:lnSpc>
                <a:spcPts val="2055"/>
              </a:lnSpc>
            </a:pPr>
            <a:r>
              <a:rPr lang="en-US" sz="1713" b="true">
                <a:solidFill>
                  <a:srgbClr val="1B2420"/>
                </a:solidFill>
                <a:latin typeface="Arimo Bold"/>
                <a:ea typeface="Arimo Bold"/>
                <a:cs typeface="Arimo Bold"/>
                <a:sym typeface="Arimo Bold"/>
              </a:rPr>
              <a:t>Dispatch confirmation</a:t>
            </a:r>
          </a:p>
        </p:txBody>
      </p:sp>
      <p:sp>
        <p:nvSpPr>
          <p:cNvPr name="TextBox 58" id="58"/>
          <p:cNvSpPr txBox="true"/>
          <p:nvPr/>
        </p:nvSpPr>
        <p:spPr>
          <a:xfrm rot="0">
            <a:off x="4644390" y="6281509"/>
            <a:ext cx="2660675" cy="310277"/>
          </a:xfrm>
          <a:prstGeom prst="rect">
            <a:avLst/>
          </a:prstGeom>
        </p:spPr>
        <p:txBody>
          <a:bodyPr anchor="t" rtlCol="false" tIns="0" lIns="0" bIns="0" rIns="0">
            <a:spAutoFit/>
          </a:bodyPr>
          <a:lstStyle/>
          <a:p>
            <a:pPr algn="l">
              <a:lnSpc>
                <a:spcPts val="2055"/>
              </a:lnSpc>
            </a:pPr>
            <a:r>
              <a:rPr lang="en-US" sz="1468" b="true">
                <a:solidFill>
                  <a:srgbClr val="B85C1E"/>
                </a:solidFill>
                <a:latin typeface="IBM Plex Sans Bold"/>
                <a:ea typeface="IBM Plex Sans Bold"/>
                <a:cs typeface="IBM Plex Sans Bold"/>
                <a:sym typeface="IBM Plex Sans Bold"/>
              </a:rPr>
              <a:t>Warehouse Keeper</a:t>
            </a:r>
          </a:p>
        </p:txBody>
      </p:sp>
      <p:sp>
        <p:nvSpPr>
          <p:cNvPr name="TextBox 59" id="59"/>
          <p:cNvSpPr txBox="true"/>
          <p:nvPr/>
        </p:nvSpPr>
        <p:spPr>
          <a:xfrm rot="0">
            <a:off x="4644390" y="6601301"/>
            <a:ext cx="2660675" cy="586092"/>
          </a:xfrm>
          <a:prstGeom prst="rect">
            <a:avLst/>
          </a:prstGeom>
        </p:spPr>
        <p:txBody>
          <a:bodyPr anchor="t" rtlCol="false" tIns="0" lIns="0" bIns="0" rIns="0">
            <a:spAutoFit/>
          </a:bodyPr>
          <a:lstStyle/>
          <a:p>
            <a:pPr algn="l">
              <a:lnSpc>
                <a:spcPts val="2353"/>
              </a:lnSpc>
            </a:pPr>
            <a:r>
              <a:rPr lang="en-US" sz="1744">
                <a:solidFill>
                  <a:srgbClr val="4A5550"/>
                </a:solidFill>
                <a:latin typeface="IBM Plex Sans"/>
                <a:ea typeface="IBM Plex Sans"/>
                <a:cs typeface="IBM Plex Sans"/>
                <a:sym typeface="IBM Plex Sans"/>
              </a:rPr>
              <a:t>Confirm → stock deducted, labels in transit</a:t>
            </a:r>
          </a:p>
        </p:txBody>
      </p:sp>
      <p:grpSp>
        <p:nvGrpSpPr>
          <p:cNvPr name="Group 60" id="60"/>
          <p:cNvGrpSpPr/>
          <p:nvPr/>
        </p:nvGrpSpPr>
        <p:grpSpPr>
          <a:xfrm rot="0">
            <a:off x="7635240" y="5201488"/>
            <a:ext cx="3017520" cy="2358990"/>
            <a:chOff x="0" y="0"/>
            <a:chExt cx="4023360" cy="3145320"/>
          </a:xfrm>
        </p:grpSpPr>
        <p:sp>
          <p:nvSpPr>
            <p:cNvPr name="Freeform 61" id="61"/>
            <p:cNvSpPr/>
            <p:nvPr/>
          </p:nvSpPr>
          <p:spPr>
            <a:xfrm flipH="false" flipV="false" rot="0">
              <a:off x="0" y="0"/>
              <a:ext cx="4023360" cy="3145282"/>
            </a:xfrm>
            <a:custGeom>
              <a:avLst/>
              <a:gdLst/>
              <a:ahLst/>
              <a:cxnLst/>
              <a:rect r="r" b="b" t="t" l="l"/>
              <a:pathLst>
                <a:path h="3145282" w="4023360">
                  <a:moveTo>
                    <a:pt x="0" y="172085"/>
                  </a:moveTo>
                  <a:cubicBezTo>
                    <a:pt x="0" y="77089"/>
                    <a:pt x="77089" y="0"/>
                    <a:pt x="172085" y="0"/>
                  </a:cubicBezTo>
                  <a:lnTo>
                    <a:pt x="3851275" y="0"/>
                  </a:lnTo>
                  <a:cubicBezTo>
                    <a:pt x="3946398" y="0"/>
                    <a:pt x="4023360" y="77089"/>
                    <a:pt x="4023360" y="172085"/>
                  </a:cubicBezTo>
                  <a:lnTo>
                    <a:pt x="4023360" y="2973197"/>
                  </a:lnTo>
                  <a:cubicBezTo>
                    <a:pt x="4023360" y="3068320"/>
                    <a:pt x="3946271" y="3145282"/>
                    <a:pt x="3851275" y="3145282"/>
                  </a:cubicBezTo>
                  <a:lnTo>
                    <a:pt x="172085" y="3145282"/>
                  </a:lnTo>
                  <a:cubicBezTo>
                    <a:pt x="77089" y="3145282"/>
                    <a:pt x="0" y="3068193"/>
                    <a:pt x="0" y="2973197"/>
                  </a:cubicBezTo>
                  <a:close/>
                </a:path>
              </a:pathLst>
            </a:custGeom>
            <a:solidFill>
              <a:srgbClr val="FFFFFF"/>
            </a:solidFill>
            <a:ln w="9525" cap="sq">
              <a:solidFill>
                <a:srgbClr val="D5DCD7"/>
              </a:solidFill>
              <a:prstDash val="solid"/>
              <a:miter/>
            </a:ln>
          </p:spPr>
        </p:sp>
      </p:grpSp>
      <p:grpSp>
        <p:nvGrpSpPr>
          <p:cNvPr name="Group 62" id="62"/>
          <p:cNvGrpSpPr/>
          <p:nvPr/>
        </p:nvGrpSpPr>
        <p:grpSpPr>
          <a:xfrm rot="0">
            <a:off x="7852410" y="5399608"/>
            <a:ext cx="495300" cy="495300"/>
            <a:chOff x="0" y="0"/>
            <a:chExt cx="660400" cy="660400"/>
          </a:xfrm>
        </p:grpSpPr>
        <p:sp>
          <p:nvSpPr>
            <p:cNvPr name="Freeform 63" id="63"/>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64" id="64"/>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8</a:t>
              </a:r>
            </a:p>
          </p:txBody>
        </p:sp>
      </p:grpSp>
      <p:sp>
        <p:nvSpPr>
          <p:cNvPr name="TextBox 65" id="65"/>
          <p:cNvSpPr txBox="true"/>
          <p:nvPr/>
        </p:nvSpPr>
        <p:spPr>
          <a:xfrm rot="0">
            <a:off x="7852410" y="5952058"/>
            <a:ext cx="2660675" cy="372542"/>
          </a:xfrm>
          <a:prstGeom prst="rect">
            <a:avLst/>
          </a:prstGeom>
        </p:spPr>
        <p:txBody>
          <a:bodyPr anchor="t" rtlCol="false" tIns="0" lIns="0" bIns="0" rIns="0">
            <a:spAutoFit/>
          </a:bodyPr>
          <a:lstStyle/>
          <a:p>
            <a:pPr algn="l">
              <a:lnSpc>
                <a:spcPts val="2512"/>
              </a:lnSpc>
            </a:pPr>
            <a:r>
              <a:rPr lang="en-US" sz="2094" b="true">
                <a:solidFill>
                  <a:srgbClr val="1B2420"/>
                </a:solidFill>
                <a:latin typeface="Arimo Bold"/>
                <a:ea typeface="Arimo Bold"/>
                <a:cs typeface="Arimo Bold"/>
                <a:sym typeface="Arimo Bold"/>
              </a:rPr>
              <a:t>Delivering</a:t>
            </a:r>
          </a:p>
        </p:txBody>
      </p:sp>
      <p:sp>
        <p:nvSpPr>
          <p:cNvPr name="TextBox 66" id="66"/>
          <p:cNvSpPr txBox="true"/>
          <p:nvPr/>
        </p:nvSpPr>
        <p:spPr>
          <a:xfrm rot="0">
            <a:off x="7852410" y="6324600"/>
            <a:ext cx="2660675" cy="391478"/>
          </a:xfrm>
          <a:prstGeom prst="rect">
            <a:avLst/>
          </a:prstGeom>
        </p:spPr>
        <p:txBody>
          <a:bodyPr anchor="t" rtlCol="false" tIns="0" lIns="0" bIns="0" rIns="0">
            <a:spAutoFit/>
          </a:bodyPr>
          <a:lstStyle/>
          <a:p>
            <a:pPr algn="l">
              <a:lnSpc>
                <a:spcPts val="2512"/>
              </a:lnSpc>
            </a:pPr>
            <a:r>
              <a:rPr lang="en-US" sz="1794" b="true">
                <a:solidFill>
                  <a:srgbClr val="B85C1E"/>
                </a:solidFill>
                <a:latin typeface="IBM Plex Sans Bold"/>
                <a:ea typeface="IBM Plex Sans Bold"/>
                <a:cs typeface="IBM Plex Sans Bold"/>
                <a:sym typeface="IBM Plex Sans Bold"/>
              </a:rPr>
              <a:t>Operator</a:t>
            </a:r>
          </a:p>
        </p:txBody>
      </p:sp>
      <p:sp>
        <p:nvSpPr>
          <p:cNvPr name="TextBox 67" id="67"/>
          <p:cNvSpPr txBox="true"/>
          <p:nvPr/>
        </p:nvSpPr>
        <p:spPr>
          <a:xfrm rot="0">
            <a:off x="7852410" y="6725612"/>
            <a:ext cx="2660675" cy="674846"/>
          </a:xfrm>
          <a:prstGeom prst="rect">
            <a:avLst/>
          </a:prstGeom>
        </p:spPr>
        <p:txBody>
          <a:bodyPr anchor="t" rtlCol="false" tIns="0" lIns="0" bIns="0" rIns="0">
            <a:spAutoFit/>
          </a:bodyPr>
          <a:lstStyle/>
          <a:p>
            <a:pPr algn="l">
              <a:lnSpc>
                <a:spcPts val="2415"/>
              </a:lnSpc>
            </a:pPr>
            <a:r>
              <a:rPr lang="en-US" sz="1789">
                <a:solidFill>
                  <a:srgbClr val="4A5550"/>
                </a:solidFill>
                <a:latin typeface="IBM Plex Sans"/>
                <a:ea typeface="IBM Plex Sans"/>
                <a:cs typeface="IBM Plex Sans"/>
                <a:sym typeface="IBM Plex Sans"/>
              </a:rPr>
              <a:t>Status update, retailer notified</a:t>
            </a:r>
          </a:p>
        </p:txBody>
      </p:sp>
      <p:grpSp>
        <p:nvGrpSpPr>
          <p:cNvPr name="Group 68" id="68"/>
          <p:cNvGrpSpPr/>
          <p:nvPr/>
        </p:nvGrpSpPr>
        <p:grpSpPr>
          <a:xfrm rot="0">
            <a:off x="10843260" y="5201488"/>
            <a:ext cx="3017520" cy="2358990"/>
            <a:chOff x="0" y="0"/>
            <a:chExt cx="4023360" cy="3145320"/>
          </a:xfrm>
        </p:grpSpPr>
        <p:sp>
          <p:nvSpPr>
            <p:cNvPr name="Freeform 69" id="69"/>
            <p:cNvSpPr/>
            <p:nvPr/>
          </p:nvSpPr>
          <p:spPr>
            <a:xfrm flipH="false" flipV="false" rot="0">
              <a:off x="0" y="0"/>
              <a:ext cx="4023360" cy="3145282"/>
            </a:xfrm>
            <a:custGeom>
              <a:avLst/>
              <a:gdLst/>
              <a:ahLst/>
              <a:cxnLst/>
              <a:rect r="r" b="b" t="t" l="l"/>
              <a:pathLst>
                <a:path h="3145282" w="4023360">
                  <a:moveTo>
                    <a:pt x="0" y="172085"/>
                  </a:moveTo>
                  <a:cubicBezTo>
                    <a:pt x="0" y="77089"/>
                    <a:pt x="77089" y="0"/>
                    <a:pt x="172085" y="0"/>
                  </a:cubicBezTo>
                  <a:lnTo>
                    <a:pt x="3851275" y="0"/>
                  </a:lnTo>
                  <a:cubicBezTo>
                    <a:pt x="3946398" y="0"/>
                    <a:pt x="4023360" y="77089"/>
                    <a:pt x="4023360" y="172085"/>
                  </a:cubicBezTo>
                  <a:lnTo>
                    <a:pt x="4023360" y="2973197"/>
                  </a:lnTo>
                  <a:cubicBezTo>
                    <a:pt x="4023360" y="3068320"/>
                    <a:pt x="3946271" y="3145282"/>
                    <a:pt x="3851275" y="3145282"/>
                  </a:cubicBezTo>
                  <a:lnTo>
                    <a:pt x="172085" y="3145282"/>
                  </a:lnTo>
                  <a:cubicBezTo>
                    <a:pt x="77089" y="3145282"/>
                    <a:pt x="0" y="3068193"/>
                    <a:pt x="0" y="2973197"/>
                  </a:cubicBezTo>
                  <a:close/>
                </a:path>
              </a:pathLst>
            </a:custGeom>
            <a:solidFill>
              <a:srgbClr val="FFFFFF"/>
            </a:solidFill>
            <a:ln w="9525" cap="sq">
              <a:solidFill>
                <a:srgbClr val="D5DCD7"/>
              </a:solidFill>
              <a:prstDash val="solid"/>
              <a:miter/>
            </a:ln>
          </p:spPr>
        </p:sp>
      </p:grpSp>
      <p:grpSp>
        <p:nvGrpSpPr>
          <p:cNvPr name="Group 70" id="70"/>
          <p:cNvGrpSpPr/>
          <p:nvPr/>
        </p:nvGrpSpPr>
        <p:grpSpPr>
          <a:xfrm rot="0">
            <a:off x="11060430" y="5399608"/>
            <a:ext cx="495300" cy="495300"/>
            <a:chOff x="0" y="0"/>
            <a:chExt cx="660400" cy="660400"/>
          </a:xfrm>
        </p:grpSpPr>
        <p:sp>
          <p:nvSpPr>
            <p:cNvPr name="Freeform 71" id="71"/>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72" id="72"/>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9</a:t>
              </a:r>
            </a:p>
          </p:txBody>
        </p:sp>
      </p:grpSp>
      <p:sp>
        <p:nvSpPr>
          <p:cNvPr name="TextBox 73" id="73"/>
          <p:cNvSpPr txBox="true"/>
          <p:nvPr/>
        </p:nvSpPr>
        <p:spPr>
          <a:xfrm rot="0">
            <a:off x="11060430" y="5952058"/>
            <a:ext cx="2660675" cy="372542"/>
          </a:xfrm>
          <a:prstGeom prst="rect">
            <a:avLst/>
          </a:prstGeom>
        </p:spPr>
        <p:txBody>
          <a:bodyPr anchor="t" rtlCol="false" tIns="0" lIns="0" bIns="0" rIns="0">
            <a:spAutoFit/>
          </a:bodyPr>
          <a:lstStyle/>
          <a:p>
            <a:pPr algn="l">
              <a:lnSpc>
                <a:spcPts val="2512"/>
              </a:lnSpc>
            </a:pPr>
            <a:r>
              <a:rPr lang="en-US" sz="2094" b="true">
                <a:solidFill>
                  <a:srgbClr val="1B2420"/>
                </a:solidFill>
                <a:latin typeface="Arimo Bold"/>
                <a:ea typeface="Arimo Bold"/>
                <a:cs typeface="Arimo Bold"/>
                <a:sym typeface="Arimo Bold"/>
              </a:rPr>
              <a:t>Receipt</a:t>
            </a:r>
          </a:p>
        </p:txBody>
      </p:sp>
      <p:sp>
        <p:nvSpPr>
          <p:cNvPr name="TextBox 74" id="74"/>
          <p:cNvSpPr txBox="true"/>
          <p:nvPr/>
        </p:nvSpPr>
        <p:spPr>
          <a:xfrm rot="0">
            <a:off x="11060430" y="6324600"/>
            <a:ext cx="2660675" cy="391478"/>
          </a:xfrm>
          <a:prstGeom prst="rect">
            <a:avLst/>
          </a:prstGeom>
        </p:spPr>
        <p:txBody>
          <a:bodyPr anchor="t" rtlCol="false" tIns="0" lIns="0" bIns="0" rIns="0">
            <a:spAutoFit/>
          </a:bodyPr>
          <a:lstStyle/>
          <a:p>
            <a:pPr algn="l">
              <a:lnSpc>
                <a:spcPts val="2512"/>
              </a:lnSpc>
            </a:pPr>
            <a:r>
              <a:rPr lang="en-US" sz="1794" b="true">
                <a:solidFill>
                  <a:srgbClr val="B85C1E"/>
                </a:solidFill>
                <a:latin typeface="IBM Plex Sans Bold"/>
                <a:ea typeface="IBM Plex Sans Bold"/>
                <a:cs typeface="IBM Plex Sans Bold"/>
                <a:sym typeface="IBM Plex Sans Bold"/>
              </a:rPr>
              <a:t>Retailer</a:t>
            </a:r>
          </a:p>
        </p:txBody>
      </p:sp>
      <p:sp>
        <p:nvSpPr>
          <p:cNvPr name="TextBox 75" id="75"/>
          <p:cNvSpPr txBox="true"/>
          <p:nvPr/>
        </p:nvSpPr>
        <p:spPr>
          <a:xfrm rot="0">
            <a:off x="11060430" y="6725612"/>
            <a:ext cx="2660675" cy="674846"/>
          </a:xfrm>
          <a:prstGeom prst="rect">
            <a:avLst/>
          </a:prstGeom>
        </p:spPr>
        <p:txBody>
          <a:bodyPr anchor="t" rtlCol="false" tIns="0" lIns="0" bIns="0" rIns="0">
            <a:spAutoFit/>
          </a:bodyPr>
          <a:lstStyle/>
          <a:p>
            <a:pPr algn="l">
              <a:lnSpc>
                <a:spcPts val="2415"/>
              </a:lnSpc>
            </a:pPr>
            <a:r>
              <a:rPr lang="en-US" sz="1789">
                <a:solidFill>
                  <a:srgbClr val="4A5550"/>
                </a:solidFill>
                <a:latin typeface="IBM Plex Sans"/>
                <a:ea typeface="IBM Plex Sans"/>
                <a:cs typeface="IBM Plex Sans"/>
                <a:sym typeface="IBM Plex Sans"/>
              </a:rPr>
              <a:t>Scan every label of the order → Delivered</a:t>
            </a:r>
          </a:p>
        </p:txBody>
      </p:sp>
      <p:grpSp>
        <p:nvGrpSpPr>
          <p:cNvPr name="Group 76" id="76"/>
          <p:cNvGrpSpPr/>
          <p:nvPr/>
        </p:nvGrpSpPr>
        <p:grpSpPr>
          <a:xfrm rot="0">
            <a:off x="14051280" y="5201488"/>
            <a:ext cx="3017520" cy="2358990"/>
            <a:chOff x="0" y="0"/>
            <a:chExt cx="4023360" cy="3145320"/>
          </a:xfrm>
        </p:grpSpPr>
        <p:sp>
          <p:nvSpPr>
            <p:cNvPr name="Freeform 77" id="77"/>
            <p:cNvSpPr/>
            <p:nvPr/>
          </p:nvSpPr>
          <p:spPr>
            <a:xfrm flipH="false" flipV="false" rot="0">
              <a:off x="0" y="0"/>
              <a:ext cx="4023360" cy="3145282"/>
            </a:xfrm>
            <a:custGeom>
              <a:avLst/>
              <a:gdLst/>
              <a:ahLst/>
              <a:cxnLst/>
              <a:rect r="r" b="b" t="t" l="l"/>
              <a:pathLst>
                <a:path h="3145282" w="4023360">
                  <a:moveTo>
                    <a:pt x="0" y="172085"/>
                  </a:moveTo>
                  <a:cubicBezTo>
                    <a:pt x="0" y="77089"/>
                    <a:pt x="77089" y="0"/>
                    <a:pt x="172085" y="0"/>
                  </a:cubicBezTo>
                  <a:lnTo>
                    <a:pt x="3851275" y="0"/>
                  </a:lnTo>
                  <a:cubicBezTo>
                    <a:pt x="3946398" y="0"/>
                    <a:pt x="4023360" y="77089"/>
                    <a:pt x="4023360" y="172085"/>
                  </a:cubicBezTo>
                  <a:lnTo>
                    <a:pt x="4023360" y="2973197"/>
                  </a:lnTo>
                  <a:cubicBezTo>
                    <a:pt x="4023360" y="3068320"/>
                    <a:pt x="3946271" y="3145282"/>
                    <a:pt x="3851275" y="3145282"/>
                  </a:cubicBezTo>
                  <a:lnTo>
                    <a:pt x="172085" y="3145282"/>
                  </a:lnTo>
                  <a:cubicBezTo>
                    <a:pt x="77089" y="3145282"/>
                    <a:pt x="0" y="3068193"/>
                    <a:pt x="0" y="2973197"/>
                  </a:cubicBezTo>
                  <a:close/>
                </a:path>
              </a:pathLst>
            </a:custGeom>
            <a:solidFill>
              <a:srgbClr val="FFFFFF"/>
            </a:solidFill>
            <a:ln w="9525" cap="sq">
              <a:solidFill>
                <a:srgbClr val="D5DCD7"/>
              </a:solidFill>
              <a:prstDash val="solid"/>
              <a:miter/>
            </a:ln>
          </p:spPr>
        </p:sp>
      </p:grpSp>
      <p:grpSp>
        <p:nvGrpSpPr>
          <p:cNvPr name="Group 78" id="78"/>
          <p:cNvGrpSpPr/>
          <p:nvPr/>
        </p:nvGrpSpPr>
        <p:grpSpPr>
          <a:xfrm rot="0">
            <a:off x="14268450" y="5399608"/>
            <a:ext cx="495300" cy="495300"/>
            <a:chOff x="0" y="0"/>
            <a:chExt cx="660400" cy="660400"/>
          </a:xfrm>
        </p:grpSpPr>
        <p:sp>
          <p:nvSpPr>
            <p:cNvPr name="Freeform 79" id="79"/>
            <p:cNvSpPr/>
            <p:nvPr/>
          </p:nvSpPr>
          <p:spPr>
            <a:xfrm flipH="false" flipV="false" rot="0">
              <a:off x="0" y="0"/>
              <a:ext cx="660400" cy="660400"/>
            </a:xfrm>
            <a:custGeom>
              <a:avLst/>
              <a:gdLst/>
              <a:ahLst/>
              <a:cxnLst/>
              <a:rect r="r" b="b" t="t" l="l"/>
              <a:pathLst>
                <a:path h="660400" w="660400">
                  <a:moveTo>
                    <a:pt x="330200" y="0"/>
                  </a:moveTo>
                  <a:cubicBezTo>
                    <a:pt x="512572" y="0"/>
                    <a:pt x="660400" y="147828"/>
                    <a:pt x="660400" y="330200"/>
                  </a:cubicBezTo>
                  <a:cubicBezTo>
                    <a:pt x="660400" y="512572"/>
                    <a:pt x="512572" y="660400"/>
                    <a:pt x="330200" y="660400"/>
                  </a:cubicBezTo>
                  <a:cubicBezTo>
                    <a:pt x="147828" y="660400"/>
                    <a:pt x="0" y="512572"/>
                    <a:pt x="0" y="330200"/>
                  </a:cubicBezTo>
                  <a:cubicBezTo>
                    <a:pt x="0" y="147828"/>
                    <a:pt x="147828" y="0"/>
                    <a:pt x="330200" y="0"/>
                  </a:cubicBezTo>
                  <a:close/>
                </a:path>
              </a:pathLst>
            </a:custGeom>
            <a:solidFill>
              <a:srgbClr val="14655B"/>
            </a:solidFill>
          </p:spPr>
        </p:sp>
        <p:sp>
          <p:nvSpPr>
            <p:cNvPr name="TextBox 80" id="80"/>
            <p:cNvSpPr txBox="true"/>
            <p:nvPr/>
          </p:nvSpPr>
          <p:spPr>
            <a:xfrm>
              <a:off x="0" y="-133350"/>
              <a:ext cx="660400" cy="793750"/>
            </a:xfrm>
            <a:prstGeom prst="rect">
              <a:avLst/>
            </a:prstGeom>
          </p:spPr>
          <p:txBody>
            <a:bodyPr anchor="t" rtlCol="false" tIns="50800" lIns="50800" bIns="50800" rIns="50800"/>
            <a:lstStyle/>
            <a:p>
              <a:pPr algn="ctr">
                <a:lnSpc>
                  <a:spcPts val="3885"/>
                </a:lnSpc>
              </a:pPr>
              <a:r>
                <a:rPr lang="en-US" sz="2100" b="true">
                  <a:solidFill>
                    <a:srgbClr val="FFFFFF"/>
                  </a:solidFill>
                  <a:latin typeface="Arimo Bold"/>
                  <a:ea typeface="Arimo Bold"/>
                  <a:cs typeface="Arimo Bold"/>
                  <a:sym typeface="Arimo Bold"/>
                </a:rPr>
                <a:t>10</a:t>
              </a:r>
            </a:p>
          </p:txBody>
        </p:sp>
      </p:grpSp>
      <p:sp>
        <p:nvSpPr>
          <p:cNvPr name="TextBox 81" id="81"/>
          <p:cNvSpPr txBox="true"/>
          <p:nvPr/>
        </p:nvSpPr>
        <p:spPr>
          <a:xfrm rot="0">
            <a:off x="14268450" y="5952058"/>
            <a:ext cx="2790825" cy="559832"/>
          </a:xfrm>
          <a:prstGeom prst="rect">
            <a:avLst/>
          </a:prstGeom>
        </p:spPr>
        <p:txBody>
          <a:bodyPr anchor="t" rtlCol="false" tIns="0" lIns="0" bIns="0" rIns="0">
            <a:spAutoFit/>
          </a:bodyPr>
          <a:lstStyle/>
          <a:p>
            <a:pPr algn="l">
              <a:lnSpc>
                <a:spcPts val="2095"/>
              </a:lnSpc>
            </a:pPr>
            <a:r>
              <a:rPr lang="en-US" sz="1746" b="true">
                <a:solidFill>
                  <a:srgbClr val="1B2420"/>
                </a:solidFill>
                <a:latin typeface="Arimo Bold"/>
                <a:ea typeface="Arimo Bold"/>
                <a:cs typeface="Arimo Bold"/>
                <a:sym typeface="Arimo Bold"/>
              </a:rPr>
              <a:t>Payment &amp; performance</a:t>
            </a:r>
          </a:p>
        </p:txBody>
      </p:sp>
      <p:sp>
        <p:nvSpPr>
          <p:cNvPr name="TextBox 82" id="82"/>
          <p:cNvSpPr txBox="true"/>
          <p:nvPr/>
        </p:nvSpPr>
        <p:spPr>
          <a:xfrm rot="0">
            <a:off x="14268450" y="6521415"/>
            <a:ext cx="2660675" cy="318021"/>
          </a:xfrm>
          <a:prstGeom prst="rect">
            <a:avLst/>
          </a:prstGeom>
        </p:spPr>
        <p:txBody>
          <a:bodyPr anchor="t" rtlCol="false" tIns="0" lIns="0" bIns="0" rIns="0">
            <a:spAutoFit/>
          </a:bodyPr>
          <a:lstStyle/>
          <a:p>
            <a:pPr algn="l">
              <a:lnSpc>
                <a:spcPts val="1984"/>
              </a:lnSpc>
            </a:pPr>
            <a:r>
              <a:rPr lang="en-US" sz="1417" b="true">
                <a:solidFill>
                  <a:srgbClr val="B85C1E"/>
                </a:solidFill>
                <a:latin typeface="IBM Plex Sans Bold"/>
                <a:ea typeface="IBM Plex Sans Bold"/>
                <a:cs typeface="IBM Plex Sans Bold"/>
                <a:sym typeface="IBM Plex Sans Bold"/>
              </a:rPr>
              <a:t>Operator · Sales</a:t>
            </a:r>
          </a:p>
        </p:txBody>
      </p:sp>
      <p:sp>
        <p:nvSpPr>
          <p:cNvPr name="TextBox 83" id="83"/>
          <p:cNvSpPr txBox="true"/>
          <p:nvPr/>
        </p:nvSpPr>
        <p:spPr>
          <a:xfrm rot="0">
            <a:off x="14268450" y="6848951"/>
            <a:ext cx="2660675" cy="551497"/>
          </a:xfrm>
          <a:prstGeom prst="rect">
            <a:avLst/>
          </a:prstGeom>
        </p:spPr>
        <p:txBody>
          <a:bodyPr anchor="t" rtlCol="false" tIns="0" lIns="0" bIns="0" rIns="0">
            <a:spAutoFit/>
          </a:bodyPr>
          <a:lstStyle/>
          <a:p>
            <a:pPr algn="l">
              <a:lnSpc>
                <a:spcPts val="1928"/>
              </a:lnSpc>
            </a:pPr>
            <a:r>
              <a:rPr lang="en-US" sz="1429">
                <a:solidFill>
                  <a:srgbClr val="4A5550"/>
                </a:solidFill>
                <a:latin typeface="IBM Plex Sans"/>
                <a:ea typeface="IBM Plex Sans"/>
                <a:cs typeface="IBM Plex Sans"/>
                <a:sym typeface="IBM Plex Sans"/>
              </a:rPr>
              <a:t>COD / prepaid status, revenue, leaderboard</a:t>
            </a:r>
          </a:p>
        </p:txBody>
      </p:sp>
      <p:sp>
        <p:nvSpPr>
          <p:cNvPr name="TextBox 84" id="84"/>
          <p:cNvSpPr txBox="true"/>
          <p:nvPr/>
        </p:nvSpPr>
        <p:spPr>
          <a:xfrm rot="0">
            <a:off x="1219200" y="7922419"/>
            <a:ext cx="1505902" cy="396240"/>
          </a:xfrm>
          <a:prstGeom prst="rect">
            <a:avLst/>
          </a:prstGeom>
        </p:spPr>
        <p:txBody>
          <a:bodyPr anchor="t" rtlCol="false" tIns="0" lIns="0" bIns="0" rIns="0">
            <a:spAutoFit/>
          </a:bodyPr>
          <a:lstStyle/>
          <a:p>
            <a:pPr algn="l">
              <a:lnSpc>
                <a:spcPts val="2520"/>
              </a:lnSpc>
            </a:pPr>
            <a:r>
              <a:rPr lang="en-US" sz="1800" b="true">
                <a:solidFill>
                  <a:srgbClr val="1B2420"/>
                </a:solidFill>
                <a:latin typeface="IBM Plex Sans Bold"/>
                <a:ea typeface="IBM Plex Sans Bold"/>
                <a:cs typeface="IBM Plex Sans Bold"/>
                <a:sym typeface="IBM Plex Sans Bold"/>
              </a:rPr>
              <a:t>Order status:</a:t>
            </a:r>
          </a:p>
        </p:txBody>
      </p:sp>
      <p:grpSp>
        <p:nvGrpSpPr>
          <p:cNvPr name="Group 85" id="85"/>
          <p:cNvGrpSpPr/>
          <p:nvPr/>
        </p:nvGrpSpPr>
        <p:grpSpPr>
          <a:xfrm rot="0">
            <a:off x="2725102" y="7903369"/>
            <a:ext cx="1704623" cy="434340"/>
            <a:chOff x="0" y="0"/>
            <a:chExt cx="2272830" cy="579120"/>
          </a:xfrm>
        </p:grpSpPr>
        <p:sp>
          <p:nvSpPr>
            <p:cNvPr name="Freeform 86" id="86"/>
            <p:cNvSpPr/>
            <p:nvPr/>
          </p:nvSpPr>
          <p:spPr>
            <a:xfrm flipH="false" flipV="false" rot="0">
              <a:off x="0" y="0"/>
              <a:ext cx="2272792" cy="579120"/>
            </a:xfrm>
            <a:custGeom>
              <a:avLst/>
              <a:gdLst/>
              <a:ahLst/>
              <a:cxnLst/>
              <a:rect r="r" b="b" t="t" l="l"/>
              <a:pathLst>
                <a:path h="579120" w="2272792">
                  <a:moveTo>
                    <a:pt x="289560" y="0"/>
                  </a:moveTo>
                  <a:lnTo>
                    <a:pt x="1983232" y="0"/>
                  </a:lnTo>
                  <a:cubicBezTo>
                    <a:pt x="2143125" y="0"/>
                    <a:pt x="2272792" y="129667"/>
                    <a:pt x="2272792" y="289560"/>
                  </a:cubicBezTo>
                  <a:cubicBezTo>
                    <a:pt x="2272792" y="449453"/>
                    <a:pt x="2143125" y="579120"/>
                    <a:pt x="1983232"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87" id="87"/>
            <p:cNvSpPr txBox="true"/>
            <p:nvPr/>
          </p:nvSpPr>
          <p:spPr>
            <a:xfrm>
              <a:off x="0" y="-38100"/>
              <a:ext cx="2272830"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Pending sync</a:t>
              </a:r>
            </a:p>
          </p:txBody>
        </p:sp>
      </p:grpSp>
      <p:sp>
        <p:nvSpPr>
          <p:cNvPr name="TextBox 88" id="88"/>
          <p:cNvSpPr txBox="true"/>
          <p:nvPr/>
        </p:nvSpPr>
        <p:spPr>
          <a:xfrm rot="0">
            <a:off x="4544025" y="7922419"/>
            <a:ext cx="304800"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t>
            </a:r>
          </a:p>
        </p:txBody>
      </p:sp>
      <p:grpSp>
        <p:nvGrpSpPr>
          <p:cNvPr name="Group 89" id="89"/>
          <p:cNvGrpSpPr/>
          <p:nvPr/>
        </p:nvGrpSpPr>
        <p:grpSpPr>
          <a:xfrm rot="0">
            <a:off x="4886925" y="7903369"/>
            <a:ext cx="2152174" cy="434340"/>
            <a:chOff x="0" y="0"/>
            <a:chExt cx="2869565" cy="579120"/>
          </a:xfrm>
        </p:grpSpPr>
        <p:sp>
          <p:nvSpPr>
            <p:cNvPr name="Freeform 90" id="90"/>
            <p:cNvSpPr/>
            <p:nvPr/>
          </p:nvSpPr>
          <p:spPr>
            <a:xfrm flipH="false" flipV="false" rot="0">
              <a:off x="0" y="0"/>
              <a:ext cx="2869565" cy="579120"/>
            </a:xfrm>
            <a:custGeom>
              <a:avLst/>
              <a:gdLst/>
              <a:ahLst/>
              <a:cxnLst/>
              <a:rect r="r" b="b" t="t" l="l"/>
              <a:pathLst>
                <a:path h="579120" w="2869565">
                  <a:moveTo>
                    <a:pt x="289560" y="0"/>
                  </a:moveTo>
                  <a:lnTo>
                    <a:pt x="2580005" y="0"/>
                  </a:lnTo>
                  <a:cubicBezTo>
                    <a:pt x="2739898" y="0"/>
                    <a:pt x="2869565" y="129667"/>
                    <a:pt x="2869565" y="289560"/>
                  </a:cubicBezTo>
                  <a:cubicBezTo>
                    <a:pt x="2869565" y="449453"/>
                    <a:pt x="2739898" y="579120"/>
                    <a:pt x="2580005"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91" id="91"/>
            <p:cNvSpPr txBox="true"/>
            <p:nvPr/>
          </p:nvSpPr>
          <p:spPr>
            <a:xfrm>
              <a:off x="0" y="-38100"/>
              <a:ext cx="2869565"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Pending approval</a:t>
              </a:r>
            </a:p>
          </p:txBody>
        </p:sp>
      </p:grpSp>
      <p:sp>
        <p:nvSpPr>
          <p:cNvPr name="TextBox 92" id="92"/>
          <p:cNvSpPr txBox="true"/>
          <p:nvPr/>
        </p:nvSpPr>
        <p:spPr>
          <a:xfrm rot="0">
            <a:off x="7153389" y="7922419"/>
            <a:ext cx="304800"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t>
            </a:r>
          </a:p>
        </p:txBody>
      </p:sp>
      <p:grpSp>
        <p:nvGrpSpPr>
          <p:cNvPr name="Group 93" id="93"/>
          <p:cNvGrpSpPr/>
          <p:nvPr/>
        </p:nvGrpSpPr>
        <p:grpSpPr>
          <a:xfrm rot="0">
            <a:off x="7496289" y="7903369"/>
            <a:ext cx="1330995" cy="434340"/>
            <a:chOff x="0" y="0"/>
            <a:chExt cx="1774660" cy="579120"/>
          </a:xfrm>
        </p:grpSpPr>
        <p:sp>
          <p:nvSpPr>
            <p:cNvPr name="Freeform 94" id="94"/>
            <p:cNvSpPr/>
            <p:nvPr/>
          </p:nvSpPr>
          <p:spPr>
            <a:xfrm flipH="false" flipV="false" rot="0">
              <a:off x="0" y="0"/>
              <a:ext cx="1774698" cy="579120"/>
            </a:xfrm>
            <a:custGeom>
              <a:avLst/>
              <a:gdLst/>
              <a:ahLst/>
              <a:cxnLst/>
              <a:rect r="r" b="b" t="t" l="l"/>
              <a:pathLst>
                <a:path h="579120" w="1774698">
                  <a:moveTo>
                    <a:pt x="289560" y="0"/>
                  </a:moveTo>
                  <a:lnTo>
                    <a:pt x="1485138" y="0"/>
                  </a:lnTo>
                  <a:cubicBezTo>
                    <a:pt x="1645031" y="0"/>
                    <a:pt x="1774698" y="129667"/>
                    <a:pt x="1774698" y="289560"/>
                  </a:cubicBezTo>
                  <a:cubicBezTo>
                    <a:pt x="1774698" y="449453"/>
                    <a:pt x="1645031" y="579120"/>
                    <a:pt x="1485138"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95" id="95"/>
            <p:cNvSpPr txBox="true"/>
            <p:nvPr/>
          </p:nvSpPr>
          <p:spPr>
            <a:xfrm>
              <a:off x="0" y="-38100"/>
              <a:ext cx="1774660"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Approved</a:t>
              </a:r>
            </a:p>
          </p:txBody>
        </p:sp>
      </p:grpSp>
      <p:sp>
        <p:nvSpPr>
          <p:cNvPr name="TextBox 96" id="96"/>
          <p:cNvSpPr txBox="true"/>
          <p:nvPr/>
        </p:nvSpPr>
        <p:spPr>
          <a:xfrm rot="0">
            <a:off x="8941594" y="7922419"/>
            <a:ext cx="304800"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t>
            </a:r>
          </a:p>
        </p:txBody>
      </p:sp>
      <p:grpSp>
        <p:nvGrpSpPr>
          <p:cNvPr name="Group 97" id="97"/>
          <p:cNvGrpSpPr/>
          <p:nvPr/>
        </p:nvGrpSpPr>
        <p:grpSpPr>
          <a:xfrm rot="0">
            <a:off x="9284494" y="7903369"/>
            <a:ext cx="1026443" cy="434340"/>
            <a:chOff x="0" y="0"/>
            <a:chExt cx="1368590" cy="579120"/>
          </a:xfrm>
        </p:grpSpPr>
        <p:sp>
          <p:nvSpPr>
            <p:cNvPr name="Freeform 98" id="98"/>
            <p:cNvSpPr/>
            <p:nvPr/>
          </p:nvSpPr>
          <p:spPr>
            <a:xfrm flipH="false" flipV="false" rot="0">
              <a:off x="0" y="0"/>
              <a:ext cx="1368552" cy="579120"/>
            </a:xfrm>
            <a:custGeom>
              <a:avLst/>
              <a:gdLst/>
              <a:ahLst/>
              <a:cxnLst/>
              <a:rect r="r" b="b" t="t" l="l"/>
              <a:pathLst>
                <a:path h="579120" w="1368552">
                  <a:moveTo>
                    <a:pt x="289560" y="0"/>
                  </a:moveTo>
                  <a:lnTo>
                    <a:pt x="1078992" y="0"/>
                  </a:lnTo>
                  <a:cubicBezTo>
                    <a:pt x="1238885" y="0"/>
                    <a:pt x="1368552" y="129667"/>
                    <a:pt x="1368552" y="289560"/>
                  </a:cubicBezTo>
                  <a:cubicBezTo>
                    <a:pt x="1368552" y="449453"/>
                    <a:pt x="1238885" y="579120"/>
                    <a:pt x="1078992"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99" id="99"/>
            <p:cNvSpPr txBox="true"/>
            <p:nvPr/>
          </p:nvSpPr>
          <p:spPr>
            <a:xfrm>
              <a:off x="0" y="-38100"/>
              <a:ext cx="1368590"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Issued</a:t>
              </a:r>
            </a:p>
          </p:txBody>
        </p:sp>
      </p:grpSp>
      <p:sp>
        <p:nvSpPr>
          <p:cNvPr name="TextBox 100" id="100"/>
          <p:cNvSpPr txBox="true"/>
          <p:nvPr/>
        </p:nvSpPr>
        <p:spPr>
          <a:xfrm rot="0">
            <a:off x="10425236" y="7922419"/>
            <a:ext cx="304800"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t>
            </a:r>
          </a:p>
        </p:txBody>
      </p:sp>
      <p:grpSp>
        <p:nvGrpSpPr>
          <p:cNvPr name="Group 101" id="101"/>
          <p:cNvGrpSpPr/>
          <p:nvPr/>
        </p:nvGrpSpPr>
        <p:grpSpPr>
          <a:xfrm rot="0">
            <a:off x="10768136" y="7903369"/>
            <a:ext cx="1377201" cy="434340"/>
            <a:chOff x="0" y="0"/>
            <a:chExt cx="1836268" cy="579120"/>
          </a:xfrm>
        </p:grpSpPr>
        <p:sp>
          <p:nvSpPr>
            <p:cNvPr name="Freeform 102" id="102"/>
            <p:cNvSpPr/>
            <p:nvPr/>
          </p:nvSpPr>
          <p:spPr>
            <a:xfrm flipH="false" flipV="false" rot="0">
              <a:off x="0" y="0"/>
              <a:ext cx="1836293" cy="579120"/>
            </a:xfrm>
            <a:custGeom>
              <a:avLst/>
              <a:gdLst/>
              <a:ahLst/>
              <a:cxnLst/>
              <a:rect r="r" b="b" t="t" l="l"/>
              <a:pathLst>
                <a:path h="579120" w="1836293">
                  <a:moveTo>
                    <a:pt x="289560" y="0"/>
                  </a:moveTo>
                  <a:lnTo>
                    <a:pt x="1546733" y="0"/>
                  </a:lnTo>
                  <a:cubicBezTo>
                    <a:pt x="1706626" y="0"/>
                    <a:pt x="1836293" y="129667"/>
                    <a:pt x="1836293" y="289560"/>
                  </a:cubicBezTo>
                  <a:cubicBezTo>
                    <a:pt x="1836293" y="449453"/>
                    <a:pt x="1706626" y="579120"/>
                    <a:pt x="1546733"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103" id="103"/>
            <p:cNvSpPr txBox="true"/>
            <p:nvPr/>
          </p:nvSpPr>
          <p:spPr>
            <a:xfrm>
              <a:off x="0" y="-38100"/>
              <a:ext cx="1836268"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Delivering</a:t>
              </a:r>
            </a:p>
          </p:txBody>
        </p:sp>
      </p:grpSp>
      <p:sp>
        <p:nvSpPr>
          <p:cNvPr name="TextBox 104" id="104"/>
          <p:cNvSpPr txBox="true"/>
          <p:nvPr/>
        </p:nvSpPr>
        <p:spPr>
          <a:xfrm rot="0">
            <a:off x="12259628" y="7922419"/>
            <a:ext cx="304800"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t>
            </a:r>
          </a:p>
        </p:txBody>
      </p:sp>
      <p:grpSp>
        <p:nvGrpSpPr>
          <p:cNvPr name="Group 105" id="105"/>
          <p:cNvGrpSpPr/>
          <p:nvPr/>
        </p:nvGrpSpPr>
        <p:grpSpPr>
          <a:xfrm rot="0">
            <a:off x="12602528" y="7903369"/>
            <a:ext cx="1318974" cy="434340"/>
            <a:chOff x="0" y="0"/>
            <a:chExt cx="1758632" cy="579120"/>
          </a:xfrm>
        </p:grpSpPr>
        <p:sp>
          <p:nvSpPr>
            <p:cNvPr name="Freeform 106" id="106"/>
            <p:cNvSpPr/>
            <p:nvPr/>
          </p:nvSpPr>
          <p:spPr>
            <a:xfrm flipH="false" flipV="false" rot="0">
              <a:off x="0" y="0"/>
              <a:ext cx="1758569" cy="579120"/>
            </a:xfrm>
            <a:custGeom>
              <a:avLst/>
              <a:gdLst/>
              <a:ahLst/>
              <a:cxnLst/>
              <a:rect r="r" b="b" t="t" l="l"/>
              <a:pathLst>
                <a:path h="579120" w="1758569">
                  <a:moveTo>
                    <a:pt x="289560" y="0"/>
                  </a:moveTo>
                  <a:lnTo>
                    <a:pt x="1469009" y="0"/>
                  </a:lnTo>
                  <a:cubicBezTo>
                    <a:pt x="1628902" y="0"/>
                    <a:pt x="1758569" y="129667"/>
                    <a:pt x="1758569" y="289560"/>
                  </a:cubicBezTo>
                  <a:cubicBezTo>
                    <a:pt x="1758569" y="449453"/>
                    <a:pt x="1628902" y="579120"/>
                    <a:pt x="1469009" y="579120"/>
                  </a:cubicBezTo>
                  <a:lnTo>
                    <a:pt x="289560" y="579120"/>
                  </a:lnTo>
                  <a:cubicBezTo>
                    <a:pt x="129667" y="579120"/>
                    <a:pt x="0" y="449453"/>
                    <a:pt x="0" y="289560"/>
                  </a:cubicBezTo>
                  <a:cubicBezTo>
                    <a:pt x="0" y="129667"/>
                    <a:pt x="129667" y="0"/>
                    <a:pt x="289560" y="0"/>
                  </a:cubicBezTo>
                  <a:close/>
                </a:path>
              </a:pathLst>
            </a:custGeom>
            <a:solidFill>
              <a:srgbClr val="DCEBE5"/>
            </a:solidFill>
          </p:spPr>
        </p:sp>
        <p:sp>
          <p:nvSpPr>
            <p:cNvPr name="TextBox 107" id="107"/>
            <p:cNvSpPr txBox="true"/>
            <p:nvPr/>
          </p:nvSpPr>
          <p:spPr>
            <a:xfrm>
              <a:off x="0" y="-38100"/>
              <a:ext cx="1758632" cy="617220"/>
            </a:xfrm>
            <a:prstGeom prst="rect">
              <a:avLst/>
            </a:prstGeom>
          </p:spPr>
          <p:txBody>
            <a:bodyPr anchor="ctr" rtlCol="false" tIns="50800" lIns="50800" bIns="50800" rIns="50800"/>
            <a:lstStyle/>
            <a:p>
              <a:pPr algn="ctr">
                <a:lnSpc>
                  <a:spcPts val="2520"/>
                </a:lnSpc>
              </a:pPr>
              <a:r>
                <a:rPr lang="en-US" sz="1800" b="true">
                  <a:solidFill>
                    <a:srgbClr val="14655B"/>
                  </a:solidFill>
                  <a:latin typeface="IBM Plex Sans Bold"/>
                  <a:ea typeface="IBM Plex Sans Bold"/>
                  <a:cs typeface="IBM Plex Sans Bold"/>
                  <a:sym typeface="IBM Plex Sans Bold"/>
                </a:rPr>
                <a:t>Delivered</a:t>
              </a:r>
            </a:p>
          </p:txBody>
        </p:sp>
      </p:grpSp>
      <p:sp>
        <p:nvSpPr>
          <p:cNvPr name="TextBox 108" id="108"/>
          <p:cNvSpPr txBox="true"/>
          <p:nvPr/>
        </p:nvSpPr>
        <p:spPr>
          <a:xfrm rot="0">
            <a:off x="14035802" y="7922419"/>
            <a:ext cx="797004"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 exits:</a:t>
            </a:r>
          </a:p>
        </p:txBody>
      </p:sp>
      <p:grpSp>
        <p:nvGrpSpPr>
          <p:cNvPr name="Group 109" id="109"/>
          <p:cNvGrpSpPr/>
          <p:nvPr/>
        </p:nvGrpSpPr>
        <p:grpSpPr>
          <a:xfrm rot="0">
            <a:off x="14832806" y="7903369"/>
            <a:ext cx="1237774" cy="434340"/>
            <a:chOff x="0" y="0"/>
            <a:chExt cx="1650365" cy="579120"/>
          </a:xfrm>
        </p:grpSpPr>
        <p:sp>
          <p:nvSpPr>
            <p:cNvPr name="Freeform 110" id="110"/>
            <p:cNvSpPr/>
            <p:nvPr/>
          </p:nvSpPr>
          <p:spPr>
            <a:xfrm flipH="false" flipV="false" rot="0">
              <a:off x="0" y="0"/>
              <a:ext cx="1650365" cy="579120"/>
            </a:xfrm>
            <a:custGeom>
              <a:avLst/>
              <a:gdLst/>
              <a:ahLst/>
              <a:cxnLst/>
              <a:rect r="r" b="b" t="t" l="l"/>
              <a:pathLst>
                <a:path h="579120" w="1650365">
                  <a:moveTo>
                    <a:pt x="289560" y="0"/>
                  </a:moveTo>
                  <a:lnTo>
                    <a:pt x="1360805" y="0"/>
                  </a:lnTo>
                  <a:cubicBezTo>
                    <a:pt x="1520698" y="0"/>
                    <a:pt x="1650365" y="129667"/>
                    <a:pt x="1650365" y="289560"/>
                  </a:cubicBezTo>
                  <a:cubicBezTo>
                    <a:pt x="1650365" y="449453"/>
                    <a:pt x="1520698" y="579120"/>
                    <a:pt x="1360805" y="579120"/>
                  </a:cubicBezTo>
                  <a:lnTo>
                    <a:pt x="289560" y="579120"/>
                  </a:lnTo>
                  <a:cubicBezTo>
                    <a:pt x="129667" y="579120"/>
                    <a:pt x="0" y="449453"/>
                    <a:pt x="0" y="289560"/>
                  </a:cubicBezTo>
                  <a:cubicBezTo>
                    <a:pt x="0" y="129667"/>
                    <a:pt x="129667" y="0"/>
                    <a:pt x="289560" y="0"/>
                  </a:cubicBezTo>
                  <a:close/>
                </a:path>
              </a:pathLst>
            </a:custGeom>
            <a:solidFill>
              <a:srgbClr val="F6DCCB"/>
            </a:solidFill>
          </p:spPr>
        </p:sp>
        <p:sp>
          <p:nvSpPr>
            <p:cNvPr name="TextBox 111" id="111"/>
            <p:cNvSpPr txBox="true"/>
            <p:nvPr/>
          </p:nvSpPr>
          <p:spPr>
            <a:xfrm>
              <a:off x="0" y="-38100"/>
              <a:ext cx="1650365" cy="617220"/>
            </a:xfrm>
            <a:prstGeom prst="rect">
              <a:avLst/>
            </a:prstGeom>
          </p:spPr>
          <p:txBody>
            <a:bodyPr anchor="ctr" rtlCol="false" tIns="50800" lIns="50800" bIns="50800" rIns="50800"/>
            <a:lstStyle/>
            <a:p>
              <a:pPr algn="ctr">
                <a:lnSpc>
                  <a:spcPts val="2520"/>
                </a:lnSpc>
              </a:pPr>
              <a:r>
                <a:rPr lang="en-US" sz="1800" b="true">
                  <a:solidFill>
                    <a:srgbClr val="B85C1E"/>
                  </a:solidFill>
                  <a:latin typeface="IBM Plex Sans Bold"/>
                  <a:ea typeface="IBM Plex Sans Bold"/>
                  <a:cs typeface="IBM Plex Sans Bold"/>
                  <a:sym typeface="IBM Plex Sans Bold"/>
                </a:rPr>
                <a:t>Rejected</a:t>
              </a:r>
            </a:p>
          </p:txBody>
        </p:sp>
      </p:grpSp>
      <p:grpSp>
        <p:nvGrpSpPr>
          <p:cNvPr name="Group 112" id="112"/>
          <p:cNvGrpSpPr/>
          <p:nvPr/>
        </p:nvGrpSpPr>
        <p:grpSpPr>
          <a:xfrm rot="0">
            <a:off x="1219200" y="8452018"/>
            <a:ext cx="1354931" cy="434340"/>
            <a:chOff x="0" y="0"/>
            <a:chExt cx="1806575" cy="579120"/>
          </a:xfrm>
        </p:grpSpPr>
        <p:sp>
          <p:nvSpPr>
            <p:cNvPr name="Freeform 113" id="113"/>
            <p:cNvSpPr/>
            <p:nvPr/>
          </p:nvSpPr>
          <p:spPr>
            <a:xfrm flipH="false" flipV="false" rot="0">
              <a:off x="0" y="0"/>
              <a:ext cx="1806575" cy="579120"/>
            </a:xfrm>
            <a:custGeom>
              <a:avLst/>
              <a:gdLst/>
              <a:ahLst/>
              <a:cxnLst/>
              <a:rect r="r" b="b" t="t" l="l"/>
              <a:pathLst>
                <a:path h="579120" w="1806575">
                  <a:moveTo>
                    <a:pt x="289560" y="0"/>
                  </a:moveTo>
                  <a:lnTo>
                    <a:pt x="1517015" y="0"/>
                  </a:lnTo>
                  <a:cubicBezTo>
                    <a:pt x="1676908" y="0"/>
                    <a:pt x="1806575" y="129667"/>
                    <a:pt x="1806575" y="289560"/>
                  </a:cubicBezTo>
                  <a:cubicBezTo>
                    <a:pt x="1806575" y="449453"/>
                    <a:pt x="1676908" y="579120"/>
                    <a:pt x="1517015" y="579120"/>
                  </a:cubicBezTo>
                  <a:lnTo>
                    <a:pt x="289560" y="579120"/>
                  </a:lnTo>
                  <a:cubicBezTo>
                    <a:pt x="129667" y="579120"/>
                    <a:pt x="0" y="449453"/>
                    <a:pt x="0" y="289560"/>
                  </a:cubicBezTo>
                  <a:cubicBezTo>
                    <a:pt x="0" y="129667"/>
                    <a:pt x="129667" y="0"/>
                    <a:pt x="289560" y="0"/>
                  </a:cubicBezTo>
                  <a:close/>
                </a:path>
              </a:pathLst>
            </a:custGeom>
            <a:solidFill>
              <a:srgbClr val="E4E6E3"/>
            </a:solidFill>
          </p:spPr>
        </p:sp>
        <p:sp>
          <p:nvSpPr>
            <p:cNvPr name="TextBox 114" id="114"/>
            <p:cNvSpPr txBox="true"/>
            <p:nvPr/>
          </p:nvSpPr>
          <p:spPr>
            <a:xfrm>
              <a:off x="0" y="-38100"/>
              <a:ext cx="1806575" cy="617220"/>
            </a:xfrm>
            <a:prstGeom prst="rect">
              <a:avLst/>
            </a:prstGeom>
          </p:spPr>
          <p:txBody>
            <a:bodyPr anchor="ctr" rtlCol="false" tIns="50800" lIns="50800" bIns="50800" rIns="50800"/>
            <a:lstStyle/>
            <a:p>
              <a:pPr algn="ctr">
                <a:lnSpc>
                  <a:spcPts val="2520"/>
                </a:lnSpc>
              </a:pPr>
              <a:r>
                <a:rPr lang="en-US" sz="1800" b="true">
                  <a:solidFill>
                    <a:srgbClr val="4A5550"/>
                  </a:solidFill>
                  <a:latin typeface="IBM Plex Sans Bold"/>
                  <a:ea typeface="IBM Plex Sans Bold"/>
                  <a:cs typeface="IBM Plex Sans Bold"/>
                  <a:sym typeface="IBM Plex Sans Bold"/>
                </a:rPr>
                <a:t>Cancelled</a:t>
              </a:r>
            </a:p>
          </p:txBody>
        </p:sp>
      </p:grpSp>
      <p:sp>
        <p:nvSpPr>
          <p:cNvPr name="TextBox 115" id="115"/>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16" id="116"/>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13</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KEY SUB-FLOW</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Offline ordering and synchronization</a:t>
            </a:r>
          </a:p>
        </p:txBody>
      </p:sp>
      <p:sp>
        <p:nvSpPr>
          <p:cNvPr name="TextBox 4" id="4"/>
          <p:cNvSpPr txBox="true"/>
          <p:nvPr/>
        </p:nvSpPr>
        <p:spPr>
          <a:xfrm rot="0">
            <a:off x="1219200" y="2310775"/>
            <a:ext cx="495300" cy="459105"/>
          </a:xfrm>
          <a:prstGeom prst="rect">
            <a:avLst/>
          </a:prstGeom>
        </p:spPr>
        <p:txBody>
          <a:bodyPr anchor="t" rtlCol="false" tIns="0" lIns="0" bIns="0" rIns="0">
            <a:spAutoFit/>
          </a:bodyPr>
          <a:lstStyle/>
          <a:p>
            <a:pPr algn="l">
              <a:lnSpc>
                <a:spcPts val="2940"/>
              </a:lnSpc>
            </a:pPr>
            <a:r>
              <a:rPr lang="en-US" sz="2100" b="true">
                <a:solidFill>
                  <a:srgbClr val="14655B"/>
                </a:solidFill>
                <a:latin typeface="Arimo Bold"/>
                <a:ea typeface="Arimo Bold"/>
                <a:cs typeface="Arimo Bold"/>
                <a:sym typeface="Arimo Bold"/>
              </a:rPr>
              <a:t>1</a:t>
            </a:r>
          </a:p>
        </p:txBody>
      </p:sp>
      <p:sp>
        <p:nvSpPr>
          <p:cNvPr name="TextBox 5" id="5"/>
          <p:cNvSpPr txBox="true"/>
          <p:nvPr/>
        </p:nvSpPr>
        <p:spPr>
          <a:xfrm rot="0">
            <a:off x="1828800" y="2348875"/>
            <a:ext cx="789421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Cache</a:t>
            </a:r>
          </a:p>
        </p:txBody>
      </p:sp>
      <p:sp>
        <p:nvSpPr>
          <p:cNvPr name="TextBox 6" id="6"/>
          <p:cNvSpPr txBox="true"/>
          <p:nvPr/>
        </p:nvSpPr>
        <p:spPr>
          <a:xfrm rot="0">
            <a:off x="1828800" y="2678430"/>
            <a:ext cx="7894215"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Retailers, products, prices, promotions and stock snapshot stored in the app's SQLite database</a:t>
            </a:r>
          </a:p>
        </p:txBody>
      </p:sp>
      <p:sp>
        <p:nvSpPr>
          <p:cNvPr name="TextBox 7" id="7"/>
          <p:cNvSpPr txBox="true"/>
          <p:nvPr/>
        </p:nvSpPr>
        <p:spPr>
          <a:xfrm rot="0">
            <a:off x="1219200" y="3499485"/>
            <a:ext cx="495300" cy="459105"/>
          </a:xfrm>
          <a:prstGeom prst="rect">
            <a:avLst/>
          </a:prstGeom>
        </p:spPr>
        <p:txBody>
          <a:bodyPr anchor="t" rtlCol="false" tIns="0" lIns="0" bIns="0" rIns="0">
            <a:spAutoFit/>
          </a:bodyPr>
          <a:lstStyle/>
          <a:p>
            <a:pPr algn="l">
              <a:lnSpc>
                <a:spcPts val="2940"/>
              </a:lnSpc>
            </a:pPr>
            <a:r>
              <a:rPr lang="en-US" sz="2100" b="true">
                <a:solidFill>
                  <a:srgbClr val="14655B"/>
                </a:solidFill>
                <a:latin typeface="Arimo Bold"/>
                <a:ea typeface="Arimo Bold"/>
                <a:cs typeface="Arimo Bold"/>
                <a:sym typeface="Arimo Bold"/>
              </a:rPr>
              <a:t>2</a:t>
            </a:r>
          </a:p>
        </p:txBody>
      </p:sp>
      <p:sp>
        <p:nvSpPr>
          <p:cNvPr name="TextBox 8" id="8"/>
          <p:cNvSpPr txBox="true"/>
          <p:nvPr/>
        </p:nvSpPr>
        <p:spPr>
          <a:xfrm rot="0">
            <a:off x="1828800" y="3537585"/>
            <a:ext cx="789421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Order offline</a:t>
            </a:r>
          </a:p>
        </p:txBody>
      </p:sp>
      <p:sp>
        <p:nvSpPr>
          <p:cNvPr name="TextBox 9" id="9"/>
          <p:cNvSpPr txBox="true"/>
          <p:nvPr/>
        </p:nvSpPr>
        <p:spPr>
          <a:xfrm rot="0">
            <a:off x="1828800" y="3867150"/>
            <a:ext cx="7894215"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Promotions estimated on local data; order queued with an idempotency key and the device time</a:t>
            </a:r>
          </a:p>
        </p:txBody>
      </p:sp>
      <p:sp>
        <p:nvSpPr>
          <p:cNvPr name="TextBox 10" id="10"/>
          <p:cNvSpPr txBox="true"/>
          <p:nvPr/>
        </p:nvSpPr>
        <p:spPr>
          <a:xfrm rot="0">
            <a:off x="1219200" y="4688205"/>
            <a:ext cx="495300" cy="459105"/>
          </a:xfrm>
          <a:prstGeom prst="rect">
            <a:avLst/>
          </a:prstGeom>
        </p:spPr>
        <p:txBody>
          <a:bodyPr anchor="t" rtlCol="false" tIns="0" lIns="0" bIns="0" rIns="0">
            <a:spAutoFit/>
          </a:bodyPr>
          <a:lstStyle/>
          <a:p>
            <a:pPr algn="l">
              <a:lnSpc>
                <a:spcPts val="2940"/>
              </a:lnSpc>
            </a:pPr>
            <a:r>
              <a:rPr lang="en-US" sz="2100" b="true">
                <a:solidFill>
                  <a:srgbClr val="14655B"/>
                </a:solidFill>
                <a:latin typeface="Arimo Bold"/>
                <a:ea typeface="Arimo Bold"/>
                <a:cs typeface="Arimo Bold"/>
                <a:sym typeface="Arimo Bold"/>
              </a:rPr>
              <a:t>3</a:t>
            </a:r>
          </a:p>
        </p:txBody>
      </p:sp>
      <p:sp>
        <p:nvSpPr>
          <p:cNvPr name="TextBox 11" id="11"/>
          <p:cNvSpPr txBox="true"/>
          <p:nvPr/>
        </p:nvSpPr>
        <p:spPr>
          <a:xfrm rot="0">
            <a:off x="1828800" y="4726305"/>
            <a:ext cx="789421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Sync</a:t>
            </a:r>
          </a:p>
        </p:txBody>
      </p:sp>
      <p:sp>
        <p:nvSpPr>
          <p:cNvPr name="TextBox 12" id="12"/>
          <p:cNvSpPr txBox="true"/>
          <p:nvPr/>
        </p:nvSpPr>
        <p:spPr>
          <a:xfrm rot="0">
            <a:off x="1828800" y="5055870"/>
            <a:ext cx="7894215"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Automatic when the connection returns; if it fails, the Sales Representative syncs manually</a:t>
            </a:r>
          </a:p>
        </p:txBody>
      </p:sp>
      <p:sp>
        <p:nvSpPr>
          <p:cNvPr name="TextBox 13" id="13"/>
          <p:cNvSpPr txBox="true"/>
          <p:nvPr/>
        </p:nvSpPr>
        <p:spPr>
          <a:xfrm rot="0">
            <a:off x="1219200" y="5876925"/>
            <a:ext cx="495300" cy="459105"/>
          </a:xfrm>
          <a:prstGeom prst="rect">
            <a:avLst/>
          </a:prstGeom>
        </p:spPr>
        <p:txBody>
          <a:bodyPr anchor="t" rtlCol="false" tIns="0" lIns="0" bIns="0" rIns="0">
            <a:spAutoFit/>
          </a:bodyPr>
          <a:lstStyle/>
          <a:p>
            <a:pPr algn="l">
              <a:lnSpc>
                <a:spcPts val="2940"/>
              </a:lnSpc>
            </a:pPr>
            <a:r>
              <a:rPr lang="en-US" sz="2100" b="true">
                <a:solidFill>
                  <a:srgbClr val="14655B"/>
                </a:solidFill>
                <a:latin typeface="Arimo Bold"/>
                <a:ea typeface="Arimo Bold"/>
                <a:cs typeface="Arimo Bold"/>
                <a:sym typeface="Arimo Bold"/>
              </a:rPr>
              <a:t>4</a:t>
            </a:r>
          </a:p>
        </p:txBody>
      </p:sp>
      <p:sp>
        <p:nvSpPr>
          <p:cNvPr name="TextBox 14" id="14"/>
          <p:cNvSpPr txBox="true"/>
          <p:nvPr/>
        </p:nvSpPr>
        <p:spPr>
          <a:xfrm rot="0">
            <a:off x="1828800" y="5915025"/>
            <a:ext cx="789421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First come, first served</a:t>
            </a:r>
          </a:p>
        </p:txBody>
      </p:sp>
      <p:sp>
        <p:nvSpPr>
          <p:cNvPr name="TextBox 15" id="15"/>
          <p:cNvSpPr txBox="true"/>
          <p:nvPr/>
        </p:nvSpPr>
        <p:spPr>
          <a:xfrm rot="0">
            <a:off x="1828800" y="6244600"/>
            <a:ext cx="7894215"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The server processes orders by arrival time, revalidates data and recalculates promotions — the server result is final</a:t>
            </a:r>
          </a:p>
        </p:txBody>
      </p:sp>
      <p:sp>
        <p:nvSpPr>
          <p:cNvPr name="TextBox 16" id="16"/>
          <p:cNvSpPr txBox="true"/>
          <p:nvPr/>
        </p:nvSpPr>
        <p:spPr>
          <a:xfrm rot="0">
            <a:off x="1219200" y="7065645"/>
            <a:ext cx="495300" cy="459105"/>
          </a:xfrm>
          <a:prstGeom prst="rect">
            <a:avLst/>
          </a:prstGeom>
        </p:spPr>
        <p:txBody>
          <a:bodyPr anchor="t" rtlCol="false" tIns="0" lIns="0" bIns="0" rIns="0">
            <a:spAutoFit/>
          </a:bodyPr>
          <a:lstStyle/>
          <a:p>
            <a:pPr algn="l">
              <a:lnSpc>
                <a:spcPts val="2940"/>
              </a:lnSpc>
            </a:pPr>
            <a:r>
              <a:rPr lang="en-US" sz="2100" b="true">
                <a:solidFill>
                  <a:srgbClr val="14655B"/>
                </a:solidFill>
                <a:latin typeface="Arimo Bold"/>
                <a:ea typeface="Arimo Bold"/>
                <a:cs typeface="Arimo Bold"/>
                <a:sym typeface="Arimo Bold"/>
              </a:rPr>
              <a:t>5</a:t>
            </a:r>
          </a:p>
        </p:txBody>
      </p:sp>
      <p:sp>
        <p:nvSpPr>
          <p:cNvPr name="TextBox 17" id="17"/>
          <p:cNvSpPr txBox="true"/>
          <p:nvPr/>
        </p:nvSpPr>
        <p:spPr>
          <a:xfrm rot="0">
            <a:off x="1828800" y="7103745"/>
            <a:ext cx="7894215"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Allocate or reject</a:t>
            </a:r>
          </a:p>
        </p:txBody>
      </p:sp>
      <p:sp>
        <p:nvSpPr>
          <p:cNvPr name="TextBox 18" id="18"/>
          <p:cNvSpPr txBox="true"/>
          <p:nvPr/>
        </p:nvSpPr>
        <p:spPr>
          <a:xfrm rot="0">
            <a:off x="1828800" y="7433310"/>
            <a:ext cx="7894215"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Allocation runs again on live stock; a later order that can no longer be filled is rejected, Sales and retailer notified</a:t>
            </a:r>
          </a:p>
        </p:txBody>
      </p:sp>
      <p:grpSp>
        <p:nvGrpSpPr>
          <p:cNvPr name="Group 19" id="19"/>
          <p:cNvGrpSpPr/>
          <p:nvPr/>
        </p:nvGrpSpPr>
        <p:grpSpPr>
          <a:xfrm rot="0">
            <a:off x="9874091" y="2358400"/>
            <a:ext cx="7194585" cy="4442460"/>
            <a:chOff x="0" y="0"/>
            <a:chExt cx="9592780" cy="5923280"/>
          </a:xfrm>
        </p:grpSpPr>
        <p:sp>
          <p:nvSpPr>
            <p:cNvPr name="Freeform 20" id="20"/>
            <p:cNvSpPr/>
            <p:nvPr/>
          </p:nvSpPr>
          <p:spPr>
            <a:xfrm flipH="false" flipV="false" rot="0">
              <a:off x="0" y="0"/>
              <a:ext cx="9592818" cy="5923280"/>
            </a:xfrm>
            <a:custGeom>
              <a:avLst/>
              <a:gdLst/>
              <a:ahLst/>
              <a:cxnLst/>
              <a:rect r="r" b="b" t="t" l="l"/>
              <a:pathLst>
                <a:path h="5923280" w="9592818">
                  <a:moveTo>
                    <a:pt x="0" y="203200"/>
                  </a:moveTo>
                  <a:cubicBezTo>
                    <a:pt x="0" y="90932"/>
                    <a:pt x="90932" y="0"/>
                    <a:pt x="203200" y="0"/>
                  </a:cubicBezTo>
                  <a:lnTo>
                    <a:pt x="9389618" y="0"/>
                  </a:lnTo>
                  <a:cubicBezTo>
                    <a:pt x="9501887" y="0"/>
                    <a:pt x="9592818" y="90932"/>
                    <a:pt x="9592818" y="203200"/>
                  </a:cubicBezTo>
                  <a:lnTo>
                    <a:pt x="9592818" y="5720080"/>
                  </a:lnTo>
                  <a:cubicBezTo>
                    <a:pt x="9592818" y="5832348"/>
                    <a:pt x="9501887" y="5923280"/>
                    <a:pt x="9389618" y="5923280"/>
                  </a:cubicBezTo>
                  <a:lnTo>
                    <a:pt x="203200" y="5923280"/>
                  </a:lnTo>
                  <a:cubicBezTo>
                    <a:pt x="90932" y="5923280"/>
                    <a:pt x="0" y="5832348"/>
                    <a:pt x="0" y="5720080"/>
                  </a:cubicBezTo>
                  <a:close/>
                </a:path>
              </a:pathLst>
            </a:custGeom>
            <a:solidFill>
              <a:srgbClr val="14302B"/>
            </a:solidFill>
          </p:spPr>
        </p:sp>
      </p:grpSp>
      <p:sp>
        <p:nvSpPr>
          <p:cNvPr name="TextBox 21" id="21"/>
          <p:cNvSpPr txBox="true"/>
          <p:nvPr/>
        </p:nvSpPr>
        <p:spPr>
          <a:xfrm rot="0">
            <a:off x="10178891" y="2644150"/>
            <a:ext cx="6782543"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Example from the prototype</a:t>
            </a:r>
          </a:p>
        </p:txBody>
      </p:sp>
      <p:sp>
        <p:nvSpPr>
          <p:cNvPr name="TextBox 22" id="22"/>
          <p:cNvSpPr txBox="true"/>
          <p:nvPr/>
        </p:nvSpPr>
        <p:spPr>
          <a:xfrm rot="0">
            <a:off x="10178891" y="3120400"/>
            <a:ext cx="933450" cy="716280"/>
          </a:xfrm>
          <a:prstGeom prst="rect">
            <a:avLst/>
          </a:prstGeom>
        </p:spPr>
        <p:txBody>
          <a:bodyPr anchor="t" rtlCol="false" tIns="0" lIns="0" bIns="0" rIns="0">
            <a:spAutoFit/>
          </a:bodyPr>
          <a:lstStyle/>
          <a:p>
            <a:pPr algn="l">
              <a:lnSpc>
                <a:spcPts val="2520"/>
              </a:lnSpc>
            </a:pPr>
            <a:r>
              <a:rPr lang="en-US" sz="1800">
                <a:solidFill>
                  <a:srgbClr val="7FD1B9"/>
                </a:solidFill>
                <a:latin typeface="IBM Plex Mono"/>
                <a:ea typeface="IBM Plex Mono"/>
                <a:cs typeface="IBM Plex Mono"/>
                <a:sym typeface="IBM Plex Mono"/>
              </a:rPr>
              <a:t>10:15</a:t>
            </a:r>
          </a:p>
        </p:txBody>
      </p:sp>
      <p:sp>
        <p:nvSpPr>
          <p:cNvPr name="TextBox 23" id="23"/>
          <p:cNvSpPr txBox="true"/>
          <p:nvPr/>
        </p:nvSpPr>
        <p:spPr>
          <a:xfrm rot="0">
            <a:off x="11188541" y="3120400"/>
            <a:ext cx="5742603" cy="716280"/>
          </a:xfrm>
          <a:prstGeom prst="rect">
            <a:avLst/>
          </a:prstGeom>
        </p:spPr>
        <p:txBody>
          <a:bodyPr anchor="t" rtlCol="false" tIns="0" lIns="0" bIns="0" rIns="0">
            <a:spAutoFit/>
          </a:bodyPr>
          <a:lstStyle/>
          <a:p>
            <a:pPr algn="l">
              <a:lnSpc>
                <a:spcPts val="2520"/>
              </a:lnSpc>
            </a:pPr>
            <a:r>
              <a:rPr lang="en-US" sz="1800">
                <a:solidFill>
                  <a:srgbClr val="E4EEEA"/>
                </a:solidFill>
                <a:latin typeface="IBM Plex Sans"/>
                <a:ea typeface="IBM Plex Sans"/>
                <a:cs typeface="IBM Plex Sans"/>
                <a:sym typeface="IBM Plex Sans"/>
              </a:rPr>
              <a:t>Sales A, offline: 60 × SKU001 for Tạp hóa Minh Châu (device time kept)</a:t>
            </a:r>
          </a:p>
        </p:txBody>
      </p:sp>
      <p:sp>
        <p:nvSpPr>
          <p:cNvPr name="TextBox 24" id="24"/>
          <p:cNvSpPr txBox="true"/>
          <p:nvPr/>
        </p:nvSpPr>
        <p:spPr>
          <a:xfrm rot="0">
            <a:off x="10178891" y="3912870"/>
            <a:ext cx="933450" cy="716280"/>
          </a:xfrm>
          <a:prstGeom prst="rect">
            <a:avLst/>
          </a:prstGeom>
        </p:spPr>
        <p:txBody>
          <a:bodyPr anchor="t" rtlCol="false" tIns="0" lIns="0" bIns="0" rIns="0">
            <a:spAutoFit/>
          </a:bodyPr>
          <a:lstStyle/>
          <a:p>
            <a:pPr algn="l">
              <a:lnSpc>
                <a:spcPts val="2520"/>
              </a:lnSpc>
            </a:pPr>
            <a:r>
              <a:rPr lang="en-US" sz="1800">
                <a:solidFill>
                  <a:srgbClr val="7FD1B9"/>
                </a:solidFill>
                <a:latin typeface="IBM Plex Mono"/>
                <a:ea typeface="IBM Plex Mono"/>
                <a:cs typeface="IBM Plex Mono"/>
                <a:sym typeface="IBM Plex Mono"/>
              </a:rPr>
              <a:t>10:21</a:t>
            </a:r>
          </a:p>
        </p:txBody>
      </p:sp>
      <p:sp>
        <p:nvSpPr>
          <p:cNvPr name="TextBox 25" id="25"/>
          <p:cNvSpPr txBox="true"/>
          <p:nvPr/>
        </p:nvSpPr>
        <p:spPr>
          <a:xfrm rot="0">
            <a:off x="11188541" y="3912870"/>
            <a:ext cx="5742603" cy="716280"/>
          </a:xfrm>
          <a:prstGeom prst="rect">
            <a:avLst/>
          </a:prstGeom>
        </p:spPr>
        <p:txBody>
          <a:bodyPr anchor="t" rtlCol="false" tIns="0" lIns="0" bIns="0" rIns="0">
            <a:spAutoFit/>
          </a:bodyPr>
          <a:lstStyle/>
          <a:p>
            <a:pPr algn="l">
              <a:lnSpc>
                <a:spcPts val="2520"/>
              </a:lnSpc>
            </a:pPr>
            <a:r>
              <a:rPr lang="en-US" sz="1800">
                <a:solidFill>
                  <a:srgbClr val="E4EEEA"/>
                </a:solidFill>
                <a:latin typeface="IBM Plex Sans"/>
                <a:ea typeface="IBM Plex Sans"/>
                <a:cs typeface="IBM Plex Sans"/>
                <a:sym typeface="IBM Plex Sans"/>
              </a:rPr>
              <a:t>Another Sales' order reaches the server first and holds 120 cartons of SKU001</a:t>
            </a:r>
          </a:p>
        </p:txBody>
      </p:sp>
      <p:sp>
        <p:nvSpPr>
          <p:cNvPr name="TextBox 26" id="26"/>
          <p:cNvSpPr txBox="true"/>
          <p:nvPr/>
        </p:nvSpPr>
        <p:spPr>
          <a:xfrm rot="0">
            <a:off x="10178891" y="4705350"/>
            <a:ext cx="933450" cy="716280"/>
          </a:xfrm>
          <a:prstGeom prst="rect">
            <a:avLst/>
          </a:prstGeom>
        </p:spPr>
        <p:txBody>
          <a:bodyPr anchor="t" rtlCol="false" tIns="0" lIns="0" bIns="0" rIns="0">
            <a:spAutoFit/>
          </a:bodyPr>
          <a:lstStyle/>
          <a:p>
            <a:pPr algn="l">
              <a:lnSpc>
                <a:spcPts val="2520"/>
              </a:lnSpc>
            </a:pPr>
            <a:r>
              <a:rPr lang="en-US" sz="1800">
                <a:solidFill>
                  <a:srgbClr val="7FD1B9"/>
                </a:solidFill>
                <a:latin typeface="IBM Plex Mono"/>
                <a:ea typeface="IBM Plex Mono"/>
                <a:cs typeface="IBM Plex Mono"/>
                <a:sym typeface="IBM Plex Mono"/>
              </a:rPr>
              <a:t>10:22</a:t>
            </a:r>
          </a:p>
        </p:txBody>
      </p:sp>
      <p:sp>
        <p:nvSpPr>
          <p:cNvPr name="TextBox 27" id="27"/>
          <p:cNvSpPr txBox="true"/>
          <p:nvPr/>
        </p:nvSpPr>
        <p:spPr>
          <a:xfrm rot="0">
            <a:off x="11188541" y="4705350"/>
            <a:ext cx="5742603" cy="716280"/>
          </a:xfrm>
          <a:prstGeom prst="rect">
            <a:avLst/>
          </a:prstGeom>
        </p:spPr>
        <p:txBody>
          <a:bodyPr anchor="t" rtlCol="false" tIns="0" lIns="0" bIns="0" rIns="0">
            <a:spAutoFit/>
          </a:bodyPr>
          <a:lstStyle/>
          <a:p>
            <a:pPr algn="l">
              <a:lnSpc>
                <a:spcPts val="2520"/>
              </a:lnSpc>
            </a:pPr>
            <a:r>
              <a:rPr lang="en-US" sz="1800">
                <a:solidFill>
                  <a:srgbClr val="E4EEEA"/>
                </a:solidFill>
                <a:latin typeface="IBM Plex Sans"/>
                <a:ea typeface="IBM Plex Sans"/>
                <a:cs typeface="IBM Plex Sans"/>
                <a:sym typeface="IBM Plex Sans"/>
              </a:rPr>
              <a:t>Sales A syncs: only 40 cartons left → order rejected, Sales A and retailer notified</a:t>
            </a:r>
          </a:p>
        </p:txBody>
      </p:sp>
      <p:sp>
        <p:nvSpPr>
          <p:cNvPr name="TextBox 28" id="28"/>
          <p:cNvSpPr txBox="true"/>
          <p:nvPr/>
        </p:nvSpPr>
        <p:spPr>
          <a:xfrm rot="0">
            <a:off x="10178891" y="5497830"/>
            <a:ext cx="933450" cy="1036320"/>
          </a:xfrm>
          <a:prstGeom prst="rect">
            <a:avLst/>
          </a:prstGeom>
        </p:spPr>
        <p:txBody>
          <a:bodyPr anchor="t" rtlCol="false" tIns="0" lIns="0" bIns="0" rIns="0">
            <a:spAutoFit/>
          </a:bodyPr>
          <a:lstStyle/>
          <a:p>
            <a:pPr algn="l">
              <a:lnSpc>
                <a:spcPts val="2520"/>
              </a:lnSpc>
            </a:pPr>
            <a:r>
              <a:rPr lang="en-US" sz="1800">
                <a:solidFill>
                  <a:srgbClr val="7FD1B9"/>
                </a:solidFill>
                <a:latin typeface="IBM Plex Mono"/>
                <a:ea typeface="IBM Plex Mono"/>
                <a:cs typeface="IBM Plex Mono"/>
                <a:sym typeface="IBM Plex Mono"/>
              </a:rPr>
              <a:t>10:23</a:t>
            </a:r>
          </a:p>
        </p:txBody>
      </p:sp>
      <p:sp>
        <p:nvSpPr>
          <p:cNvPr name="TextBox 29" id="29"/>
          <p:cNvSpPr txBox="true"/>
          <p:nvPr/>
        </p:nvSpPr>
        <p:spPr>
          <a:xfrm rot="0">
            <a:off x="11188541" y="5497830"/>
            <a:ext cx="5742603" cy="1036320"/>
          </a:xfrm>
          <a:prstGeom prst="rect">
            <a:avLst/>
          </a:prstGeom>
        </p:spPr>
        <p:txBody>
          <a:bodyPr anchor="t" rtlCol="false" tIns="0" lIns="0" bIns="0" rIns="0">
            <a:spAutoFit/>
          </a:bodyPr>
          <a:lstStyle/>
          <a:p>
            <a:pPr algn="l">
              <a:lnSpc>
                <a:spcPts val="2520"/>
              </a:lnSpc>
            </a:pPr>
            <a:r>
              <a:rPr lang="en-US" sz="1800">
                <a:solidFill>
                  <a:srgbClr val="E4EEEA"/>
                </a:solidFill>
                <a:latin typeface="IBM Plex Sans"/>
                <a:ea typeface="IBM Plex Sans"/>
                <a:cs typeface="IBM Plex Sans"/>
                <a:sym typeface="IBM Plex Sans"/>
              </a:rPr>
              <a:t>Second offline order: promotion KM03 was paused at 09:30 → estimate −VND 720,000, official VND 0, order flagged</a:t>
            </a:r>
          </a:p>
        </p:txBody>
      </p:sp>
      <p:sp>
        <p:nvSpPr>
          <p:cNvPr name="TextBox 30" id="30"/>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31" id="31"/>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14</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USERS</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Roles in the system</a:t>
            </a:r>
          </a:p>
        </p:txBody>
      </p:sp>
      <p:grpSp>
        <p:nvGrpSpPr>
          <p:cNvPr name="Group 4" id="4"/>
          <p:cNvGrpSpPr/>
          <p:nvPr/>
        </p:nvGrpSpPr>
        <p:grpSpPr>
          <a:xfrm rot="0">
            <a:off x="1219200" y="2358400"/>
            <a:ext cx="15849600" cy="4880610"/>
            <a:chOff x="0" y="0"/>
            <a:chExt cx="21132800" cy="6507480"/>
          </a:xfrm>
        </p:grpSpPr>
        <p:sp>
          <p:nvSpPr>
            <p:cNvPr name="Freeform 5" id="5"/>
            <p:cNvSpPr/>
            <p:nvPr/>
          </p:nvSpPr>
          <p:spPr>
            <a:xfrm flipH="false" flipV="false" rot="0">
              <a:off x="0" y="0"/>
              <a:ext cx="21132800" cy="6507480"/>
            </a:xfrm>
            <a:custGeom>
              <a:avLst/>
              <a:gdLst/>
              <a:ahLst/>
              <a:cxnLst/>
              <a:rect r="r" b="b" t="t" l="l"/>
              <a:pathLst>
                <a:path h="6507480" w="21132800">
                  <a:moveTo>
                    <a:pt x="0" y="152400"/>
                  </a:moveTo>
                  <a:cubicBezTo>
                    <a:pt x="0" y="68199"/>
                    <a:pt x="68199" y="0"/>
                    <a:pt x="152400" y="0"/>
                  </a:cubicBezTo>
                  <a:lnTo>
                    <a:pt x="20980400" y="0"/>
                  </a:lnTo>
                  <a:cubicBezTo>
                    <a:pt x="21064601" y="0"/>
                    <a:pt x="21132800" y="68199"/>
                    <a:pt x="21132800" y="152400"/>
                  </a:cubicBezTo>
                  <a:lnTo>
                    <a:pt x="21132800" y="6355080"/>
                  </a:lnTo>
                  <a:cubicBezTo>
                    <a:pt x="21132800" y="6439281"/>
                    <a:pt x="21064601" y="6507480"/>
                    <a:pt x="20980400" y="6507480"/>
                  </a:cubicBezTo>
                  <a:lnTo>
                    <a:pt x="152400" y="6507480"/>
                  </a:lnTo>
                  <a:cubicBezTo>
                    <a:pt x="68199" y="6507480"/>
                    <a:pt x="0" y="6439281"/>
                    <a:pt x="0" y="6355080"/>
                  </a:cubicBezTo>
                  <a:close/>
                </a:path>
              </a:pathLst>
            </a:custGeom>
            <a:solidFill>
              <a:srgbClr val="FFFFFF"/>
            </a:solidFill>
          </p:spPr>
        </p:sp>
      </p:grpSp>
      <p:grpSp>
        <p:nvGrpSpPr>
          <p:cNvPr name="Group 6" id="6"/>
          <p:cNvGrpSpPr/>
          <p:nvPr/>
        </p:nvGrpSpPr>
        <p:grpSpPr>
          <a:xfrm rot="0">
            <a:off x="1219200" y="2358400"/>
            <a:ext cx="15849600" cy="4880610"/>
            <a:chOff x="0" y="0"/>
            <a:chExt cx="21132800" cy="6507480"/>
          </a:xfrm>
        </p:grpSpPr>
        <p:sp>
          <p:nvSpPr>
            <p:cNvPr name="Freeform 7" id="7"/>
            <p:cNvSpPr/>
            <p:nvPr/>
          </p:nvSpPr>
          <p:spPr>
            <a:xfrm flipH="false" flipV="false" rot="0">
              <a:off x="0" y="0"/>
              <a:ext cx="21132800" cy="6507480"/>
            </a:xfrm>
            <a:custGeom>
              <a:avLst/>
              <a:gdLst/>
              <a:ahLst/>
              <a:cxnLst/>
              <a:rect r="r" b="b" t="t" l="l"/>
              <a:pathLst>
                <a:path h="6507480" w="21132800">
                  <a:moveTo>
                    <a:pt x="20980400" y="0"/>
                  </a:moveTo>
                  <a:cubicBezTo>
                    <a:pt x="21064601" y="0"/>
                    <a:pt x="21132800" y="68199"/>
                    <a:pt x="21132800" y="152400"/>
                  </a:cubicBezTo>
                  <a:lnTo>
                    <a:pt x="21132800" y="6355080"/>
                  </a:lnTo>
                  <a:cubicBezTo>
                    <a:pt x="21132800" y="6439281"/>
                    <a:pt x="21064601" y="6507480"/>
                    <a:pt x="20980400" y="6507480"/>
                  </a:cubicBezTo>
                  <a:lnTo>
                    <a:pt x="152400" y="6507480"/>
                  </a:lnTo>
                  <a:cubicBezTo>
                    <a:pt x="68199" y="6507480"/>
                    <a:pt x="0" y="6439281"/>
                    <a:pt x="0" y="6355080"/>
                  </a:cubicBezTo>
                  <a:cubicBezTo>
                    <a:pt x="0" y="6432296"/>
                    <a:pt x="62484" y="6494780"/>
                    <a:pt x="139700" y="6494780"/>
                  </a:cubicBezTo>
                  <a:lnTo>
                    <a:pt x="20980400" y="6494780"/>
                  </a:lnTo>
                  <a:cubicBezTo>
                    <a:pt x="21057615" y="6494780"/>
                    <a:pt x="21120100" y="6432296"/>
                    <a:pt x="21120100" y="635508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400"/>
            <a:ext cx="15849600" cy="4880610"/>
            <a:chOff x="0" y="0"/>
            <a:chExt cx="21132800" cy="6507480"/>
          </a:xfrm>
        </p:grpSpPr>
        <p:sp>
          <p:nvSpPr>
            <p:cNvPr name="Freeform 9" id="9"/>
            <p:cNvSpPr/>
            <p:nvPr/>
          </p:nvSpPr>
          <p:spPr>
            <a:xfrm flipH="false" flipV="false" rot="0">
              <a:off x="0" y="0"/>
              <a:ext cx="21132800" cy="6507480"/>
            </a:xfrm>
            <a:custGeom>
              <a:avLst/>
              <a:gdLst/>
              <a:ahLst/>
              <a:cxnLst/>
              <a:rect r="r" b="b" t="t" l="l"/>
              <a:pathLst>
                <a:path h="6507480" w="21132800">
                  <a:moveTo>
                    <a:pt x="152400" y="6507480"/>
                  </a:moveTo>
                  <a:cubicBezTo>
                    <a:pt x="68199" y="6507480"/>
                    <a:pt x="0" y="6439281"/>
                    <a:pt x="0" y="635508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6355080"/>
                  </a:lnTo>
                  <a:cubicBezTo>
                    <a:pt x="20320" y="6439281"/>
                    <a:pt x="88519" y="6507480"/>
                    <a:pt x="172720" y="650748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36"/>
          <a:ext cx="15563850" cy="4610100"/>
        </p:xfrm>
        <a:graphic>
          <a:graphicData uri="http://schemas.openxmlformats.org/drawingml/2006/table">
            <a:tbl>
              <a:tblPr/>
              <a:tblGrid>
                <a:gridCol w="3112770"/>
                <a:gridCol w="3441050"/>
                <a:gridCol w="9010030"/>
              </a:tblGrid>
              <a:tr h="519976">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Role</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Channel</a:t>
                      </a:r>
                      <a:endParaRPr lang="en-US" sz="1100"/>
                    </a:p>
                  </a:txBody>
                  <a:tcPr marL="57785" marR="57785" marT="57785" marB="57785"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Main responsibilities</a:t>
                      </a:r>
                      <a:endParaRPr lang="en-US" sz="1100"/>
                    </a:p>
                  </a:txBody>
                  <a:tcPr marL="57785" marR="57785" marT="57785" marB="57785"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863054">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Administrator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Web portal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Users and roles, master data (SKU, warehouse, MLOR), promotions, dashboards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Operator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Web portal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Approve, reject or cancel orders; delivery status; QR payments; discrepancies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Sales Manager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Web portal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Regions and sales groups; assign and rotate Sales; group performance</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Warehouse Keeper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Warehouse app + portal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Goods receipt and labels; picking; scan and split labels; goods issue; write-off</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Sales Representative</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Sales app (offline)</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Order for assigned retailers; declare retailers; sync; revenue and leaderboard</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Retailer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Retailer app</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Track orders; scan labels to confirm receipt; payment history; no self-ordering</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37845">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System</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Background services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FEFO-MLOR allocation, promotions, sync queue, expiry job, notifications, audit</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2" id="12"/>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CORE ALGORITHM</a:t>
            </a:r>
          </a:p>
        </p:txBody>
      </p:sp>
      <p:sp>
        <p:nvSpPr>
          <p:cNvPr name="TextBox 3" id="3"/>
          <p:cNvSpPr txBox="true"/>
          <p:nvPr/>
        </p:nvSpPr>
        <p:spPr>
          <a:xfrm rot="0">
            <a:off x="1219200" y="140590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FEFO-MLOR multi-warehouse allocation</a:t>
            </a:r>
          </a:p>
        </p:txBody>
      </p:sp>
      <p:grpSp>
        <p:nvGrpSpPr>
          <p:cNvPr name="Group 4" id="4"/>
          <p:cNvGrpSpPr/>
          <p:nvPr/>
        </p:nvGrpSpPr>
        <p:grpSpPr>
          <a:xfrm rot="0">
            <a:off x="1219200" y="2358390"/>
            <a:ext cx="2651760" cy="2594610"/>
            <a:chOff x="0" y="0"/>
            <a:chExt cx="3535680" cy="3459480"/>
          </a:xfrm>
        </p:grpSpPr>
        <p:sp>
          <p:nvSpPr>
            <p:cNvPr name="Freeform 5" id="5"/>
            <p:cNvSpPr/>
            <p:nvPr/>
          </p:nvSpPr>
          <p:spPr>
            <a:xfrm flipH="false" flipV="false" rot="0">
              <a:off x="0" y="0"/>
              <a:ext cx="3535680" cy="3459480"/>
            </a:xfrm>
            <a:custGeom>
              <a:avLst/>
              <a:gdLst/>
              <a:ahLst/>
              <a:cxnLst/>
              <a:rect r="r" b="b" t="t" l="l"/>
              <a:pathLst>
                <a:path h="3459480" w="3535680">
                  <a:moveTo>
                    <a:pt x="0" y="203200"/>
                  </a:moveTo>
                  <a:cubicBezTo>
                    <a:pt x="0" y="90932"/>
                    <a:pt x="90932" y="0"/>
                    <a:pt x="203200" y="0"/>
                  </a:cubicBezTo>
                  <a:lnTo>
                    <a:pt x="3332480" y="0"/>
                  </a:lnTo>
                  <a:cubicBezTo>
                    <a:pt x="3444748" y="0"/>
                    <a:pt x="3535680" y="90932"/>
                    <a:pt x="3535680" y="203200"/>
                  </a:cubicBezTo>
                  <a:lnTo>
                    <a:pt x="3535680" y="3256280"/>
                  </a:lnTo>
                  <a:cubicBezTo>
                    <a:pt x="3535680" y="3368548"/>
                    <a:pt x="3444748" y="3459480"/>
                    <a:pt x="3332480" y="3459480"/>
                  </a:cubicBezTo>
                  <a:lnTo>
                    <a:pt x="203200" y="3459480"/>
                  </a:lnTo>
                  <a:cubicBezTo>
                    <a:pt x="90932" y="3459480"/>
                    <a:pt x="0" y="3368548"/>
                    <a:pt x="0" y="3256280"/>
                  </a:cubicBezTo>
                  <a:close/>
                </a:path>
              </a:pathLst>
            </a:custGeom>
            <a:solidFill>
              <a:srgbClr val="14655B"/>
            </a:solidFill>
          </p:spPr>
        </p:sp>
      </p:grpSp>
      <p:sp>
        <p:nvSpPr>
          <p:cNvPr name="TextBox 6" id="6"/>
          <p:cNvSpPr txBox="true"/>
          <p:nvPr/>
        </p:nvSpPr>
        <p:spPr>
          <a:xfrm rot="0">
            <a:off x="1447800" y="2539365"/>
            <a:ext cx="2270760" cy="459105"/>
          </a:xfrm>
          <a:prstGeom prst="rect">
            <a:avLst/>
          </a:prstGeom>
        </p:spPr>
        <p:txBody>
          <a:bodyPr anchor="t" rtlCol="false" tIns="0" lIns="0" bIns="0" rIns="0">
            <a:spAutoFit/>
          </a:bodyPr>
          <a:lstStyle/>
          <a:p>
            <a:pPr algn="l">
              <a:lnSpc>
                <a:spcPts val="2940"/>
              </a:lnSpc>
            </a:pPr>
            <a:r>
              <a:rPr lang="en-US" sz="2100" b="true">
                <a:solidFill>
                  <a:srgbClr val="7FD1B9"/>
                </a:solidFill>
                <a:latin typeface="IBM Plex Mono Bold"/>
                <a:ea typeface="IBM Plex Mono Bold"/>
                <a:cs typeface="IBM Plex Mono Bold"/>
                <a:sym typeface="IBM Plex Mono Bold"/>
              </a:rPr>
              <a:t>B1</a:t>
            </a:r>
          </a:p>
        </p:txBody>
      </p:sp>
      <p:sp>
        <p:nvSpPr>
          <p:cNvPr name="TextBox 7" id="7"/>
          <p:cNvSpPr txBox="true"/>
          <p:nvPr/>
        </p:nvSpPr>
        <p:spPr>
          <a:xfrm rot="0">
            <a:off x="1447800" y="3017530"/>
            <a:ext cx="2270760"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Candidates</a:t>
            </a:r>
          </a:p>
        </p:txBody>
      </p:sp>
      <p:sp>
        <p:nvSpPr>
          <p:cNvPr name="TextBox 8" id="8"/>
          <p:cNvSpPr txBox="true"/>
          <p:nvPr/>
        </p:nvSpPr>
        <p:spPr>
          <a:xfrm rot="0">
            <a:off x="1447800" y="3427105"/>
            <a:ext cx="2270760" cy="992505"/>
          </a:xfrm>
          <a:prstGeom prst="rect">
            <a:avLst/>
          </a:prstGeom>
        </p:spPr>
        <p:txBody>
          <a:bodyPr anchor="t" rtlCol="false" tIns="0" lIns="0" bIns="0" rIns="0">
            <a:spAutoFit/>
          </a:bodyPr>
          <a:lstStyle/>
          <a:p>
            <a:pPr algn="l">
              <a:lnSpc>
                <a:spcPts val="2430"/>
              </a:lnSpc>
            </a:pPr>
            <a:r>
              <a:rPr lang="en-US" sz="1800">
                <a:solidFill>
                  <a:srgbClr val="DCEBE5"/>
                </a:solidFill>
                <a:latin typeface="IBM Plex Sans"/>
                <a:ea typeface="IBM Plex Sans"/>
                <a:cs typeface="IBM Plex Sans"/>
                <a:sym typeface="IBM Plex Sans"/>
              </a:rPr>
              <a:t>Batches of the SKU, allowed to ship, available after holds</a:t>
            </a:r>
          </a:p>
        </p:txBody>
      </p:sp>
      <p:grpSp>
        <p:nvGrpSpPr>
          <p:cNvPr name="Group 9" id="9"/>
          <p:cNvGrpSpPr/>
          <p:nvPr/>
        </p:nvGrpSpPr>
        <p:grpSpPr>
          <a:xfrm rot="0">
            <a:off x="4023360" y="3522355"/>
            <a:ext cx="342900" cy="266700"/>
            <a:chOff x="0" y="0"/>
            <a:chExt cx="457200" cy="355600"/>
          </a:xfrm>
        </p:grpSpPr>
        <p:sp>
          <p:nvSpPr>
            <p:cNvPr name="Freeform 10" id="10" descr="arrow-right"/>
            <p:cNvSpPr/>
            <p:nvPr/>
          </p:nvSpPr>
          <p:spPr>
            <a:xfrm flipH="false" flipV="false" rot="0">
              <a:off x="0" y="0"/>
              <a:ext cx="457200" cy="355600"/>
            </a:xfrm>
            <a:custGeom>
              <a:avLst/>
              <a:gdLst/>
              <a:ahLst/>
              <a:cxnLst/>
              <a:rect r="r" b="b" t="t" l="l"/>
              <a:pathLst>
                <a:path h="355600" w="457200">
                  <a:moveTo>
                    <a:pt x="0" y="0"/>
                  </a:moveTo>
                  <a:lnTo>
                    <a:pt x="457200" y="0"/>
                  </a:lnTo>
                  <a:lnTo>
                    <a:pt x="457200" y="355600"/>
                  </a:lnTo>
                  <a:lnTo>
                    <a:pt x="0" y="355600"/>
                  </a:lnTo>
                  <a:lnTo>
                    <a:pt x="0" y="0"/>
                  </a:lnTo>
                  <a:close/>
                </a:path>
              </a:pathLst>
            </a:custGeom>
            <a:blipFill>
              <a:blip r:embed="rId3"/>
              <a:stretch>
                <a:fillRect l="0" t="0" r="0" b="0"/>
              </a:stretch>
            </a:blipFill>
          </p:spPr>
        </p:sp>
      </p:grpSp>
      <p:grpSp>
        <p:nvGrpSpPr>
          <p:cNvPr name="Group 11" id="11"/>
          <p:cNvGrpSpPr/>
          <p:nvPr/>
        </p:nvGrpSpPr>
        <p:grpSpPr>
          <a:xfrm rot="0">
            <a:off x="4518660" y="2358390"/>
            <a:ext cx="2651760" cy="2594610"/>
            <a:chOff x="0" y="0"/>
            <a:chExt cx="3535680" cy="3459480"/>
          </a:xfrm>
        </p:grpSpPr>
        <p:sp>
          <p:nvSpPr>
            <p:cNvPr name="Freeform 12" id="12"/>
            <p:cNvSpPr/>
            <p:nvPr/>
          </p:nvSpPr>
          <p:spPr>
            <a:xfrm flipH="false" flipV="false" rot="0">
              <a:off x="0" y="0"/>
              <a:ext cx="3535680" cy="3459480"/>
            </a:xfrm>
            <a:custGeom>
              <a:avLst/>
              <a:gdLst/>
              <a:ahLst/>
              <a:cxnLst/>
              <a:rect r="r" b="b" t="t" l="l"/>
              <a:pathLst>
                <a:path h="3459480" w="3535680">
                  <a:moveTo>
                    <a:pt x="0" y="203200"/>
                  </a:moveTo>
                  <a:cubicBezTo>
                    <a:pt x="0" y="90932"/>
                    <a:pt x="90932" y="0"/>
                    <a:pt x="203200" y="0"/>
                  </a:cubicBezTo>
                  <a:lnTo>
                    <a:pt x="3332480" y="0"/>
                  </a:lnTo>
                  <a:cubicBezTo>
                    <a:pt x="3444748" y="0"/>
                    <a:pt x="3535680" y="90932"/>
                    <a:pt x="3535680" y="203200"/>
                  </a:cubicBezTo>
                  <a:lnTo>
                    <a:pt x="3535680" y="3256280"/>
                  </a:lnTo>
                  <a:cubicBezTo>
                    <a:pt x="3535680" y="3368548"/>
                    <a:pt x="3444748" y="3459480"/>
                    <a:pt x="3332480" y="3459480"/>
                  </a:cubicBezTo>
                  <a:lnTo>
                    <a:pt x="203200" y="3459480"/>
                  </a:lnTo>
                  <a:cubicBezTo>
                    <a:pt x="90932" y="3459480"/>
                    <a:pt x="0" y="3368548"/>
                    <a:pt x="0" y="3256280"/>
                  </a:cubicBezTo>
                  <a:close/>
                </a:path>
              </a:pathLst>
            </a:custGeom>
            <a:solidFill>
              <a:srgbClr val="14655B"/>
            </a:solidFill>
          </p:spPr>
        </p:sp>
      </p:grpSp>
      <p:sp>
        <p:nvSpPr>
          <p:cNvPr name="TextBox 13" id="13"/>
          <p:cNvSpPr txBox="true"/>
          <p:nvPr/>
        </p:nvSpPr>
        <p:spPr>
          <a:xfrm rot="0">
            <a:off x="4747260" y="2539365"/>
            <a:ext cx="2270760" cy="459105"/>
          </a:xfrm>
          <a:prstGeom prst="rect">
            <a:avLst/>
          </a:prstGeom>
        </p:spPr>
        <p:txBody>
          <a:bodyPr anchor="t" rtlCol="false" tIns="0" lIns="0" bIns="0" rIns="0">
            <a:spAutoFit/>
          </a:bodyPr>
          <a:lstStyle/>
          <a:p>
            <a:pPr algn="l">
              <a:lnSpc>
                <a:spcPts val="2940"/>
              </a:lnSpc>
            </a:pPr>
            <a:r>
              <a:rPr lang="en-US" sz="2100" b="true">
                <a:solidFill>
                  <a:srgbClr val="7FD1B9"/>
                </a:solidFill>
                <a:latin typeface="IBM Plex Mono Bold"/>
                <a:ea typeface="IBM Plex Mono Bold"/>
                <a:cs typeface="IBM Plex Mono Bold"/>
                <a:sym typeface="IBM Plex Mono Bold"/>
              </a:rPr>
              <a:t>B2</a:t>
            </a:r>
          </a:p>
        </p:txBody>
      </p:sp>
      <p:sp>
        <p:nvSpPr>
          <p:cNvPr name="TextBox 14" id="14"/>
          <p:cNvSpPr txBox="true"/>
          <p:nvPr/>
        </p:nvSpPr>
        <p:spPr>
          <a:xfrm rot="0">
            <a:off x="4747260" y="3017530"/>
            <a:ext cx="2270760"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Eligibility</a:t>
            </a:r>
          </a:p>
        </p:txBody>
      </p:sp>
      <p:sp>
        <p:nvSpPr>
          <p:cNvPr name="TextBox 15" id="15"/>
          <p:cNvSpPr txBox="true"/>
          <p:nvPr/>
        </p:nvSpPr>
        <p:spPr>
          <a:xfrm rot="0">
            <a:off x="4747260" y="3427105"/>
            <a:ext cx="2270760" cy="992505"/>
          </a:xfrm>
          <a:prstGeom prst="rect">
            <a:avLst/>
          </a:prstGeom>
        </p:spPr>
        <p:txBody>
          <a:bodyPr anchor="t" rtlCol="false" tIns="0" lIns="0" bIns="0" rIns="0">
            <a:spAutoFit/>
          </a:bodyPr>
          <a:lstStyle/>
          <a:p>
            <a:pPr algn="l">
              <a:lnSpc>
                <a:spcPts val="2430"/>
              </a:lnSpc>
            </a:pPr>
            <a:r>
              <a:rPr lang="en-US" sz="1800">
                <a:solidFill>
                  <a:srgbClr val="DCEBE5"/>
                </a:solidFill>
                <a:latin typeface="IBM Plex Sans"/>
                <a:ea typeface="IBM Plex Sans"/>
                <a:cs typeface="IBM Plex Sans"/>
                <a:sym typeface="IBM Plex Sans"/>
              </a:rPr>
              <a:t>Service distance, ETA, promised date and MLOR</a:t>
            </a:r>
          </a:p>
        </p:txBody>
      </p:sp>
      <p:grpSp>
        <p:nvGrpSpPr>
          <p:cNvPr name="Group 16" id="16"/>
          <p:cNvGrpSpPr/>
          <p:nvPr/>
        </p:nvGrpSpPr>
        <p:grpSpPr>
          <a:xfrm rot="0">
            <a:off x="7322820" y="3522355"/>
            <a:ext cx="342900" cy="266700"/>
            <a:chOff x="0" y="0"/>
            <a:chExt cx="457200" cy="355600"/>
          </a:xfrm>
        </p:grpSpPr>
        <p:sp>
          <p:nvSpPr>
            <p:cNvPr name="Freeform 17" id="17" descr="arrow-right"/>
            <p:cNvSpPr/>
            <p:nvPr/>
          </p:nvSpPr>
          <p:spPr>
            <a:xfrm flipH="false" flipV="false" rot="0">
              <a:off x="0" y="0"/>
              <a:ext cx="457200" cy="355600"/>
            </a:xfrm>
            <a:custGeom>
              <a:avLst/>
              <a:gdLst/>
              <a:ahLst/>
              <a:cxnLst/>
              <a:rect r="r" b="b" t="t" l="l"/>
              <a:pathLst>
                <a:path h="355600" w="457200">
                  <a:moveTo>
                    <a:pt x="0" y="0"/>
                  </a:moveTo>
                  <a:lnTo>
                    <a:pt x="457200" y="0"/>
                  </a:lnTo>
                  <a:lnTo>
                    <a:pt x="457200" y="355600"/>
                  </a:lnTo>
                  <a:lnTo>
                    <a:pt x="0" y="355600"/>
                  </a:lnTo>
                  <a:lnTo>
                    <a:pt x="0" y="0"/>
                  </a:lnTo>
                  <a:close/>
                </a:path>
              </a:pathLst>
            </a:custGeom>
            <a:blipFill>
              <a:blip r:embed="rId3"/>
              <a:stretch>
                <a:fillRect l="0" t="0" r="0" b="0"/>
              </a:stretch>
            </a:blipFill>
          </p:spPr>
        </p:sp>
      </p:grpSp>
      <p:grpSp>
        <p:nvGrpSpPr>
          <p:cNvPr name="Group 18" id="18"/>
          <p:cNvGrpSpPr/>
          <p:nvPr/>
        </p:nvGrpSpPr>
        <p:grpSpPr>
          <a:xfrm rot="0">
            <a:off x="7818120" y="2358390"/>
            <a:ext cx="2651760" cy="2594610"/>
            <a:chOff x="0" y="0"/>
            <a:chExt cx="3535680" cy="3459480"/>
          </a:xfrm>
        </p:grpSpPr>
        <p:sp>
          <p:nvSpPr>
            <p:cNvPr name="Freeform 19" id="19"/>
            <p:cNvSpPr/>
            <p:nvPr/>
          </p:nvSpPr>
          <p:spPr>
            <a:xfrm flipH="false" flipV="false" rot="0">
              <a:off x="0" y="0"/>
              <a:ext cx="3535680" cy="3459480"/>
            </a:xfrm>
            <a:custGeom>
              <a:avLst/>
              <a:gdLst/>
              <a:ahLst/>
              <a:cxnLst/>
              <a:rect r="r" b="b" t="t" l="l"/>
              <a:pathLst>
                <a:path h="3459480" w="3535680">
                  <a:moveTo>
                    <a:pt x="0" y="203200"/>
                  </a:moveTo>
                  <a:cubicBezTo>
                    <a:pt x="0" y="90932"/>
                    <a:pt x="90932" y="0"/>
                    <a:pt x="203200" y="0"/>
                  </a:cubicBezTo>
                  <a:lnTo>
                    <a:pt x="3332480" y="0"/>
                  </a:lnTo>
                  <a:cubicBezTo>
                    <a:pt x="3444748" y="0"/>
                    <a:pt x="3535680" y="90932"/>
                    <a:pt x="3535680" y="203200"/>
                  </a:cubicBezTo>
                  <a:lnTo>
                    <a:pt x="3535680" y="3256280"/>
                  </a:lnTo>
                  <a:cubicBezTo>
                    <a:pt x="3535680" y="3368548"/>
                    <a:pt x="3444748" y="3459480"/>
                    <a:pt x="3332480" y="3459480"/>
                  </a:cubicBezTo>
                  <a:lnTo>
                    <a:pt x="203200" y="3459480"/>
                  </a:lnTo>
                  <a:cubicBezTo>
                    <a:pt x="90932" y="3459480"/>
                    <a:pt x="0" y="3368548"/>
                    <a:pt x="0" y="3256280"/>
                  </a:cubicBezTo>
                  <a:close/>
                </a:path>
              </a:pathLst>
            </a:custGeom>
            <a:solidFill>
              <a:srgbClr val="14655B"/>
            </a:solidFill>
          </p:spPr>
        </p:sp>
      </p:grpSp>
      <p:sp>
        <p:nvSpPr>
          <p:cNvPr name="TextBox 20" id="20"/>
          <p:cNvSpPr txBox="true"/>
          <p:nvPr/>
        </p:nvSpPr>
        <p:spPr>
          <a:xfrm rot="0">
            <a:off x="8046720" y="2539365"/>
            <a:ext cx="2270760" cy="459105"/>
          </a:xfrm>
          <a:prstGeom prst="rect">
            <a:avLst/>
          </a:prstGeom>
        </p:spPr>
        <p:txBody>
          <a:bodyPr anchor="t" rtlCol="false" tIns="0" lIns="0" bIns="0" rIns="0">
            <a:spAutoFit/>
          </a:bodyPr>
          <a:lstStyle/>
          <a:p>
            <a:pPr algn="l">
              <a:lnSpc>
                <a:spcPts val="2940"/>
              </a:lnSpc>
            </a:pPr>
            <a:r>
              <a:rPr lang="en-US" sz="2100" b="true">
                <a:solidFill>
                  <a:srgbClr val="7FD1B9"/>
                </a:solidFill>
                <a:latin typeface="IBM Plex Mono Bold"/>
                <a:ea typeface="IBM Plex Mono Bold"/>
                <a:cs typeface="IBM Plex Mono Bold"/>
                <a:sym typeface="IBM Plex Mono Bold"/>
              </a:rPr>
              <a:t>B3</a:t>
            </a:r>
          </a:p>
        </p:txBody>
      </p:sp>
      <p:sp>
        <p:nvSpPr>
          <p:cNvPr name="TextBox 21" id="21"/>
          <p:cNvSpPr txBox="true"/>
          <p:nvPr/>
        </p:nvSpPr>
        <p:spPr>
          <a:xfrm rot="0">
            <a:off x="8046720" y="3017530"/>
            <a:ext cx="2270760"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FEFO ranking</a:t>
            </a:r>
          </a:p>
        </p:txBody>
      </p:sp>
      <p:sp>
        <p:nvSpPr>
          <p:cNvPr name="TextBox 22" id="22"/>
          <p:cNvSpPr txBox="true"/>
          <p:nvPr/>
        </p:nvSpPr>
        <p:spPr>
          <a:xfrm rot="0">
            <a:off x="8046720" y="3427105"/>
            <a:ext cx="2270760" cy="992505"/>
          </a:xfrm>
          <a:prstGeom prst="rect">
            <a:avLst/>
          </a:prstGeom>
        </p:spPr>
        <p:txBody>
          <a:bodyPr anchor="t" rtlCol="false" tIns="0" lIns="0" bIns="0" rIns="0">
            <a:spAutoFit/>
          </a:bodyPr>
          <a:lstStyle/>
          <a:p>
            <a:pPr algn="l">
              <a:lnSpc>
                <a:spcPts val="2430"/>
              </a:lnSpc>
            </a:pPr>
            <a:r>
              <a:rPr lang="en-US" sz="1800">
                <a:solidFill>
                  <a:srgbClr val="DCEBE5"/>
                </a:solidFill>
                <a:latin typeface="IBM Plex Sans"/>
                <a:ea typeface="IBM Plex Sans"/>
                <a:cs typeface="IBM Plex Sans"/>
                <a:sym typeface="IBM Plex Sans"/>
              </a:rPr>
              <a:t>Earliest expiry → shorter distance → larger quantity</a:t>
            </a:r>
          </a:p>
        </p:txBody>
      </p:sp>
      <p:grpSp>
        <p:nvGrpSpPr>
          <p:cNvPr name="Group 23" id="23"/>
          <p:cNvGrpSpPr/>
          <p:nvPr/>
        </p:nvGrpSpPr>
        <p:grpSpPr>
          <a:xfrm rot="0">
            <a:off x="10622280" y="3522355"/>
            <a:ext cx="342900" cy="266700"/>
            <a:chOff x="0" y="0"/>
            <a:chExt cx="457200" cy="355600"/>
          </a:xfrm>
        </p:grpSpPr>
        <p:sp>
          <p:nvSpPr>
            <p:cNvPr name="Freeform 24" id="24" descr="arrow-right"/>
            <p:cNvSpPr/>
            <p:nvPr/>
          </p:nvSpPr>
          <p:spPr>
            <a:xfrm flipH="false" flipV="false" rot="0">
              <a:off x="0" y="0"/>
              <a:ext cx="457200" cy="355600"/>
            </a:xfrm>
            <a:custGeom>
              <a:avLst/>
              <a:gdLst/>
              <a:ahLst/>
              <a:cxnLst/>
              <a:rect r="r" b="b" t="t" l="l"/>
              <a:pathLst>
                <a:path h="355600" w="457200">
                  <a:moveTo>
                    <a:pt x="0" y="0"/>
                  </a:moveTo>
                  <a:lnTo>
                    <a:pt x="457200" y="0"/>
                  </a:lnTo>
                  <a:lnTo>
                    <a:pt x="457200" y="355600"/>
                  </a:lnTo>
                  <a:lnTo>
                    <a:pt x="0" y="355600"/>
                  </a:lnTo>
                  <a:lnTo>
                    <a:pt x="0" y="0"/>
                  </a:lnTo>
                  <a:close/>
                </a:path>
              </a:pathLst>
            </a:custGeom>
            <a:blipFill>
              <a:blip r:embed="rId3"/>
              <a:stretch>
                <a:fillRect l="0" t="0" r="0" b="0"/>
              </a:stretch>
            </a:blipFill>
          </p:spPr>
        </p:sp>
      </p:grpSp>
      <p:grpSp>
        <p:nvGrpSpPr>
          <p:cNvPr name="Group 25" id="25"/>
          <p:cNvGrpSpPr/>
          <p:nvPr/>
        </p:nvGrpSpPr>
        <p:grpSpPr>
          <a:xfrm rot="0">
            <a:off x="11117580" y="2358390"/>
            <a:ext cx="2651760" cy="2594610"/>
            <a:chOff x="0" y="0"/>
            <a:chExt cx="3535680" cy="3459480"/>
          </a:xfrm>
        </p:grpSpPr>
        <p:sp>
          <p:nvSpPr>
            <p:cNvPr name="Freeform 26" id="26"/>
            <p:cNvSpPr/>
            <p:nvPr/>
          </p:nvSpPr>
          <p:spPr>
            <a:xfrm flipH="false" flipV="false" rot="0">
              <a:off x="0" y="0"/>
              <a:ext cx="3535680" cy="3459480"/>
            </a:xfrm>
            <a:custGeom>
              <a:avLst/>
              <a:gdLst/>
              <a:ahLst/>
              <a:cxnLst/>
              <a:rect r="r" b="b" t="t" l="l"/>
              <a:pathLst>
                <a:path h="3459480" w="3535680">
                  <a:moveTo>
                    <a:pt x="0" y="203200"/>
                  </a:moveTo>
                  <a:cubicBezTo>
                    <a:pt x="0" y="90932"/>
                    <a:pt x="90932" y="0"/>
                    <a:pt x="203200" y="0"/>
                  </a:cubicBezTo>
                  <a:lnTo>
                    <a:pt x="3332480" y="0"/>
                  </a:lnTo>
                  <a:cubicBezTo>
                    <a:pt x="3444748" y="0"/>
                    <a:pt x="3535680" y="90932"/>
                    <a:pt x="3535680" y="203200"/>
                  </a:cubicBezTo>
                  <a:lnTo>
                    <a:pt x="3535680" y="3256280"/>
                  </a:lnTo>
                  <a:cubicBezTo>
                    <a:pt x="3535680" y="3368548"/>
                    <a:pt x="3444748" y="3459480"/>
                    <a:pt x="3332480" y="3459480"/>
                  </a:cubicBezTo>
                  <a:lnTo>
                    <a:pt x="203200" y="3459480"/>
                  </a:lnTo>
                  <a:cubicBezTo>
                    <a:pt x="90932" y="3459480"/>
                    <a:pt x="0" y="3368548"/>
                    <a:pt x="0" y="3256280"/>
                  </a:cubicBezTo>
                  <a:close/>
                </a:path>
              </a:pathLst>
            </a:custGeom>
            <a:solidFill>
              <a:srgbClr val="14655B"/>
            </a:solidFill>
          </p:spPr>
        </p:sp>
      </p:grpSp>
      <p:sp>
        <p:nvSpPr>
          <p:cNvPr name="TextBox 27" id="27"/>
          <p:cNvSpPr txBox="true"/>
          <p:nvPr/>
        </p:nvSpPr>
        <p:spPr>
          <a:xfrm rot="0">
            <a:off x="11346180" y="2539365"/>
            <a:ext cx="2270760" cy="459105"/>
          </a:xfrm>
          <a:prstGeom prst="rect">
            <a:avLst/>
          </a:prstGeom>
        </p:spPr>
        <p:txBody>
          <a:bodyPr anchor="t" rtlCol="false" tIns="0" lIns="0" bIns="0" rIns="0">
            <a:spAutoFit/>
          </a:bodyPr>
          <a:lstStyle/>
          <a:p>
            <a:pPr algn="l">
              <a:lnSpc>
                <a:spcPts val="2940"/>
              </a:lnSpc>
            </a:pPr>
            <a:r>
              <a:rPr lang="en-US" sz="2100" b="true">
                <a:solidFill>
                  <a:srgbClr val="7FD1B9"/>
                </a:solidFill>
                <a:latin typeface="IBM Plex Mono Bold"/>
                <a:ea typeface="IBM Plex Mono Bold"/>
                <a:cs typeface="IBM Plex Mono Bold"/>
                <a:sym typeface="IBM Plex Mono Bold"/>
              </a:rPr>
              <a:t>B4</a:t>
            </a:r>
          </a:p>
        </p:txBody>
      </p:sp>
      <p:sp>
        <p:nvSpPr>
          <p:cNvPr name="TextBox 28" id="28"/>
          <p:cNvSpPr txBox="true"/>
          <p:nvPr/>
        </p:nvSpPr>
        <p:spPr>
          <a:xfrm rot="0">
            <a:off x="11346180" y="3017530"/>
            <a:ext cx="2270760" cy="7429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Greedy allocation</a:t>
            </a:r>
          </a:p>
        </p:txBody>
      </p:sp>
      <p:sp>
        <p:nvSpPr>
          <p:cNvPr name="TextBox 29" id="29"/>
          <p:cNvSpPr txBox="true"/>
          <p:nvPr/>
        </p:nvSpPr>
        <p:spPr>
          <a:xfrm rot="0">
            <a:off x="11346180" y="3770005"/>
            <a:ext cx="2270760" cy="992505"/>
          </a:xfrm>
          <a:prstGeom prst="rect">
            <a:avLst/>
          </a:prstGeom>
        </p:spPr>
        <p:txBody>
          <a:bodyPr anchor="t" rtlCol="false" tIns="0" lIns="0" bIns="0" rIns="0">
            <a:spAutoFit/>
          </a:bodyPr>
          <a:lstStyle/>
          <a:p>
            <a:pPr algn="l">
              <a:lnSpc>
                <a:spcPts val="2430"/>
              </a:lnSpc>
            </a:pPr>
            <a:r>
              <a:rPr lang="en-US" sz="1800">
                <a:solidFill>
                  <a:srgbClr val="DCEBE5"/>
                </a:solidFill>
                <a:latin typeface="IBM Plex Sans"/>
                <a:ea typeface="IBM Plex Sans"/>
                <a:cs typeface="IBM Plex Sans"/>
                <a:sym typeface="IBM Plex Sans"/>
              </a:rPr>
              <a:t>Take in rank order, across warehouses, until filled</a:t>
            </a:r>
          </a:p>
        </p:txBody>
      </p:sp>
      <p:grpSp>
        <p:nvGrpSpPr>
          <p:cNvPr name="Group 30" id="30"/>
          <p:cNvGrpSpPr/>
          <p:nvPr/>
        </p:nvGrpSpPr>
        <p:grpSpPr>
          <a:xfrm rot="0">
            <a:off x="13921740" y="3522355"/>
            <a:ext cx="342900" cy="266700"/>
            <a:chOff x="0" y="0"/>
            <a:chExt cx="457200" cy="355600"/>
          </a:xfrm>
        </p:grpSpPr>
        <p:sp>
          <p:nvSpPr>
            <p:cNvPr name="Freeform 31" id="31" descr="arrow-right"/>
            <p:cNvSpPr/>
            <p:nvPr/>
          </p:nvSpPr>
          <p:spPr>
            <a:xfrm flipH="false" flipV="false" rot="0">
              <a:off x="0" y="0"/>
              <a:ext cx="457200" cy="355600"/>
            </a:xfrm>
            <a:custGeom>
              <a:avLst/>
              <a:gdLst/>
              <a:ahLst/>
              <a:cxnLst/>
              <a:rect r="r" b="b" t="t" l="l"/>
              <a:pathLst>
                <a:path h="355600" w="457200">
                  <a:moveTo>
                    <a:pt x="0" y="0"/>
                  </a:moveTo>
                  <a:lnTo>
                    <a:pt x="457200" y="0"/>
                  </a:lnTo>
                  <a:lnTo>
                    <a:pt x="457200" y="355600"/>
                  </a:lnTo>
                  <a:lnTo>
                    <a:pt x="0" y="355600"/>
                  </a:lnTo>
                  <a:lnTo>
                    <a:pt x="0" y="0"/>
                  </a:lnTo>
                  <a:close/>
                </a:path>
              </a:pathLst>
            </a:custGeom>
            <a:blipFill>
              <a:blip r:embed="rId3"/>
              <a:stretch>
                <a:fillRect l="0" t="0" r="0" b="0"/>
              </a:stretch>
            </a:blipFill>
          </p:spPr>
        </p:sp>
      </p:grpSp>
      <p:grpSp>
        <p:nvGrpSpPr>
          <p:cNvPr name="Group 32" id="32"/>
          <p:cNvGrpSpPr/>
          <p:nvPr/>
        </p:nvGrpSpPr>
        <p:grpSpPr>
          <a:xfrm rot="0">
            <a:off x="14417040" y="2358390"/>
            <a:ext cx="2651760" cy="2594610"/>
            <a:chOff x="0" y="0"/>
            <a:chExt cx="3535680" cy="3459480"/>
          </a:xfrm>
        </p:grpSpPr>
        <p:sp>
          <p:nvSpPr>
            <p:cNvPr name="Freeform 33" id="33"/>
            <p:cNvSpPr/>
            <p:nvPr/>
          </p:nvSpPr>
          <p:spPr>
            <a:xfrm flipH="false" flipV="false" rot="0">
              <a:off x="0" y="0"/>
              <a:ext cx="3535680" cy="3459480"/>
            </a:xfrm>
            <a:custGeom>
              <a:avLst/>
              <a:gdLst/>
              <a:ahLst/>
              <a:cxnLst/>
              <a:rect r="r" b="b" t="t" l="l"/>
              <a:pathLst>
                <a:path h="3459480" w="3535680">
                  <a:moveTo>
                    <a:pt x="0" y="203200"/>
                  </a:moveTo>
                  <a:cubicBezTo>
                    <a:pt x="0" y="90932"/>
                    <a:pt x="90932" y="0"/>
                    <a:pt x="203200" y="0"/>
                  </a:cubicBezTo>
                  <a:lnTo>
                    <a:pt x="3332480" y="0"/>
                  </a:lnTo>
                  <a:cubicBezTo>
                    <a:pt x="3444748" y="0"/>
                    <a:pt x="3535680" y="90932"/>
                    <a:pt x="3535680" y="203200"/>
                  </a:cubicBezTo>
                  <a:lnTo>
                    <a:pt x="3535680" y="3256280"/>
                  </a:lnTo>
                  <a:cubicBezTo>
                    <a:pt x="3535680" y="3368548"/>
                    <a:pt x="3444748" y="3459480"/>
                    <a:pt x="3332480" y="3459480"/>
                  </a:cubicBezTo>
                  <a:lnTo>
                    <a:pt x="203200" y="3459480"/>
                  </a:lnTo>
                  <a:cubicBezTo>
                    <a:pt x="90932" y="3459480"/>
                    <a:pt x="0" y="3368548"/>
                    <a:pt x="0" y="3256280"/>
                  </a:cubicBezTo>
                  <a:close/>
                </a:path>
              </a:pathLst>
            </a:custGeom>
            <a:solidFill>
              <a:srgbClr val="14302B"/>
            </a:solidFill>
          </p:spPr>
        </p:sp>
      </p:grpSp>
      <p:sp>
        <p:nvSpPr>
          <p:cNvPr name="TextBox 34" id="34"/>
          <p:cNvSpPr txBox="true"/>
          <p:nvPr/>
        </p:nvSpPr>
        <p:spPr>
          <a:xfrm rot="0">
            <a:off x="14645640" y="2539365"/>
            <a:ext cx="2270760" cy="459105"/>
          </a:xfrm>
          <a:prstGeom prst="rect">
            <a:avLst/>
          </a:prstGeom>
        </p:spPr>
        <p:txBody>
          <a:bodyPr anchor="t" rtlCol="false" tIns="0" lIns="0" bIns="0" rIns="0">
            <a:spAutoFit/>
          </a:bodyPr>
          <a:lstStyle/>
          <a:p>
            <a:pPr algn="l">
              <a:lnSpc>
                <a:spcPts val="2940"/>
              </a:lnSpc>
            </a:pPr>
            <a:r>
              <a:rPr lang="en-US" sz="2100" b="true">
                <a:solidFill>
                  <a:srgbClr val="7FD1B9"/>
                </a:solidFill>
                <a:latin typeface="IBM Plex Mono Bold"/>
                <a:ea typeface="IBM Plex Mono Bold"/>
                <a:cs typeface="IBM Plex Mono Bold"/>
                <a:sym typeface="IBM Plex Mono Bold"/>
              </a:rPr>
              <a:t>B5</a:t>
            </a:r>
          </a:p>
        </p:txBody>
      </p:sp>
      <p:sp>
        <p:nvSpPr>
          <p:cNvPr name="TextBox 35" id="35"/>
          <p:cNvSpPr txBox="true"/>
          <p:nvPr/>
        </p:nvSpPr>
        <p:spPr>
          <a:xfrm rot="0">
            <a:off x="14645640" y="3017530"/>
            <a:ext cx="2270760"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Hold or reject</a:t>
            </a:r>
          </a:p>
        </p:txBody>
      </p:sp>
      <p:sp>
        <p:nvSpPr>
          <p:cNvPr name="TextBox 36" id="36"/>
          <p:cNvSpPr txBox="true"/>
          <p:nvPr/>
        </p:nvSpPr>
        <p:spPr>
          <a:xfrm rot="0">
            <a:off x="14645640" y="3427105"/>
            <a:ext cx="2270760" cy="992505"/>
          </a:xfrm>
          <a:prstGeom prst="rect">
            <a:avLst/>
          </a:prstGeom>
        </p:spPr>
        <p:txBody>
          <a:bodyPr anchor="t" rtlCol="false" tIns="0" lIns="0" bIns="0" rIns="0">
            <a:spAutoFit/>
          </a:bodyPr>
          <a:lstStyle/>
          <a:p>
            <a:pPr algn="l">
              <a:lnSpc>
                <a:spcPts val="2430"/>
              </a:lnSpc>
            </a:pPr>
            <a:r>
              <a:rPr lang="en-US" sz="1800">
                <a:solidFill>
                  <a:srgbClr val="DCEBE5"/>
                </a:solidFill>
                <a:latin typeface="IBM Plex Sans"/>
                <a:ea typeface="IBM Plex Sans"/>
                <a:cs typeface="IBM Plex Sans"/>
                <a:sym typeface="IBM Plex Sans"/>
              </a:rPr>
              <a:t>Full quantity → hold; shortfall → reject (MVP)</a:t>
            </a:r>
          </a:p>
        </p:txBody>
      </p:sp>
      <p:sp>
        <p:nvSpPr>
          <p:cNvPr name="TextBox 37" id="37"/>
          <p:cNvSpPr txBox="true"/>
          <p:nvPr/>
        </p:nvSpPr>
        <p:spPr>
          <a:xfrm rot="0">
            <a:off x="1219200" y="5257800"/>
            <a:ext cx="1885950" cy="716280"/>
          </a:xfrm>
          <a:prstGeom prst="rect">
            <a:avLst/>
          </a:prstGeom>
        </p:spPr>
        <p:txBody>
          <a:bodyPr anchor="t" rtlCol="false" tIns="0" lIns="0" bIns="0" rIns="0">
            <a:spAutoFit/>
          </a:bodyPr>
          <a:lstStyle/>
          <a:p>
            <a:pPr algn="l">
              <a:lnSpc>
                <a:spcPts val="2729"/>
              </a:lnSpc>
            </a:pPr>
            <a:r>
              <a:rPr lang="en-US" sz="1950" b="true">
                <a:solidFill>
                  <a:srgbClr val="B85C1E"/>
                </a:solidFill>
                <a:latin typeface="IBM Plex Sans Bold"/>
                <a:ea typeface="IBM Plex Sans Bold"/>
                <a:cs typeface="IBM Plex Sans Bold"/>
                <a:sym typeface="IBM Plex Sans Bold"/>
              </a:rPr>
              <a:t>Order</a:t>
            </a:r>
          </a:p>
        </p:txBody>
      </p:sp>
      <p:sp>
        <p:nvSpPr>
          <p:cNvPr name="TextBox 38" id="38"/>
          <p:cNvSpPr txBox="true"/>
          <p:nvPr/>
        </p:nvSpPr>
        <p:spPr>
          <a:xfrm rot="0">
            <a:off x="3181350" y="5257800"/>
            <a:ext cx="6141530" cy="716280"/>
          </a:xfrm>
          <a:prstGeom prst="rect">
            <a:avLst/>
          </a:prstGeom>
        </p:spPr>
        <p:txBody>
          <a:bodyPr anchor="t" rtlCol="false" tIns="0" lIns="0" bIns="0" rIns="0">
            <a:spAutoFit/>
          </a:bodyPr>
          <a:lstStyle/>
          <a:p>
            <a:pPr algn="l">
              <a:lnSpc>
                <a:spcPts val="2520"/>
              </a:lnSpc>
            </a:pPr>
            <a:r>
              <a:rPr lang="en-US" sz="1800">
                <a:solidFill>
                  <a:srgbClr val="1B2420"/>
                </a:solidFill>
                <a:latin typeface="IBM Plex Sans"/>
                <a:ea typeface="IBM Plex Sans"/>
                <a:cs typeface="IBM Plex Sans"/>
                <a:sym typeface="IBM Plex Sans"/>
              </a:rPr>
              <a:t>retailer c, SKU s, quantity, arrival time at the server, promised delivery date</a:t>
            </a:r>
          </a:p>
        </p:txBody>
      </p:sp>
      <p:sp>
        <p:nvSpPr>
          <p:cNvPr name="TextBox 39" id="39"/>
          <p:cNvSpPr txBox="true"/>
          <p:nvPr/>
        </p:nvSpPr>
        <p:spPr>
          <a:xfrm rot="0">
            <a:off x="9144000" y="5257800"/>
            <a:ext cx="1885950" cy="716280"/>
          </a:xfrm>
          <a:prstGeom prst="rect">
            <a:avLst/>
          </a:prstGeom>
        </p:spPr>
        <p:txBody>
          <a:bodyPr anchor="t" rtlCol="false" tIns="0" lIns="0" bIns="0" rIns="0">
            <a:spAutoFit/>
          </a:bodyPr>
          <a:lstStyle/>
          <a:p>
            <a:pPr algn="l">
              <a:lnSpc>
                <a:spcPts val="2729"/>
              </a:lnSpc>
            </a:pPr>
            <a:r>
              <a:rPr lang="en-US" sz="1950" b="true">
                <a:solidFill>
                  <a:srgbClr val="B85C1E"/>
                </a:solidFill>
                <a:latin typeface="IBM Plex Sans Bold"/>
                <a:ea typeface="IBM Plex Sans Bold"/>
                <a:cs typeface="IBM Plex Sans Bold"/>
                <a:sym typeface="IBM Plex Sans Bold"/>
              </a:rPr>
              <a:t>Batch</a:t>
            </a:r>
          </a:p>
        </p:txBody>
      </p:sp>
      <p:sp>
        <p:nvSpPr>
          <p:cNvPr name="TextBox 40" id="40"/>
          <p:cNvSpPr txBox="true"/>
          <p:nvPr/>
        </p:nvSpPr>
        <p:spPr>
          <a:xfrm rot="0">
            <a:off x="11106150" y="5257800"/>
            <a:ext cx="6141530" cy="716280"/>
          </a:xfrm>
          <a:prstGeom prst="rect">
            <a:avLst/>
          </a:prstGeom>
        </p:spPr>
        <p:txBody>
          <a:bodyPr anchor="t" rtlCol="false" tIns="0" lIns="0" bIns="0" rIns="0">
            <a:spAutoFit/>
          </a:bodyPr>
          <a:lstStyle/>
          <a:p>
            <a:pPr algn="l">
              <a:lnSpc>
                <a:spcPts val="2520"/>
              </a:lnSpc>
            </a:pPr>
            <a:r>
              <a:rPr lang="en-US" sz="1800">
                <a:solidFill>
                  <a:srgbClr val="1B2420"/>
                </a:solidFill>
                <a:latin typeface="IBM Plex Sans"/>
                <a:ea typeface="IBM Plex Sans"/>
                <a:cs typeface="IBM Plex Sans"/>
                <a:sym typeface="IBM Plex Sans"/>
              </a:rPr>
              <a:t>warehouse, Batch ID, expiry EXP, on-hand, held and available quantity</a:t>
            </a:r>
          </a:p>
        </p:txBody>
      </p:sp>
      <p:sp>
        <p:nvSpPr>
          <p:cNvPr name="TextBox 41" id="41"/>
          <p:cNvSpPr txBox="true"/>
          <p:nvPr/>
        </p:nvSpPr>
        <p:spPr>
          <a:xfrm rot="0">
            <a:off x="1219200" y="5897890"/>
            <a:ext cx="1885950" cy="716280"/>
          </a:xfrm>
          <a:prstGeom prst="rect">
            <a:avLst/>
          </a:prstGeom>
        </p:spPr>
        <p:txBody>
          <a:bodyPr anchor="t" rtlCol="false" tIns="0" lIns="0" bIns="0" rIns="0">
            <a:spAutoFit/>
          </a:bodyPr>
          <a:lstStyle/>
          <a:p>
            <a:pPr algn="l">
              <a:lnSpc>
                <a:spcPts val="2729"/>
              </a:lnSpc>
            </a:pPr>
            <a:r>
              <a:rPr lang="en-US" sz="1950" b="true">
                <a:solidFill>
                  <a:srgbClr val="B85C1E"/>
                </a:solidFill>
                <a:latin typeface="IBM Plex Sans Bold"/>
                <a:ea typeface="IBM Plex Sans Bold"/>
                <a:cs typeface="IBM Plex Sans Bold"/>
                <a:sym typeface="IBM Plex Sans Bold"/>
              </a:rPr>
              <a:t>Service rules</a:t>
            </a:r>
          </a:p>
        </p:txBody>
      </p:sp>
      <p:sp>
        <p:nvSpPr>
          <p:cNvPr name="TextBox 42" id="42"/>
          <p:cNvSpPr txBox="true"/>
          <p:nvPr/>
        </p:nvSpPr>
        <p:spPr>
          <a:xfrm rot="0">
            <a:off x="3181350" y="5897890"/>
            <a:ext cx="6141530" cy="716280"/>
          </a:xfrm>
          <a:prstGeom prst="rect">
            <a:avLst/>
          </a:prstGeom>
        </p:spPr>
        <p:txBody>
          <a:bodyPr anchor="t" rtlCol="false" tIns="0" lIns="0" bIns="0" rIns="0">
            <a:spAutoFit/>
          </a:bodyPr>
          <a:lstStyle/>
          <a:p>
            <a:pPr algn="l">
              <a:lnSpc>
                <a:spcPts val="2520"/>
              </a:lnSpc>
            </a:pPr>
            <a:r>
              <a:rPr lang="en-US" sz="1800">
                <a:solidFill>
                  <a:srgbClr val="1B2420"/>
                </a:solidFill>
                <a:latin typeface="IBM Plex Sans"/>
                <a:ea typeface="IBM Plex Sans"/>
                <a:cs typeface="IBM Plex Sans"/>
                <a:sym typeface="IBM Plex Sans"/>
              </a:rPr>
              <a:t>max service distance per warehouse, transit-time table, MLOR ratio m(c,s), shelf life SL(s)</a:t>
            </a:r>
          </a:p>
        </p:txBody>
      </p:sp>
      <p:sp>
        <p:nvSpPr>
          <p:cNvPr name="TextBox 43" id="43"/>
          <p:cNvSpPr txBox="true"/>
          <p:nvPr/>
        </p:nvSpPr>
        <p:spPr>
          <a:xfrm rot="0">
            <a:off x="9144000" y="5897890"/>
            <a:ext cx="1885950" cy="716280"/>
          </a:xfrm>
          <a:prstGeom prst="rect">
            <a:avLst/>
          </a:prstGeom>
        </p:spPr>
        <p:txBody>
          <a:bodyPr anchor="t" rtlCol="false" tIns="0" lIns="0" bIns="0" rIns="0">
            <a:spAutoFit/>
          </a:bodyPr>
          <a:lstStyle/>
          <a:p>
            <a:pPr algn="l">
              <a:lnSpc>
                <a:spcPts val="2729"/>
              </a:lnSpc>
            </a:pPr>
            <a:r>
              <a:rPr lang="en-US" sz="1950" b="true">
                <a:solidFill>
                  <a:srgbClr val="B85C1E"/>
                </a:solidFill>
                <a:latin typeface="IBM Plex Sans Bold"/>
                <a:ea typeface="IBM Plex Sans Bold"/>
                <a:cs typeface="IBM Plex Sans Bold"/>
                <a:sym typeface="IBM Plex Sans Bold"/>
              </a:rPr>
              <a:t>Schedule</a:t>
            </a:r>
          </a:p>
        </p:txBody>
      </p:sp>
      <p:sp>
        <p:nvSpPr>
          <p:cNvPr name="TextBox 44" id="44"/>
          <p:cNvSpPr txBox="true"/>
          <p:nvPr/>
        </p:nvSpPr>
        <p:spPr>
          <a:xfrm rot="0">
            <a:off x="11106150" y="5897890"/>
            <a:ext cx="6141530" cy="716280"/>
          </a:xfrm>
          <a:prstGeom prst="rect">
            <a:avLst/>
          </a:prstGeom>
        </p:spPr>
        <p:txBody>
          <a:bodyPr anchor="t" rtlCol="false" tIns="0" lIns="0" bIns="0" rIns="0">
            <a:spAutoFit/>
          </a:bodyPr>
          <a:lstStyle/>
          <a:p>
            <a:pPr algn="l">
              <a:lnSpc>
                <a:spcPts val="2520"/>
              </a:lnSpc>
            </a:pPr>
            <a:r>
              <a:rPr lang="en-US" sz="1800">
                <a:solidFill>
                  <a:srgbClr val="1B2420"/>
                </a:solidFill>
                <a:latin typeface="IBM Plex Sans"/>
                <a:ea typeface="IBM Plex Sans"/>
                <a:cs typeface="IBM Plex Sans"/>
                <a:sym typeface="IBM Plex Sans"/>
              </a:rPr>
              <a:t>processing run, preparation time and buffer, next dispatch run</a:t>
            </a:r>
          </a:p>
        </p:txBody>
      </p:sp>
      <p:grpSp>
        <p:nvGrpSpPr>
          <p:cNvPr name="Group 45" id="45"/>
          <p:cNvGrpSpPr/>
          <p:nvPr/>
        </p:nvGrpSpPr>
        <p:grpSpPr>
          <a:xfrm rot="0">
            <a:off x="1219200" y="6918960"/>
            <a:ext cx="15849600" cy="1036320"/>
            <a:chOff x="0" y="0"/>
            <a:chExt cx="21132800" cy="1381760"/>
          </a:xfrm>
        </p:grpSpPr>
        <p:sp>
          <p:nvSpPr>
            <p:cNvPr name="Freeform 46" id="46"/>
            <p:cNvSpPr/>
            <p:nvPr/>
          </p:nvSpPr>
          <p:spPr>
            <a:xfrm flipH="false" flipV="false" rot="0">
              <a:off x="0" y="0"/>
              <a:ext cx="21132800" cy="1381760"/>
            </a:xfrm>
            <a:custGeom>
              <a:avLst/>
              <a:gdLst/>
              <a:ahLst/>
              <a:cxnLst/>
              <a:rect r="r" b="b" t="t" l="l"/>
              <a:pathLst>
                <a:path h="1381760" w="21132800">
                  <a:moveTo>
                    <a:pt x="0" y="152400"/>
                  </a:moveTo>
                  <a:cubicBezTo>
                    <a:pt x="0" y="68199"/>
                    <a:pt x="68199" y="0"/>
                    <a:pt x="152400" y="0"/>
                  </a:cubicBezTo>
                  <a:lnTo>
                    <a:pt x="20980400" y="0"/>
                  </a:lnTo>
                  <a:cubicBezTo>
                    <a:pt x="21064601" y="0"/>
                    <a:pt x="21132800" y="68199"/>
                    <a:pt x="21132800" y="152400"/>
                  </a:cubicBezTo>
                  <a:lnTo>
                    <a:pt x="21132800" y="1229360"/>
                  </a:lnTo>
                  <a:cubicBezTo>
                    <a:pt x="21132800" y="1313561"/>
                    <a:pt x="21064601" y="1381760"/>
                    <a:pt x="20980400" y="1381760"/>
                  </a:cubicBezTo>
                  <a:lnTo>
                    <a:pt x="152400" y="1381760"/>
                  </a:lnTo>
                  <a:cubicBezTo>
                    <a:pt x="68199" y="1381760"/>
                    <a:pt x="0" y="1313561"/>
                    <a:pt x="0" y="1229360"/>
                  </a:cubicBezTo>
                  <a:close/>
                </a:path>
              </a:pathLst>
            </a:custGeom>
            <a:solidFill>
              <a:srgbClr val="E9EEEA"/>
            </a:solidFill>
          </p:spPr>
        </p:sp>
        <p:sp>
          <p:nvSpPr>
            <p:cNvPr name="TextBox 47" id="47"/>
            <p:cNvSpPr txBox="true"/>
            <p:nvPr/>
          </p:nvSpPr>
          <p:spPr>
            <a:xfrm>
              <a:off x="0" y="-38100"/>
              <a:ext cx="21132800" cy="1419860"/>
            </a:xfrm>
            <a:prstGeom prst="rect">
              <a:avLst/>
            </a:prstGeom>
          </p:spPr>
          <p:txBody>
            <a:bodyPr anchor="t" rtlCol="false" tIns="50800" lIns="50800" bIns="50800" rIns="50800"/>
            <a:lstStyle/>
            <a:p>
              <a:pPr algn="l">
                <a:lnSpc>
                  <a:spcPts val="2729"/>
                </a:lnSpc>
              </a:pPr>
              <a:r>
                <a:rPr lang="en-US" sz="1950" b="true">
                  <a:solidFill>
                    <a:srgbClr val="1B2420"/>
                  </a:solidFill>
                  <a:latin typeface="IBM Plex Sans Bold"/>
                  <a:ea typeface="IBM Plex Sans Bold"/>
                  <a:cs typeface="IBM Plex Sans Bold"/>
                  <a:sym typeface="IBM Plex Sans Bold"/>
                </a:rPr>
                <a:t>Principle:</a:t>
              </a:r>
              <a:r>
                <a:rPr lang="en-US" sz="1950">
                  <a:solidFill>
                    <a:srgbClr val="1B2420"/>
                  </a:solidFill>
                  <a:latin typeface="IBM Plex Sans"/>
                  <a:ea typeface="IBM Plex Sans"/>
                  <a:cs typeface="IBM Plex Sans"/>
                  <a:sym typeface="IBM Plex Sans"/>
                </a:rPr>
                <a:t> pure FEFO among </a:t>
              </a:r>
              <a:r>
                <a:rPr lang="en-US" sz="1950" i="true">
                  <a:solidFill>
                    <a:srgbClr val="1B2420"/>
                  </a:solidFill>
                  <a:latin typeface="IBM Plex Sans Italics"/>
                  <a:ea typeface="IBM Plex Sans Italics"/>
                  <a:cs typeface="IBM Plex Sans Italics"/>
                  <a:sym typeface="IBM Plex Sans Italics"/>
                </a:rPr>
                <a:t>eligible</a:t>
              </a:r>
              <a:r>
                <a:rPr lang="en-US" sz="1950">
                  <a:solidFill>
                    <a:srgbClr val="1B2420"/>
                  </a:solidFill>
                  <a:latin typeface="IBM Plex Sans"/>
                  <a:ea typeface="IBM Plex Sans"/>
                  <a:cs typeface="IBM Plex Sans"/>
                  <a:sym typeface="IBM Plex Sans"/>
                </a:rPr>
                <a:t> batches; distance and quantity only break ties. The system never lowers MLOR, extends the service distance or delays the promise to make an order fit.</a:t>
              </a:r>
            </a:p>
          </p:txBody>
        </p:sp>
      </p:grpSp>
      <p:sp>
        <p:nvSpPr>
          <p:cNvPr name="TextBox 48" id="48"/>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49" id="49"/>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16</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STEPS B1 – B2A</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Candidate batches and service area</a:t>
            </a:r>
          </a:p>
        </p:txBody>
      </p:sp>
      <p:sp>
        <p:nvSpPr>
          <p:cNvPr name="TextBox 4" id="4"/>
          <p:cNvSpPr txBox="true"/>
          <p:nvPr/>
        </p:nvSpPr>
        <p:spPr>
          <a:xfrm rot="0">
            <a:off x="1219200" y="2339340"/>
            <a:ext cx="7410431"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B1 · Keep a batch b if</a:t>
            </a:r>
          </a:p>
        </p:txBody>
      </p:sp>
      <p:grpSp>
        <p:nvGrpSpPr>
          <p:cNvPr name="Group 5" id="5"/>
          <p:cNvGrpSpPr/>
          <p:nvPr/>
        </p:nvGrpSpPr>
        <p:grpSpPr>
          <a:xfrm rot="0">
            <a:off x="1219200" y="2872740"/>
            <a:ext cx="7194585" cy="1419225"/>
            <a:chOff x="0" y="0"/>
            <a:chExt cx="9592780" cy="1892300"/>
          </a:xfrm>
        </p:grpSpPr>
        <p:sp>
          <p:nvSpPr>
            <p:cNvPr name="Freeform 6" id="6"/>
            <p:cNvSpPr/>
            <p:nvPr/>
          </p:nvSpPr>
          <p:spPr>
            <a:xfrm flipH="false" flipV="false" rot="0">
              <a:off x="0" y="0"/>
              <a:ext cx="9592818" cy="1892300"/>
            </a:xfrm>
            <a:custGeom>
              <a:avLst/>
              <a:gdLst/>
              <a:ahLst/>
              <a:cxnLst/>
              <a:rect r="r" b="b" t="t" l="l"/>
              <a:pathLst>
                <a:path h="1892300" w="9592818">
                  <a:moveTo>
                    <a:pt x="0" y="101600"/>
                  </a:moveTo>
                  <a:cubicBezTo>
                    <a:pt x="0" y="45466"/>
                    <a:pt x="45466" y="0"/>
                    <a:pt x="101600" y="0"/>
                  </a:cubicBezTo>
                  <a:lnTo>
                    <a:pt x="9491218" y="0"/>
                  </a:lnTo>
                  <a:cubicBezTo>
                    <a:pt x="9547352" y="0"/>
                    <a:pt x="9592818" y="45466"/>
                    <a:pt x="9592818" y="101600"/>
                  </a:cubicBezTo>
                  <a:lnTo>
                    <a:pt x="9592818" y="1790700"/>
                  </a:lnTo>
                  <a:cubicBezTo>
                    <a:pt x="9592818" y="1846834"/>
                    <a:pt x="9547352" y="1892300"/>
                    <a:pt x="9491218" y="1892300"/>
                  </a:cubicBezTo>
                  <a:lnTo>
                    <a:pt x="101600" y="1892300"/>
                  </a:lnTo>
                  <a:cubicBezTo>
                    <a:pt x="45466" y="1892300"/>
                    <a:pt x="0" y="1846834"/>
                    <a:pt x="0" y="1790700"/>
                  </a:cubicBezTo>
                  <a:close/>
                </a:path>
              </a:pathLst>
            </a:custGeom>
            <a:solidFill>
              <a:srgbClr val="E9EEEA"/>
            </a:solidFill>
          </p:spPr>
        </p:sp>
        <p:sp>
          <p:nvSpPr>
            <p:cNvPr name="TextBox 7" id="7"/>
            <p:cNvSpPr txBox="true"/>
            <p:nvPr/>
          </p:nvSpPr>
          <p:spPr>
            <a:xfrm>
              <a:off x="0" y="-57150"/>
              <a:ext cx="9592780" cy="19494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sku(b) = s</a:t>
              </a:r>
            </a:p>
            <a:p>
              <a:pPr algn="l">
                <a:lnSpc>
                  <a:spcPts val="2925"/>
                </a:lnSpc>
              </a:pPr>
              <a:r>
                <a:rPr lang="en-US" sz="1950">
                  <a:solidFill>
                    <a:srgbClr val="1B2420"/>
                  </a:solidFill>
                  <a:latin typeface="IBM Plex Mono"/>
                  <a:ea typeface="IBM Plex Mono"/>
                  <a:cs typeface="IBM Plex Mono"/>
                  <a:sym typeface="IBM Plex Mono"/>
                </a:rPr>
                <a:t>status(b) = allowed to ship</a:t>
              </a:r>
            </a:p>
            <a:p>
              <a:pPr algn="l">
                <a:lnSpc>
                  <a:spcPts val="2925"/>
                </a:lnSpc>
              </a:pPr>
              <a:r>
                <a:rPr lang="en-US" sz="1950">
                  <a:solidFill>
                    <a:srgbClr val="1B2420"/>
                  </a:solidFill>
                  <a:latin typeface="IBM Plex Mono"/>
                  <a:ea typeface="IBM Plex Mono"/>
                  <a:cs typeface="IBM Plex Mono"/>
                  <a:sym typeface="IBM Plex Mono"/>
                </a:rPr>
                <a:t>avail(b) = onHand − held − reserved &gt; 0</a:t>
              </a:r>
            </a:p>
          </p:txBody>
        </p:sp>
      </p:grpSp>
      <p:grpSp>
        <p:nvGrpSpPr>
          <p:cNvPr name="Group 8" id="8"/>
          <p:cNvGrpSpPr/>
          <p:nvPr/>
        </p:nvGrpSpPr>
        <p:grpSpPr>
          <a:xfrm rot="0">
            <a:off x="1219200" y="2872740"/>
            <a:ext cx="7194585" cy="1419225"/>
            <a:chOff x="0" y="0"/>
            <a:chExt cx="9592780" cy="1892300"/>
          </a:xfrm>
        </p:grpSpPr>
        <p:sp>
          <p:nvSpPr>
            <p:cNvPr name="Freeform 9" id="9"/>
            <p:cNvSpPr/>
            <p:nvPr/>
          </p:nvSpPr>
          <p:spPr>
            <a:xfrm flipH="false" flipV="false" rot="0">
              <a:off x="0" y="0"/>
              <a:ext cx="177800" cy="1892300"/>
            </a:xfrm>
            <a:custGeom>
              <a:avLst/>
              <a:gdLst/>
              <a:ahLst/>
              <a:cxnLst/>
              <a:rect r="r" b="b" t="t" l="l"/>
              <a:pathLst>
                <a:path h="1892300" w="177800">
                  <a:moveTo>
                    <a:pt x="101600" y="1892300"/>
                  </a:moveTo>
                  <a:cubicBezTo>
                    <a:pt x="45466" y="1892300"/>
                    <a:pt x="0" y="1846834"/>
                    <a:pt x="0" y="1790700"/>
                  </a:cubicBezTo>
                  <a:lnTo>
                    <a:pt x="0" y="101600"/>
                  </a:lnTo>
                  <a:cubicBezTo>
                    <a:pt x="0" y="45466"/>
                    <a:pt x="45466" y="0"/>
                    <a:pt x="101600" y="0"/>
                  </a:cubicBezTo>
                  <a:cubicBezTo>
                    <a:pt x="45466" y="0"/>
                    <a:pt x="0" y="45466"/>
                    <a:pt x="0" y="101600"/>
                  </a:cubicBezTo>
                  <a:lnTo>
                    <a:pt x="76200" y="1790700"/>
                  </a:lnTo>
                  <a:cubicBezTo>
                    <a:pt x="76200" y="1846834"/>
                    <a:pt x="121666" y="1892300"/>
                    <a:pt x="177800" y="1892300"/>
                  </a:cubicBezTo>
                  <a:close/>
                </a:path>
              </a:pathLst>
            </a:custGeom>
            <a:solidFill>
              <a:srgbClr val="14655B"/>
            </a:solidFill>
          </p:spPr>
        </p:sp>
      </p:grpSp>
      <p:sp>
        <p:nvSpPr>
          <p:cNvPr name="TextBox 10" id="10"/>
          <p:cNvSpPr txBox="true"/>
          <p:nvPr/>
        </p:nvSpPr>
        <p:spPr>
          <a:xfrm rot="0">
            <a:off x="1219200" y="4444365"/>
            <a:ext cx="7410431"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B2a · Service area</a:t>
            </a:r>
          </a:p>
        </p:txBody>
      </p:sp>
      <p:grpSp>
        <p:nvGrpSpPr>
          <p:cNvPr name="Group 11" id="11"/>
          <p:cNvGrpSpPr/>
          <p:nvPr/>
        </p:nvGrpSpPr>
        <p:grpSpPr>
          <a:xfrm rot="0">
            <a:off x="1219200" y="4977765"/>
            <a:ext cx="7194585" cy="1419225"/>
            <a:chOff x="0" y="0"/>
            <a:chExt cx="9592780" cy="1892300"/>
          </a:xfrm>
        </p:grpSpPr>
        <p:sp>
          <p:nvSpPr>
            <p:cNvPr name="Freeform 12" id="12"/>
            <p:cNvSpPr/>
            <p:nvPr/>
          </p:nvSpPr>
          <p:spPr>
            <a:xfrm flipH="false" flipV="false" rot="0">
              <a:off x="0" y="0"/>
              <a:ext cx="9592818" cy="1892300"/>
            </a:xfrm>
            <a:custGeom>
              <a:avLst/>
              <a:gdLst/>
              <a:ahLst/>
              <a:cxnLst/>
              <a:rect r="r" b="b" t="t" l="l"/>
              <a:pathLst>
                <a:path h="1892300" w="9592818">
                  <a:moveTo>
                    <a:pt x="0" y="101600"/>
                  </a:moveTo>
                  <a:cubicBezTo>
                    <a:pt x="0" y="45466"/>
                    <a:pt x="45466" y="0"/>
                    <a:pt x="101600" y="0"/>
                  </a:cubicBezTo>
                  <a:lnTo>
                    <a:pt x="9491218" y="0"/>
                  </a:lnTo>
                  <a:cubicBezTo>
                    <a:pt x="9547352" y="0"/>
                    <a:pt x="9592818" y="45466"/>
                    <a:pt x="9592818" y="101600"/>
                  </a:cubicBezTo>
                  <a:lnTo>
                    <a:pt x="9592818" y="1790700"/>
                  </a:lnTo>
                  <a:cubicBezTo>
                    <a:pt x="9592818" y="1846834"/>
                    <a:pt x="9547352" y="1892300"/>
                    <a:pt x="9491218" y="1892300"/>
                  </a:cubicBezTo>
                  <a:lnTo>
                    <a:pt x="101600" y="1892300"/>
                  </a:lnTo>
                  <a:cubicBezTo>
                    <a:pt x="45466" y="1892300"/>
                    <a:pt x="0" y="1846834"/>
                    <a:pt x="0" y="1790700"/>
                  </a:cubicBezTo>
                  <a:close/>
                </a:path>
              </a:pathLst>
            </a:custGeom>
            <a:solidFill>
              <a:srgbClr val="E9EEEA"/>
            </a:solidFill>
          </p:spPr>
        </p:sp>
        <p:sp>
          <p:nvSpPr>
            <p:cNvPr name="TextBox 13" id="13"/>
            <p:cNvSpPr txBox="true"/>
            <p:nvPr/>
          </p:nvSpPr>
          <p:spPr>
            <a:xfrm>
              <a:off x="0" y="-57150"/>
              <a:ext cx="9592780" cy="19494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d(w, c) = Dijkstra shortest road</a:t>
              </a:r>
            </a:p>
            <a:p>
              <a:pPr algn="l">
                <a:lnSpc>
                  <a:spcPts val="2925"/>
                </a:lnSpc>
              </a:pPr>
              <a:r>
                <a:rPr lang="en-US" sz="1950">
                  <a:solidFill>
                    <a:srgbClr val="1B2420"/>
                  </a:solidFill>
                  <a:latin typeface="IBM Plex Mono"/>
                  <a:ea typeface="IBM Plex Mono"/>
                  <a:cs typeface="IBM Plex Mono"/>
                  <a:sym typeface="IBM Plex Mono"/>
                </a:rPr>
                <a:t>distance, warehouse → retailer</a:t>
              </a:r>
            </a:p>
            <a:p>
              <a:pPr algn="l">
                <a:lnSpc>
                  <a:spcPts val="2925"/>
                </a:lnSpc>
              </a:pPr>
              <a:r>
                <a:rPr lang="en-US" sz="1950">
                  <a:solidFill>
                    <a:srgbClr val="1B2420"/>
                  </a:solidFill>
                  <a:latin typeface="IBM Plex Mono"/>
                  <a:ea typeface="IBM Plex Mono"/>
                  <a:cs typeface="IBM Plex Mono"/>
                  <a:sym typeface="IBM Plex Mono"/>
                </a:rPr>
                <a:t>keep if d(w, c) ≤ Dmax(w)</a:t>
              </a:r>
            </a:p>
          </p:txBody>
        </p:sp>
      </p:grpSp>
      <p:grpSp>
        <p:nvGrpSpPr>
          <p:cNvPr name="Group 14" id="14"/>
          <p:cNvGrpSpPr/>
          <p:nvPr/>
        </p:nvGrpSpPr>
        <p:grpSpPr>
          <a:xfrm rot="0">
            <a:off x="1219200" y="4977765"/>
            <a:ext cx="7194585" cy="1419225"/>
            <a:chOff x="0" y="0"/>
            <a:chExt cx="9592780" cy="1892300"/>
          </a:xfrm>
        </p:grpSpPr>
        <p:sp>
          <p:nvSpPr>
            <p:cNvPr name="Freeform 15" id="15"/>
            <p:cNvSpPr/>
            <p:nvPr/>
          </p:nvSpPr>
          <p:spPr>
            <a:xfrm flipH="false" flipV="false" rot="0">
              <a:off x="0" y="0"/>
              <a:ext cx="177800" cy="1892300"/>
            </a:xfrm>
            <a:custGeom>
              <a:avLst/>
              <a:gdLst/>
              <a:ahLst/>
              <a:cxnLst/>
              <a:rect r="r" b="b" t="t" l="l"/>
              <a:pathLst>
                <a:path h="1892300" w="177800">
                  <a:moveTo>
                    <a:pt x="101600" y="1892300"/>
                  </a:moveTo>
                  <a:cubicBezTo>
                    <a:pt x="45466" y="1892300"/>
                    <a:pt x="0" y="1846834"/>
                    <a:pt x="0" y="1790700"/>
                  </a:cubicBezTo>
                  <a:lnTo>
                    <a:pt x="0" y="101600"/>
                  </a:lnTo>
                  <a:cubicBezTo>
                    <a:pt x="0" y="45466"/>
                    <a:pt x="45466" y="0"/>
                    <a:pt x="101600" y="0"/>
                  </a:cubicBezTo>
                  <a:cubicBezTo>
                    <a:pt x="45466" y="0"/>
                    <a:pt x="0" y="45466"/>
                    <a:pt x="0" y="101600"/>
                  </a:cubicBezTo>
                  <a:lnTo>
                    <a:pt x="76200" y="1790700"/>
                  </a:lnTo>
                  <a:cubicBezTo>
                    <a:pt x="76200" y="1846834"/>
                    <a:pt x="121666" y="1892300"/>
                    <a:pt x="177800" y="1892300"/>
                  </a:cubicBezTo>
                  <a:close/>
                </a:path>
              </a:pathLst>
            </a:custGeom>
            <a:solidFill>
              <a:srgbClr val="14655B"/>
            </a:solidFill>
          </p:spPr>
        </p:sp>
      </p:grpSp>
      <p:sp>
        <p:nvSpPr>
          <p:cNvPr name="TextBox 16" id="16"/>
          <p:cNvSpPr txBox="true"/>
          <p:nvPr/>
        </p:nvSpPr>
        <p:spPr>
          <a:xfrm rot="0">
            <a:off x="1219200" y="6530340"/>
            <a:ext cx="7410431" cy="103632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Dijkstra on a road graph with non-negative weights. Dmax is configured per warehouse; a warehouse without a valid route is excluded.</a:t>
            </a:r>
          </a:p>
        </p:txBody>
      </p:sp>
      <p:sp>
        <p:nvSpPr>
          <p:cNvPr name="TextBox 17" id="17"/>
          <p:cNvSpPr txBox="true"/>
          <p:nvPr/>
        </p:nvSpPr>
        <p:spPr>
          <a:xfrm rot="0">
            <a:off x="8794785" y="2320290"/>
            <a:ext cx="9493215" cy="396240"/>
          </a:xfrm>
          <a:prstGeom prst="rect">
            <a:avLst/>
          </a:prstGeom>
        </p:spPr>
        <p:txBody>
          <a:bodyPr anchor="t" rtlCol="false" tIns="0" lIns="0" bIns="0" rIns="0">
            <a:spAutoFit/>
          </a:bodyPr>
          <a:lstStyle/>
          <a:p>
            <a:pPr algn="l">
              <a:lnSpc>
                <a:spcPts val="2520"/>
              </a:lnSpc>
            </a:pPr>
            <a:r>
              <a:rPr lang="en-US" sz="1800" b="true">
                <a:solidFill>
                  <a:srgbClr val="1B2420"/>
                </a:solidFill>
                <a:latin typeface="IBM Plex Sans Bold"/>
                <a:ea typeface="IBM Plex Sans Bold"/>
                <a:cs typeface="IBM Plex Sans Bold"/>
                <a:sym typeface="IBM Plex Sans Bold"/>
              </a:rPr>
              <a:t>Example · DH-1030</a:t>
            </a:r>
            <a:r>
              <a:rPr lang="en-US" sz="1800">
                <a:solidFill>
                  <a:srgbClr val="1B2420"/>
                </a:solidFill>
                <a:latin typeface="IBM Plex Sans"/>
                <a:ea typeface="IBM Plex Sans"/>
                <a:cs typeface="IBM Plex Sans"/>
                <a:sym typeface="IBM Plex Sans"/>
              </a:rPr>
              <a:t> · SKU001 × 60 cartons for Tạp hóa Minh Châu (10004127)</a:t>
            </a:r>
          </a:p>
        </p:txBody>
      </p:sp>
      <p:grpSp>
        <p:nvGrpSpPr>
          <p:cNvPr name="Group 18" id="18"/>
          <p:cNvGrpSpPr/>
          <p:nvPr/>
        </p:nvGrpSpPr>
        <p:grpSpPr>
          <a:xfrm rot="0">
            <a:off x="8794785" y="2792740"/>
            <a:ext cx="8273891" cy="6774180"/>
            <a:chOff x="0" y="0"/>
            <a:chExt cx="11031855" cy="9032240"/>
          </a:xfrm>
        </p:grpSpPr>
        <p:sp>
          <p:nvSpPr>
            <p:cNvPr name="Freeform 19" id="19"/>
            <p:cNvSpPr/>
            <p:nvPr/>
          </p:nvSpPr>
          <p:spPr>
            <a:xfrm flipH="false" flipV="false" rot="0">
              <a:off x="0" y="0"/>
              <a:ext cx="11031855" cy="9032240"/>
            </a:xfrm>
            <a:custGeom>
              <a:avLst/>
              <a:gdLst/>
              <a:ahLst/>
              <a:cxnLst/>
              <a:rect r="r" b="b" t="t" l="l"/>
              <a:pathLst>
                <a:path h="9032240" w="11031855">
                  <a:moveTo>
                    <a:pt x="0" y="152400"/>
                  </a:moveTo>
                  <a:cubicBezTo>
                    <a:pt x="0" y="68199"/>
                    <a:pt x="68199" y="0"/>
                    <a:pt x="152400" y="0"/>
                  </a:cubicBezTo>
                  <a:lnTo>
                    <a:pt x="10879455" y="0"/>
                  </a:lnTo>
                  <a:cubicBezTo>
                    <a:pt x="10963656" y="0"/>
                    <a:pt x="11031855" y="68199"/>
                    <a:pt x="11031855" y="152400"/>
                  </a:cubicBezTo>
                  <a:lnTo>
                    <a:pt x="11031855" y="8879840"/>
                  </a:lnTo>
                  <a:cubicBezTo>
                    <a:pt x="11031855" y="8964041"/>
                    <a:pt x="10963656" y="9032240"/>
                    <a:pt x="10879455" y="9032240"/>
                  </a:cubicBezTo>
                  <a:lnTo>
                    <a:pt x="152400" y="9032240"/>
                  </a:lnTo>
                  <a:cubicBezTo>
                    <a:pt x="68199" y="9032240"/>
                    <a:pt x="0" y="8964041"/>
                    <a:pt x="0" y="8879840"/>
                  </a:cubicBezTo>
                  <a:close/>
                </a:path>
              </a:pathLst>
            </a:custGeom>
            <a:solidFill>
              <a:srgbClr val="FFFFFF"/>
            </a:solidFill>
          </p:spPr>
        </p:sp>
      </p:grpSp>
      <p:grpSp>
        <p:nvGrpSpPr>
          <p:cNvPr name="Group 20" id="20"/>
          <p:cNvGrpSpPr/>
          <p:nvPr/>
        </p:nvGrpSpPr>
        <p:grpSpPr>
          <a:xfrm rot="0">
            <a:off x="8794785" y="2792740"/>
            <a:ext cx="8273891" cy="6774180"/>
            <a:chOff x="0" y="0"/>
            <a:chExt cx="11031855" cy="9032240"/>
          </a:xfrm>
        </p:grpSpPr>
        <p:sp>
          <p:nvSpPr>
            <p:cNvPr name="Freeform 21" id="21"/>
            <p:cNvSpPr/>
            <p:nvPr/>
          </p:nvSpPr>
          <p:spPr>
            <a:xfrm flipH="false" flipV="false" rot="0">
              <a:off x="0" y="0"/>
              <a:ext cx="11031855" cy="9032240"/>
            </a:xfrm>
            <a:custGeom>
              <a:avLst/>
              <a:gdLst/>
              <a:ahLst/>
              <a:cxnLst/>
              <a:rect r="r" b="b" t="t" l="l"/>
              <a:pathLst>
                <a:path h="9032240" w="11031855">
                  <a:moveTo>
                    <a:pt x="10879455" y="0"/>
                  </a:moveTo>
                  <a:cubicBezTo>
                    <a:pt x="10963656" y="0"/>
                    <a:pt x="11031855" y="68199"/>
                    <a:pt x="11031855" y="152400"/>
                  </a:cubicBezTo>
                  <a:lnTo>
                    <a:pt x="11031855" y="8879840"/>
                  </a:lnTo>
                  <a:cubicBezTo>
                    <a:pt x="11031855" y="8964041"/>
                    <a:pt x="10963656" y="9032240"/>
                    <a:pt x="10879455" y="9032240"/>
                  </a:cubicBezTo>
                  <a:lnTo>
                    <a:pt x="152400" y="9032240"/>
                  </a:lnTo>
                  <a:cubicBezTo>
                    <a:pt x="68199" y="9032240"/>
                    <a:pt x="0" y="8964041"/>
                    <a:pt x="0" y="8879840"/>
                  </a:cubicBezTo>
                  <a:cubicBezTo>
                    <a:pt x="0" y="8957056"/>
                    <a:pt x="62484" y="9019540"/>
                    <a:pt x="139700" y="9019540"/>
                  </a:cubicBezTo>
                  <a:lnTo>
                    <a:pt x="10879455" y="9019540"/>
                  </a:lnTo>
                  <a:cubicBezTo>
                    <a:pt x="10956672" y="9019540"/>
                    <a:pt x="11019155" y="8957056"/>
                    <a:pt x="11019155" y="8879840"/>
                  </a:cubicBezTo>
                  <a:lnTo>
                    <a:pt x="11019155" y="152400"/>
                  </a:lnTo>
                  <a:cubicBezTo>
                    <a:pt x="11019155" y="68199"/>
                    <a:pt x="10950956" y="0"/>
                    <a:pt x="10866755" y="0"/>
                  </a:cubicBezTo>
                  <a:close/>
                </a:path>
              </a:pathLst>
            </a:custGeom>
            <a:solidFill>
              <a:srgbClr val="D5DCD7"/>
            </a:solidFill>
          </p:spPr>
        </p:sp>
      </p:grpSp>
      <p:grpSp>
        <p:nvGrpSpPr>
          <p:cNvPr name="Group 22" id="22"/>
          <p:cNvGrpSpPr/>
          <p:nvPr/>
        </p:nvGrpSpPr>
        <p:grpSpPr>
          <a:xfrm rot="0">
            <a:off x="8794785" y="2792740"/>
            <a:ext cx="8273891" cy="6774180"/>
            <a:chOff x="0" y="0"/>
            <a:chExt cx="11031855" cy="9032240"/>
          </a:xfrm>
        </p:grpSpPr>
        <p:sp>
          <p:nvSpPr>
            <p:cNvPr name="Freeform 23" id="23"/>
            <p:cNvSpPr/>
            <p:nvPr/>
          </p:nvSpPr>
          <p:spPr>
            <a:xfrm flipH="false" flipV="false" rot="0">
              <a:off x="0" y="0"/>
              <a:ext cx="11031855" cy="9032240"/>
            </a:xfrm>
            <a:custGeom>
              <a:avLst/>
              <a:gdLst/>
              <a:ahLst/>
              <a:cxnLst/>
              <a:rect r="r" b="b" t="t" l="l"/>
              <a:pathLst>
                <a:path h="9032240" w="11031855">
                  <a:moveTo>
                    <a:pt x="152400" y="9032240"/>
                  </a:moveTo>
                  <a:cubicBezTo>
                    <a:pt x="68199" y="9032240"/>
                    <a:pt x="0" y="8964041"/>
                    <a:pt x="0" y="8879840"/>
                  </a:cubicBezTo>
                  <a:lnTo>
                    <a:pt x="0" y="152400"/>
                  </a:lnTo>
                  <a:cubicBezTo>
                    <a:pt x="0" y="68199"/>
                    <a:pt x="68199" y="0"/>
                    <a:pt x="152400" y="0"/>
                  </a:cubicBezTo>
                  <a:lnTo>
                    <a:pt x="10879455" y="0"/>
                  </a:lnTo>
                  <a:cubicBezTo>
                    <a:pt x="10963656" y="0"/>
                    <a:pt x="11031855" y="68199"/>
                    <a:pt x="11031855" y="152400"/>
                  </a:cubicBezTo>
                  <a:cubicBezTo>
                    <a:pt x="11031855" y="79502"/>
                    <a:pt x="10972674" y="20320"/>
                    <a:pt x="10899775" y="20320"/>
                  </a:cubicBezTo>
                  <a:lnTo>
                    <a:pt x="152400" y="20320"/>
                  </a:lnTo>
                  <a:cubicBezTo>
                    <a:pt x="79502" y="20320"/>
                    <a:pt x="20320" y="79502"/>
                    <a:pt x="20320" y="152400"/>
                  </a:cubicBezTo>
                  <a:lnTo>
                    <a:pt x="20320" y="8879840"/>
                  </a:lnTo>
                  <a:cubicBezTo>
                    <a:pt x="20320" y="8964041"/>
                    <a:pt x="88519" y="9032240"/>
                    <a:pt x="172720" y="9032240"/>
                  </a:cubicBezTo>
                  <a:close/>
                </a:path>
              </a:pathLst>
            </a:custGeom>
            <a:solidFill>
              <a:srgbClr val="141413">
                <a:alpha val="4706"/>
              </a:srgbClr>
            </a:solidFill>
          </p:spPr>
        </p:sp>
      </p:grpSp>
      <p:graphicFrame>
        <p:nvGraphicFramePr>
          <p:cNvPr name="Table 24" id="24"/>
          <p:cNvGraphicFramePr>
            <a:graphicFrameLocks noGrp="true"/>
          </p:cNvGraphicFramePr>
          <p:nvPr/>
        </p:nvGraphicFramePr>
        <p:xfrm>
          <a:off x="8924330" y="2922280"/>
          <a:ext cx="7962900" cy="6400800"/>
        </p:xfrm>
        <a:graphic>
          <a:graphicData uri="http://schemas.openxmlformats.org/drawingml/2006/table">
            <a:tbl>
              <a:tblPr/>
              <a:tblGrid>
                <a:gridCol w="1733695"/>
                <a:gridCol w="2609800"/>
                <a:gridCol w="1284431"/>
                <a:gridCol w="1128505"/>
                <a:gridCol w="1206468"/>
              </a:tblGrid>
              <a:tr h="784429">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Warehouse</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Batch</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Expiry</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Available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B1 result</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Thới An</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WH-TA-SKU001-25092026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25/09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Expired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Gò Vấp</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WH-GV-SKU001-06102026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06/10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50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Keep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Củ Chi</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WH-CC-SKU001-12102026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12/10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120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Keep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Thới An</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WH-TA-SKU001-18102026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40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Keep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Thủ Đức</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WH-TD-SKU001-18102026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80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Keep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Tân Chánh Hiệp</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WH-TCH-SKU001-21102026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21/10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35</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Keep</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2339">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Tân Chánh Hiệp</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WH-TCH-SKU001-09112026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09/11</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None free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25" id="25"/>
          <p:cNvSpPr txBox="true"/>
          <p:nvPr/>
        </p:nvSpPr>
        <p:spPr>
          <a:xfrm rot="0">
            <a:off x="8794785" y="9643110"/>
            <a:ext cx="8522103" cy="39624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Batch ID = warehouse code + SKU + expiry date (ddMMyyyy).</a:t>
            </a:r>
          </a:p>
        </p:txBody>
      </p:sp>
      <p:sp>
        <p:nvSpPr>
          <p:cNvPr name="TextBox 26" id="26"/>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27" id="27"/>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17</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STEP B2A – B2C · SERVICE DISTANCE</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Max service distance and estimated transit time</a:t>
            </a:r>
          </a:p>
        </p:txBody>
      </p:sp>
      <p:grpSp>
        <p:nvGrpSpPr>
          <p:cNvPr name="Group 4" id="4"/>
          <p:cNvGrpSpPr/>
          <p:nvPr/>
        </p:nvGrpSpPr>
        <p:grpSpPr>
          <a:xfrm rot="0">
            <a:off x="1219200" y="2358390"/>
            <a:ext cx="15849600" cy="2552700"/>
            <a:chOff x="0" y="0"/>
            <a:chExt cx="21132800" cy="3403600"/>
          </a:xfrm>
        </p:grpSpPr>
        <p:sp>
          <p:nvSpPr>
            <p:cNvPr name="Freeform 5" id="5"/>
            <p:cNvSpPr/>
            <p:nvPr/>
          </p:nvSpPr>
          <p:spPr>
            <a:xfrm flipH="false" flipV="false" rot="0">
              <a:off x="0" y="0"/>
              <a:ext cx="21132800" cy="3403600"/>
            </a:xfrm>
            <a:custGeom>
              <a:avLst/>
              <a:gdLst/>
              <a:ahLst/>
              <a:cxnLst/>
              <a:rect r="r" b="b" t="t" l="l"/>
              <a:pathLst>
                <a:path h="3403600" w="21132800">
                  <a:moveTo>
                    <a:pt x="0" y="152400"/>
                  </a:moveTo>
                  <a:cubicBezTo>
                    <a:pt x="0" y="68199"/>
                    <a:pt x="68199" y="0"/>
                    <a:pt x="152400" y="0"/>
                  </a:cubicBezTo>
                  <a:lnTo>
                    <a:pt x="20980400" y="0"/>
                  </a:lnTo>
                  <a:cubicBezTo>
                    <a:pt x="21064601" y="0"/>
                    <a:pt x="21132800" y="68199"/>
                    <a:pt x="21132800" y="152400"/>
                  </a:cubicBezTo>
                  <a:lnTo>
                    <a:pt x="21132800" y="3251200"/>
                  </a:lnTo>
                  <a:cubicBezTo>
                    <a:pt x="21132800" y="3335401"/>
                    <a:pt x="21064601" y="3403600"/>
                    <a:pt x="20980400" y="3403600"/>
                  </a:cubicBezTo>
                  <a:lnTo>
                    <a:pt x="152400" y="3403600"/>
                  </a:lnTo>
                  <a:cubicBezTo>
                    <a:pt x="68199" y="3403600"/>
                    <a:pt x="0" y="3335401"/>
                    <a:pt x="0" y="3251200"/>
                  </a:cubicBezTo>
                  <a:close/>
                </a:path>
              </a:pathLst>
            </a:custGeom>
            <a:solidFill>
              <a:srgbClr val="FFFFFF"/>
            </a:solidFill>
          </p:spPr>
        </p:sp>
      </p:grpSp>
      <p:grpSp>
        <p:nvGrpSpPr>
          <p:cNvPr name="Group 6" id="6"/>
          <p:cNvGrpSpPr/>
          <p:nvPr/>
        </p:nvGrpSpPr>
        <p:grpSpPr>
          <a:xfrm rot="0">
            <a:off x="1219200" y="2358390"/>
            <a:ext cx="15849600" cy="2552700"/>
            <a:chOff x="0" y="0"/>
            <a:chExt cx="21132800" cy="3403600"/>
          </a:xfrm>
        </p:grpSpPr>
        <p:sp>
          <p:nvSpPr>
            <p:cNvPr name="Freeform 7" id="7"/>
            <p:cNvSpPr/>
            <p:nvPr/>
          </p:nvSpPr>
          <p:spPr>
            <a:xfrm flipH="false" flipV="false" rot="0">
              <a:off x="0" y="0"/>
              <a:ext cx="21132800" cy="3403600"/>
            </a:xfrm>
            <a:custGeom>
              <a:avLst/>
              <a:gdLst/>
              <a:ahLst/>
              <a:cxnLst/>
              <a:rect r="r" b="b" t="t" l="l"/>
              <a:pathLst>
                <a:path h="3403600" w="21132800">
                  <a:moveTo>
                    <a:pt x="20980400" y="0"/>
                  </a:moveTo>
                  <a:cubicBezTo>
                    <a:pt x="21064601" y="0"/>
                    <a:pt x="21132800" y="68199"/>
                    <a:pt x="21132800" y="152400"/>
                  </a:cubicBezTo>
                  <a:lnTo>
                    <a:pt x="21132800" y="3251200"/>
                  </a:lnTo>
                  <a:cubicBezTo>
                    <a:pt x="21132800" y="3335401"/>
                    <a:pt x="21064601" y="3403600"/>
                    <a:pt x="20980400" y="3403600"/>
                  </a:cubicBezTo>
                  <a:lnTo>
                    <a:pt x="152400" y="3403600"/>
                  </a:lnTo>
                  <a:cubicBezTo>
                    <a:pt x="68199" y="3403600"/>
                    <a:pt x="0" y="3335401"/>
                    <a:pt x="0" y="3251200"/>
                  </a:cubicBezTo>
                  <a:cubicBezTo>
                    <a:pt x="0" y="3328416"/>
                    <a:pt x="62484" y="3390900"/>
                    <a:pt x="139700" y="3390900"/>
                  </a:cubicBezTo>
                  <a:lnTo>
                    <a:pt x="20980400" y="3390900"/>
                  </a:lnTo>
                  <a:cubicBezTo>
                    <a:pt x="21057615" y="3390900"/>
                    <a:pt x="21120100" y="3328416"/>
                    <a:pt x="21120100" y="325120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390"/>
            <a:ext cx="15849600" cy="2552700"/>
            <a:chOff x="0" y="0"/>
            <a:chExt cx="21132800" cy="3403600"/>
          </a:xfrm>
        </p:grpSpPr>
        <p:sp>
          <p:nvSpPr>
            <p:cNvPr name="Freeform 9" id="9"/>
            <p:cNvSpPr/>
            <p:nvPr/>
          </p:nvSpPr>
          <p:spPr>
            <a:xfrm flipH="false" flipV="false" rot="0">
              <a:off x="0" y="0"/>
              <a:ext cx="21132800" cy="3403600"/>
            </a:xfrm>
            <a:custGeom>
              <a:avLst/>
              <a:gdLst/>
              <a:ahLst/>
              <a:cxnLst/>
              <a:rect r="r" b="b" t="t" l="l"/>
              <a:pathLst>
                <a:path h="3403600" w="21132800">
                  <a:moveTo>
                    <a:pt x="152400" y="3403600"/>
                  </a:moveTo>
                  <a:cubicBezTo>
                    <a:pt x="68199" y="3403600"/>
                    <a:pt x="0" y="3335401"/>
                    <a:pt x="0" y="325120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3251200"/>
                  </a:lnTo>
                  <a:cubicBezTo>
                    <a:pt x="20320" y="3335401"/>
                    <a:pt x="88519" y="3403600"/>
                    <a:pt x="172720" y="340360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27"/>
          <a:ext cx="15544800" cy="2286000"/>
        </p:xfrm>
        <a:graphic>
          <a:graphicData uri="http://schemas.openxmlformats.org/drawingml/2006/table">
            <a:tbl>
              <a:tblPr/>
              <a:tblGrid>
                <a:gridCol w="3393255"/>
                <a:gridCol w="3411988"/>
                <a:gridCol w="2031502"/>
                <a:gridCol w="2338277"/>
                <a:gridCol w="1571340"/>
                <a:gridCol w="2798439"/>
              </a:tblGrid>
              <a:tr h="783465">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Road distance d (Dijkstra)</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Service status</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Transit time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Dispatch run</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ETA</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Warehouses in example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50084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 – 10 km</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In service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 day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28/09 morning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29/09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TA, TCH, GV</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0084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&gt; 10 – 20 km</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In service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28/09 morning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30/09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0084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&gt; 20 km (above Dmax)</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Out of service → excluded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CC</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11" id="11"/>
          <p:cNvGrpSpPr/>
          <p:nvPr/>
        </p:nvGrpSpPr>
        <p:grpSpPr>
          <a:xfrm rot="0">
            <a:off x="1219200" y="5673090"/>
            <a:ext cx="5076825" cy="304800"/>
            <a:chOff x="0" y="0"/>
            <a:chExt cx="6769100" cy="406400"/>
          </a:xfrm>
        </p:grpSpPr>
        <p:sp>
          <p:nvSpPr>
            <p:cNvPr name="Freeform 12" id="12"/>
            <p:cNvSpPr/>
            <p:nvPr/>
          </p:nvSpPr>
          <p:spPr>
            <a:xfrm flipH="false" flipV="false" rot="0">
              <a:off x="0" y="0"/>
              <a:ext cx="6769100" cy="406400"/>
            </a:xfrm>
            <a:custGeom>
              <a:avLst/>
              <a:gdLst/>
              <a:ahLst/>
              <a:cxnLst/>
              <a:rect r="r" b="b" t="t" l="l"/>
              <a:pathLst>
                <a:path h="406400" w="6769100">
                  <a:moveTo>
                    <a:pt x="101600" y="0"/>
                  </a:moveTo>
                  <a:lnTo>
                    <a:pt x="6769100" y="0"/>
                  </a:lnTo>
                  <a:lnTo>
                    <a:pt x="6769100" y="406400"/>
                  </a:lnTo>
                  <a:lnTo>
                    <a:pt x="101600" y="406400"/>
                  </a:lnTo>
                  <a:cubicBezTo>
                    <a:pt x="45466" y="406400"/>
                    <a:pt x="0" y="360934"/>
                    <a:pt x="0" y="304800"/>
                  </a:cubicBezTo>
                  <a:lnTo>
                    <a:pt x="0" y="101600"/>
                  </a:lnTo>
                  <a:cubicBezTo>
                    <a:pt x="0" y="45466"/>
                    <a:pt x="45466" y="0"/>
                    <a:pt x="101600" y="0"/>
                  </a:cubicBezTo>
                  <a:close/>
                </a:path>
              </a:pathLst>
            </a:custGeom>
            <a:solidFill>
              <a:srgbClr val="14655B"/>
            </a:solidFill>
          </p:spPr>
        </p:sp>
      </p:grpSp>
      <p:grpSp>
        <p:nvGrpSpPr>
          <p:cNvPr name="Group 13" id="13"/>
          <p:cNvGrpSpPr/>
          <p:nvPr/>
        </p:nvGrpSpPr>
        <p:grpSpPr>
          <a:xfrm rot="0">
            <a:off x="6296025" y="5673090"/>
            <a:ext cx="5076825" cy="304800"/>
            <a:chOff x="0" y="0"/>
            <a:chExt cx="6769100" cy="406400"/>
          </a:xfrm>
        </p:grpSpPr>
        <p:sp>
          <p:nvSpPr>
            <p:cNvPr name="Freeform 14" id="14"/>
            <p:cNvSpPr/>
            <p:nvPr/>
          </p:nvSpPr>
          <p:spPr>
            <a:xfrm flipH="false" flipV="false" rot="0">
              <a:off x="0" y="0"/>
              <a:ext cx="6769100" cy="406400"/>
            </a:xfrm>
            <a:custGeom>
              <a:avLst/>
              <a:gdLst/>
              <a:ahLst/>
              <a:cxnLst/>
              <a:rect r="r" b="b" t="t" l="l"/>
              <a:pathLst>
                <a:path h="406400" w="6769100">
                  <a:moveTo>
                    <a:pt x="0" y="0"/>
                  </a:moveTo>
                  <a:lnTo>
                    <a:pt x="6769100" y="0"/>
                  </a:lnTo>
                  <a:lnTo>
                    <a:pt x="6769100" y="406400"/>
                  </a:lnTo>
                  <a:lnTo>
                    <a:pt x="0" y="406400"/>
                  </a:lnTo>
                  <a:close/>
                </a:path>
              </a:pathLst>
            </a:custGeom>
            <a:solidFill>
              <a:srgbClr val="5FA595"/>
            </a:solidFill>
          </p:spPr>
        </p:sp>
      </p:grpSp>
      <p:grpSp>
        <p:nvGrpSpPr>
          <p:cNvPr name="Group 15" id="15"/>
          <p:cNvGrpSpPr/>
          <p:nvPr/>
        </p:nvGrpSpPr>
        <p:grpSpPr>
          <a:xfrm rot="0">
            <a:off x="11382375" y="5673090"/>
            <a:ext cx="5076825" cy="304800"/>
            <a:chOff x="0" y="0"/>
            <a:chExt cx="6769100" cy="406400"/>
          </a:xfrm>
        </p:grpSpPr>
        <p:sp>
          <p:nvSpPr>
            <p:cNvPr name="Freeform 16" id="16"/>
            <p:cNvSpPr/>
            <p:nvPr/>
          </p:nvSpPr>
          <p:spPr>
            <a:xfrm flipH="false" flipV="false" rot="0">
              <a:off x="0" y="0"/>
              <a:ext cx="6769100" cy="406400"/>
            </a:xfrm>
            <a:custGeom>
              <a:avLst/>
              <a:gdLst/>
              <a:ahLst/>
              <a:cxnLst/>
              <a:rect r="r" b="b" t="t" l="l"/>
              <a:pathLst>
                <a:path h="406400" w="6769100">
                  <a:moveTo>
                    <a:pt x="0" y="0"/>
                  </a:moveTo>
                  <a:lnTo>
                    <a:pt x="6667500" y="0"/>
                  </a:lnTo>
                  <a:cubicBezTo>
                    <a:pt x="6723634" y="0"/>
                    <a:pt x="6769100" y="45466"/>
                    <a:pt x="6769100" y="101600"/>
                  </a:cubicBezTo>
                  <a:lnTo>
                    <a:pt x="6769100" y="304800"/>
                  </a:lnTo>
                  <a:cubicBezTo>
                    <a:pt x="6769100" y="360934"/>
                    <a:pt x="6723634" y="406400"/>
                    <a:pt x="6667500" y="406400"/>
                  </a:cubicBezTo>
                  <a:lnTo>
                    <a:pt x="0" y="406400"/>
                  </a:lnTo>
                  <a:lnTo>
                    <a:pt x="0" y="0"/>
                  </a:lnTo>
                  <a:close/>
                </a:path>
              </a:pathLst>
            </a:custGeom>
            <a:solidFill>
              <a:srgbClr val="CFD5D1"/>
            </a:solidFill>
          </p:spPr>
        </p:sp>
      </p:grpSp>
      <p:sp>
        <p:nvSpPr>
          <p:cNvPr name="TextBox 17" id="17"/>
          <p:cNvSpPr txBox="true"/>
          <p:nvPr/>
        </p:nvSpPr>
        <p:spPr>
          <a:xfrm rot="0">
            <a:off x="1181100" y="5215890"/>
            <a:ext cx="838200" cy="396240"/>
          </a:xfrm>
          <a:prstGeom prst="rect">
            <a:avLst/>
          </a:prstGeom>
        </p:spPr>
        <p:txBody>
          <a:bodyPr anchor="t" rtlCol="false" tIns="0" lIns="0" bIns="0" rIns="0">
            <a:spAutoFit/>
          </a:bodyPr>
          <a:lstStyle/>
          <a:p>
            <a:pPr algn="ctr">
              <a:lnSpc>
                <a:spcPts val="2520"/>
              </a:lnSpc>
            </a:pPr>
            <a:r>
              <a:rPr lang="en-US" sz="1800">
                <a:solidFill>
                  <a:srgbClr val="4A5550"/>
                </a:solidFill>
                <a:latin typeface="IBM Plex Sans"/>
                <a:ea typeface="IBM Plex Sans"/>
                <a:cs typeface="IBM Plex Sans"/>
                <a:sym typeface="IBM Plex Sans"/>
              </a:rPr>
              <a:t>0 km</a:t>
            </a:r>
          </a:p>
        </p:txBody>
      </p:sp>
      <p:sp>
        <p:nvSpPr>
          <p:cNvPr name="TextBox 18" id="18"/>
          <p:cNvSpPr txBox="true"/>
          <p:nvPr/>
        </p:nvSpPr>
        <p:spPr>
          <a:xfrm rot="0">
            <a:off x="5876925" y="5215890"/>
            <a:ext cx="838200" cy="396240"/>
          </a:xfrm>
          <a:prstGeom prst="rect">
            <a:avLst/>
          </a:prstGeom>
        </p:spPr>
        <p:txBody>
          <a:bodyPr anchor="t" rtlCol="false" tIns="0" lIns="0" bIns="0" rIns="0">
            <a:spAutoFit/>
          </a:bodyPr>
          <a:lstStyle/>
          <a:p>
            <a:pPr algn="ctr">
              <a:lnSpc>
                <a:spcPts val="2520"/>
              </a:lnSpc>
            </a:pPr>
            <a:r>
              <a:rPr lang="en-US" sz="1800">
                <a:solidFill>
                  <a:srgbClr val="4A5550"/>
                </a:solidFill>
                <a:latin typeface="IBM Plex Sans"/>
                <a:ea typeface="IBM Plex Sans"/>
                <a:cs typeface="IBM Plex Sans"/>
                <a:sym typeface="IBM Plex Sans"/>
              </a:rPr>
              <a:t>10 km</a:t>
            </a:r>
          </a:p>
        </p:txBody>
      </p:sp>
      <p:sp>
        <p:nvSpPr>
          <p:cNvPr name="TextBox 19" id="19"/>
          <p:cNvSpPr txBox="true"/>
          <p:nvPr/>
        </p:nvSpPr>
        <p:spPr>
          <a:xfrm rot="0">
            <a:off x="10963275" y="5215890"/>
            <a:ext cx="838200" cy="396240"/>
          </a:xfrm>
          <a:prstGeom prst="rect">
            <a:avLst/>
          </a:prstGeom>
        </p:spPr>
        <p:txBody>
          <a:bodyPr anchor="t" rtlCol="false" tIns="0" lIns="0" bIns="0" rIns="0">
            <a:spAutoFit/>
          </a:bodyPr>
          <a:lstStyle/>
          <a:p>
            <a:pPr algn="ctr">
              <a:lnSpc>
                <a:spcPts val="2520"/>
              </a:lnSpc>
            </a:pPr>
            <a:r>
              <a:rPr lang="en-US" sz="1800">
                <a:solidFill>
                  <a:srgbClr val="4A5550"/>
                </a:solidFill>
                <a:latin typeface="IBM Plex Sans"/>
                <a:ea typeface="IBM Plex Sans"/>
                <a:cs typeface="IBM Plex Sans"/>
                <a:sym typeface="IBM Plex Sans"/>
              </a:rPr>
              <a:t>20 km</a:t>
            </a:r>
          </a:p>
        </p:txBody>
      </p:sp>
      <p:sp>
        <p:nvSpPr>
          <p:cNvPr name="TextBox 20" id="20"/>
          <p:cNvSpPr txBox="true"/>
          <p:nvPr/>
        </p:nvSpPr>
        <p:spPr>
          <a:xfrm rot="0">
            <a:off x="16040100" y="5215890"/>
            <a:ext cx="838200" cy="396240"/>
          </a:xfrm>
          <a:prstGeom prst="rect">
            <a:avLst/>
          </a:prstGeom>
        </p:spPr>
        <p:txBody>
          <a:bodyPr anchor="t" rtlCol="false" tIns="0" lIns="0" bIns="0" rIns="0">
            <a:spAutoFit/>
          </a:bodyPr>
          <a:lstStyle/>
          <a:p>
            <a:pPr algn="ctr">
              <a:lnSpc>
                <a:spcPts val="2520"/>
              </a:lnSpc>
            </a:pPr>
            <a:r>
              <a:rPr lang="en-US" sz="1800">
                <a:solidFill>
                  <a:srgbClr val="4A5550"/>
                </a:solidFill>
                <a:latin typeface="IBM Plex Sans"/>
                <a:ea typeface="IBM Plex Sans"/>
                <a:cs typeface="IBM Plex Sans"/>
                <a:sym typeface="IBM Plex Sans"/>
              </a:rPr>
              <a:t>30 km</a:t>
            </a:r>
          </a:p>
        </p:txBody>
      </p:sp>
      <p:grpSp>
        <p:nvGrpSpPr>
          <p:cNvPr name="Group 21" id="21"/>
          <p:cNvGrpSpPr/>
          <p:nvPr/>
        </p:nvGrpSpPr>
        <p:grpSpPr>
          <a:xfrm rot="0">
            <a:off x="2828925" y="5977890"/>
            <a:ext cx="38100" cy="419100"/>
            <a:chOff x="0" y="0"/>
            <a:chExt cx="50800" cy="558800"/>
          </a:xfrm>
        </p:grpSpPr>
        <p:sp>
          <p:nvSpPr>
            <p:cNvPr name="Freeform 22" id="22"/>
            <p:cNvSpPr/>
            <p:nvPr/>
          </p:nvSpPr>
          <p:spPr>
            <a:xfrm flipH="false" flipV="false" rot="0">
              <a:off x="0" y="0"/>
              <a:ext cx="50800" cy="558800"/>
            </a:xfrm>
            <a:custGeom>
              <a:avLst/>
              <a:gdLst/>
              <a:ahLst/>
              <a:cxnLst/>
              <a:rect r="r" b="b" t="t" l="l"/>
              <a:pathLst>
                <a:path h="558800" w="50800">
                  <a:moveTo>
                    <a:pt x="0" y="0"/>
                  </a:moveTo>
                  <a:lnTo>
                    <a:pt x="50800" y="0"/>
                  </a:lnTo>
                  <a:lnTo>
                    <a:pt x="50800" y="558800"/>
                  </a:lnTo>
                  <a:lnTo>
                    <a:pt x="0" y="558800"/>
                  </a:lnTo>
                  <a:close/>
                </a:path>
              </a:pathLst>
            </a:custGeom>
            <a:solidFill>
              <a:srgbClr val="1B2420"/>
            </a:solidFill>
          </p:spPr>
        </p:sp>
      </p:grpSp>
      <p:sp>
        <p:nvSpPr>
          <p:cNvPr name="TextBox 23" id="23"/>
          <p:cNvSpPr txBox="true"/>
          <p:nvPr/>
        </p:nvSpPr>
        <p:spPr>
          <a:xfrm rot="0">
            <a:off x="2047875" y="6435090"/>
            <a:ext cx="1600200" cy="396240"/>
          </a:xfrm>
          <a:prstGeom prst="rect">
            <a:avLst/>
          </a:prstGeom>
        </p:spPr>
        <p:txBody>
          <a:bodyPr anchor="t" rtlCol="false" tIns="0" lIns="0" bIns="0" rIns="0">
            <a:spAutoFit/>
          </a:bodyPr>
          <a:lstStyle/>
          <a:p>
            <a:pPr algn="ctr">
              <a:lnSpc>
                <a:spcPts val="2520"/>
              </a:lnSpc>
            </a:pPr>
            <a:r>
              <a:rPr lang="en-US" sz="1800" b="true">
                <a:solidFill>
                  <a:srgbClr val="1B2420"/>
                </a:solidFill>
                <a:latin typeface="IBM Plex Sans Bold"/>
                <a:ea typeface="IBM Plex Sans Bold"/>
                <a:cs typeface="IBM Plex Sans Bold"/>
                <a:sym typeface="IBM Plex Sans Bold"/>
              </a:rPr>
              <a:t>TA · 3.2 km</a:t>
            </a:r>
          </a:p>
        </p:txBody>
      </p:sp>
      <p:grpSp>
        <p:nvGrpSpPr>
          <p:cNvPr name="Group 24" id="24"/>
          <p:cNvGrpSpPr/>
          <p:nvPr/>
        </p:nvGrpSpPr>
        <p:grpSpPr>
          <a:xfrm rot="0">
            <a:off x="4505325" y="5977890"/>
            <a:ext cx="38100" cy="419100"/>
            <a:chOff x="0" y="0"/>
            <a:chExt cx="50800" cy="558800"/>
          </a:xfrm>
        </p:grpSpPr>
        <p:sp>
          <p:nvSpPr>
            <p:cNvPr name="Freeform 25" id="25"/>
            <p:cNvSpPr/>
            <p:nvPr/>
          </p:nvSpPr>
          <p:spPr>
            <a:xfrm flipH="false" flipV="false" rot="0">
              <a:off x="0" y="0"/>
              <a:ext cx="50800" cy="558800"/>
            </a:xfrm>
            <a:custGeom>
              <a:avLst/>
              <a:gdLst/>
              <a:ahLst/>
              <a:cxnLst/>
              <a:rect r="r" b="b" t="t" l="l"/>
              <a:pathLst>
                <a:path h="558800" w="50800">
                  <a:moveTo>
                    <a:pt x="0" y="0"/>
                  </a:moveTo>
                  <a:lnTo>
                    <a:pt x="50800" y="0"/>
                  </a:lnTo>
                  <a:lnTo>
                    <a:pt x="50800" y="558800"/>
                  </a:lnTo>
                  <a:lnTo>
                    <a:pt x="0" y="558800"/>
                  </a:lnTo>
                  <a:close/>
                </a:path>
              </a:pathLst>
            </a:custGeom>
            <a:solidFill>
              <a:srgbClr val="1B2420"/>
            </a:solidFill>
          </p:spPr>
        </p:sp>
      </p:grpSp>
      <p:sp>
        <p:nvSpPr>
          <p:cNvPr name="TextBox 26" id="26"/>
          <p:cNvSpPr txBox="true"/>
          <p:nvPr/>
        </p:nvSpPr>
        <p:spPr>
          <a:xfrm rot="0">
            <a:off x="3724275" y="6854190"/>
            <a:ext cx="1600200" cy="396240"/>
          </a:xfrm>
          <a:prstGeom prst="rect">
            <a:avLst/>
          </a:prstGeom>
        </p:spPr>
        <p:txBody>
          <a:bodyPr anchor="t" rtlCol="false" tIns="0" lIns="0" bIns="0" rIns="0">
            <a:spAutoFit/>
          </a:bodyPr>
          <a:lstStyle/>
          <a:p>
            <a:pPr algn="ctr">
              <a:lnSpc>
                <a:spcPts val="2520"/>
              </a:lnSpc>
            </a:pPr>
            <a:r>
              <a:rPr lang="en-US" sz="1800" b="true">
                <a:solidFill>
                  <a:srgbClr val="1B2420"/>
                </a:solidFill>
                <a:latin typeface="IBM Plex Sans Bold"/>
                <a:ea typeface="IBM Plex Sans Bold"/>
                <a:cs typeface="IBM Plex Sans Bold"/>
                <a:sym typeface="IBM Plex Sans Bold"/>
              </a:rPr>
              <a:t>TCH · 6.5 km</a:t>
            </a:r>
          </a:p>
        </p:txBody>
      </p:sp>
      <p:grpSp>
        <p:nvGrpSpPr>
          <p:cNvPr name="Group 27" id="27"/>
          <p:cNvGrpSpPr/>
          <p:nvPr/>
        </p:nvGrpSpPr>
        <p:grpSpPr>
          <a:xfrm rot="0">
            <a:off x="6181725" y="5977890"/>
            <a:ext cx="38100" cy="419100"/>
            <a:chOff x="0" y="0"/>
            <a:chExt cx="50800" cy="558800"/>
          </a:xfrm>
        </p:grpSpPr>
        <p:sp>
          <p:nvSpPr>
            <p:cNvPr name="Freeform 28" id="28"/>
            <p:cNvSpPr/>
            <p:nvPr/>
          </p:nvSpPr>
          <p:spPr>
            <a:xfrm flipH="false" flipV="false" rot="0">
              <a:off x="0" y="0"/>
              <a:ext cx="50800" cy="558800"/>
            </a:xfrm>
            <a:custGeom>
              <a:avLst/>
              <a:gdLst/>
              <a:ahLst/>
              <a:cxnLst/>
              <a:rect r="r" b="b" t="t" l="l"/>
              <a:pathLst>
                <a:path h="558800" w="50800">
                  <a:moveTo>
                    <a:pt x="0" y="0"/>
                  </a:moveTo>
                  <a:lnTo>
                    <a:pt x="50800" y="0"/>
                  </a:lnTo>
                  <a:lnTo>
                    <a:pt x="50800" y="558800"/>
                  </a:lnTo>
                  <a:lnTo>
                    <a:pt x="0" y="558800"/>
                  </a:lnTo>
                  <a:close/>
                </a:path>
              </a:pathLst>
            </a:custGeom>
            <a:solidFill>
              <a:srgbClr val="1B2420"/>
            </a:solidFill>
          </p:spPr>
        </p:sp>
      </p:grpSp>
      <p:sp>
        <p:nvSpPr>
          <p:cNvPr name="TextBox 29" id="29"/>
          <p:cNvSpPr txBox="true"/>
          <p:nvPr/>
        </p:nvSpPr>
        <p:spPr>
          <a:xfrm rot="0">
            <a:off x="5400675" y="6435090"/>
            <a:ext cx="1600200" cy="396240"/>
          </a:xfrm>
          <a:prstGeom prst="rect">
            <a:avLst/>
          </a:prstGeom>
        </p:spPr>
        <p:txBody>
          <a:bodyPr anchor="t" rtlCol="false" tIns="0" lIns="0" bIns="0" rIns="0">
            <a:spAutoFit/>
          </a:bodyPr>
          <a:lstStyle/>
          <a:p>
            <a:pPr algn="ctr">
              <a:lnSpc>
                <a:spcPts val="2520"/>
              </a:lnSpc>
            </a:pPr>
            <a:r>
              <a:rPr lang="en-US" sz="1800" b="true">
                <a:solidFill>
                  <a:srgbClr val="1B2420"/>
                </a:solidFill>
                <a:latin typeface="IBM Plex Sans Bold"/>
                <a:ea typeface="IBM Plex Sans Bold"/>
                <a:cs typeface="IBM Plex Sans Bold"/>
                <a:sym typeface="IBM Plex Sans Bold"/>
              </a:rPr>
              <a:t>GV · 9.8 km</a:t>
            </a:r>
          </a:p>
        </p:txBody>
      </p:sp>
      <p:grpSp>
        <p:nvGrpSpPr>
          <p:cNvPr name="Group 30" id="30"/>
          <p:cNvGrpSpPr/>
          <p:nvPr/>
        </p:nvGrpSpPr>
        <p:grpSpPr>
          <a:xfrm rot="0">
            <a:off x="10039350" y="5977890"/>
            <a:ext cx="38100" cy="419100"/>
            <a:chOff x="0" y="0"/>
            <a:chExt cx="50800" cy="558800"/>
          </a:xfrm>
        </p:grpSpPr>
        <p:sp>
          <p:nvSpPr>
            <p:cNvPr name="Freeform 31" id="31"/>
            <p:cNvSpPr/>
            <p:nvPr/>
          </p:nvSpPr>
          <p:spPr>
            <a:xfrm flipH="false" flipV="false" rot="0">
              <a:off x="0" y="0"/>
              <a:ext cx="50800" cy="558800"/>
            </a:xfrm>
            <a:custGeom>
              <a:avLst/>
              <a:gdLst/>
              <a:ahLst/>
              <a:cxnLst/>
              <a:rect r="r" b="b" t="t" l="l"/>
              <a:pathLst>
                <a:path h="558800" w="50800">
                  <a:moveTo>
                    <a:pt x="0" y="0"/>
                  </a:moveTo>
                  <a:lnTo>
                    <a:pt x="50800" y="0"/>
                  </a:lnTo>
                  <a:lnTo>
                    <a:pt x="50800" y="558800"/>
                  </a:lnTo>
                  <a:lnTo>
                    <a:pt x="0" y="558800"/>
                  </a:lnTo>
                  <a:close/>
                </a:path>
              </a:pathLst>
            </a:custGeom>
            <a:solidFill>
              <a:srgbClr val="1B2420"/>
            </a:solidFill>
          </p:spPr>
        </p:sp>
      </p:grpSp>
      <p:sp>
        <p:nvSpPr>
          <p:cNvPr name="TextBox 32" id="32"/>
          <p:cNvSpPr txBox="true"/>
          <p:nvPr/>
        </p:nvSpPr>
        <p:spPr>
          <a:xfrm rot="0">
            <a:off x="9258300" y="6854190"/>
            <a:ext cx="1600200" cy="396240"/>
          </a:xfrm>
          <a:prstGeom prst="rect">
            <a:avLst/>
          </a:prstGeom>
        </p:spPr>
        <p:txBody>
          <a:bodyPr anchor="t" rtlCol="false" tIns="0" lIns="0" bIns="0" rIns="0">
            <a:spAutoFit/>
          </a:bodyPr>
          <a:lstStyle/>
          <a:p>
            <a:pPr algn="ctr">
              <a:lnSpc>
                <a:spcPts val="2520"/>
              </a:lnSpc>
            </a:pPr>
            <a:r>
              <a:rPr lang="en-US" sz="1800" b="true">
                <a:solidFill>
                  <a:srgbClr val="1B2420"/>
                </a:solidFill>
                <a:latin typeface="IBM Plex Sans Bold"/>
                <a:ea typeface="IBM Plex Sans Bold"/>
                <a:cs typeface="IBM Plex Sans Bold"/>
                <a:sym typeface="IBM Plex Sans Bold"/>
              </a:rPr>
              <a:t>TD · 17.4 km</a:t>
            </a:r>
          </a:p>
        </p:txBody>
      </p:sp>
      <p:grpSp>
        <p:nvGrpSpPr>
          <p:cNvPr name="Group 33" id="33"/>
          <p:cNvGrpSpPr/>
          <p:nvPr/>
        </p:nvGrpSpPr>
        <p:grpSpPr>
          <a:xfrm rot="0">
            <a:off x="15725775" y="5977890"/>
            <a:ext cx="38100" cy="419100"/>
            <a:chOff x="0" y="0"/>
            <a:chExt cx="50800" cy="558800"/>
          </a:xfrm>
        </p:grpSpPr>
        <p:sp>
          <p:nvSpPr>
            <p:cNvPr name="Freeform 34" id="34"/>
            <p:cNvSpPr/>
            <p:nvPr/>
          </p:nvSpPr>
          <p:spPr>
            <a:xfrm flipH="false" flipV="false" rot="0">
              <a:off x="0" y="0"/>
              <a:ext cx="50800" cy="558800"/>
            </a:xfrm>
            <a:custGeom>
              <a:avLst/>
              <a:gdLst/>
              <a:ahLst/>
              <a:cxnLst/>
              <a:rect r="r" b="b" t="t" l="l"/>
              <a:pathLst>
                <a:path h="558800" w="50800">
                  <a:moveTo>
                    <a:pt x="0" y="0"/>
                  </a:moveTo>
                  <a:lnTo>
                    <a:pt x="50800" y="0"/>
                  </a:lnTo>
                  <a:lnTo>
                    <a:pt x="50800" y="558800"/>
                  </a:lnTo>
                  <a:lnTo>
                    <a:pt x="0" y="558800"/>
                  </a:lnTo>
                  <a:close/>
                </a:path>
              </a:pathLst>
            </a:custGeom>
            <a:solidFill>
              <a:srgbClr val="1B2420"/>
            </a:solidFill>
          </p:spPr>
        </p:sp>
      </p:grpSp>
      <p:sp>
        <p:nvSpPr>
          <p:cNvPr name="TextBox 35" id="35"/>
          <p:cNvSpPr txBox="true"/>
          <p:nvPr/>
        </p:nvSpPr>
        <p:spPr>
          <a:xfrm rot="0">
            <a:off x="14944725" y="6435090"/>
            <a:ext cx="1600200" cy="396240"/>
          </a:xfrm>
          <a:prstGeom prst="rect">
            <a:avLst/>
          </a:prstGeom>
        </p:spPr>
        <p:txBody>
          <a:bodyPr anchor="t" rtlCol="false" tIns="0" lIns="0" bIns="0" rIns="0">
            <a:spAutoFit/>
          </a:bodyPr>
          <a:lstStyle/>
          <a:p>
            <a:pPr algn="ctr">
              <a:lnSpc>
                <a:spcPts val="2520"/>
              </a:lnSpc>
            </a:pPr>
            <a:r>
              <a:rPr lang="en-US" sz="1800" b="true">
                <a:solidFill>
                  <a:srgbClr val="1B2420"/>
                </a:solidFill>
                <a:latin typeface="IBM Plex Sans Bold"/>
                <a:ea typeface="IBM Plex Sans Bold"/>
                <a:cs typeface="IBM Plex Sans Bold"/>
                <a:sym typeface="IBM Plex Sans Bold"/>
              </a:rPr>
              <a:t>CC · 28.6 km</a:t>
            </a:r>
          </a:p>
        </p:txBody>
      </p:sp>
      <p:sp>
        <p:nvSpPr>
          <p:cNvPr name="TextBox 36" id="36"/>
          <p:cNvSpPr txBox="true"/>
          <p:nvPr/>
        </p:nvSpPr>
        <p:spPr>
          <a:xfrm rot="0">
            <a:off x="1219200" y="7616190"/>
            <a:ext cx="16325088"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Distances from each warehouse to Tạp hóa Minh Châu. Pilot values: Dmax = 20 km and a 10 km transit band, configured per warehouse and to be confirmed with the distributor's data. Dijkstra gives only the distance; the transit time comes from this table.</a:t>
            </a:r>
          </a:p>
        </p:txBody>
      </p:sp>
      <p:sp>
        <p:nvSpPr>
          <p:cNvPr name="TextBox 37" id="37"/>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38" id="38"/>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18</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STEPS B2B – B2D</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Estimated arrival and MLOR check</a:t>
            </a:r>
          </a:p>
        </p:txBody>
      </p:sp>
      <p:grpSp>
        <p:nvGrpSpPr>
          <p:cNvPr name="Group 4" id="4"/>
          <p:cNvGrpSpPr/>
          <p:nvPr/>
        </p:nvGrpSpPr>
        <p:grpSpPr>
          <a:xfrm rot="0">
            <a:off x="1219200" y="2358390"/>
            <a:ext cx="7365921" cy="1047750"/>
            <a:chOff x="0" y="0"/>
            <a:chExt cx="9821228" cy="1397000"/>
          </a:xfrm>
        </p:grpSpPr>
        <p:sp>
          <p:nvSpPr>
            <p:cNvPr name="Freeform 5" id="5"/>
            <p:cNvSpPr/>
            <p:nvPr/>
          </p:nvSpPr>
          <p:spPr>
            <a:xfrm flipH="false" flipV="false" rot="0">
              <a:off x="0" y="0"/>
              <a:ext cx="9821164" cy="1397000"/>
            </a:xfrm>
            <a:custGeom>
              <a:avLst/>
              <a:gdLst/>
              <a:ahLst/>
              <a:cxnLst/>
              <a:rect r="r" b="b" t="t" l="l"/>
              <a:pathLst>
                <a:path h="1397000" w="9821164">
                  <a:moveTo>
                    <a:pt x="0" y="101600"/>
                  </a:moveTo>
                  <a:cubicBezTo>
                    <a:pt x="0" y="45466"/>
                    <a:pt x="45466" y="0"/>
                    <a:pt x="101600" y="0"/>
                  </a:cubicBezTo>
                  <a:lnTo>
                    <a:pt x="9719564" y="0"/>
                  </a:lnTo>
                  <a:cubicBezTo>
                    <a:pt x="9775698" y="0"/>
                    <a:pt x="9821164" y="45466"/>
                    <a:pt x="9821164" y="101600"/>
                  </a:cubicBezTo>
                  <a:lnTo>
                    <a:pt x="9821164" y="1295400"/>
                  </a:lnTo>
                  <a:cubicBezTo>
                    <a:pt x="9821164" y="1351534"/>
                    <a:pt x="9775698" y="1397000"/>
                    <a:pt x="9719564" y="1397000"/>
                  </a:cubicBezTo>
                  <a:lnTo>
                    <a:pt x="101600" y="1397000"/>
                  </a:lnTo>
                  <a:cubicBezTo>
                    <a:pt x="45466" y="1397000"/>
                    <a:pt x="0" y="1351534"/>
                    <a:pt x="0" y="1295400"/>
                  </a:cubicBezTo>
                  <a:close/>
                </a:path>
              </a:pathLst>
            </a:custGeom>
            <a:solidFill>
              <a:srgbClr val="E9EEEA"/>
            </a:solidFill>
          </p:spPr>
        </p:sp>
        <p:sp>
          <p:nvSpPr>
            <p:cNvPr name="TextBox 6" id="6"/>
            <p:cNvSpPr txBox="true"/>
            <p:nvPr/>
          </p:nvSpPr>
          <p:spPr>
            <a:xfrm>
              <a:off x="0" y="-57150"/>
              <a:ext cx="9821228" cy="14541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T_dispatch = next run after</a:t>
              </a:r>
            </a:p>
            <a:p>
              <a:pPr algn="l">
                <a:lnSpc>
                  <a:spcPts val="2925"/>
                </a:lnSpc>
              </a:pPr>
              <a:r>
                <a:rPr lang="en-US" sz="1950">
                  <a:solidFill>
                    <a:srgbClr val="1B2420"/>
                  </a:solidFill>
                  <a:latin typeface="IBM Plex Mono"/>
                  <a:ea typeface="IBM Plex Mono"/>
                  <a:cs typeface="IBM Plex Mono"/>
                  <a:sym typeface="IBM Plex Mono"/>
                </a:rPr>
                <a:t>(start + preparation + buffer)</a:t>
              </a:r>
            </a:p>
          </p:txBody>
        </p:sp>
      </p:grpSp>
      <p:grpSp>
        <p:nvGrpSpPr>
          <p:cNvPr name="Group 7" id="7"/>
          <p:cNvGrpSpPr/>
          <p:nvPr/>
        </p:nvGrpSpPr>
        <p:grpSpPr>
          <a:xfrm rot="0">
            <a:off x="1219200" y="2358390"/>
            <a:ext cx="7365921" cy="1047750"/>
            <a:chOff x="0" y="0"/>
            <a:chExt cx="9821228" cy="1397000"/>
          </a:xfrm>
        </p:grpSpPr>
        <p:sp>
          <p:nvSpPr>
            <p:cNvPr name="Freeform 8" id="8"/>
            <p:cNvSpPr/>
            <p:nvPr/>
          </p:nvSpPr>
          <p:spPr>
            <a:xfrm flipH="false" flipV="false" rot="0">
              <a:off x="0" y="0"/>
              <a:ext cx="177800" cy="1397000"/>
            </a:xfrm>
            <a:custGeom>
              <a:avLst/>
              <a:gdLst/>
              <a:ahLst/>
              <a:cxnLst/>
              <a:rect r="r" b="b" t="t" l="l"/>
              <a:pathLst>
                <a:path h="1397000" w="177800">
                  <a:moveTo>
                    <a:pt x="101600" y="1397000"/>
                  </a:moveTo>
                  <a:cubicBezTo>
                    <a:pt x="45466" y="1397000"/>
                    <a:pt x="0" y="1351534"/>
                    <a:pt x="0" y="1295400"/>
                  </a:cubicBezTo>
                  <a:lnTo>
                    <a:pt x="0" y="101600"/>
                  </a:lnTo>
                  <a:cubicBezTo>
                    <a:pt x="0" y="45466"/>
                    <a:pt x="45466" y="0"/>
                    <a:pt x="101600" y="0"/>
                  </a:cubicBezTo>
                  <a:cubicBezTo>
                    <a:pt x="45466" y="0"/>
                    <a:pt x="0" y="45466"/>
                    <a:pt x="0" y="101600"/>
                  </a:cubicBezTo>
                  <a:lnTo>
                    <a:pt x="76200" y="1295400"/>
                  </a:lnTo>
                  <a:cubicBezTo>
                    <a:pt x="76200" y="1351534"/>
                    <a:pt x="121666" y="1397000"/>
                    <a:pt x="177800" y="1397000"/>
                  </a:cubicBezTo>
                  <a:close/>
                </a:path>
              </a:pathLst>
            </a:custGeom>
            <a:solidFill>
              <a:srgbClr val="14655B"/>
            </a:solidFill>
          </p:spPr>
        </p:sp>
      </p:grpSp>
      <p:grpSp>
        <p:nvGrpSpPr>
          <p:cNvPr name="Group 9" id="9"/>
          <p:cNvGrpSpPr/>
          <p:nvPr/>
        </p:nvGrpSpPr>
        <p:grpSpPr>
          <a:xfrm rot="0">
            <a:off x="1219200" y="3558540"/>
            <a:ext cx="7365921" cy="676275"/>
            <a:chOff x="0" y="0"/>
            <a:chExt cx="9821228" cy="901700"/>
          </a:xfrm>
        </p:grpSpPr>
        <p:sp>
          <p:nvSpPr>
            <p:cNvPr name="Freeform 10" id="10"/>
            <p:cNvSpPr/>
            <p:nvPr/>
          </p:nvSpPr>
          <p:spPr>
            <a:xfrm flipH="false" flipV="false" rot="0">
              <a:off x="0" y="0"/>
              <a:ext cx="9821164" cy="901700"/>
            </a:xfrm>
            <a:custGeom>
              <a:avLst/>
              <a:gdLst/>
              <a:ahLst/>
              <a:cxnLst/>
              <a:rect r="r" b="b" t="t" l="l"/>
              <a:pathLst>
                <a:path h="901700" w="9821164">
                  <a:moveTo>
                    <a:pt x="0" y="101600"/>
                  </a:moveTo>
                  <a:cubicBezTo>
                    <a:pt x="0" y="45466"/>
                    <a:pt x="45466" y="0"/>
                    <a:pt x="101600" y="0"/>
                  </a:cubicBezTo>
                  <a:lnTo>
                    <a:pt x="9719564" y="0"/>
                  </a:lnTo>
                  <a:cubicBezTo>
                    <a:pt x="9775698" y="0"/>
                    <a:pt x="9821164" y="45466"/>
                    <a:pt x="9821164" y="101600"/>
                  </a:cubicBezTo>
                  <a:lnTo>
                    <a:pt x="9821164" y="800100"/>
                  </a:lnTo>
                  <a:cubicBezTo>
                    <a:pt x="9821164" y="856234"/>
                    <a:pt x="9775698" y="901700"/>
                    <a:pt x="9719564" y="901700"/>
                  </a:cubicBezTo>
                  <a:lnTo>
                    <a:pt x="101600" y="901700"/>
                  </a:lnTo>
                  <a:cubicBezTo>
                    <a:pt x="45466" y="901700"/>
                    <a:pt x="0" y="856234"/>
                    <a:pt x="0" y="800100"/>
                  </a:cubicBezTo>
                  <a:close/>
                </a:path>
              </a:pathLst>
            </a:custGeom>
            <a:solidFill>
              <a:srgbClr val="E9EEEA"/>
            </a:solidFill>
          </p:spPr>
        </p:sp>
        <p:sp>
          <p:nvSpPr>
            <p:cNvPr name="TextBox 11" id="11"/>
            <p:cNvSpPr txBox="true"/>
            <p:nvPr/>
          </p:nvSpPr>
          <p:spPr>
            <a:xfrm>
              <a:off x="0" y="-57150"/>
              <a:ext cx="9821228" cy="9588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ETA(b, c) = T_dispatch + transit(d)</a:t>
              </a:r>
            </a:p>
          </p:txBody>
        </p:sp>
      </p:grpSp>
      <p:grpSp>
        <p:nvGrpSpPr>
          <p:cNvPr name="Group 12" id="12"/>
          <p:cNvGrpSpPr/>
          <p:nvPr/>
        </p:nvGrpSpPr>
        <p:grpSpPr>
          <a:xfrm rot="0">
            <a:off x="1219200" y="3558540"/>
            <a:ext cx="7365921" cy="676275"/>
            <a:chOff x="0" y="0"/>
            <a:chExt cx="9821228" cy="901700"/>
          </a:xfrm>
        </p:grpSpPr>
        <p:sp>
          <p:nvSpPr>
            <p:cNvPr name="Freeform 13" id="13"/>
            <p:cNvSpPr/>
            <p:nvPr/>
          </p:nvSpPr>
          <p:spPr>
            <a:xfrm flipH="false" flipV="false" rot="0">
              <a:off x="0" y="0"/>
              <a:ext cx="177800" cy="901700"/>
            </a:xfrm>
            <a:custGeom>
              <a:avLst/>
              <a:gdLst/>
              <a:ahLst/>
              <a:cxnLst/>
              <a:rect r="r" b="b" t="t" l="l"/>
              <a:pathLst>
                <a:path h="901700" w="177800">
                  <a:moveTo>
                    <a:pt x="101600" y="901700"/>
                  </a:moveTo>
                  <a:cubicBezTo>
                    <a:pt x="45466" y="901700"/>
                    <a:pt x="0" y="856234"/>
                    <a:pt x="0" y="800100"/>
                  </a:cubicBezTo>
                  <a:lnTo>
                    <a:pt x="0" y="101600"/>
                  </a:lnTo>
                  <a:cubicBezTo>
                    <a:pt x="0" y="45466"/>
                    <a:pt x="45466" y="0"/>
                    <a:pt x="101600" y="0"/>
                  </a:cubicBezTo>
                  <a:cubicBezTo>
                    <a:pt x="45466" y="0"/>
                    <a:pt x="0" y="45466"/>
                    <a:pt x="0" y="101600"/>
                  </a:cubicBezTo>
                  <a:lnTo>
                    <a:pt x="76200" y="800100"/>
                  </a:lnTo>
                  <a:cubicBezTo>
                    <a:pt x="76200" y="856234"/>
                    <a:pt x="121666" y="901700"/>
                    <a:pt x="177800" y="901700"/>
                  </a:cubicBezTo>
                  <a:close/>
                </a:path>
              </a:pathLst>
            </a:custGeom>
            <a:solidFill>
              <a:srgbClr val="14655B"/>
            </a:solidFill>
          </p:spPr>
        </p:sp>
      </p:grpSp>
      <p:grpSp>
        <p:nvGrpSpPr>
          <p:cNvPr name="Group 14" id="14"/>
          <p:cNvGrpSpPr/>
          <p:nvPr/>
        </p:nvGrpSpPr>
        <p:grpSpPr>
          <a:xfrm rot="0">
            <a:off x="1219200" y="4387215"/>
            <a:ext cx="7365921" cy="676275"/>
            <a:chOff x="0" y="0"/>
            <a:chExt cx="9821228" cy="901700"/>
          </a:xfrm>
        </p:grpSpPr>
        <p:sp>
          <p:nvSpPr>
            <p:cNvPr name="Freeform 15" id="15"/>
            <p:cNvSpPr/>
            <p:nvPr/>
          </p:nvSpPr>
          <p:spPr>
            <a:xfrm flipH="false" flipV="false" rot="0">
              <a:off x="0" y="0"/>
              <a:ext cx="9821164" cy="901700"/>
            </a:xfrm>
            <a:custGeom>
              <a:avLst/>
              <a:gdLst/>
              <a:ahLst/>
              <a:cxnLst/>
              <a:rect r="r" b="b" t="t" l="l"/>
              <a:pathLst>
                <a:path h="901700" w="9821164">
                  <a:moveTo>
                    <a:pt x="0" y="101600"/>
                  </a:moveTo>
                  <a:cubicBezTo>
                    <a:pt x="0" y="45466"/>
                    <a:pt x="45466" y="0"/>
                    <a:pt x="101600" y="0"/>
                  </a:cubicBezTo>
                  <a:lnTo>
                    <a:pt x="9719564" y="0"/>
                  </a:lnTo>
                  <a:cubicBezTo>
                    <a:pt x="9775698" y="0"/>
                    <a:pt x="9821164" y="45466"/>
                    <a:pt x="9821164" y="101600"/>
                  </a:cubicBezTo>
                  <a:lnTo>
                    <a:pt x="9821164" y="800100"/>
                  </a:lnTo>
                  <a:cubicBezTo>
                    <a:pt x="9821164" y="856234"/>
                    <a:pt x="9775698" y="901700"/>
                    <a:pt x="9719564" y="901700"/>
                  </a:cubicBezTo>
                  <a:lnTo>
                    <a:pt x="101600" y="901700"/>
                  </a:lnTo>
                  <a:cubicBezTo>
                    <a:pt x="45466" y="901700"/>
                    <a:pt x="0" y="856234"/>
                    <a:pt x="0" y="800100"/>
                  </a:cubicBezTo>
                  <a:close/>
                </a:path>
              </a:pathLst>
            </a:custGeom>
            <a:solidFill>
              <a:srgbClr val="E9EEEA"/>
            </a:solidFill>
          </p:spPr>
        </p:sp>
        <p:sp>
          <p:nvSpPr>
            <p:cNvPr name="TextBox 16" id="16"/>
            <p:cNvSpPr txBox="true"/>
            <p:nvPr/>
          </p:nvSpPr>
          <p:spPr>
            <a:xfrm>
              <a:off x="0" y="-57150"/>
              <a:ext cx="9821228" cy="9588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keep b if ETA ≤ promised date</a:t>
              </a:r>
            </a:p>
          </p:txBody>
        </p:sp>
      </p:grpSp>
      <p:grpSp>
        <p:nvGrpSpPr>
          <p:cNvPr name="Group 17" id="17"/>
          <p:cNvGrpSpPr/>
          <p:nvPr/>
        </p:nvGrpSpPr>
        <p:grpSpPr>
          <a:xfrm rot="0">
            <a:off x="1219200" y="4387215"/>
            <a:ext cx="7365921" cy="676275"/>
            <a:chOff x="0" y="0"/>
            <a:chExt cx="9821228" cy="901700"/>
          </a:xfrm>
        </p:grpSpPr>
        <p:sp>
          <p:nvSpPr>
            <p:cNvPr name="Freeform 18" id="18"/>
            <p:cNvSpPr/>
            <p:nvPr/>
          </p:nvSpPr>
          <p:spPr>
            <a:xfrm flipH="false" flipV="false" rot="0">
              <a:off x="0" y="0"/>
              <a:ext cx="177800" cy="901700"/>
            </a:xfrm>
            <a:custGeom>
              <a:avLst/>
              <a:gdLst/>
              <a:ahLst/>
              <a:cxnLst/>
              <a:rect r="r" b="b" t="t" l="l"/>
              <a:pathLst>
                <a:path h="901700" w="177800">
                  <a:moveTo>
                    <a:pt x="101600" y="901700"/>
                  </a:moveTo>
                  <a:cubicBezTo>
                    <a:pt x="45466" y="901700"/>
                    <a:pt x="0" y="856234"/>
                    <a:pt x="0" y="800100"/>
                  </a:cubicBezTo>
                  <a:lnTo>
                    <a:pt x="0" y="101600"/>
                  </a:lnTo>
                  <a:cubicBezTo>
                    <a:pt x="0" y="45466"/>
                    <a:pt x="45466" y="0"/>
                    <a:pt x="101600" y="0"/>
                  </a:cubicBezTo>
                  <a:cubicBezTo>
                    <a:pt x="45466" y="0"/>
                    <a:pt x="0" y="45466"/>
                    <a:pt x="0" y="101600"/>
                  </a:cubicBezTo>
                  <a:lnTo>
                    <a:pt x="76200" y="800100"/>
                  </a:lnTo>
                  <a:cubicBezTo>
                    <a:pt x="76200" y="856234"/>
                    <a:pt x="121666" y="901700"/>
                    <a:pt x="177800" y="901700"/>
                  </a:cubicBezTo>
                  <a:close/>
                </a:path>
              </a:pathLst>
            </a:custGeom>
            <a:solidFill>
              <a:srgbClr val="14655B"/>
            </a:solidFill>
          </p:spPr>
        </p:sp>
      </p:grpSp>
      <p:grpSp>
        <p:nvGrpSpPr>
          <p:cNvPr name="Group 19" id="19"/>
          <p:cNvGrpSpPr/>
          <p:nvPr/>
        </p:nvGrpSpPr>
        <p:grpSpPr>
          <a:xfrm rot="0">
            <a:off x="1219200" y="5215890"/>
            <a:ext cx="7365921" cy="1047750"/>
            <a:chOff x="0" y="0"/>
            <a:chExt cx="9821228" cy="1397000"/>
          </a:xfrm>
        </p:grpSpPr>
        <p:sp>
          <p:nvSpPr>
            <p:cNvPr name="Freeform 20" id="20"/>
            <p:cNvSpPr/>
            <p:nvPr/>
          </p:nvSpPr>
          <p:spPr>
            <a:xfrm flipH="false" flipV="false" rot="0">
              <a:off x="0" y="0"/>
              <a:ext cx="9821164" cy="1397000"/>
            </a:xfrm>
            <a:custGeom>
              <a:avLst/>
              <a:gdLst/>
              <a:ahLst/>
              <a:cxnLst/>
              <a:rect r="r" b="b" t="t" l="l"/>
              <a:pathLst>
                <a:path h="1397000" w="9821164">
                  <a:moveTo>
                    <a:pt x="0" y="101600"/>
                  </a:moveTo>
                  <a:cubicBezTo>
                    <a:pt x="0" y="45466"/>
                    <a:pt x="45466" y="0"/>
                    <a:pt x="101600" y="0"/>
                  </a:cubicBezTo>
                  <a:lnTo>
                    <a:pt x="9719564" y="0"/>
                  </a:lnTo>
                  <a:cubicBezTo>
                    <a:pt x="9775698" y="0"/>
                    <a:pt x="9821164" y="45466"/>
                    <a:pt x="9821164" y="101600"/>
                  </a:cubicBezTo>
                  <a:lnTo>
                    <a:pt x="9821164" y="1295400"/>
                  </a:lnTo>
                  <a:cubicBezTo>
                    <a:pt x="9821164" y="1351534"/>
                    <a:pt x="9775698" y="1397000"/>
                    <a:pt x="9719564" y="1397000"/>
                  </a:cubicBezTo>
                  <a:lnTo>
                    <a:pt x="101600" y="1397000"/>
                  </a:lnTo>
                  <a:cubicBezTo>
                    <a:pt x="45466" y="1397000"/>
                    <a:pt x="0" y="1351534"/>
                    <a:pt x="0" y="1295400"/>
                  </a:cubicBezTo>
                  <a:close/>
                </a:path>
              </a:pathLst>
            </a:custGeom>
            <a:solidFill>
              <a:srgbClr val="E9EEEA"/>
            </a:solidFill>
          </p:spPr>
        </p:sp>
        <p:sp>
          <p:nvSpPr>
            <p:cNvPr name="TextBox 21" id="21"/>
            <p:cNvSpPr txBox="true"/>
            <p:nvPr/>
          </p:nvSpPr>
          <p:spPr>
            <a:xfrm>
              <a:off x="0" y="-57150"/>
              <a:ext cx="9821228" cy="14541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and EXP(b) − ETA ≥ m(c,s) × SL(s)</a:t>
              </a:r>
            </a:p>
            <a:p>
              <a:pPr algn="l">
                <a:lnSpc>
                  <a:spcPts val="2925"/>
                </a:lnSpc>
              </a:pPr>
              <a:r>
                <a:rPr lang="en-US" sz="1950">
                  <a:solidFill>
                    <a:srgbClr val="1B2420"/>
                  </a:solidFill>
                  <a:latin typeface="IBM Plex Mono"/>
                  <a:ea typeface="IBM Plex Mono"/>
                  <a:cs typeface="IBM Plex Mono"/>
                  <a:sym typeface="IBM Plex Mono"/>
                </a:rPr>
                <a:t>with 0 &lt; m(c,s) &lt; 1</a:t>
              </a:r>
            </a:p>
          </p:txBody>
        </p:sp>
      </p:grpSp>
      <p:grpSp>
        <p:nvGrpSpPr>
          <p:cNvPr name="Group 22" id="22"/>
          <p:cNvGrpSpPr/>
          <p:nvPr/>
        </p:nvGrpSpPr>
        <p:grpSpPr>
          <a:xfrm rot="0">
            <a:off x="1219200" y="5215890"/>
            <a:ext cx="7365921" cy="1047750"/>
            <a:chOff x="0" y="0"/>
            <a:chExt cx="9821228" cy="1397000"/>
          </a:xfrm>
        </p:grpSpPr>
        <p:sp>
          <p:nvSpPr>
            <p:cNvPr name="Freeform 23" id="23"/>
            <p:cNvSpPr/>
            <p:nvPr/>
          </p:nvSpPr>
          <p:spPr>
            <a:xfrm flipH="false" flipV="false" rot="0">
              <a:off x="0" y="0"/>
              <a:ext cx="177800" cy="1397000"/>
            </a:xfrm>
            <a:custGeom>
              <a:avLst/>
              <a:gdLst/>
              <a:ahLst/>
              <a:cxnLst/>
              <a:rect r="r" b="b" t="t" l="l"/>
              <a:pathLst>
                <a:path h="1397000" w="177800">
                  <a:moveTo>
                    <a:pt x="101600" y="1397000"/>
                  </a:moveTo>
                  <a:cubicBezTo>
                    <a:pt x="45466" y="1397000"/>
                    <a:pt x="0" y="1351534"/>
                    <a:pt x="0" y="1295400"/>
                  </a:cubicBezTo>
                  <a:lnTo>
                    <a:pt x="0" y="101600"/>
                  </a:lnTo>
                  <a:cubicBezTo>
                    <a:pt x="0" y="45466"/>
                    <a:pt x="45466" y="0"/>
                    <a:pt x="101600" y="0"/>
                  </a:cubicBezTo>
                  <a:cubicBezTo>
                    <a:pt x="45466" y="0"/>
                    <a:pt x="0" y="45466"/>
                    <a:pt x="0" y="101600"/>
                  </a:cubicBezTo>
                  <a:lnTo>
                    <a:pt x="76200" y="1295400"/>
                  </a:lnTo>
                  <a:cubicBezTo>
                    <a:pt x="76200" y="1351534"/>
                    <a:pt x="121666" y="1397000"/>
                    <a:pt x="177800" y="1397000"/>
                  </a:cubicBezTo>
                  <a:close/>
                </a:path>
              </a:pathLst>
            </a:custGeom>
            <a:solidFill>
              <a:srgbClr val="14655B"/>
            </a:solidFill>
          </p:spPr>
        </p:sp>
      </p:grpSp>
      <p:sp>
        <p:nvSpPr>
          <p:cNvPr name="TextBox 24" id="24"/>
          <p:cNvSpPr txBox="true"/>
          <p:nvPr/>
        </p:nvSpPr>
        <p:spPr>
          <a:xfrm rot="0">
            <a:off x="1219200" y="6377940"/>
            <a:ext cx="7586901"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Each warehouse part is checked on its own ETA. If the schedule changes, ETA and both conditions are recomputed.</a:t>
            </a:r>
          </a:p>
        </p:txBody>
      </p:sp>
      <p:sp>
        <p:nvSpPr>
          <p:cNvPr name="TextBox 25" id="25"/>
          <p:cNvSpPr txBox="true"/>
          <p:nvPr/>
        </p:nvSpPr>
        <p:spPr>
          <a:xfrm rot="0">
            <a:off x="8966121" y="2320290"/>
            <a:ext cx="8345757" cy="422910"/>
          </a:xfrm>
          <a:prstGeom prst="rect">
            <a:avLst/>
          </a:prstGeom>
        </p:spPr>
        <p:txBody>
          <a:bodyPr anchor="t" rtlCol="false" tIns="0" lIns="0" bIns="0" rIns="0">
            <a:spAutoFit/>
          </a:bodyPr>
          <a:lstStyle/>
          <a:p>
            <a:pPr algn="l">
              <a:lnSpc>
                <a:spcPts val="2729"/>
              </a:lnSpc>
            </a:pPr>
            <a:r>
              <a:rPr lang="en-US" sz="1950" b="true">
                <a:solidFill>
                  <a:srgbClr val="1B2420"/>
                </a:solidFill>
                <a:latin typeface="IBM Plex Sans Bold"/>
                <a:ea typeface="IBM Plex Sans Bold"/>
                <a:cs typeface="IBM Plex Sans Bold"/>
                <a:sym typeface="IBM Plex Sans Bold"/>
              </a:rPr>
              <a:t>SKU001:</a:t>
            </a:r>
            <a:r>
              <a:rPr lang="en-US" sz="1950">
                <a:solidFill>
                  <a:srgbClr val="1B2420"/>
                </a:solidFill>
                <a:latin typeface="IBM Plex Sans"/>
                <a:ea typeface="IBM Plex Sans"/>
                <a:cs typeface="IBM Plex Sans"/>
                <a:sym typeface="IBM Plex Sans"/>
              </a:rPr>
              <a:t> SL = 45 days, m = 0.3 → MLOR = </a:t>
            </a:r>
            <a:r>
              <a:rPr lang="en-US" sz="1950" b="true">
                <a:solidFill>
                  <a:srgbClr val="1B2420"/>
                </a:solidFill>
                <a:latin typeface="IBM Plex Sans Bold"/>
                <a:ea typeface="IBM Plex Sans Bold"/>
                <a:cs typeface="IBM Plex Sans Bold"/>
                <a:sym typeface="IBM Plex Sans Bold"/>
              </a:rPr>
              <a:t>13.5 days</a:t>
            </a:r>
            <a:r>
              <a:rPr lang="en-US" sz="1950">
                <a:solidFill>
                  <a:srgbClr val="1B2420"/>
                </a:solidFill>
                <a:latin typeface="IBM Plex Sans"/>
                <a:ea typeface="IBM Plex Sans"/>
                <a:cs typeface="IBM Plex Sans"/>
                <a:sym typeface="IBM Plex Sans"/>
              </a:rPr>
              <a:t> at arrival</a:t>
            </a:r>
          </a:p>
        </p:txBody>
      </p:sp>
      <p:grpSp>
        <p:nvGrpSpPr>
          <p:cNvPr name="Group 26" id="26"/>
          <p:cNvGrpSpPr/>
          <p:nvPr/>
        </p:nvGrpSpPr>
        <p:grpSpPr>
          <a:xfrm rot="0">
            <a:off x="8966121" y="2819400"/>
            <a:ext cx="8102679" cy="3368040"/>
            <a:chOff x="0" y="0"/>
            <a:chExt cx="10803572" cy="4490720"/>
          </a:xfrm>
        </p:grpSpPr>
        <p:sp>
          <p:nvSpPr>
            <p:cNvPr name="Freeform 27" id="27"/>
            <p:cNvSpPr/>
            <p:nvPr/>
          </p:nvSpPr>
          <p:spPr>
            <a:xfrm flipH="false" flipV="false" rot="0">
              <a:off x="0" y="0"/>
              <a:ext cx="10803509" cy="4490720"/>
            </a:xfrm>
            <a:custGeom>
              <a:avLst/>
              <a:gdLst/>
              <a:ahLst/>
              <a:cxnLst/>
              <a:rect r="r" b="b" t="t" l="l"/>
              <a:pathLst>
                <a:path h="4490720" w="10803509">
                  <a:moveTo>
                    <a:pt x="0" y="152400"/>
                  </a:moveTo>
                  <a:cubicBezTo>
                    <a:pt x="0" y="68199"/>
                    <a:pt x="68199" y="0"/>
                    <a:pt x="152400" y="0"/>
                  </a:cubicBezTo>
                  <a:lnTo>
                    <a:pt x="10651109" y="0"/>
                  </a:lnTo>
                  <a:cubicBezTo>
                    <a:pt x="10735310" y="0"/>
                    <a:pt x="10803509" y="68199"/>
                    <a:pt x="10803509" y="152400"/>
                  </a:cubicBezTo>
                  <a:lnTo>
                    <a:pt x="10803509" y="4338320"/>
                  </a:lnTo>
                  <a:cubicBezTo>
                    <a:pt x="10803509" y="4422521"/>
                    <a:pt x="10735310" y="4490720"/>
                    <a:pt x="10651109" y="4490720"/>
                  </a:cubicBezTo>
                  <a:lnTo>
                    <a:pt x="152400" y="4490720"/>
                  </a:lnTo>
                  <a:cubicBezTo>
                    <a:pt x="68199" y="4490720"/>
                    <a:pt x="0" y="4422521"/>
                    <a:pt x="0" y="4338320"/>
                  </a:cubicBezTo>
                  <a:close/>
                </a:path>
              </a:pathLst>
            </a:custGeom>
            <a:solidFill>
              <a:srgbClr val="FFFFFF"/>
            </a:solidFill>
          </p:spPr>
        </p:sp>
      </p:grpSp>
      <p:grpSp>
        <p:nvGrpSpPr>
          <p:cNvPr name="Group 28" id="28"/>
          <p:cNvGrpSpPr/>
          <p:nvPr/>
        </p:nvGrpSpPr>
        <p:grpSpPr>
          <a:xfrm rot="0">
            <a:off x="8966121" y="2819400"/>
            <a:ext cx="8102679" cy="3368040"/>
            <a:chOff x="0" y="0"/>
            <a:chExt cx="10803572" cy="4490720"/>
          </a:xfrm>
        </p:grpSpPr>
        <p:sp>
          <p:nvSpPr>
            <p:cNvPr name="Freeform 29" id="29"/>
            <p:cNvSpPr/>
            <p:nvPr/>
          </p:nvSpPr>
          <p:spPr>
            <a:xfrm flipH="false" flipV="false" rot="0">
              <a:off x="0" y="0"/>
              <a:ext cx="10803509" cy="4490720"/>
            </a:xfrm>
            <a:custGeom>
              <a:avLst/>
              <a:gdLst/>
              <a:ahLst/>
              <a:cxnLst/>
              <a:rect r="r" b="b" t="t" l="l"/>
              <a:pathLst>
                <a:path h="4490720" w="10803509">
                  <a:moveTo>
                    <a:pt x="10651109" y="0"/>
                  </a:moveTo>
                  <a:cubicBezTo>
                    <a:pt x="10735310" y="0"/>
                    <a:pt x="10803509" y="68199"/>
                    <a:pt x="10803509" y="152400"/>
                  </a:cubicBezTo>
                  <a:lnTo>
                    <a:pt x="10803509" y="4338320"/>
                  </a:lnTo>
                  <a:cubicBezTo>
                    <a:pt x="10803509" y="4422521"/>
                    <a:pt x="10735310" y="4490720"/>
                    <a:pt x="10651109" y="4490720"/>
                  </a:cubicBezTo>
                  <a:lnTo>
                    <a:pt x="152400" y="4490720"/>
                  </a:lnTo>
                  <a:cubicBezTo>
                    <a:pt x="68199" y="4490720"/>
                    <a:pt x="0" y="4422521"/>
                    <a:pt x="0" y="4338320"/>
                  </a:cubicBezTo>
                  <a:cubicBezTo>
                    <a:pt x="0" y="4415536"/>
                    <a:pt x="62484" y="4478020"/>
                    <a:pt x="139700" y="4478020"/>
                  </a:cubicBezTo>
                  <a:lnTo>
                    <a:pt x="10651109" y="4478020"/>
                  </a:lnTo>
                  <a:cubicBezTo>
                    <a:pt x="10728325" y="4478020"/>
                    <a:pt x="10790809" y="4415536"/>
                    <a:pt x="10790809" y="4338320"/>
                  </a:cubicBezTo>
                  <a:lnTo>
                    <a:pt x="10790809" y="152400"/>
                  </a:lnTo>
                  <a:cubicBezTo>
                    <a:pt x="10790809" y="68199"/>
                    <a:pt x="10722610" y="0"/>
                    <a:pt x="10638409" y="0"/>
                  </a:cubicBezTo>
                  <a:close/>
                </a:path>
              </a:pathLst>
            </a:custGeom>
            <a:solidFill>
              <a:srgbClr val="D5DCD7"/>
            </a:solidFill>
          </p:spPr>
        </p:sp>
      </p:grpSp>
      <p:grpSp>
        <p:nvGrpSpPr>
          <p:cNvPr name="Group 30" id="30"/>
          <p:cNvGrpSpPr/>
          <p:nvPr/>
        </p:nvGrpSpPr>
        <p:grpSpPr>
          <a:xfrm rot="0">
            <a:off x="8966121" y="2819400"/>
            <a:ext cx="8102679" cy="3368040"/>
            <a:chOff x="0" y="0"/>
            <a:chExt cx="10803572" cy="4490720"/>
          </a:xfrm>
        </p:grpSpPr>
        <p:sp>
          <p:nvSpPr>
            <p:cNvPr name="Freeform 31" id="31"/>
            <p:cNvSpPr/>
            <p:nvPr/>
          </p:nvSpPr>
          <p:spPr>
            <a:xfrm flipH="false" flipV="false" rot="0">
              <a:off x="0" y="0"/>
              <a:ext cx="10803509" cy="4490720"/>
            </a:xfrm>
            <a:custGeom>
              <a:avLst/>
              <a:gdLst/>
              <a:ahLst/>
              <a:cxnLst/>
              <a:rect r="r" b="b" t="t" l="l"/>
              <a:pathLst>
                <a:path h="4490720" w="10803509">
                  <a:moveTo>
                    <a:pt x="152400" y="4490720"/>
                  </a:moveTo>
                  <a:cubicBezTo>
                    <a:pt x="68199" y="4490720"/>
                    <a:pt x="0" y="4422521"/>
                    <a:pt x="0" y="4338320"/>
                  </a:cubicBezTo>
                  <a:lnTo>
                    <a:pt x="0" y="152400"/>
                  </a:lnTo>
                  <a:cubicBezTo>
                    <a:pt x="0" y="68199"/>
                    <a:pt x="68199" y="0"/>
                    <a:pt x="152400" y="0"/>
                  </a:cubicBezTo>
                  <a:lnTo>
                    <a:pt x="10651109" y="0"/>
                  </a:lnTo>
                  <a:cubicBezTo>
                    <a:pt x="10735310" y="0"/>
                    <a:pt x="10803509" y="68199"/>
                    <a:pt x="10803509" y="152400"/>
                  </a:cubicBezTo>
                  <a:cubicBezTo>
                    <a:pt x="10803509" y="79502"/>
                    <a:pt x="10744327" y="20320"/>
                    <a:pt x="10671428" y="20320"/>
                  </a:cubicBezTo>
                  <a:lnTo>
                    <a:pt x="152400" y="20320"/>
                  </a:lnTo>
                  <a:cubicBezTo>
                    <a:pt x="79502" y="20320"/>
                    <a:pt x="20320" y="79502"/>
                    <a:pt x="20320" y="152400"/>
                  </a:cubicBezTo>
                  <a:lnTo>
                    <a:pt x="20320" y="4338320"/>
                  </a:lnTo>
                  <a:cubicBezTo>
                    <a:pt x="20320" y="4422521"/>
                    <a:pt x="88519" y="4490720"/>
                    <a:pt x="172720" y="4490720"/>
                  </a:cubicBezTo>
                  <a:close/>
                </a:path>
              </a:pathLst>
            </a:custGeom>
            <a:solidFill>
              <a:srgbClr val="141413">
                <a:alpha val="4706"/>
              </a:srgbClr>
            </a:solidFill>
          </p:spPr>
        </p:sp>
      </p:grpSp>
      <p:graphicFrame>
        <p:nvGraphicFramePr>
          <p:cNvPr name="Table 32" id="32"/>
          <p:cNvGraphicFramePr>
            <a:graphicFrameLocks noGrp="true"/>
          </p:cNvGraphicFramePr>
          <p:nvPr/>
        </p:nvGraphicFramePr>
        <p:xfrm>
          <a:off x="9095661" y="2948940"/>
          <a:ext cx="7791450" cy="3086100"/>
        </p:xfrm>
        <a:graphic>
          <a:graphicData uri="http://schemas.openxmlformats.org/drawingml/2006/table">
            <a:tbl>
              <a:tblPr/>
              <a:tblGrid>
                <a:gridCol w="1687972"/>
                <a:gridCol w="1099273"/>
                <a:gridCol w="1023384"/>
                <a:gridCol w="1099273"/>
                <a:gridCol w="1326941"/>
                <a:gridCol w="1554607"/>
              </a:tblGrid>
              <a:tr h="783147">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Warehouse</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Transit</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ETA</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Expiry</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Left at ETA</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Result</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500642">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Gò Vấp</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 day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29/09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06/10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7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Excluded</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00642">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Thới An</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 day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29/09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19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Kept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00642">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Thủ Đức</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30/09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Kept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1027">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Tân Chánh Hiệp</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 day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29/09</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21/10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22 days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Kept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33" id="33"/>
          <p:cNvGrpSpPr/>
          <p:nvPr/>
        </p:nvGrpSpPr>
        <p:grpSpPr>
          <a:xfrm rot="0">
            <a:off x="8966121" y="6301740"/>
            <a:ext cx="8102679" cy="944880"/>
            <a:chOff x="0" y="0"/>
            <a:chExt cx="10803572" cy="1259840"/>
          </a:xfrm>
        </p:grpSpPr>
        <p:sp>
          <p:nvSpPr>
            <p:cNvPr name="Freeform 34" id="34"/>
            <p:cNvSpPr/>
            <p:nvPr/>
          </p:nvSpPr>
          <p:spPr>
            <a:xfrm flipH="false" flipV="false" rot="0">
              <a:off x="0" y="0"/>
              <a:ext cx="10803509" cy="1259840"/>
            </a:xfrm>
            <a:custGeom>
              <a:avLst/>
              <a:gdLst/>
              <a:ahLst/>
              <a:cxnLst/>
              <a:rect r="r" b="b" t="t" l="l"/>
              <a:pathLst>
                <a:path h="1259840" w="10803509">
                  <a:moveTo>
                    <a:pt x="0" y="152400"/>
                  </a:moveTo>
                  <a:cubicBezTo>
                    <a:pt x="0" y="68199"/>
                    <a:pt x="68199" y="0"/>
                    <a:pt x="152400" y="0"/>
                  </a:cubicBezTo>
                  <a:lnTo>
                    <a:pt x="10651109" y="0"/>
                  </a:lnTo>
                  <a:cubicBezTo>
                    <a:pt x="10735310" y="0"/>
                    <a:pt x="10803509" y="68199"/>
                    <a:pt x="10803509" y="152400"/>
                  </a:cubicBezTo>
                  <a:lnTo>
                    <a:pt x="10803509" y="1107440"/>
                  </a:lnTo>
                  <a:cubicBezTo>
                    <a:pt x="10803509" y="1191641"/>
                    <a:pt x="10735310" y="1259840"/>
                    <a:pt x="10651109" y="1259840"/>
                  </a:cubicBezTo>
                  <a:lnTo>
                    <a:pt x="152400" y="1259840"/>
                  </a:lnTo>
                  <a:cubicBezTo>
                    <a:pt x="68199" y="1259840"/>
                    <a:pt x="0" y="1191641"/>
                    <a:pt x="0" y="1107440"/>
                  </a:cubicBezTo>
                  <a:close/>
                </a:path>
              </a:pathLst>
            </a:custGeom>
            <a:solidFill>
              <a:srgbClr val="F6DCCB"/>
            </a:solidFill>
          </p:spPr>
        </p:sp>
        <p:sp>
          <p:nvSpPr>
            <p:cNvPr name="TextBox 35" id="35"/>
            <p:cNvSpPr txBox="true"/>
            <p:nvPr/>
          </p:nvSpPr>
          <p:spPr>
            <a:xfrm>
              <a:off x="0" y="-38100"/>
              <a:ext cx="10803572" cy="1297940"/>
            </a:xfrm>
            <a:prstGeom prst="rect">
              <a:avLst/>
            </a:prstGeom>
          </p:spPr>
          <p:txBody>
            <a:bodyPr anchor="t" rtlCol="false" tIns="50800" lIns="50800" bIns="50800" rIns="50800"/>
            <a:lstStyle/>
            <a:p>
              <a:pPr algn="l">
                <a:lnSpc>
                  <a:spcPts val="2520"/>
                </a:lnSpc>
              </a:pPr>
              <a:r>
                <a:rPr lang="en-US" sz="1800">
                  <a:solidFill>
                    <a:srgbClr val="1B2420"/>
                  </a:solidFill>
                  <a:latin typeface="IBM Plex Sans"/>
                  <a:ea typeface="IBM Plex Sans"/>
                  <a:cs typeface="IBM Plex Sans"/>
                  <a:sym typeface="IBM Plex Sans"/>
                </a:rPr>
                <a:t>Gò Vấp is closer than Thủ Đức, but its batch would arrive with only 7 days left, below the retailer's 13.5-day MLOR.</a:t>
              </a:r>
            </a:p>
          </p:txBody>
        </p:sp>
      </p:grpSp>
      <p:sp>
        <p:nvSpPr>
          <p:cNvPr name="TextBox 36" id="36"/>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37" id="37"/>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19</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STEPS B3 – B4</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FEFO ranking and greedy allocation</a:t>
            </a:r>
          </a:p>
        </p:txBody>
      </p:sp>
      <p:sp>
        <p:nvSpPr>
          <p:cNvPr name="TextBox 4" id="4"/>
          <p:cNvSpPr txBox="true"/>
          <p:nvPr/>
        </p:nvSpPr>
        <p:spPr>
          <a:xfrm rot="0">
            <a:off x="1219200" y="2339340"/>
            <a:ext cx="6828282"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B3 · Lexicographic keys</a:t>
            </a:r>
          </a:p>
        </p:txBody>
      </p:sp>
      <p:grpSp>
        <p:nvGrpSpPr>
          <p:cNvPr name="Group 5" id="5"/>
          <p:cNvGrpSpPr/>
          <p:nvPr/>
        </p:nvGrpSpPr>
        <p:grpSpPr>
          <a:xfrm rot="0">
            <a:off x="1219200" y="2853690"/>
            <a:ext cx="6629400" cy="2552700"/>
            <a:chOff x="0" y="0"/>
            <a:chExt cx="8839200" cy="3403600"/>
          </a:xfrm>
        </p:grpSpPr>
        <p:sp>
          <p:nvSpPr>
            <p:cNvPr name="Freeform 6" id="6"/>
            <p:cNvSpPr/>
            <p:nvPr/>
          </p:nvSpPr>
          <p:spPr>
            <a:xfrm flipH="false" flipV="false" rot="0">
              <a:off x="0" y="0"/>
              <a:ext cx="8839200" cy="3403600"/>
            </a:xfrm>
            <a:custGeom>
              <a:avLst/>
              <a:gdLst/>
              <a:ahLst/>
              <a:cxnLst/>
              <a:rect r="r" b="b" t="t" l="l"/>
              <a:pathLst>
                <a:path h="3403600" w="8839200">
                  <a:moveTo>
                    <a:pt x="0" y="152400"/>
                  </a:moveTo>
                  <a:cubicBezTo>
                    <a:pt x="0" y="68199"/>
                    <a:pt x="68199" y="0"/>
                    <a:pt x="152400" y="0"/>
                  </a:cubicBezTo>
                  <a:lnTo>
                    <a:pt x="8686800" y="0"/>
                  </a:lnTo>
                  <a:cubicBezTo>
                    <a:pt x="8771001" y="0"/>
                    <a:pt x="8839200" y="68199"/>
                    <a:pt x="8839200" y="152400"/>
                  </a:cubicBezTo>
                  <a:lnTo>
                    <a:pt x="8839200" y="3251200"/>
                  </a:lnTo>
                  <a:cubicBezTo>
                    <a:pt x="8839200" y="3335401"/>
                    <a:pt x="8771001" y="3403600"/>
                    <a:pt x="8686800" y="3403600"/>
                  </a:cubicBezTo>
                  <a:lnTo>
                    <a:pt x="152400" y="3403600"/>
                  </a:lnTo>
                  <a:cubicBezTo>
                    <a:pt x="68199" y="3403600"/>
                    <a:pt x="0" y="3335401"/>
                    <a:pt x="0" y="3251200"/>
                  </a:cubicBezTo>
                  <a:close/>
                </a:path>
              </a:pathLst>
            </a:custGeom>
            <a:solidFill>
              <a:srgbClr val="FFFFFF"/>
            </a:solidFill>
          </p:spPr>
        </p:sp>
      </p:grpSp>
      <p:grpSp>
        <p:nvGrpSpPr>
          <p:cNvPr name="Group 7" id="7"/>
          <p:cNvGrpSpPr/>
          <p:nvPr/>
        </p:nvGrpSpPr>
        <p:grpSpPr>
          <a:xfrm rot="0">
            <a:off x="1219200" y="2853690"/>
            <a:ext cx="6629400" cy="2552700"/>
            <a:chOff x="0" y="0"/>
            <a:chExt cx="8839200" cy="3403600"/>
          </a:xfrm>
        </p:grpSpPr>
        <p:sp>
          <p:nvSpPr>
            <p:cNvPr name="Freeform 8" id="8"/>
            <p:cNvSpPr/>
            <p:nvPr/>
          </p:nvSpPr>
          <p:spPr>
            <a:xfrm flipH="false" flipV="false" rot="0">
              <a:off x="0" y="0"/>
              <a:ext cx="8839200" cy="3403600"/>
            </a:xfrm>
            <a:custGeom>
              <a:avLst/>
              <a:gdLst/>
              <a:ahLst/>
              <a:cxnLst/>
              <a:rect r="r" b="b" t="t" l="l"/>
              <a:pathLst>
                <a:path h="3403600" w="8839200">
                  <a:moveTo>
                    <a:pt x="8686800" y="0"/>
                  </a:moveTo>
                  <a:cubicBezTo>
                    <a:pt x="8771001" y="0"/>
                    <a:pt x="8839200" y="68199"/>
                    <a:pt x="8839200" y="152400"/>
                  </a:cubicBezTo>
                  <a:lnTo>
                    <a:pt x="8839200" y="3251200"/>
                  </a:lnTo>
                  <a:cubicBezTo>
                    <a:pt x="8839200" y="3335401"/>
                    <a:pt x="8771001" y="3403600"/>
                    <a:pt x="8686800" y="3403600"/>
                  </a:cubicBezTo>
                  <a:lnTo>
                    <a:pt x="152400" y="3403600"/>
                  </a:lnTo>
                  <a:cubicBezTo>
                    <a:pt x="68199" y="3403600"/>
                    <a:pt x="0" y="3335401"/>
                    <a:pt x="0" y="3251200"/>
                  </a:cubicBezTo>
                  <a:cubicBezTo>
                    <a:pt x="0" y="3328416"/>
                    <a:pt x="62484" y="3390900"/>
                    <a:pt x="139700" y="3390900"/>
                  </a:cubicBezTo>
                  <a:lnTo>
                    <a:pt x="8686800" y="3390900"/>
                  </a:lnTo>
                  <a:cubicBezTo>
                    <a:pt x="8764016" y="3390900"/>
                    <a:pt x="8826500" y="3328416"/>
                    <a:pt x="8826500" y="3251200"/>
                  </a:cubicBezTo>
                  <a:lnTo>
                    <a:pt x="8826500" y="152400"/>
                  </a:lnTo>
                  <a:cubicBezTo>
                    <a:pt x="8826500" y="68199"/>
                    <a:pt x="8758301" y="0"/>
                    <a:pt x="8674100" y="0"/>
                  </a:cubicBezTo>
                  <a:close/>
                </a:path>
              </a:pathLst>
            </a:custGeom>
            <a:solidFill>
              <a:srgbClr val="D5DCD7"/>
            </a:solidFill>
          </p:spPr>
        </p:sp>
      </p:grpSp>
      <p:grpSp>
        <p:nvGrpSpPr>
          <p:cNvPr name="Group 9" id="9"/>
          <p:cNvGrpSpPr/>
          <p:nvPr/>
        </p:nvGrpSpPr>
        <p:grpSpPr>
          <a:xfrm rot="0">
            <a:off x="1219200" y="2853690"/>
            <a:ext cx="6629400" cy="2552700"/>
            <a:chOff x="0" y="0"/>
            <a:chExt cx="8839200" cy="3403600"/>
          </a:xfrm>
        </p:grpSpPr>
        <p:sp>
          <p:nvSpPr>
            <p:cNvPr name="Freeform 10" id="10"/>
            <p:cNvSpPr/>
            <p:nvPr/>
          </p:nvSpPr>
          <p:spPr>
            <a:xfrm flipH="false" flipV="false" rot="0">
              <a:off x="0" y="0"/>
              <a:ext cx="8839200" cy="3403600"/>
            </a:xfrm>
            <a:custGeom>
              <a:avLst/>
              <a:gdLst/>
              <a:ahLst/>
              <a:cxnLst/>
              <a:rect r="r" b="b" t="t" l="l"/>
              <a:pathLst>
                <a:path h="3403600" w="8839200">
                  <a:moveTo>
                    <a:pt x="152400" y="3403600"/>
                  </a:moveTo>
                  <a:cubicBezTo>
                    <a:pt x="68199" y="3403600"/>
                    <a:pt x="0" y="3335401"/>
                    <a:pt x="0" y="3251200"/>
                  </a:cubicBezTo>
                  <a:lnTo>
                    <a:pt x="0" y="152400"/>
                  </a:lnTo>
                  <a:cubicBezTo>
                    <a:pt x="0" y="68199"/>
                    <a:pt x="68199" y="0"/>
                    <a:pt x="152400" y="0"/>
                  </a:cubicBezTo>
                  <a:lnTo>
                    <a:pt x="8686800" y="0"/>
                  </a:lnTo>
                  <a:cubicBezTo>
                    <a:pt x="8771001" y="0"/>
                    <a:pt x="8839200" y="68199"/>
                    <a:pt x="8839200" y="152400"/>
                  </a:cubicBezTo>
                  <a:cubicBezTo>
                    <a:pt x="8839200" y="79502"/>
                    <a:pt x="8780018" y="20320"/>
                    <a:pt x="8707120" y="20320"/>
                  </a:cubicBezTo>
                  <a:lnTo>
                    <a:pt x="152400" y="20320"/>
                  </a:lnTo>
                  <a:cubicBezTo>
                    <a:pt x="79502" y="20320"/>
                    <a:pt x="20320" y="79502"/>
                    <a:pt x="20320" y="152400"/>
                  </a:cubicBezTo>
                  <a:lnTo>
                    <a:pt x="20320" y="3251200"/>
                  </a:lnTo>
                  <a:cubicBezTo>
                    <a:pt x="20320" y="3335401"/>
                    <a:pt x="88519" y="3403600"/>
                    <a:pt x="172720" y="3403600"/>
                  </a:cubicBezTo>
                  <a:close/>
                </a:path>
              </a:pathLst>
            </a:custGeom>
            <a:solidFill>
              <a:srgbClr val="141413">
                <a:alpha val="4706"/>
              </a:srgbClr>
            </a:solidFill>
          </p:spPr>
        </p:sp>
      </p:grpSp>
      <p:graphicFrame>
        <p:nvGraphicFramePr>
          <p:cNvPr name="Table 11" id="11"/>
          <p:cNvGraphicFramePr>
            <a:graphicFrameLocks noGrp="true"/>
          </p:cNvGraphicFramePr>
          <p:nvPr/>
        </p:nvGraphicFramePr>
        <p:xfrm>
          <a:off x="1348740" y="2983227"/>
          <a:ext cx="6343650" cy="2286000"/>
        </p:xfrm>
        <a:graphic>
          <a:graphicData uri="http://schemas.openxmlformats.org/drawingml/2006/table">
            <a:tbl>
              <a:tblPr/>
              <a:tblGrid>
                <a:gridCol w="643699"/>
                <a:gridCol w="2537460"/>
                <a:gridCol w="3162491"/>
              </a:tblGrid>
              <a:tr h="482958">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Key</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Order</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50084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Expiry date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earlier first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0084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Distance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shorter first, same expiry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1352">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Available qty</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larger first, same expiry and distance</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2" id="12"/>
          <p:cNvSpPr txBox="true"/>
          <p:nvPr/>
        </p:nvSpPr>
        <p:spPr>
          <a:xfrm rot="0">
            <a:off x="1219200" y="5520690"/>
            <a:ext cx="6828282" cy="71628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Remaining ties: warehouse code, then Batch ID, so the result is stable.</a:t>
            </a:r>
          </a:p>
        </p:txBody>
      </p:sp>
      <p:sp>
        <p:nvSpPr>
          <p:cNvPr name="TextBox 13" id="13"/>
          <p:cNvSpPr txBox="true"/>
          <p:nvPr/>
        </p:nvSpPr>
        <p:spPr>
          <a:xfrm rot="0">
            <a:off x="1219200" y="6332230"/>
            <a:ext cx="6828282"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B4 · Greedy take</a:t>
            </a:r>
          </a:p>
        </p:txBody>
      </p:sp>
      <p:grpSp>
        <p:nvGrpSpPr>
          <p:cNvPr name="Group 14" id="14"/>
          <p:cNvGrpSpPr/>
          <p:nvPr/>
        </p:nvGrpSpPr>
        <p:grpSpPr>
          <a:xfrm rot="0">
            <a:off x="1219200" y="6846580"/>
            <a:ext cx="6629400" cy="1047750"/>
            <a:chOff x="0" y="0"/>
            <a:chExt cx="8839200" cy="1397000"/>
          </a:xfrm>
        </p:grpSpPr>
        <p:sp>
          <p:nvSpPr>
            <p:cNvPr name="Freeform 15" id="15"/>
            <p:cNvSpPr/>
            <p:nvPr/>
          </p:nvSpPr>
          <p:spPr>
            <a:xfrm flipH="false" flipV="false" rot="0">
              <a:off x="0" y="0"/>
              <a:ext cx="8839200" cy="1397000"/>
            </a:xfrm>
            <a:custGeom>
              <a:avLst/>
              <a:gdLst/>
              <a:ahLst/>
              <a:cxnLst/>
              <a:rect r="r" b="b" t="t" l="l"/>
              <a:pathLst>
                <a:path h="1397000" w="8839200">
                  <a:moveTo>
                    <a:pt x="0" y="101600"/>
                  </a:moveTo>
                  <a:cubicBezTo>
                    <a:pt x="0" y="45466"/>
                    <a:pt x="45466" y="0"/>
                    <a:pt x="101600" y="0"/>
                  </a:cubicBezTo>
                  <a:lnTo>
                    <a:pt x="8737600" y="0"/>
                  </a:lnTo>
                  <a:cubicBezTo>
                    <a:pt x="8793734" y="0"/>
                    <a:pt x="8839200" y="45466"/>
                    <a:pt x="8839200" y="101600"/>
                  </a:cubicBezTo>
                  <a:lnTo>
                    <a:pt x="8839200" y="1295400"/>
                  </a:lnTo>
                  <a:cubicBezTo>
                    <a:pt x="8839200" y="1351534"/>
                    <a:pt x="8793734" y="1397000"/>
                    <a:pt x="8737600" y="1397000"/>
                  </a:cubicBezTo>
                  <a:lnTo>
                    <a:pt x="101600" y="1397000"/>
                  </a:lnTo>
                  <a:cubicBezTo>
                    <a:pt x="45466" y="1397000"/>
                    <a:pt x="0" y="1351534"/>
                    <a:pt x="0" y="1295400"/>
                  </a:cubicBezTo>
                  <a:close/>
                </a:path>
              </a:pathLst>
            </a:custGeom>
            <a:solidFill>
              <a:srgbClr val="E9EEEA"/>
            </a:solidFill>
          </p:spPr>
        </p:sp>
        <p:sp>
          <p:nvSpPr>
            <p:cNvPr name="TextBox 16" id="16"/>
            <p:cNvSpPr txBox="true"/>
            <p:nvPr/>
          </p:nvSpPr>
          <p:spPr>
            <a:xfrm>
              <a:off x="0" y="-57150"/>
              <a:ext cx="8839200" cy="1454150"/>
            </a:xfrm>
            <a:prstGeom prst="rect">
              <a:avLst/>
            </a:prstGeom>
          </p:spPr>
          <p:txBody>
            <a:bodyPr anchor="t" rtlCol="false" tIns="50800" lIns="50800" bIns="50800" rIns="50800"/>
            <a:lstStyle/>
            <a:p>
              <a:pPr algn="l">
                <a:lnSpc>
                  <a:spcPts val="2925"/>
                </a:lnSpc>
              </a:pPr>
              <a:r>
                <a:rPr lang="en-US" sz="1950">
                  <a:solidFill>
                    <a:srgbClr val="1B2420"/>
                  </a:solidFill>
                  <a:latin typeface="IBM Plex Mono"/>
                  <a:ea typeface="IBM Plex Mono"/>
                  <a:cs typeface="IBM Plex Mono"/>
                  <a:sym typeface="IBM Plex Mono"/>
                </a:rPr>
                <a:t>take_i = min(remaining, avail_i)</a:t>
              </a:r>
            </a:p>
            <a:p>
              <a:pPr algn="l">
                <a:lnSpc>
                  <a:spcPts val="2925"/>
                </a:lnSpc>
              </a:pPr>
              <a:r>
                <a:rPr lang="en-US" sz="1950">
                  <a:solidFill>
                    <a:srgbClr val="1B2420"/>
                  </a:solidFill>
                  <a:latin typeface="IBM Plex Mono"/>
                  <a:ea typeface="IBM Plex Mono"/>
                  <a:cs typeface="IBM Plex Mono"/>
                  <a:sym typeface="IBM Plex Mono"/>
                </a:rPr>
                <a:t>shortfall = requested − Σ take_i</a:t>
              </a:r>
            </a:p>
          </p:txBody>
        </p:sp>
      </p:grpSp>
      <p:grpSp>
        <p:nvGrpSpPr>
          <p:cNvPr name="Group 17" id="17"/>
          <p:cNvGrpSpPr/>
          <p:nvPr/>
        </p:nvGrpSpPr>
        <p:grpSpPr>
          <a:xfrm rot="0">
            <a:off x="1219200" y="6846580"/>
            <a:ext cx="6629400" cy="1047750"/>
            <a:chOff x="0" y="0"/>
            <a:chExt cx="8839200" cy="1397000"/>
          </a:xfrm>
        </p:grpSpPr>
        <p:sp>
          <p:nvSpPr>
            <p:cNvPr name="Freeform 18" id="18"/>
            <p:cNvSpPr/>
            <p:nvPr/>
          </p:nvSpPr>
          <p:spPr>
            <a:xfrm flipH="false" flipV="false" rot="0">
              <a:off x="0" y="0"/>
              <a:ext cx="177800" cy="1397000"/>
            </a:xfrm>
            <a:custGeom>
              <a:avLst/>
              <a:gdLst/>
              <a:ahLst/>
              <a:cxnLst/>
              <a:rect r="r" b="b" t="t" l="l"/>
              <a:pathLst>
                <a:path h="1397000" w="177800">
                  <a:moveTo>
                    <a:pt x="101600" y="1397000"/>
                  </a:moveTo>
                  <a:cubicBezTo>
                    <a:pt x="45466" y="1397000"/>
                    <a:pt x="0" y="1351534"/>
                    <a:pt x="0" y="1295400"/>
                  </a:cubicBezTo>
                  <a:lnTo>
                    <a:pt x="0" y="101600"/>
                  </a:lnTo>
                  <a:cubicBezTo>
                    <a:pt x="0" y="45466"/>
                    <a:pt x="45466" y="0"/>
                    <a:pt x="101600" y="0"/>
                  </a:cubicBezTo>
                  <a:cubicBezTo>
                    <a:pt x="45466" y="0"/>
                    <a:pt x="0" y="45466"/>
                    <a:pt x="0" y="101600"/>
                  </a:cubicBezTo>
                  <a:lnTo>
                    <a:pt x="76200" y="1295400"/>
                  </a:lnTo>
                  <a:cubicBezTo>
                    <a:pt x="76200" y="1351534"/>
                    <a:pt x="121666" y="1397000"/>
                    <a:pt x="177800" y="1397000"/>
                  </a:cubicBezTo>
                  <a:close/>
                </a:path>
              </a:pathLst>
            </a:custGeom>
            <a:solidFill>
              <a:srgbClr val="14655B"/>
            </a:solidFill>
          </p:spPr>
        </p:sp>
      </p:grpSp>
      <p:sp>
        <p:nvSpPr>
          <p:cNvPr name="TextBox 19" id="19"/>
          <p:cNvSpPr txBox="true"/>
          <p:nvPr/>
        </p:nvSpPr>
        <p:spPr>
          <a:xfrm rot="0">
            <a:off x="8229600" y="2320290"/>
            <a:ext cx="9104376" cy="422910"/>
          </a:xfrm>
          <a:prstGeom prst="rect">
            <a:avLst/>
          </a:prstGeom>
        </p:spPr>
        <p:txBody>
          <a:bodyPr anchor="t" rtlCol="false" tIns="0" lIns="0" bIns="0" rIns="0">
            <a:spAutoFit/>
          </a:bodyPr>
          <a:lstStyle/>
          <a:p>
            <a:pPr algn="l">
              <a:lnSpc>
                <a:spcPts val="2729"/>
              </a:lnSpc>
            </a:pPr>
            <a:r>
              <a:rPr lang="en-US" sz="1950" b="true">
                <a:solidFill>
                  <a:srgbClr val="1B2420"/>
                </a:solidFill>
                <a:latin typeface="IBM Plex Sans Bold"/>
                <a:ea typeface="IBM Plex Sans Bold"/>
                <a:cs typeface="IBM Plex Sans Bold"/>
                <a:sym typeface="IBM Plex Sans Bold"/>
              </a:rPr>
              <a:t>Example · DH-1030 · SKU001 × 60</a:t>
            </a:r>
          </a:p>
        </p:txBody>
      </p:sp>
      <p:grpSp>
        <p:nvGrpSpPr>
          <p:cNvPr name="Group 20" id="20"/>
          <p:cNvGrpSpPr/>
          <p:nvPr/>
        </p:nvGrpSpPr>
        <p:grpSpPr>
          <a:xfrm rot="0">
            <a:off x="8229600" y="2819400"/>
            <a:ext cx="8839200" cy="4152900"/>
            <a:chOff x="0" y="0"/>
            <a:chExt cx="11785600" cy="5537200"/>
          </a:xfrm>
        </p:grpSpPr>
        <p:sp>
          <p:nvSpPr>
            <p:cNvPr name="Freeform 21" id="21"/>
            <p:cNvSpPr/>
            <p:nvPr/>
          </p:nvSpPr>
          <p:spPr>
            <a:xfrm flipH="false" flipV="false" rot="0">
              <a:off x="0" y="0"/>
              <a:ext cx="11785600" cy="5537200"/>
            </a:xfrm>
            <a:custGeom>
              <a:avLst/>
              <a:gdLst/>
              <a:ahLst/>
              <a:cxnLst/>
              <a:rect r="r" b="b" t="t" l="l"/>
              <a:pathLst>
                <a:path h="5537200" w="11785600">
                  <a:moveTo>
                    <a:pt x="0" y="152400"/>
                  </a:moveTo>
                  <a:cubicBezTo>
                    <a:pt x="0" y="68199"/>
                    <a:pt x="68199" y="0"/>
                    <a:pt x="152400" y="0"/>
                  </a:cubicBezTo>
                  <a:lnTo>
                    <a:pt x="11633200" y="0"/>
                  </a:lnTo>
                  <a:cubicBezTo>
                    <a:pt x="11717401" y="0"/>
                    <a:pt x="11785600" y="68199"/>
                    <a:pt x="11785600" y="152400"/>
                  </a:cubicBezTo>
                  <a:lnTo>
                    <a:pt x="11785600" y="5384800"/>
                  </a:lnTo>
                  <a:cubicBezTo>
                    <a:pt x="11785600" y="5469001"/>
                    <a:pt x="11717401" y="5537200"/>
                    <a:pt x="11633200" y="5537200"/>
                  </a:cubicBezTo>
                  <a:lnTo>
                    <a:pt x="152400" y="5537200"/>
                  </a:lnTo>
                  <a:cubicBezTo>
                    <a:pt x="68199" y="5537200"/>
                    <a:pt x="0" y="5469001"/>
                    <a:pt x="0" y="5384800"/>
                  </a:cubicBezTo>
                  <a:close/>
                </a:path>
              </a:pathLst>
            </a:custGeom>
            <a:solidFill>
              <a:srgbClr val="FFFFFF"/>
            </a:solidFill>
          </p:spPr>
        </p:sp>
      </p:grpSp>
      <p:grpSp>
        <p:nvGrpSpPr>
          <p:cNvPr name="Group 22" id="22"/>
          <p:cNvGrpSpPr/>
          <p:nvPr/>
        </p:nvGrpSpPr>
        <p:grpSpPr>
          <a:xfrm rot="0">
            <a:off x="8229600" y="2819400"/>
            <a:ext cx="8839200" cy="4152900"/>
            <a:chOff x="0" y="0"/>
            <a:chExt cx="11785600" cy="5537200"/>
          </a:xfrm>
        </p:grpSpPr>
        <p:sp>
          <p:nvSpPr>
            <p:cNvPr name="Freeform 23" id="23"/>
            <p:cNvSpPr/>
            <p:nvPr/>
          </p:nvSpPr>
          <p:spPr>
            <a:xfrm flipH="false" flipV="false" rot="0">
              <a:off x="0" y="0"/>
              <a:ext cx="11785600" cy="5537200"/>
            </a:xfrm>
            <a:custGeom>
              <a:avLst/>
              <a:gdLst/>
              <a:ahLst/>
              <a:cxnLst/>
              <a:rect r="r" b="b" t="t" l="l"/>
              <a:pathLst>
                <a:path h="5537200" w="11785600">
                  <a:moveTo>
                    <a:pt x="11633200" y="0"/>
                  </a:moveTo>
                  <a:cubicBezTo>
                    <a:pt x="11717401" y="0"/>
                    <a:pt x="11785600" y="68199"/>
                    <a:pt x="11785600" y="152400"/>
                  </a:cubicBezTo>
                  <a:lnTo>
                    <a:pt x="11785600" y="5384800"/>
                  </a:lnTo>
                  <a:cubicBezTo>
                    <a:pt x="11785600" y="5469001"/>
                    <a:pt x="11717401" y="5537200"/>
                    <a:pt x="11633200" y="5537200"/>
                  </a:cubicBezTo>
                  <a:lnTo>
                    <a:pt x="152400" y="5537200"/>
                  </a:lnTo>
                  <a:cubicBezTo>
                    <a:pt x="68199" y="5537200"/>
                    <a:pt x="0" y="5469001"/>
                    <a:pt x="0" y="5384800"/>
                  </a:cubicBezTo>
                  <a:cubicBezTo>
                    <a:pt x="0" y="5462016"/>
                    <a:pt x="62484" y="5524500"/>
                    <a:pt x="139700" y="5524500"/>
                  </a:cubicBezTo>
                  <a:lnTo>
                    <a:pt x="11633200" y="5524500"/>
                  </a:lnTo>
                  <a:cubicBezTo>
                    <a:pt x="11710416" y="5524500"/>
                    <a:pt x="11772900" y="5462016"/>
                    <a:pt x="11772900" y="5384800"/>
                  </a:cubicBezTo>
                  <a:lnTo>
                    <a:pt x="11772900" y="152400"/>
                  </a:lnTo>
                  <a:cubicBezTo>
                    <a:pt x="11772900" y="68199"/>
                    <a:pt x="11704701" y="0"/>
                    <a:pt x="11620500" y="0"/>
                  </a:cubicBezTo>
                  <a:close/>
                </a:path>
              </a:pathLst>
            </a:custGeom>
            <a:solidFill>
              <a:srgbClr val="D5DCD7"/>
            </a:solidFill>
          </p:spPr>
        </p:sp>
      </p:grpSp>
      <p:grpSp>
        <p:nvGrpSpPr>
          <p:cNvPr name="Group 24" id="24"/>
          <p:cNvGrpSpPr/>
          <p:nvPr/>
        </p:nvGrpSpPr>
        <p:grpSpPr>
          <a:xfrm rot="0">
            <a:off x="8229600" y="2819400"/>
            <a:ext cx="8839200" cy="4152900"/>
            <a:chOff x="0" y="0"/>
            <a:chExt cx="11785600" cy="5537200"/>
          </a:xfrm>
        </p:grpSpPr>
        <p:sp>
          <p:nvSpPr>
            <p:cNvPr name="Freeform 25" id="25"/>
            <p:cNvSpPr/>
            <p:nvPr/>
          </p:nvSpPr>
          <p:spPr>
            <a:xfrm flipH="false" flipV="false" rot="0">
              <a:off x="0" y="0"/>
              <a:ext cx="11785600" cy="5537200"/>
            </a:xfrm>
            <a:custGeom>
              <a:avLst/>
              <a:gdLst/>
              <a:ahLst/>
              <a:cxnLst/>
              <a:rect r="r" b="b" t="t" l="l"/>
              <a:pathLst>
                <a:path h="5537200" w="11785600">
                  <a:moveTo>
                    <a:pt x="152400" y="5537200"/>
                  </a:moveTo>
                  <a:cubicBezTo>
                    <a:pt x="68199" y="5537200"/>
                    <a:pt x="0" y="5469001"/>
                    <a:pt x="0" y="5384800"/>
                  </a:cubicBezTo>
                  <a:lnTo>
                    <a:pt x="0" y="152400"/>
                  </a:lnTo>
                  <a:cubicBezTo>
                    <a:pt x="0" y="68199"/>
                    <a:pt x="68199" y="0"/>
                    <a:pt x="152400" y="0"/>
                  </a:cubicBezTo>
                  <a:lnTo>
                    <a:pt x="11633200" y="0"/>
                  </a:lnTo>
                  <a:cubicBezTo>
                    <a:pt x="11717401" y="0"/>
                    <a:pt x="11785600" y="68199"/>
                    <a:pt x="11785600" y="152400"/>
                  </a:cubicBezTo>
                  <a:cubicBezTo>
                    <a:pt x="11785600" y="79502"/>
                    <a:pt x="11726418" y="20320"/>
                    <a:pt x="11653520" y="20320"/>
                  </a:cubicBezTo>
                  <a:lnTo>
                    <a:pt x="152400" y="20320"/>
                  </a:lnTo>
                  <a:cubicBezTo>
                    <a:pt x="79502" y="20320"/>
                    <a:pt x="20320" y="79502"/>
                    <a:pt x="20320" y="152400"/>
                  </a:cubicBezTo>
                  <a:lnTo>
                    <a:pt x="20320" y="5384800"/>
                  </a:lnTo>
                  <a:cubicBezTo>
                    <a:pt x="20320" y="5469001"/>
                    <a:pt x="88519" y="5537200"/>
                    <a:pt x="172720" y="5537200"/>
                  </a:cubicBezTo>
                  <a:close/>
                </a:path>
              </a:pathLst>
            </a:custGeom>
            <a:solidFill>
              <a:srgbClr val="141413">
                <a:alpha val="4706"/>
              </a:srgbClr>
            </a:solidFill>
          </p:spPr>
        </p:sp>
      </p:grpSp>
      <p:graphicFrame>
        <p:nvGraphicFramePr>
          <p:cNvPr name="Table 26" id="26"/>
          <p:cNvGraphicFramePr>
            <a:graphicFrameLocks noGrp="true"/>
          </p:cNvGraphicFramePr>
          <p:nvPr/>
        </p:nvGraphicFramePr>
        <p:xfrm>
          <a:off x="8359140" y="2948940"/>
          <a:ext cx="8534400" cy="3848100"/>
        </p:xfrm>
        <a:graphic>
          <a:graphicData uri="http://schemas.openxmlformats.org/drawingml/2006/table">
            <a:tbl>
              <a:tblPr/>
              <a:tblGrid>
                <a:gridCol w="764967"/>
                <a:gridCol w="2774214"/>
                <a:gridCol w="1032224"/>
                <a:gridCol w="1115177"/>
                <a:gridCol w="949273"/>
                <a:gridCol w="866321"/>
                <a:gridCol w="1032224"/>
              </a:tblGrid>
              <a:tr h="1101014">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Rank</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Warehouse · batch</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Expiry</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Distance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Avail.</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Take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Still needed</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81395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Thới An · WH-TA-SKU001-18102026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3.2 km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40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40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13951">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Thủ Đức · WH-TD-SKU001-18102026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18/10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17.4 km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80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119183">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Tân Chánh Hiệp · WH-TCH-SKU001-21102026</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21/10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6.5 km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35</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0</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27" id="27"/>
          <p:cNvGrpSpPr/>
          <p:nvPr/>
        </p:nvGrpSpPr>
        <p:grpSpPr>
          <a:xfrm rot="0">
            <a:off x="8229600" y="7086600"/>
            <a:ext cx="8839200" cy="1264920"/>
            <a:chOff x="0" y="0"/>
            <a:chExt cx="11785600" cy="1686560"/>
          </a:xfrm>
        </p:grpSpPr>
        <p:sp>
          <p:nvSpPr>
            <p:cNvPr name="Freeform 28" id="28"/>
            <p:cNvSpPr/>
            <p:nvPr/>
          </p:nvSpPr>
          <p:spPr>
            <a:xfrm flipH="false" flipV="false" rot="0">
              <a:off x="0" y="0"/>
              <a:ext cx="11785600" cy="1686560"/>
            </a:xfrm>
            <a:custGeom>
              <a:avLst/>
              <a:gdLst/>
              <a:ahLst/>
              <a:cxnLst/>
              <a:rect r="r" b="b" t="t" l="l"/>
              <a:pathLst>
                <a:path h="1686560" w="11785600">
                  <a:moveTo>
                    <a:pt x="0" y="152400"/>
                  </a:moveTo>
                  <a:cubicBezTo>
                    <a:pt x="0" y="68199"/>
                    <a:pt x="68199" y="0"/>
                    <a:pt x="152400" y="0"/>
                  </a:cubicBezTo>
                  <a:lnTo>
                    <a:pt x="11633200" y="0"/>
                  </a:lnTo>
                  <a:cubicBezTo>
                    <a:pt x="11717401" y="0"/>
                    <a:pt x="11785600" y="68199"/>
                    <a:pt x="11785600" y="152400"/>
                  </a:cubicBezTo>
                  <a:lnTo>
                    <a:pt x="11785600" y="1534160"/>
                  </a:lnTo>
                  <a:cubicBezTo>
                    <a:pt x="11785600" y="1618361"/>
                    <a:pt x="11717401" y="1686560"/>
                    <a:pt x="11633200" y="1686560"/>
                  </a:cubicBezTo>
                  <a:lnTo>
                    <a:pt x="152400" y="1686560"/>
                  </a:lnTo>
                  <a:cubicBezTo>
                    <a:pt x="68199" y="1686560"/>
                    <a:pt x="0" y="1618361"/>
                    <a:pt x="0" y="1534160"/>
                  </a:cubicBezTo>
                  <a:close/>
                </a:path>
              </a:pathLst>
            </a:custGeom>
            <a:solidFill>
              <a:srgbClr val="14655B"/>
            </a:solidFill>
          </p:spPr>
        </p:sp>
        <p:sp>
          <p:nvSpPr>
            <p:cNvPr name="TextBox 29" id="29"/>
            <p:cNvSpPr txBox="true"/>
            <p:nvPr/>
          </p:nvSpPr>
          <p:spPr>
            <a:xfrm>
              <a:off x="0" y="-38100"/>
              <a:ext cx="11785600" cy="172466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Result: 60 cartons from 2 warehouses. Thới An wins rank 1 over Thủ Đức on distance (same expiry); Tân Chánh Hiệp is closer than Thủ Đức but expires later, so FEFO places it third.</a:t>
              </a:r>
            </a:p>
          </p:txBody>
        </p:sp>
      </p:grpSp>
      <p:sp>
        <p:nvSpPr>
          <p:cNvPr name="TextBox 30" id="30"/>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31" id="31"/>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20</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STEP B5 · HOLD AND CONCURRENCY</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From tentative allocation to reservation</a:t>
            </a:r>
          </a:p>
        </p:txBody>
      </p:sp>
      <p:grpSp>
        <p:nvGrpSpPr>
          <p:cNvPr name="Group 4" id="4"/>
          <p:cNvGrpSpPr/>
          <p:nvPr/>
        </p:nvGrpSpPr>
        <p:grpSpPr>
          <a:xfrm rot="0">
            <a:off x="1219200" y="2358390"/>
            <a:ext cx="5105400" cy="5025390"/>
            <a:chOff x="0" y="0"/>
            <a:chExt cx="6807200" cy="6700520"/>
          </a:xfrm>
        </p:grpSpPr>
        <p:sp>
          <p:nvSpPr>
            <p:cNvPr name="Freeform 5" id="5"/>
            <p:cNvSpPr/>
            <p:nvPr/>
          </p:nvSpPr>
          <p:spPr>
            <a:xfrm flipH="false" flipV="false" rot="0">
              <a:off x="0" y="0"/>
              <a:ext cx="6807200" cy="6700520"/>
            </a:xfrm>
            <a:custGeom>
              <a:avLst/>
              <a:gdLst/>
              <a:ahLst/>
              <a:cxnLst/>
              <a:rect r="r" b="b" t="t" l="l"/>
              <a:pathLst>
                <a:path h="6700520" w="6807200">
                  <a:moveTo>
                    <a:pt x="0" y="197231"/>
                  </a:moveTo>
                  <a:cubicBezTo>
                    <a:pt x="0" y="88265"/>
                    <a:pt x="88265" y="0"/>
                    <a:pt x="197231" y="0"/>
                  </a:cubicBezTo>
                  <a:lnTo>
                    <a:pt x="6609969" y="0"/>
                  </a:lnTo>
                  <a:cubicBezTo>
                    <a:pt x="6718935" y="0"/>
                    <a:pt x="6807200" y="88265"/>
                    <a:pt x="6807200" y="197231"/>
                  </a:cubicBezTo>
                  <a:lnTo>
                    <a:pt x="6807200" y="6503289"/>
                  </a:lnTo>
                  <a:cubicBezTo>
                    <a:pt x="6807200" y="6612255"/>
                    <a:pt x="6718935" y="6700520"/>
                    <a:pt x="6609969" y="6700520"/>
                  </a:cubicBezTo>
                  <a:lnTo>
                    <a:pt x="197231" y="6700520"/>
                  </a:lnTo>
                  <a:cubicBezTo>
                    <a:pt x="88265" y="6700520"/>
                    <a:pt x="0" y="6612255"/>
                    <a:pt x="0" y="6503289"/>
                  </a:cubicBezTo>
                  <a:close/>
                </a:path>
              </a:pathLst>
            </a:custGeom>
            <a:solidFill>
              <a:srgbClr val="FFFFFF"/>
            </a:solidFill>
            <a:ln w="9525" cap="sq">
              <a:solidFill>
                <a:srgbClr val="D5DCD7"/>
              </a:solidFill>
              <a:prstDash val="solid"/>
              <a:miter/>
            </a:ln>
          </p:spPr>
        </p:sp>
      </p:grpSp>
      <p:grpSp>
        <p:nvGrpSpPr>
          <p:cNvPr name="Group 6" id="6"/>
          <p:cNvGrpSpPr/>
          <p:nvPr/>
        </p:nvGrpSpPr>
        <p:grpSpPr>
          <a:xfrm rot="0">
            <a:off x="1531620" y="2670810"/>
            <a:ext cx="419100" cy="419100"/>
            <a:chOff x="0" y="0"/>
            <a:chExt cx="558800" cy="558800"/>
          </a:xfrm>
        </p:grpSpPr>
        <p:sp>
          <p:nvSpPr>
            <p:cNvPr name="Freeform 7" id="7" descr="CheckCircle"/>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3"/>
              <a:stretch>
                <a:fillRect l="0" t="0" r="0" b="0"/>
              </a:stretch>
            </a:blipFill>
          </p:spPr>
        </p:sp>
      </p:grpSp>
      <p:sp>
        <p:nvSpPr>
          <p:cNvPr name="TextBox 8" id="8"/>
          <p:cNvSpPr txBox="true"/>
          <p:nvPr/>
        </p:nvSpPr>
        <p:spPr>
          <a:xfrm rot="0">
            <a:off x="15316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Enough stock</a:t>
            </a:r>
          </a:p>
        </p:txBody>
      </p:sp>
      <p:sp>
        <p:nvSpPr>
          <p:cNvPr name="TextBox 9" id="9"/>
          <p:cNvSpPr txBox="true"/>
          <p:nvPr/>
        </p:nvSpPr>
        <p:spPr>
          <a:xfrm rot="0">
            <a:off x="1531620" y="3623310"/>
            <a:ext cx="4614977" cy="167640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Re-read availability and hold exactly warehouse-batch-quantity → order </a:t>
            </a:r>
            <a:r>
              <a:rPr lang="en-US" sz="1800" b="true">
                <a:solidFill>
                  <a:srgbClr val="4A5550"/>
                </a:solidFill>
                <a:latin typeface="IBM Plex Sans Bold"/>
                <a:ea typeface="IBM Plex Sans Bold"/>
                <a:cs typeface="IBM Plex Sans Bold"/>
                <a:sym typeface="IBM Plex Sans Bold"/>
              </a:rPr>
              <a:t>Pending approval</a:t>
            </a:r>
            <a:r>
              <a:rPr lang="en-US" sz="1800">
                <a:solidFill>
                  <a:srgbClr val="4A5550"/>
                </a:solidFill>
                <a:latin typeface="IBM Plex Sans"/>
                <a:ea typeface="IBM Plex Sans"/>
                <a:cs typeface="IBM Plex Sans"/>
                <a:sym typeface="IBM Plex Sans"/>
              </a:rPr>
              <a:t>. Approval turns the hold into </a:t>
            </a:r>
            <a:r>
              <a:rPr lang="en-US" sz="1800" b="true">
                <a:solidFill>
                  <a:srgbClr val="4A5550"/>
                </a:solidFill>
                <a:latin typeface="IBM Plex Sans Bold"/>
                <a:ea typeface="IBM Plex Sans Bold"/>
                <a:cs typeface="IBM Plex Sans Bold"/>
                <a:sym typeface="IBM Plex Sans Bold"/>
              </a:rPr>
              <a:t>Reserved</a:t>
            </a:r>
            <a:r>
              <a:rPr lang="en-US" sz="1800">
                <a:solidFill>
                  <a:srgbClr val="4A5550"/>
                </a:solidFill>
                <a:latin typeface="IBM Plex Sans"/>
                <a:ea typeface="IBM Plex Sans"/>
                <a:cs typeface="IBM Plex Sans"/>
                <a:sym typeface="IBM Plex Sans"/>
              </a:rPr>
              <a:t> and creates one picking list per warehouse.</a:t>
            </a:r>
          </a:p>
        </p:txBody>
      </p:sp>
      <p:grpSp>
        <p:nvGrpSpPr>
          <p:cNvPr name="Group 10" id="10"/>
          <p:cNvGrpSpPr/>
          <p:nvPr/>
        </p:nvGrpSpPr>
        <p:grpSpPr>
          <a:xfrm rot="0">
            <a:off x="6591300" y="2358390"/>
            <a:ext cx="5105400" cy="5025390"/>
            <a:chOff x="0" y="0"/>
            <a:chExt cx="6807200" cy="6700520"/>
          </a:xfrm>
        </p:grpSpPr>
        <p:sp>
          <p:nvSpPr>
            <p:cNvPr name="Freeform 11" id="11"/>
            <p:cNvSpPr/>
            <p:nvPr/>
          </p:nvSpPr>
          <p:spPr>
            <a:xfrm flipH="false" flipV="false" rot="0">
              <a:off x="0" y="0"/>
              <a:ext cx="6807200" cy="6700520"/>
            </a:xfrm>
            <a:custGeom>
              <a:avLst/>
              <a:gdLst/>
              <a:ahLst/>
              <a:cxnLst/>
              <a:rect r="r" b="b" t="t" l="l"/>
              <a:pathLst>
                <a:path h="6700520" w="6807200">
                  <a:moveTo>
                    <a:pt x="0" y="197231"/>
                  </a:moveTo>
                  <a:cubicBezTo>
                    <a:pt x="0" y="88265"/>
                    <a:pt x="88265" y="0"/>
                    <a:pt x="197231" y="0"/>
                  </a:cubicBezTo>
                  <a:lnTo>
                    <a:pt x="6609969" y="0"/>
                  </a:lnTo>
                  <a:cubicBezTo>
                    <a:pt x="6718935" y="0"/>
                    <a:pt x="6807200" y="88265"/>
                    <a:pt x="6807200" y="197231"/>
                  </a:cubicBezTo>
                  <a:lnTo>
                    <a:pt x="6807200" y="6503289"/>
                  </a:lnTo>
                  <a:cubicBezTo>
                    <a:pt x="6807200" y="6612255"/>
                    <a:pt x="6718935" y="6700520"/>
                    <a:pt x="6609969" y="6700520"/>
                  </a:cubicBezTo>
                  <a:lnTo>
                    <a:pt x="197231" y="6700520"/>
                  </a:lnTo>
                  <a:cubicBezTo>
                    <a:pt x="88265" y="6700520"/>
                    <a:pt x="0" y="6612255"/>
                    <a:pt x="0" y="6503289"/>
                  </a:cubicBezTo>
                  <a:close/>
                </a:path>
              </a:pathLst>
            </a:custGeom>
            <a:solidFill>
              <a:srgbClr val="FFFFFF"/>
            </a:solidFill>
            <a:ln w="9525" cap="sq">
              <a:solidFill>
                <a:srgbClr val="D5DCD7"/>
              </a:solidFill>
              <a:prstDash val="solid"/>
              <a:miter/>
            </a:ln>
          </p:spPr>
        </p:sp>
      </p:grpSp>
      <p:grpSp>
        <p:nvGrpSpPr>
          <p:cNvPr name="Group 12" id="12"/>
          <p:cNvGrpSpPr/>
          <p:nvPr/>
        </p:nvGrpSpPr>
        <p:grpSpPr>
          <a:xfrm rot="0">
            <a:off x="6903720" y="2670810"/>
            <a:ext cx="419100" cy="419100"/>
            <a:chOff x="0" y="0"/>
            <a:chExt cx="558800" cy="558800"/>
          </a:xfrm>
        </p:grpSpPr>
        <p:sp>
          <p:nvSpPr>
            <p:cNvPr name="Freeform 13" id="13" descr="Warning"/>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4"/>
              <a:stretch>
                <a:fillRect l="0" t="0" r="0" b="0"/>
              </a:stretch>
            </a:blipFill>
          </p:spPr>
        </p:sp>
      </p:grpSp>
      <p:sp>
        <p:nvSpPr>
          <p:cNvPr name="TextBox 14" id="14"/>
          <p:cNvSpPr txBox="true"/>
          <p:nvPr/>
        </p:nvSpPr>
        <p:spPr>
          <a:xfrm rot="0">
            <a:off x="69037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Shortfall</a:t>
            </a:r>
          </a:p>
        </p:txBody>
      </p:sp>
      <p:sp>
        <p:nvSpPr>
          <p:cNvPr name="TextBox 15" id="15"/>
          <p:cNvSpPr txBox="true"/>
          <p:nvPr/>
        </p:nvSpPr>
        <p:spPr>
          <a:xfrm rot="0">
            <a:off x="6903720" y="3623310"/>
            <a:ext cx="4614977" cy="1676400"/>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Only after every eligible batch in the network has been tried. MVP rule: </a:t>
            </a:r>
            <a:r>
              <a:rPr lang="en-US" sz="1800" b="true">
                <a:solidFill>
                  <a:srgbClr val="4A5550"/>
                </a:solidFill>
                <a:latin typeface="IBM Plex Sans Bold"/>
                <a:ea typeface="IBM Plex Sans Bold"/>
                <a:cs typeface="IBM Plex Sans Bold"/>
                <a:sym typeface="IBM Plex Sans Bold"/>
              </a:rPr>
              <a:t>no partial fulfillment</a:t>
            </a:r>
            <a:r>
              <a:rPr lang="en-US" sz="1800">
                <a:solidFill>
                  <a:srgbClr val="4A5550"/>
                </a:solidFill>
                <a:latin typeface="IBM Plex Sans"/>
                <a:ea typeface="IBM Plex Sans"/>
                <a:cs typeface="IBM Plex Sans"/>
                <a:sym typeface="IBM Plex Sans"/>
              </a:rPr>
              <a:t> → the order is rejected automatically with the reason; nothing is held; Sales and retailer are notified.</a:t>
            </a:r>
          </a:p>
        </p:txBody>
      </p:sp>
      <p:grpSp>
        <p:nvGrpSpPr>
          <p:cNvPr name="Group 16" id="16"/>
          <p:cNvGrpSpPr/>
          <p:nvPr/>
        </p:nvGrpSpPr>
        <p:grpSpPr>
          <a:xfrm rot="0">
            <a:off x="11963400" y="2358390"/>
            <a:ext cx="5105400" cy="5025390"/>
            <a:chOff x="0" y="0"/>
            <a:chExt cx="6807200" cy="6700520"/>
          </a:xfrm>
        </p:grpSpPr>
        <p:sp>
          <p:nvSpPr>
            <p:cNvPr name="Freeform 17" id="17"/>
            <p:cNvSpPr/>
            <p:nvPr/>
          </p:nvSpPr>
          <p:spPr>
            <a:xfrm flipH="false" flipV="false" rot="0">
              <a:off x="0" y="0"/>
              <a:ext cx="6807200" cy="6700520"/>
            </a:xfrm>
            <a:custGeom>
              <a:avLst/>
              <a:gdLst/>
              <a:ahLst/>
              <a:cxnLst/>
              <a:rect r="r" b="b" t="t" l="l"/>
              <a:pathLst>
                <a:path h="6700520" w="6807200">
                  <a:moveTo>
                    <a:pt x="0" y="197231"/>
                  </a:moveTo>
                  <a:cubicBezTo>
                    <a:pt x="0" y="88265"/>
                    <a:pt x="88265" y="0"/>
                    <a:pt x="197231" y="0"/>
                  </a:cubicBezTo>
                  <a:lnTo>
                    <a:pt x="6609969" y="0"/>
                  </a:lnTo>
                  <a:cubicBezTo>
                    <a:pt x="6718935" y="0"/>
                    <a:pt x="6807200" y="88265"/>
                    <a:pt x="6807200" y="197231"/>
                  </a:cubicBezTo>
                  <a:lnTo>
                    <a:pt x="6807200" y="6503289"/>
                  </a:lnTo>
                  <a:cubicBezTo>
                    <a:pt x="6807200" y="6612255"/>
                    <a:pt x="6718935" y="6700520"/>
                    <a:pt x="6609969" y="6700520"/>
                  </a:cubicBezTo>
                  <a:lnTo>
                    <a:pt x="197231" y="6700520"/>
                  </a:lnTo>
                  <a:cubicBezTo>
                    <a:pt x="88265" y="6700520"/>
                    <a:pt x="0" y="6612255"/>
                    <a:pt x="0" y="6503289"/>
                  </a:cubicBezTo>
                  <a:close/>
                </a:path>
              </a:pathLst>
            </a:custGeom>
            <a:solidFill>
              <a:srgbClr val="FFFFFF"/>
            </a:solidFill>
            <a:ln w="9525" cap="sq">
              <a:solidFill>
                <a:srgbClr val="D5DCD7"/>
              </a:solidFill>
              <a:prstDash val="solid"/>
              <a:miter/>
            </a:ln>
          </p:spPr>
        </p:sp>
      </p:grpSp>
      <p:grpSp>
        <p:nvGrpSpPr>
          <p:cNvPr name="Group 18" id="18"/>
          <p:cNvGrpSpPr/>
          <p:nvPr/>
        </p:nvGrpSpPr>
        <p:grpSpPr>
          <a:xfrm rot="0">
            <a:off x="12275820" y="2670810"/>
            <a:ext cx="419100" cy="419100"/>
            <a:chOff x="0" y="0"/>
            <a:chExt cx="558800" cy="558800"/>
          </a:xfrm>
        </p:grpSpPr>
        <p:sp>
          <p:nvSpPr>
            <p:cNvPr name="Freeform 19" id="19" descr="Lock"/>
            <p:cNvSpPr/>
            <p:nvPr/>
          </p:nvSpPr>
          <p:spPr>
            <a:xfrm flipH="false" flipV="false" rot="0">
              <a:off x="0" y="0"/>
              <a:ext cx="558800" cy="558800"/>
            </a:xfrm>
            <a:custGeom>
              <a:avLst/>
              <a:gdLst/>
              <a:ahLst/>
              <a:cxnLst/>
              <a:rect r="r" b="b" t="t" l="l"/>
              <a:pathLst>
                <a:path h="558800" w="558800">
                  <a:moveTo>
                    <a:pt x="0" y="0"/>
                  </a:moveTo>
                  <a:lnTo>
                    <a:pt x="558800" y="0"/>
                  </a:lnTo>
                  <a:lnTo>
                    <a:pt x="558800" y="558800"/>
                  </a:lnTo>
                  <a:lnTo>
                    <a:pt x="0" y="558800"/>
                  </a:lnTo>
                  <a:lnTo>
                    <a:pt x="0" y="0"/>
                  </a:lnTo>
                  <a:close/>
                </a:path>
              </a:pathLst>
            </a:custGeom>
            <a:blipFill>
              <a:blip r:embed="rId5"/>
              <a:stretch>
                <a:fillRect l="0" t="0" r="0" b="0"/>
              </a:stretch>
            </a:blipFill>
          </p:spPr>
        </p:sp>
      </p:grpSp>
      <p:sp>
        <p:nvSpPr>
          <p:cNvPr name="TextBox 20" id="20"/>
          <p:cNvSpPr txBox="true"/>
          <p:nvPr/>
        </p:nvSpPr>
        <p:spPr>
          <a:xfrm rot="0">
            <a:off x="12275820" y="3185160"/>
            <a:ext cx="4614977" cy="400050"/>
          </a:xfrm>
          <a:prstGeom prst="rect">
            <a:avLst/>
          </a:prstGeom>
        </p:spPr>
        <p:txBody>
          <a:bodyPr anchor="t" rtlCol="false" tIns="0" lIns="0" bIns="0" rIns="0">
            <a:spAutoFit/>
          </a:bodyPr>
          <a:lstStyle/>
          <a:p>
            <a:pPr algn="l">
              <a:lnSpc>
                <a:spcPts val="2700"/>
              </a:lnSpc>
            </a:pPr>
            <a:r>
              <a:rPr lang="en-US" sz="2250" b="true">
                <a:solidFill>
                  <a:srgbClr val="1B2420"/>
                </a:solidFill>
                <a:latin typeface="Arimo Bold"/>
                <a:ea typeface="Arimo Bold"/>
                <a:cs typeface="Arimo Bold"/>
                <a:sym typeface="Arimo Bold"/>
              </a:rPr>
              <a:t>Concurrency safety</a:t>
            </a:r>
          </a:p>
        </p:txBody>
      </p:sp>
      <p:sp>
        <p:nvSpPr>
          <p:cNvPr name="TextBox 21" id="21"/>
          <p:cNvSpPr txBox="true"/>
          <p:nvPr/>
        </p:nvSpPr>
        <p:spPr>
          <a:xfrm rot="0">
            <a:off x="12275820" y="3623310"/>
            <a:ext cx="4614977" cy="1564005"/>
          </a:xfrm>
          <a:prstGeom prst="rect">
            <a:avLst/>
          </a:prstGeom>
        </p:spPr>
        <p:txBody>
          <a:bodyPr anchor="t" rtlCol="false" tIns="0" lIns="0" bIns="0" rIns="0">
            <a:spAutoFit/>
          </a:bodyPr>
          <a:lstStyle/>
          <a:p>
            <a:pPr algn="l">
              <a:lnSpc>
                <a:spcPts val="2520"/>
              </a:lnSpc>
            </a:pPr>
            <a:r>
              <a:rPr lang="en-US" sz="1800">
                <a:solidFill>
                  <a:srgbClr val="4A5550"/>
                </a:solidFill>
                <a:latin typeface="IBM Plex Sans"/>
                <a:ea typeface="IBM Plex Sans"/>
                <a:cs typeface="IBM Plex Sans"/>
                <a:sym typeface="IBM Plex Sans"/>
              </a:rPr>
              <a:t>Server-arrival order (first come, first served); optimistic locking with a row version inside one transaction; an idempotency key per order; on conflict: release, re-read, run B1–B5 again.</a:t>
            </a:r>
          </a:p>
        </p:txBody>
      </p:sp>
      <p:grpSp>
        <p:nvGrpSpPr>
          <p:cNvPr name="Group 22" id="22"/>
          <p:cNvGrpSpPr/>
          <p:nvPr/>
        </p:nvGrpSpPr>
        <p:grpSpPr>
          <a:xfrm rot="0">
            <a:off x="1219200" y="7726690"/>
            <a:ext cx="15849600" cy="1036320"/>
            <a:chOff x="0" y="0"/>
            <a:chExt cx="21132800" cy="1381760"/>
          </a:xfrm>
        </p:grpSpPr>
        <p:sp>
          <p:nvSpPr>
            <p:cNvPr name="Freeform 23" id="23"/>
            <p:cNvSpPr/>
            <p:nvPr/>
          </p:nvSpPr>
          <p:spPr>
            <a:xfrm flipH="false" flipV="false" rot="0">
              <a:off x="0" y="0"/>
              <a:ext cx="21132800" cy="1381760"/>
            </a:xfrm>
            <a:custGeom>
              <a:avLst/>
              <a:gdLst/>
              <a:ahLst/>
              <a:cxnLst/>
              <a:rect r="r" b="b" t="t" l="l"/>
              <a:pathLst>
                <a:path h="1381760" w="21132800">
                  <a:moveTo>
                    <a:pt x="0" y="152400"/>
                  </a:moveTo>
                  <a:cubicBezTo>
                    <a:pt x="0" y="68199"/>
                    <a:pt x="68199" y="0"/>
                    <a:pt x="152400" y="0"/>
                  </a:cubicBezTo>
                  <a:lnTo>
                    <a:pt x="20980400" y="0"/>
                  </a:lnTo>
                  <a:cubicBezTo>
                    <a:pt x="21064601" y="0"/>
                    <a:pt x="21132800" y="68199"/>
                    <a:pt x="21132800" y="152400"/>
                  </a:cubicBezTo>
                  <a:lnTo>
                    <a:pt x="21132800" y="1229360"/>
                  </a:lnTo>
                  <a:cubicBezTo>
                    <a:pt x="21132800" y="1313561"/>
                    <a:pt x="21064601" y="1381760"/>
                    <a:pt x="20980400" y="1381760"/>
                  </a:cubicBezTo>
                  <a:lnTo>
                    <a:pt x="152400" y="1381760"/>
                  </a:lnTo>
                  <a:cubicBezTo>
                    <a:pt x="68199" y="1381760"/>
                    <a:pt x="0" y="1313561"/>
                    <a:pt x="0" y="1229360"/>
                  </a:cubicBezTo>
                  <a:close/>
                </a:path>
              </a:pathLst>
            </a:custGeom>
            <a:solidFill>
              <a:srgbClr val="E9EEEA"/>
            </a:solidFill>
          </p:spPr>
        </p:sp>
        <p:sp>
          <p:nvSpPr>
            <p:cNvPr name="TextBox 24" id="24"/>
            <p:cNvSpPr txBox="true"/>
            <p:nvPr/>
          </p:nvSpPr>
          <p:spPr>
            <a:xfrm>
              <a:off x="0" y="-38100"/>
              <a:ext cx="21132800" cy="1419860"/>
            </a:xfrm>
            <a:prstGeom prst="rect">
              <a:avLst/>
            </a:prstGeom>
          </p:spPr>
          <p:txBody>
            <a:bodyPr anchor="t" rtlCol="false" tIns="50800" lIns="50800" bIns="50800" rIns="50800"/>
            <a:lstStyle/>
            <a:p>
              <a:pPr algn="l">
                <a:lnSpc>
                  <a:spcPts val="2729"/>
                </a:lnSpc>
              </a:pPr>
              <a:r>
                <a:rPr lang="en-US" sz="1950">
                  <a:solidFill>
                    <a:srgbClr val="1B2420"/>
                  </a:solidFill>
                  <a:latin typeface="IBM Plex Sans"/>
                  <a:ea typeface="IBM Plex Sans"/>
                  <a:cs typeface="IBM Plex Sans"/>
                  <a:sym typeface="IBM Plex Sans"/>
                </a:rPr>
                <a:t>Holds never make available stock negative and the same batch quantity is never given to two orders. Rejection or cancellation releases the hold; on-hand stock drops only at goods issue.</a:t>
              </a:r>
            </a:p>
          </p:txBody>
        </p:sp>
      </p:grpSp>
      <p:sp>
        <p:nvSpPr>
          <p:cNvPr name="TextBox 25" id="25"/>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26" id="26"/>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21</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6F5F0"/>
        </a:solidFill>
      </p:bgPr>
    </p:bg>
    <p:spTree>
      <p:nvGrpSpPr>
        <p:cNvPr id="1" name=""/>
        <p:cNvGrpSpPr/>
        <p:nvPr/>
      </p:nvGrpSpPr>
      <p:grpSpPr>
        <a:xfrm>
          <a:off x="0" y="0"/>
          <a:ext cx="0" cy="0"/>
          <a:chOff x="0" y="0"/>
          <a:chExt cx="0" cy="0"/>
        </a:xfrm>
      </p:grpSpPr>
      <p:grpSp>
        <p:nvGrpSpPr>
          <p:cNvPr name="Group 2" id="2"/>
          <p:cNvGrpSpPr/>
          <p:nvPr/>
        </p:nvGrpSpPr>
        <p:grpSpPr>
          <a:xfrm rot="0">
            <a:off x="1219200" y="2362200"/>
            <a:ext cx="6096000" cy="1428750"/>
            <a:chOff x="0" y="0"/>
            <a:chExt cx="8128000" cy="1905000"/>
          </a:xfrm>
        </p:grpSpPr>
        <p:sp>
          <p:nvSpPr>
            <p:cNvPr name="Freeform 3" id="3"/>
            <p:cNvSpPr/>
            <p:nvPr/>
          </p:nvSpPr>
          <p:spPr>
            <a:xfrm flipH="false" flipV="false" rot="0">
              <a:off x="0" y="0"/>
              <a:ext cx="8128000" cy="1905000"/>
            </a:xfrm>
            <a:custGeom>
              <a:avLst/>
              <a:gdLst/>
              <a:ahLst/>
              <a:cxnLst/>
              <a:rect r="r" b="b" t="t" l="l"/>
              <a:pathLst>
                <a:path h="1905000" w="8128000">
                  <a:moveTo>
                    <a:pt x="0" y="167386"/>
                  </a:moveTo>
                  <a:cubicBezTo>
                    <a:pt x="0" y="74930"/>
                    <a:pt x="74930" y="0"/>
                    <a:pt x="167386" y="0"/>
                  </a:cubicBezTo>
                  <a:lnTo>
                    <a:pt x="7960614" y="0"/>
                  </a:lnTo>
                  <a:cubicBezTo>
                    <a:pt x="8053070" y="0"/>
                    <a:pt x="8128000" y="74930"/>
                    <a:pt x="8128000" y="167386"/>
                  </a:cubicBezTo>
                  <a:lnTo>
                    <a:pt x="8128000" y="1737614"/>
                  </a:lnTo>
                  <a:cubicBezTo>
                    <a:pt x="8128000" y="1830070"/>
                    <a:pt x="8053070" y="1905000"/>
                    <a:pt x="7960614" y="1905000"/>
                  </a:cubicBezTo>
                  <a:lnTo>
                    <a:pt x="167386" y="1905000"/>
                  </a:lnTo>
                  <a:cubicBezTo>
                    <a:pt x="74930" y="1905000"/>
                    <a:pt x="0" y="1830070"/>
                    <a:pt x="0" y="1737614"/>
                  </a:cubicBezTo>
                  <a:close/>
                </a:path>
              </a:pathLst>
            </a:custGeom>
            <a:solidFill>
              <a:srgbClr val="FFFFFF"/>
            </a:solidFill>
            <a:ln w="19050" cap="sq">
              <a:solidFill>
                <a:srgbClr val="D5DCD7"/>
              </a:solidFill>
              <a:prstDash val="solid"/>
              <a:miter/>
            </a:ln>
          </p:spPr>
        </p:sp>
      </p:grpSp>
      <p:grpSp>
        <p:nvGrpSpPr>
          <p:cNvPr name="Group 4" id="4"/>
          <p:cNvGrpSpPr/>
          <p:nvPr/>
        </p:nvGrpSpPr>
        <p:grpSpPr>
          <a:xfrm rot="0">
            <a:off x="7886700" y="2362200"/>
            <a:ext cx="6096000" cy="1428750"/>
            <a:chOff x="0" y="0"/>
            <a:chExt cx="8128000" cy="1905000"/>
          </a:xfrm>
        </p:grpSpPr>
        <p:sp>
          <p:nvSpPr>
            <p:cNvPr name="Freeform 5" id="5"/>
            <p:cNvSpPr/>
            <p:nvPr/>
          </p:nvSpPr>
          <p:spPr>
            <a:xfrm flipH="false" flipV="false" rot="0">
              <a:off x="0" y="0"/>
              <a:ext cx="8128000" cy="1905000"/>
            </a:xfrm>
            <a:custGeom>
              <a:avLst/>
              <a:gdLst/>
              <a:ahLst/>
              <a:cxnLst/>
              <a:rect r="r" b="b" t="t" l="l"/>
              <a:pathLst>
                <a:path h="1905000" w="8128000">
                  <a:moveTo>
                    <a:pt x="0" y="167386"/>
                  </a:moveTo>
                  <a:cubicBezTo>
                    <a:pt x="0" y="74930"/>
                    <a:pt x="74930" y="0"/>
                    <a:pt x="167386" y="0"/>
                  </a:cubicBezTo>
                  <a:lnTo>
                    <a:pt x="7960614" y="0"/>
                  </a:lnTo>
                  <a:cubicBezTo>
                    <a:pt x="8053070" y="0"/>
                    <a:pt x="8128000" y="74930"/>
                    <a:pt x="8128000" y="167386"/>
                  </a:cubicBezTo>
                  <a:lnTo>
                    <a:pt x="8128000" y="1737614"/>
                  </a:lnTo>
                  <a:cubicBezTo>
                    <a:pt x="8128000" y="1830070"/>
                    <a:pt x="8053070" y="1905000"/>
                    <a:pt x="7960614" y="1905000"/>
                  </a:cubicBezTo>
                  <a:lnTo>
                    <a:pt x="167386" y="1905000"/>
                  </a:lnTo>
                  <a:cubicBezTo>
                    <a:pt x="74930" y="1905000"/>
                    <a:pt x="0" y="1830070"/>
                    <a:pt x="0" y="1737614"/>
                  </a:cubicBezTo>
                  <a:close/>
                </a:path>
              </a:pathLst>
            </a:custGeom>
            <a:solidFill>
              <a:srgbClr val="FFFFFF"/>
            </a:solidFill>
            <a:ln w="19050" cap="sq">
              <a:solidFill>
                <a:srgbClr val="D5DCD7"/>
              </a:solidFill>
              <a:prstDash val="solid"/>
              <a:miter/>
            </a:ln>
          </p:spPr>
        </p:sp>
      </p:grpSp>
      <p:grpSp>
        <p:nvGrpSpPr>
          <p:cNvPr name="Group 6" id="6"/>
          <p:cNvGrpSpPr/>
          <p:nvPr/>
        </p:nvGrpSpPr>
        <p:grpSpPr>
          <a:xfrm rot="0">
            <a:off x="14554200" y="2362200"/>
            <a:ext cx="2514600" cy="1428750"/>
            <a:chOff x="0" y="0"/>
            <a:chExt cx="3352800" cy="1905000"/>
          </a:xfrm>
        </p:grpSpPr>
        <p:sp>
          <p:nvSpPr>
            <p:cNvPr name="Freeform 7" id="7"/>
            <p:cNvSpPr/>
            <p:nvPr/>
          </p:nvSpPr>
          <p:spPr>
            <a:xfrm flipH="false" flipV="false" rot="0">
              <a:off x="0" y="0"/>
              <a:ext cx="3352800" cy="1905000"/>
            </a:xfrm>
            <a:custGeom>
              <a:avLst/>
              <a:gdLst/>
              <a:ahLst/>
              <a:cxnLst/>
              <a:rect r="r" b="b" t="t" l="l"/>
              <a:pathLst>
                <a:path h="1905000" w="3352800">
                  <a:moveTo>
                    <a:pt x="0" y="167386"/>
                  </a:moveTo>
                  <a:cubicBezTo>
                    <a:pt x="0" y="74930"/>
                    <a:pt x="74930" y="0"/>
                    <a:pt x="167386" y="0"/>
                  </a:cubicBezTo>
                  <a:lnTo>
                    <a:pt x="3185414" y="0"/>
                  </a:lnTo>
                  <a:cubicBezTo>
                    <a:pt x="3277870" y="0"/>
                    <a:pt x="3352800" y="74930"/>
                    <a:pt x="3352800" y="167386"/>
                  </a:cubicBezTo>
                  <a:lnTo>
                    <a:pt x="3352800" y="1737614"/>
                  </a:lnTo>
                  <a:cubicBezTo>
                    <a:pt x="3352800" y="1830070"/>
                    <a:pt x="3277870" y="1905000"/>
                    <a:pt x="3185414" y="1905000"/>
                  </a:cubicBezTo>
                  <a:lnTo>
                    <a:pt x="167386" y="1905000"/>
                  </a:lnTo>
                  <a:cubicBezTo>
                    <a:pt x="74930" y="1905000"/>
                    <a:pt x="0" y="1830070"/>
                    <a:pt x="0" y="1737614"/>
                  </a:cubicBezTo>
                  <a:close/>
                </a:path>
              </a:pathLst>
            </a:custGeom>
            <a:solidFill>
              <a:srgbClr val="FFFFFF"/>
            </a:solidFill>
            <a:ln w="19050" cap="sq">
              <a:solidFill>
                <a:srgbClr val="D5DCD7"/>
              </a:solidFill>
              <a:prstDash val="solid"/>
              <a:miter/>
            </a:ln>
          </p:spPr>
        </p:sp>
      </p:grpSp>
      <p:grpSp>
        <p:nvGrpSpPr>
          <p:cNvPr name="Group 8" id="8"/>
          <p:cNvGrpSpPr/>
          <p:nvPr/>
        </p:nvGrpSpPr>
        <p:grpSpPr>
          <a:xfrm rot="0">
            <a:off x="1219200" y="4362450"/>
            <a:ext cx="12763500" cy="2190750"/>
            <a:chOff x="0" y="0"/>
            <a:chExt cx="17018000" cy="2921000"/>
          </a:xfrm>
        </p:grpSpPr>
        <p:sp>
          <p:nvSpPr>
            <p:cNvPr name="Freeform 9" id="9"/>
            <p:cNvSpPr/>
            <p:nvPr/>
          </p:nvSpPr>
          <p:spPr>
            <a:xfrm flipH="false" flipV="false" rot="0">
              <a:off x="0" y="0"/>
              <a:ext cx="17018000" cy="2921000"/>
            </a:xfrm>
            <a:custGeom>
              <a:avLst/>
              <a:gdLst/>
              <a:ahLst/>
              <a:cxnLst/>
              <a:rect r="r" b="b" t="t" l="l"/>
              <a:pathLst>
                <a:path h="2921000" w="17018000">
                  <a:moveTo>
                    <a:pt x="0" y="203200"/>
                  </a:moveTo>
                  <a:cubicBezTo>
                    <a:pt x="0" y="90932"/>
                    <a:pt x="90932" y="0"/>
                    <a:pt x="203200" y="0"/>
                  </a:cubicBezTo>
                  <a:lnTo>
                    <a:pt x="16814800" y="0"/>
                  </a:lnTo>
                  <a:cubicBezTo>
                    <a:pt x="16927068" y="0"/>
                    <a:pt x="17018000" y="90932"/>
                    <a:pt x="17018000" y="203200"/>
                  </a:cubicBezTo>
                  <a:lnTo>
                    <a:pt x="17018000" y="2717800"/>
                  </a:lnTo>
                  <a:cubicBezTo>
                    <a:pt x="17018000" y="2830068"/>
                    <a:pt x="16927068" y="2921000"/>
                    <a:pt x="16814800" y="2921000"/>
                  </a:cubicBezTo>
                  <a:lnTo>
                    <a:pt x="203200" y="2921000"/>
                  </a:lnTo>
                  <a:cubicBezTo>
                    <a:pt x="90932" y="2921000"/>
                    <a:pt x="0" y="2830068"/>
                    <a:pt x="0" y="2717800"/>
                  </a:cubicBezTo>
                  <a:close/>
                </a:path>
              </a:pathLst>
            </a:custGeom>
            <a:solidFill>
              <a:srgbClr val="14302B"/>
            </a:solidFill>
          </p:spPr>
        </p:sp>
      </p:grpSp>
      <p:grpSp>
        <p:nvGrpSpPr>
          <p:cNvPr name="Group 10" id="10"/>
          <p:cNvGrpSpPr/>
          <p:nvPr/>
        </p:nvGrpSpPr>
        <p:grpSpPr>
          <a:xfrm rot="0">
            <a:off x="1447800" y="5029200"/>
            <a:ext cx="4025865" cy="510540"/>
            <a:chOff x="0" y="0"/>
            <a:chExt cx="5367820" cy="680720"/>
          </a:xfrm>
        </p:grpSpPr>
        <p:sp>
          <p:nvSpPr>
            <p:cNvPr name="Freeform 11" id="11"/>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12" id="12"/>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Identity &amp; access</a:t>
              </a:r>
            </a:p>
          </p:txBody>
        </p:sp>
      </p:grpSp>
      <p:grpSp>
        <p:nvGrpSpPr>
          <p:cNvPr name="Group 13" id="13"/>
          <p:cNvGrpSpPr/>
          <p:nvPr/>
        </p:nvGrpSpPr>
        <p:grpSpPr>
          <a:xfrm rot="0">
            <a:off x="5587965" y="5029200"/>
            <a:ext cx="4025865" cy="510540"/>
            <a:chOff x="0" y="0"/>
            <a:chExt cx="5367820" cy="680720"/>
          </a:xfrm>
        </p:grpSpPr>
        <p:sp>
          <p:nvSpPr>
            <p:cNvPr name="Freeform 14" id="14"/>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15" id="15"/>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Master data</a:t>
              </a:r>
            </a:p>
          </p:txBody>
        </p:sp>
      </p:grpSp>
      <p:grpSp>
        <p:nvGrpSpPr>
          <p:cNvPr name="Group 16" id="16"/>
          <p:cNvGrpSpPr/>
          <p:nvPr/>
        </p:nvGrpSpPr>
        <p:grpSpPr>
          <a:xfrm rot="0">
            <a:off x="9728121" y="5029200"/>
            <a:ext cx="4025865" cy="510540"/>
            <a:chOff x="0" y="0"/>
            <a:chExt cx="5367820" cy="680720"/>
          </a:xfrm>
        </p:grpSpPr>
        <p:sp>
          <p:nvSpPr>
            <p:cNvPr name="Freeform 17" id="17"/>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18" id="18"/>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Inventory, batch &amp; labels</a:t>
              </a:r>
            </a:p>
          </p:txBody>
        </p:sp>
      </p:grpSp>
      <p:grpSp>
        <p:nvGrpSpPr>
          <p:cNvPr name="Group 19" id="19"/>
          <p:cNvGrpSpPr/>
          <p:nvPr/>
        </p:nvGrpSpPr>
        <p:grpSpPr>
          <a:xfrm rot="0">
            <a:off x="1447800" y="5654040"/>
            <a:ext cx="4025865" cy="510540"/>
            <a:chOff x="0" y="0"/>
            <a:chExt cx="5367820" cy="680720"/>
          </a:xfrm>
        </p:grpSpPr>
        <p:sp>
          <p:nvSpPr>
            <p:cNvPr name="Freeform 20" id="20"/>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21" id="21"/>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Orders &amp; FEFO-MLOR allocation</a:t>
              </a:r>
            </a:p>
          </p:txBody>
        </p:sp>
      </p:grpSp>
      <p:grpSp>
        <p:nvGrpSpPr>
          <p:cNvPr name="Group 22" id="22"/>
          <p:cNvGrpSpPr/>
          <p:nvPr/>
        </p:nvGrpSpPr>
        <p:grpSpPr>
          <a:xfrm rot="0">
            <a:off x="5587965" y="5654040"/>
            <a:ext cx="4025865" cy="510540"/>
            <a:chOff x="0" y="0"/>
            <a:chExt cx="5367820" cy="680720"/>
          </a:xfrm>
        </p:grpSpPr>
        <p:sp>
          <p:nvSpPr>
            <p:cNvPr name="Freeform 23" id="23"/>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24" id="24"/>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Promotion engine</a:t>
              </a:r>
            </a:p>
          </p:txBody>
        </p:sp>
      </p:grpSp>
      <p:grpSp>
        <p:nvGrpSpPr>
          <p:cNvPr name="Group 25" id="25"/>
          <p:cNvGrpSpPr/>
          <p:nvPr/>
        </p:nvGrpSpPr>
        <p:grpSpPr>
          <a:xfrm rot="0">
            <a:off x="9728121" y="5654040"/>
            <a:ext cx="4025865" cy="510540"/>
            <a:chOff x="0" y="0"/>
            <a:chExt cx="5367820" cy="680720"/>
          </a:xfrm>
        </p:grpSpPr>
        <p:sp>
          <p:nvSpPr>
            <p:cNvPr name="Freeform 26" id="26"/>
            <p:cNvSpPr/>
            <p:nvPr/>
          </p:nvSpPr>
          <p:spPr>
            <a:xfrm flipH="false" flipV="false" rot="0">
              <a:off x="0" y="0"/>
              <a:ext cx="5367782" cy="680720"/>
            </a:xfrm>
            <a:custGeom>
              <a:avLst/>
              <a:gdLst/>
              <a:ahLst/>
              <a:cxnLst/>
              <a:rect r="r" b="b" t="t" l="l"/>
              <a:pathLst>
                <a:path h="680720" w="5367782">
                  <a:moveTo>
                    <a:pt x="0" y="127000"/>
                  </a:moveTo>
                  <a:cubicBezTo>
                    <a:pt x="0" y="56896"/>
                    <a:pt x="56896" y="0"/>
                    <a:pt x="127000" y="0"/>
                  </a:cubicBezTo>
                  <a:lnTo>
                    <a:pt x="5240782" y="0"/>
                  </a:lnTo>
                  <a:cubicBezTo>
                    <a:pt x="5310886" y="0"/>
                    <a:pt x="5367782" y="56896"/>
                    <a:pt x="5367782" y="127000"/>
                  </a:cubicBezTo>
                  <a:lnTo>
                    <a:pt x="5367782" y="553720"/>
                  </a:lnTo>
                  <a:cubicBezTo>
                    <a:pt x="5367782" y="623824"/>
                    <a:pt x="5310886" y="680720"/>
                    <a:pt x="5240782" y="680720"/>
                  </a:cubicBezTo>
                  <a:lnTo>
                    <a:pt x="127000" y="680720"/>
                  </a:lnTo>
                  <a:cubicBezTo>
                    <a:pt x="56896" y="680720"/>
                    <a:pt x="0" y="623824"/>
                    <a:pt x="0" y="553720"/>
                  </a:cubicBezTo>
                  <a:close/>
                </a:path>
              </a:pathLst>
            </a:custGeom>
            <a:solidFill>
              <a:srgbClr val="24493F"/>
            </a:solidFill>
          </p:spPr>
        </p:sp>
        <p:sp>
          <p:nvSpPr>
            <p:cNvPr name="TextBox 27" id="27"/>
            <p:cNvSpPr txBox="true"/>
            <p:nvPr/>
          </p:nvSpPr>
          <p:spPr>
            <a:xfrm>
              <a:off x="0" y="-38100"/>
              <a:ext cx="5367820" cy="718820"/>
            </a:xfrm>
            <a:prstGeom prst="rect">
              <a:avLst/>
            </a:prstGeom>
          </p:spPr>
          <p:txBody>
            <a:bodyPr anchor="t" rtlCol="false" tIns="50800" lIns="50800" bIns="50800" rIns="50800"/>
            <a:lstStyle/>
            <a:p>
              <a:pPr algn="l">
                <a:lnSpc>
                  <a:spcPts val="2520"/>
                </a:lnSpc>
              </a:pPr>
              <a:r>
                <a:rPr lang="en-US" sz="1800">
                  <a:solidFill>
                    <a:srgbClr val="F2F1EA"/>
                  </a:solidFill>
                  <a:latin typeface="IBM Plex Sans"/>
                  <a:ea typeface="IBM Plex Sans"/>
                  <a:cs typeface="IBM Plex Sans"/>
                  <a:sym typeface="IBM Plex Sans"/>
                </a:rPr>
                <a:t>Notification &amp; audit</a:t>
              </a:r>
            </a:p>
          </p:txBody>
        </p:sp>
      </p:grpSp>
      <p:grpSp>
        <p:nvGrpSpPr>
          <p:cNvPr name="Group 28" id="28"/>
          <p:cNvGrpSpPr/>
          <p:nvPr/>
        </p:nvGrpSpPr>
        <p:grpSpPr>
          <a:xfrm rot="0">
            <a:off x="14554200" y="4362450"/>
            <a:ext cx="2514600" cy="2190750"/>
            <a:chOff x="0" y="0"/>
            <a:chExt cx="3352800" cy="2921000"/>
          </a:xfrm>
        </p:grpSpPr>
        <p:sp>
          <p:nvSpPr>
            <p:cNvPr name="Freeform 29" id="29"/>
            <p:cNvSpPr/>
            <p:nvPr/>
          </p:nvSpPr>
          <p:spPr>
            <a:xfrm flipH="false" flipV="false" rot="0">
              <a:off x="0" y="0"/>
              <a:ext cx="3352800" cy="2921000"/>
            </a:xfrm>
            <a:custGeom>
              <a:avLst/>
              <a:gdLst/>
              <a:ahLst/>
              <a:cxnLst/>
              <a:rect r="r" b="b" t="t" l="l"/>
              <a:pathLst>
                <a:path h="2921000" w="3352800">
                  <a:moveTo>
                    <a:pt x="0" y="166497"/>
                  </a:moveTo>
                  <a:cubicBezTo>
                    <a:pt x="0" y="74549"/>
                    <a:pt x="74549" y="0"/>
                    <a:pt x="166497" y="0"/>
                  </a:cubicBezTo>
                  <a:lnTo>
                    <a:pt x="3186303" y="0"/>
                  </a:lnTo>
                  <a:cubicBezTo>
                    <a:pt x="3278251" y="0"/>
                    <a:pt x="3352800" y="74549"/>
                    <a:pt x="3352800" y="166497"/>
                  </a:cubicBezTo>
                  <a:lnTo>
                    <a:pt x="3352800" y="2754503"/>
                  </a:lnTo>
                  <a:cubicBezTo>
                    <a:pt x="3352800" y="2846451"/>
                    <a:pt x="3278251" y="2921000"/>
                    <a:pt x="3186303" y="2921000"/>
                  </a:cubicBezTo>
                  <a:lnTo>
                    <a:pt x="166497" y="2921000"/>
                  </a:lnTo>
                  <a:cubicBezTo>
                    <a:pt x="74549" y="2921000"/>
                    <a:pt x="0" y="2846451"/>
                    <a:pt x="0" y="2754503"/>
                  </a:cubicBezTo>
                  <a:close/>
                </a:path>
              </a:pathLst>
            </a:custGeom>
            <a:solidFill>
              <a:srgbClr val="FFFFFF"/>
            </a:solidFill>
            <a:ln w="19050" cap="sq">
              <a:solidFill>
                <a:srgbClr val="D5DCD7"/>
              </a:solidFill>
              <a:prstDash val="solid"/>
              <a:miter/>
            </a:ln>
          </p:spPr>
        </p:sp>
      </p:grpSp>
      <p:grpSp>
        <p:nvGrpSpPr>
          <p:cNvPr name="Group 30" id="30"/>
          <p:cNvGrpSpPr/>
          <p:nvPr/>
        </p:nvGrpSpPr>
        <p:grpSpPr>
          <a:xfrm rot="0">
            <a:off x="1219200" y="7124700"/>
            <a:ext cx="2887425" cy="1545916"/>
            <a:chOff x="0" y="0"/>
            <a:chExt cx="3849900" cy="2061221"/>
          </a:xfrm>
        </p:grpSpPr>
        <p:sp>
          <p:nvSpPr>
            <p:cNvPr name="Freeform 31" id="31"/>
            <p:cNvSpPr/>
            <p:nvPr/>
          </p:nvSpPr>
          <p:spPr>
            <a:xfrm flipH="false" flipV="false" rot="0">
              <a:off x="0" y="0"/>
              <a:ext cx="3849900" cy="2061221"/>
            </a:xfrm>
            <a:custGeom>
              <a:avLst/>
              <a:gdLst/>
              <a:ahLst/>
              <a:cxnLst/>
              <a:rect r="r" b="b" t="t" l="l"/>
              <a:pathLst>
                <a:path h="2061221" w="3849900">
                  <a:moveTo>
                    <a:pt x="0" y="181113"/>
                  </a:moveTo>
                  <a:cubicBezTo>
                    <a:pt x="0" y="81075"/>
                    <a:pt x="54082" y="0"/>
                    <a:pt x="120814" y="0"/>
                  </a:cubicBezTo>
                  <a:lnTo>
                    <a:pt x="3729087" y="0"/>
                  </a:lnTo>
                  <a:cubicBezTo>
                    <a:pt x="3795818" y="0"/>
                    <a:pt x="3849900" y="81075"/>
                    <a:pt x="3849900" y="181113"/>
                  </a:cubicBezTo>
                  <a:lnTo>
                    <a:pt x="3849900" y="1880108"/>
                  </a:lnTo>
                  <a:cubicBezTo>
                    <a:pt x="3849900" y="1980146"/>
                    <a:pt x="3795818" y="2061221"/>
                    <a:pt x="3729087" y="2061221"/>
                  </a:cubicBezTo>
                  <a:lnTo>
                    <a:pt x="120814" y="2061221"/>
                  </a:lnTo>
                  <a:cubicBezTo>
                    <a:pt x="54082" y="2061221"/>
                    <a:pt x="0" y="1980146"/>
                    <a:pt x="0" y="1880108"/>
                  </a:cubicBezTo>
                  <a:close/>
                </a:path>
              </a:pathLst>
            </a:custGeom>
            <a:solidFill>
              <a:srgbClr val="DCEBE5"/>
            </a:solidFill>
            <a:ln w="19050" cap="sq">
              <a:solidFill>
                <a:srgbClr val="A9CFC3"/>
              </a:solidFill>
              <a:prstDash val="solid"/>
              <a:miter/>
            </a:ln>
          </p:spPr>
        </p:sp>
      </p:grpSp>
      <p:grpSp>
        <p:nvGrpSpPr>
          <p:cNvPr name="Group 32" id="32"/>
          <p:cNvGrpSpPr/>
          <p:nvPr/>
        </p:nvGrpSpPr>
        <p:grpSpPr>
          <a:xfrm rot="0">
            <a:off x="4352468" y="7136073"/>
            <a:ext cx="2916717" cy="1428750"/>
            <a:chOff x="0" y="0"/>
            <a:chExt cx="3888955" cy="1905000"/>
          </a:xfrm>
        </p:grpSpPr>
        <p:sp>
          <p:nvSpPr>
            <p:cNvPr name="Freeform 33" id="33"/>
            <p:cNvSpPr/>
            <p:nvPr/>
          </p:nvSpPr>
          <p:spPr>
            <a:xfrm flipH="false" flipV="false" rot="0">
              <a:off x="0" y="0"/>
              <a:ext cx="3888955" cy="1905000"/>
            </a:xfrm>
            <a:custGeom>
              <a:avLst/>
              <a:gdLst/>
              <a:ahLst/>
              <a:cxnLst/>
              <a:rect r="r" b="b" t="t" l="l"/>
              <a:pathLst>
                <a:path h="1905000" w="3888955">
                  <a:moveTo>
                    <a:pt x="0" y="167386"/>
                  </a:moveTo>
                  <a:cubicBezTo>
                    <a:pt x="0" y="74930"/>
                    <a:pt x="54631" y="0"/>
                    <a:pt x="122039" y="0"/>
                  </a:cubicBezTo>
                  <a:lnTo>
                    <a:pt x="3766916" y="0"/>
                  </a:lnTo>
                  <a:cubicBezTo>
                    <a:pt x="3834325" y="0"/>
                    <a:pt x="3888955" y="74930"/>
                    <a:pt x="3888955" y="167386"/>
                  </a:cubicBezTo>
                  <a:lnTo>
                    <a:pt x="3888955" y="1737614"/>
                  </a:lnTo>
                  <a:cubicBezTo>
                    <a:pt x="3888955" y="1830070"/>
                    <a:pt x="3834325" y="1905000"/>
                    <a:pt x="3766916" y="1905000"/>
                  </a:cubicBezTo>
                  <a:lnTo>
                    <a:pt x="122039" y="1905000"/>
                  </a:lnTo>
                  <a:cubicBezTo>
                    <a:pt x="54631" y="1905000"/>
                    <a:pt x="0" y="1830070"/>
                    <a:pt x="0" y="1737614"/>
                  </a:cubicBezTo>
                  <a:close/>
                </a:path>
              </a:pathLst>
            </a:custGeom>
            <a:solidFill>
              <a:srgbClr val="DCEBE5"/>
            </a:solidFill>
            <a:ln w="19050" cap="sq">
              <a:solidFill>
                <a:srgbClr val="A9CFC3"/>
              </a:solidFill>
              <a:prstDash val="solid"/>
              <a:miter/>
            </a:ln>
          </p:spPr>
        </p:sp>
      </p:grpSp>
      <p:grpSp>
        <p:nvGrpSpPr>
          <p:cNvPr name="Group 34" id="34"/>
          <p:cNvGrpSpPr/>
          <p:nvPr/>
        </p:nvGrpSpPr>
        <p:grpSpPr>
          <a:xfrm rot="0">
            <a:off x="7516834" y="7162800"/>
            <a:ext cx="3365852" cy="1428750"/>
            <a:chOff x="0" y="0"/>
            <a:chExt cx="4487803" cy="1905000"/>
          </a:xfrm>
        </p:grpSpPr>
        <p:sp>
          <p:nvSpPr>
            <p:cNvPr name="Freeform 35" id="35"/>
            <p:cNvSpPr/>
            <p:nvPr/>
          </p:nvSpPr>
          <p:spPr>
            <a:xfrm flipH="false" flipV="false" rot="0">
              <a:off x="0" y="0"/>
              <a:ext cx="4487803" cy="1905000"/>
            </a:xfrm>
            <a:custGeom>
              <a:avLst/>
              <a:gdLst/>
              <a:ahLst/>
              <a:cxnLst/>
              <a:rect r="r" b="b" t="t" l="l"/>
              <a:pathLst>
                <a:path h="1905000" w="4487803">
                  <a:moveTo>
                    <a:pt x="0" y="167386"/>
                  </a:moveTo>
                  <a:cubicBezTo>
                    <a:pt x="0" y="74930"/>
                    <a:pt x="63043" y="0"/>
                    <a:pt x="140832" y="0"/>
                  </a:cubicBezTo>
                  <a:lnTo>
                    <a:pt x="4346971" y="0"/>
                  </a:lnTo>
                  <a:cubicBezTo>
                    <a:pt x="4424760" y="0"/>
                    <a:pt x="4487803" y="74930"/>
                    <a:pt x="4487803" y="167386"/>
                  </a:cubicBezTo>
                  <a:lnTo>
                    <a:pt x="4487803" y="1737614"/>
                  </a:lnTo>
                  <a:cubicBezTo>
                    <a:pt x="4487803" y="1830070"/>
                    <a:pt x="4424760" y="1905000"/>
                    <a:pt x="4346971" y="1905000"/>
                  </a:cubicBezTo>
                  <a:lnTo>
                    <a:pt x="140832" y="1905000"/>
                  </a:lnTo>
                  <a:cubicBezTo>
                    <a:pt x="63043" y="1905000"/>
                    <a:pt x="0" y="1830070"/>
                    <a:pt x="0" y="1737614"/>
                  </a:cubicBezTo>
                  <a:close/>
                </a:path>
              </a:pathLst>
            </a:custGeom>
            <a:solidFill>
              <a:srgbClr val="DCEBE5"/>
            </a:solidFill>
            <a:ln w="19050" cap="sq">
              <a:solidFill>
                <a:srgbClr val="A9CFC3"/>
              </a:solidFill>
              <a:prstDash val="solid"/>
              <a:miter/>
            </a:ln>
          </p:spPr>
        </p:sp>
      </p:grpSp>
      <p:grpSp>
        <p:nvGrpSpPr>
          <p:cNvPr name="Group 36" id="36"/>
          <p:cNvGrpSpPr/>
          <p:nvPr/>
        </p:nvGrpSpPr>
        <p:grpSpPr>
          <a:xfrm rot="0">
            <a:off x="13219295" y="7092320"/>
            <a:ext cx="2514600" cy="1428750"/>
            <a:chOff x="0" y="0"/>
            <a:chExt cx="3352800" cy="1905000"/>
          </a:xfrm>
        </p:grpSpPr>
        <p:sp>
          <p:nvSpPr>
            <p:cNvPr name="Freeform 37" id="37"/>
            <p:cNvSpPr/>
            <p:nvPr/>
          </p:nvSpPr>
          <p:spPr>
            <a:xfrm flipH="false" flipV="false" rot="0">
              <a:off x="0" y="0"/>
              <a:ext cx="3352800" cy="1905000"/>
            </a:xfrm>
            <a:custGeom>
              <a:avLst/>
              <a:gdLst/>
              <a:ahLst/>
              <a:cxnLst/>
              <a:rect r="r" b="b" t="t" l="l"/>
              <a:pathLst>
                <a:path h="1905000" w="3352800">
                  <a:moveTo>
                    <a:pt x="0" y="167386"/>
                  </a:moveTo>
                  <a:cubicBezTo>
                    <a:pt x="0" y="74930"/>
                    <a:pt x="74930" y="0"/>
                    <a:pt x="167386" y="0"/>
                  </a:cubicBezTo>
                  <a:lnTo>
                    <a:pt x="3185414" y="0"/>
                  </a:lnTo>
                  <a:cubicBezTo>
                    <a:pt x="3277870" y="0"/>
                    <a:pt x="3352800" y="74930"/>
                    <a:pt x="3352800" y="167386"/>
                  </a:cubicBezTo>
                  <a:lnTo>
                    <a:pt x="3352800" y="1737614"/>
                  </a:lnTo>
                  <a:cubicBezTo>
                    <a:pt x="3352800" y="1830070"/>
                    <a:pt x="3277870" y="1905000"/>
                    <a:pt x="3185414" y="1905000"/>
                  </a:cubicBezTo>
                  <a:lnTo>
                    <a:pt x="167386" y="1905000"/>
                  </a:lnTo>
                  <a:cubicBezTo>
                    <a:pt x="74930" y="1905000"/>
                    <a:pt x="0" y="1830070"/>
                    <a:pt x="0" y="1737614"/>
                  </a:cubicBezTo>
                  <a:close/>
                </a:path>
              </a:pathLst>
            </a:custGeom>
            <a:solidFill>
              <a:srgbClr val="DCEBE5"/>
            </a:solidFill>
            <a:ln w="19050" cap="sq">
              <a:solidFill>
                <a:srgbClr val="A9CFC3"/>
              </a:solidFill>
              <a:prstDash val="solid"/>
              <a:miter/>
            </a:ln>
          </p:spPr>
        </p:sp>
      </p:grpSp>
      <p:sp>
        <p:nvSpPr>
          <p:cNvPr name="Freeform 38" id="38"/>
          <p:cNvSpPr/>
          <p:nvPr/>
        </p:nvSpPr>
        <p:spPr>
          <a:xfrm flipH="false" flipV="false" rot="5400000">
            <a:off x="3343791" y="399669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9" id="39"/>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40" id="40"/>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22</a:t>
            </a:r>
          </a:p>
        </p:txBody>
      </p:sp>
      <p:sp>
        <p:nvSpPr>
          <p:cNvPr name="TextBox 41" id="41"/>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SYSTEM DESIGN</a:t>
            </a:r>
          </a:p>
        </p:txBody>
      </p:sp>
      <p:sp>
        <p:nvSpPr>
          <p:cNvPr name="TextBox 42" id="42"/>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Architecture overview</a:t>
            </a:r>
          </a:p>
        </p:txBody>
      </p:sp>
      <p:sp>
        <p:nvSpPr>
          <p:cNvPr name="TextBox 43" id="43"/>
          <p:cNvSpPr txBox="true"/>
          <p:nvPr/>
        </p:nvSpPr>
        <p:spPr>
          <a:xfrm rot="0">
            <a:off x="1424940" y="2520315"/>
            <a:ext cx="5855056"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Web portal</a:t>
            </a:r>
          </a:p>
        </p:txBody>
      </p:sp>
      <p:sp>
        <p:nvSpPr>
          <p:cNvPr name="TextBox 44" id="44"/>
          <p:cNvSpPr txBox="true"/>
          <p:nvPr/>
        </p:nvSpPr>
        <p:spPr>
          <a:xfrm rot="0">
            <a:off x="1424940" y="2878465"/>
            <a:ext cx="5855056" cy="68389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React · Chart.js · Vercel</a:t>
            </a:r>
          </a:p>
          <a:p>
            <a:pPr algn="l">
              <a:lnSpc>
                <a:spcPts val="2430"/>
              </a:lnSpc>
            </a:pPr>
            <a:r>
              <a:rPr lang="en-US" sz="1800">
                <a:solidFill>
                  <a:srgbClr val="4A5550"/>
                </a:solidFill>
                <a:latin typeface="IBM Plex Sans"/>
                <a:ea typeface="IBM Plex Sans"/>
                <a:cs typeface="IBM Plex Sans"/>
                <a:sym typeface="IBM Plex Sans"/>
              </a:rPr>
              <a:t>Admin · Operator · Sales Manager · Warehouse Keeper</a:t>
            </a:r>
          </a:p>
        </p:txBody>
      </p:sp>
      <p:sp>
        <p:nvSpPr>
          <p:cNvPr name="TextBox 45" id="45"/>
          <p:cNvSpPr txBox="true"/>
          <p:nvPr/>
        </p:nvSpPr>
        <p:spPr>
          <a:xfrm rot="0">
            <a:off x="8092440" y="2520315"/>
            <a:ext cx="5855056"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Mobile app (Flutter)</a:t>
            </a:r>
          </a:p>
        </p:txBody>
      </p:sp>
      <p:sp>
        <p:nvSpPr>
          <p:cNvPr name="TextBox 46" id="46"/>
          <p:cNvSpPr txBox="true"/>
          <p:nvPr/>
        </p:nvSpPr>
        <p:spPr>
          <a:xfrm rot="0">
            <a:off x="8092440" y="2878465"/>
            <a:ext cx="5855056" cy="68389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SQLite offline cache + sync queue</a:t>
            </a:r>
          </a:p>
          <a:p>
            <a:pPr algn="l">
              <a:lnSpc>
                <a:spcPts val="2430"/>
              </a:lnSpc>
            </a:pPr>
            <a:r>
              <a:rPr lang="en-US" sz="1800">
                <a:solidFill>
                  <a:srgbClr val="4A5550"/>
                </a:solidFill>
                <a:latin typeface="IBM Plex Sans"/>
                <a:ea typeface="IBM Plex Sans"/>
                <a:cs typeface="IBM Plex Sans"/>
                <a:sym typeface="IBM Plex Sans"/>
              </a:rPr>
              <a:t>Sales · Retailer · Warehouse Keeper</a:t>
            </a:r>
          </a:p>
        </p:txBody>
      </p:sp>
      <p:sp>
        <p:nvSpPr>
          <p:cNvPr name="TextBox 47" id="47"/>
          <p:cNvSpPr txBox="true"/>
          <p:nvPr/>
        </p:nvSpPr>
        <p:spPr>
          <a:xfrm rot="0">
            <a:off x="14759940" y="2520315"/>
            <a:ext cx="2179320" cy="68770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Microsoft Entra ID</a:t>
            </a:r>
          </a:p>
        </p:txBody>
      </p:sp>
      <p:sp>
        <p:nvSpPr>
          <p:cNvPr name="TextBox 48" id="48"/>
          <p:cNvSpPr txBox="true"/>
          <p:nvPr/>
        </p:nvSpPr>
        <p:spPr>
          <a:xfrm rot="0">
            <a:off x="14759940" y="3198505"/>
            <a:ext cx="2179320" cy="37528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sign-in, tokens</a:t>
            </a:r>
          </a:p>
        </p:txBody>
      </p:sp>
      <p:sp>
        <p:nvSpPr>
          <p:cNvPr name="TextBox 49" id="49"/>
          <p:cNvSpPr txBox="true"/>
          <p:nvPr/>
        </p:nvSpPr>
        <p:spPr>
          <a:xfrm rot="0">
            <a:off x="1447800" y="4533900"/>
            <a:ext cx="12675489" cy="400050"/>
          </a:xfrm>
          <a:prstGeom prst="rect">
            <a:avLst/>
          </a:prstGeom>
        </p:spPr>
        <p:txBody>
          <a:bodyPr anchor="t" rtlCol="false" tIns="0" lIns="0" bIns="0" rIns="0">
            <a:spAutoFit/>
          </a:bodyPr>
          <a:lstStyle/>
          <a:p>
            <a:pPr algn="l">
              <a:lnSpc>
                <a:spcPts val="2700"/>
              </a:lnSpc>
            </a:pPr>
            <a:r>
              <a:rPr lang="en-US" sz="2250" b="true">
                <a:solidFill>
                  <a:srgbClr val="F2F1EA"/>
                </a:solidFill>
                <a:latin typeface="Arimo Bold"/>
                <a:ea typeface="Arimo Bold"/>
                <a:cs typeface="Arimo Bold"/>
                <a:sym typeface="Arimo Bold"/>
              </a:rPr>
              <a:t>ASP.NET Core Web API · modular monolith, Clean Architecture</a:t>
            </a:r>
          </a:p>
        </p:txBody>
      </p:sp>
      <p:sp>
        <p:nvSpPr>
          <p:cNvPr name="TextBox 50" id="50"/>
          <p:cNvSpPr txBox="true"/>
          <p:nvPr/>
        </p:nvSpPr>
        <p:spPr>
          <a:xfrm rot="0">
            <a:off x="14759940" y="4520565"/>
            <a:ext cx="2179320"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DevOps</a:t>
            </a:r>
          </a:p>
        </p:txBody>
      </p:sp>
      <p:sp>
        <p:nvSpPr>
          <p:cNvPr name="TextBox 51" id="51"/>
          <p:cNvSpPr txBox="true"/>
          <p:nvPr/>
        </p:nvSpPr>
        <p:spPr>
          <a:xfrm rot="0">
            <a:off x="14759940" y="4878715"/>
            <a:ext cx="2179320" cy="1301115"/>
          </a:xfrm>
          <a:prstGeom prst="rect">
            <a:avLst/>
          </a:prstGeom>
        </p:spPr>
        <p:txBody>
          <a:bodyPr anchor="t" rtlCol="false" tIns="0" lIns="0" bIns="0" rIns="0">
            <a:spAutoFit/>
          </a:bodyPr>
          <a:lstStyle/>
          <a:p>
            <a:pPr algn="l">
              <a:lnSpc>
                <a:spcPts val="2430"/>
              </a:lnSpc>
            </a:pPr>
            <a:r>
              <a:rPr lang="en-US" sz="1800">
                <a:solidFill>
                  <a:srgbClr val="4A5550"/>
                </a:solidFill>
                <a:latin typeface="IBM Plex Sans"/>
                <a:ea typeface="IBM Plex Sans"/>
                <a:cs typeface="IBM Plex Sans"/>
                <a:sym typeface="IBM Plex Sans"/>
              </a:rPr>
              <a:t>GitHub Actions · Azure Monitor · Key Vault · Azure DevOps</a:t>
            </a:r>
          </a:p>
        </p:txBody>
      </p:sp>
      <p:sp>
        <p:nvSpPr>
          <p:cNvPr name="TextBox 52" id="52"/>
          <p:cNvSpPr txBox="true"/>
          <p:nvPr/>
        </p:nvSpPr>
        <p:spPr>
          <a:xfrm rot="0">
            <a:off x="1424940" y="7282815"/>
            <a:ext cx="3696691" cy="68770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Azure Database for PostgreSQL</a:t>
            </a:r>
          </a:p>
        </p:txBody>
      </p:sp>
      <p:sp>
        <p:nvSpPr>
          <p:cNvPr name="TextBox 53" id="53"/>
          <p:cNvSpPr txBox="true"/>
          <p:nvPr/>
        </p:nvSpPr>
        <p:spPr>
          <a:xfrm rot="0">
            <a:off x="1424940" y="7961005"/>
            <a:ext cx="1988456" cy="603819"/>
          </a:xfrm>
          <a:prstGeom prst="rect">
            <a:avLst/>
          </a:prstGeom>
        </p:spPr>
        <p:txBody>
          <a:bodyPr anchor="t" rtlCol="false" tIns="0" lIns="0" bIns="0" rIns="0">
            <a:spAutoFit/>
          </a:bodyPr>
          <a:lstStyle/>
          <a:p>
            <a:pPr algn="l">
              <a:lnSpc>
                <a:spcPts val="2430"/>
              </a:lnSpc>
            </a:pPr>
            <a:r>
              <a:rPr lang="en-US" sz="1800">
                <a:solidFill>
                  <a:srgbClr val="1B2420"/>
                </a:solidFill>
                <a:latin typeface="IBM Plex Sans"/>
                <a:ea typeface="IBM Plex Sans"/>
                <a:cs typeface="IBM Plex Sans"/>
                <a:sym typeface="IBM Plex Sans"/>
              </a:rPr>
              <a:t>transactions, row version, outbox</a:t>
            </a:r>
          </a:p>
        </p:txBody>
      </p:sp>
      <p:sp>
        <p:nvSpPr>
          <p:cNvPr name="TextBox 54" id="54"/>
          <p:cNvSpPr txBox="true"/>
          <p:nvPr/>
        </p:nvSpPr>
        <p:spPr>
          <a:xfrm rot="0">
            <a:off x="4558208" y="7294188"/>
            <a:ext cx="3696691"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Background worker</a:t>
            </a:r>
          </a:p>
        </p:txBody>
      </p:sp>
      <p:sp>
        <p:nvSpPr>
          <p:cNvPr name="TextBox 55" id="55"/>
          <p:cNvSpPr txBox="true"/>
          <p:nvPr/>
        </p:nvSpPr>
        <p:spPr>
          <a:xfrm rot="0">
            <a:off x="4558208" y="7652338"/>
            <a:ext cx="2466450" cy="603819"/>
          </a:xfrm>
          <a:prstGeom prst="rect">
            <a:avLst/>
          </a:prstGeom>
        </p:spPr>
        <p:txBody>
          <a:bodyPr anchor="t" rtlCol="false" tIns="0" lIns="0" bIns="0" rIns="0">
            <a:spAutoFit/>
          </a:bodyPr>
          <a:lstStyle/>
          <a:p>
            <a:pPr algn="l">
              <a:lnSpc>
                <a:spcPts val="2430"/>
              </a:lnSpc>
            </a:pPr>
            <a:r>
              <a:rPr lang="en-US" sz="1800">
                <a:solidFill>
                  <a:srgbClr val="1B2420"/>
                </a:solidFill>
                <a:latin typeface="IBM Plex Sans"/>
                <a:ea typeface="IBM Plex Sans"/>
                <a:cs typeface="IBM Plex Sans"/>
                <a:sym typeface="IBM Plex Sans"/>
              </a:rPr>
              <a:t>outbox → events, notifications, sync jobs</a:t>
            </a:r>
          </a:p>
        </p:txBody>
      </p:sp>
      <p:sp>
        <p:nvSpPr>
          <p:cNvPr name="TextBox 56" id="56"/>
          <p:cNvSpPr txBox="true"/>
          <p:nvPr/>
        </p:nvSpPr>
        <p:spPr>
          <a:xfrm rot="0">
            <a:off x="7722574" y="7320915"/>
            <a:ext cx="3696691" cy="367665"/>
          </a:xfrm>
          <a:prstGeom prst="rect">
            <a:avLst/>
          </a:prstGeom>
        </p:spPr>
        <p:txBody>
          <a:bodyPr anchor="t" rtlCol="false" tIns="0" lIns="0" bIns="0" rIns="0">
            <a:spAutoFit/>
          </a:bodyPr>
          <a:lstStyle/>
          <a:p>
            <a:pPr algn="l">
              <a:lnSpc>
                <a:spcPts val="2520"/>
              </a:lnSpc>
            </a:pPr>
            <a:r>
              <a:rPr lang="en-US" sz="2100" b="true">
                <a:solidFill>
                  <a:srgbClr val="1B2420"/>
                </a:solidFill>
                <a:latin typeface="Arimo Bold"/>
                <a:ea typeface="Arimo Bold"/>
                <a:cs typeface="Arimo Bold"/>
                <a:sym typeface="Arimo Bold"/>
              </a:rPr>
              <a:t>Azure Functions (Timer)</a:t>
            </a:r>
          </a:p>
        </p:txBody>
      </p:sp>
      <p:sp>
        <p:nvSpPr>
          <p:cNvPr name="TextBox 57" id="57"/>
          <p:cNvSpPr txBox="true"/>
          <p:nvPr/>
        </p:nvSpPr>
        <p:spPr>
          <a:xfrm rot="0">
            <a:off x="7722574" y="7679065"/>
            <a:ext cx="2769128" cy="603819"/>
          </a:xfrm>
          <a:prstGeom prst="rect">
            <a:avLst/>
          </a:prstGeom>
        </p:spPr>
        <p:txBody>
          <a:bodyPr anchor="t" rtlCol="false" tIns="0" lIns="0" bIns="0" rIns="0">
            <a:spAutoFit/>
          </a:bodyPr>
          <a:lstStyle/>
          <a:p>
            <a:pPr algn="l">
              <a:lnSpc>
                <a:spcPts val="2430"/>
              </a:lnSpc>
            </a:pPr>
            <a:r>
              <a:rPr lang="en-US" sz="1800">
                <a:solidFill>
                  <a:srgbClr val="1B2420"/>
                </a:solidFill>
                <a:latin typeface="IBM Plex Sans"/>
                <a:ea typeface="IBM Plex Sans"/>
                <a:cs typeface="IBM Plex Sans"/>
                <a:sym typeface="IBM Plex Sans"/>
              </a:rPr>
              <a:t>daily batch expiry: Normal → Near-date → Expired</a:t>
            </a:r>
          </a:p>
        </p:txBody>
      </p:sp>
      <p:sp>
        <p:nvSpPr>
          <p:cNvPr name="TextBox 58" id="58"/>
          <p:cNvSpPr txBox="true"/>
          <p:nvPr/>
        </p:nvSpPr>
        <p:spPr>
          <a:xfrm rot="0">
            <a:off x="13403746" y="7286686"/>
            <a:ext cx="2179320" cy="314314"/>
          </a:xfrm>
          <a:prstGeom prst="rect">
            <a:avLst/>
          </a:prstGeom>
        </p:spPr>
        <p:txBody>
          <a:bodyPr anchor="t" rtlCol="false" tIns="0" lIns="0" bIns="0" rIns="0">
            <a:spAutoFit/>
          </a:bodyPr>
          <a:lstStyle/>
          <a:p>
            <a:pPr algn="l">
              <a:lnSpc>
                <a:spcPts val="2355"/>
              </a:lnSpc>
            </a:pPr>
            <a:r>
              <a:rPr lang="en-US" sz="1962" b="true">
                <a:solidFill>
                  <a:srgbClr val="1B2420"/>
                </a:solidFill>
                <a:latin typeface="Arimo Bold"/>
                <a:ea typeface="Arimo Bold"/>
                <a:cs typeface="Arimo Bold"/>
                <a:sym typeface="Arimo Bold"/>
              </a:rPr>
              <a:t>Notification Hubs</a:t>
            </a:r>
          </a:p>
        </p:txBody>
      </p:sp>
      <p:sp>
        <p:nvSpPr>
          <p:cNvPr name="TextBox 59" id="59"/>
          <p:cNvSpPr txBox="true"/>
          <p:nvPr/>
        </p:nvSpPr>
        <p:spPr>
          <a:xfrm rot="0">
            <a:off x="13473169" y="7772450"/>
            <a:ext cx="2179320" cy="299052"/>
          </a:xfrm>
          <a:prstGeom prst="rect">
            <a:avLst/>
          </a:prstGeom>
        </p:spPr>
        <p:txBody>
          <a:bodyPr anchor="t" rtlCol="false" tIns="0" lIns="0" bIns="0" rIns="0">
            <a:spAutoFit/>
          </a:bodyPr>
          <a:lstStyle/>
          <a:p>
            <a:pPr algn="l" marL="0" indent="0" lvl="0">
              <a:lnSpc>
                <a:spcPts val="2430"/>
              </a:lnSpc>
              <a:spcBef>
                <a:spcPct val="0"/>
              </a:spcBef>
            </a:pPr>
            <a:r>
              <a:rPr lang="en-US" sz="1800" strike="noStrike" u="none">
                <a:solidFill>
                  <a:srgbClr val="1B2420"/>
                </a:solidFill>
                <a:latin typeface="IBM Plex Sans"/>
                <a:ea typeface="IBM Plex Sans"/>
                <a:cs typeface="IBM Plex Sans"/>
                <a:sym typeface="IBM Plex Sans"/>
              </a:rPr>
              <a:t>labels, push</a:t>
            </a:r>
          </a:p>
        </p:txBody>
      </p:sp>
      <p:sp>
        <p:nvSpPr>
          <p:cNvPr name="Freeform 60" id="60"/>
          <p:cNvSpPr/>
          <p:nvPr/>
        </p:nvSpPr>
        <p:spPr>
          <a:xfrm flipH="false" flipV="false" rot="-5400000">
            <a:off x="3571664" y="399669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1" id="61"/>
          <p:cNvSpPr/>
          <p:nvPr/>
        </p:nvSpPr>
        <p:spPr>
          <a:xfrm flipH="false" flipV="false" rot="5400000">
            <a:off x="10535014" y="397764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2" id="62"/>
          <p:cNvSpPr/>
          <p:nvPr/>
        </p:nvSpPr>
        <p:spPr>
          <a:xfrm flipH="false" flipV="false" rot="-5400000">
            <a:off x="10762886" y="397764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3" id="63"/>
          <p:cNvSpPr/>
          <p:nvPr/>
        </p:nvSpPr>
        <p:spPr>
          <a:xfrm flipH="false" flipV="false" rot="5400000">
            <a:off x="2263226" y="6751263"/>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4" id="64"/>
          <p:cNvSpPr/>
          <p:nvPr/>
        </p:nvSpPr>
        <p:spPr>
          <a:xfrm flipH="false" flipV="false" rot="-5400000">
            <a:off x="2491099" y="6751263"/>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5" id="65"/>
          <p:cNvSpPr/>
          <p:nvPr/>
        </p:nvSpPr>
        <p:spPr>
          <a:xfrm flipH="false" flipV="false" rot="5400000">
            <a:off x="5411140" y="676529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6" id="66"/>
          <p:cNvSpPr/>
          <p:nvPr/>
        </p:nvSpPr>
        <p:spPr>
          <a:xfrm flipH="false" flipV="false" rot="-5400000">
            <a:off x="5639012" y="676529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7" id="67"/>
          <p:cNvSpPr/>
          <p:nvPr/>
        </p:nvSpPr>
        <p:spPr>
          <a:xfrm flipH="false" flipV="false" rot="5400000">
            <a:off x="8774701" y="6751933"/>
            <a:ext cx="641980" cy="179754"/>
          </a:xfrm>
          <a:custGeom>
            <a:avLst/>
            <a:gdLst/>
            <a:ahLst/>
            <a:cxnLst/>
            <a:rect r="r" b="b" t="t" l="l"/>
            <a:pathLst>
              <a:path h="179754" w="641980">
                <a:moveTo>
                  <a:pt x="0" y="0"/>
                </a:moveTo>
                <a:lnTo>
                  <a:pt x="641980" y="0"/>
                </a:lnTo>
                <a:lnTo>
                  <a:pt x="641980" y="179754"/>
                </a:lnTo>
                <a:lnTo>
                  <a:pt x="0" y="1797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8" id="68"/>
          <p:cNvSpPr/>
          <p:nvPr/>
        </p:nvSpPr>
        <p:spPr>
          <a:xfrm flipH="false" flipV="false" rot="-5400000">
            <a:off x="9030676" y="6751933"/>
            <a:ext cx="641980" cy="179754"/>
          </a:xfrm>
          <a:custGeom>
            <a:avLst/>
            <a:gdLst/>
            <a:ahLst/>
            <a:cxnLst/>
            <a:rect r="r" b="b" t="t" l="l"/>
            <a:pathLst>
              <a:path h="179754" w="641980">
                <a:moveTo>
                  <a:pt x="0" y="0"/>
                </a:moveTo>
                <a:lnTo>
                  <a:pt x="641980" y="0"/>
                </a:lnTo>
                <a:lnTo>
                  <a:pt x="641980" y="179754"/>
                </a:lnTo>
                <a:lnTo>
                  <a:pt x="0" y="1797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9" id="69"/>
          <p:cNvSpPr/>
          <p:nvPr/>
        </p:nvSpPr>
        <p:spPr>
          <a:xfrm flipH="false" flipV="false" rot="-10709221">
            <a:off x="13992357" y="531474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0" id="70"/>
          <p:cNvSpPr/>
          <p:nvPr/>
        </p:nvSpPr>
        <p:spPr>
          <a:xfrm flipH="false" flipV="false" rot="90778">
            <a:off x="13986340" y="5542533"/>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1" id="71"/>
          <p:cNvSpPr/>
          <p:nvPr/>
        </p:nvSpPr>
        <p:spPr>
          <a:xfrm flipH="false" flipV="false" rot="-2609221">
            <a:off x="13881775" y="4045308"/>
            <a:ext cx="1175901" cy="329252"/>
          </a:xfrm>
          <a:custGeom>
            <a:avLst/>
            <a:gdLst/>
            <a:ahLst/>
            <a:cxnLst/>
            <a:rect r="r" b="b" t="t" l="l"/>
            <a:pathLst>
              <a:path h="329252" w="1175901">
                <a:moveTo>
                  <a:pt x="0" y="0"/>
                </a:moveTo>
                <a:lnTo>
                  <a:pt x="1175900" y="0"/>
                </a:lnTo>
                <a:lnTo>
                  <a:pt x="1175900" y="329252"/>
                </a:lnTo>
                <a:lnTo>
                  <a:pt x="0" y="3292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2" id="72"/>
          <p:cNvSpPr/>
          <p:nvPr/>
        </p:nvSpPr>
        <p:spPr>
          <a:xfrm flipH="false" flipV="false" rot="8190778">
            <a:off x="13559107" y="3705133"/>
            <a:ext cx="1175901" cy="329252"/>
          </a:xfrm>
          <a:custGeom>
            <a:avLst/>
            <a:gdLst/>
            <a:ahLst/>
            <a:cxnLst/>
            <a:rect r="r" b="b" t="t" l="l"/>
            <a:pathLst>
              <a:path h="329252" w="1175901">
                <a:moveTo>
                  <a:pt x="0" y="0"/>
                </a:moveTo>
                <a:lnTo>
                  <a:pt x="1175901" y="0"/>
                </a:lnTo>
                <a:lnTo>
                  <a:pt x="1175901" y="329252"/>
                </a:lnTo>
                <a:lnTo>
                  <a:pt x="0" y="3292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3" id="73"/>
          <p:cNvGrpSpPr/>
          <p:nvPr/>
        </p:nvGrpSpPr>
        <p:grpSpPr>
          <a:xfrm rot="0">
            <a:off x="11103873" y="7131050"/>
            <a:ext cx="1939588" cy="1428750"/>
            <a:chOff x="0" y="0"/>
            <a:chExt cx="2586117" cy="1905000"/>
          </a:xfrm>
        </p:grpSpPr>
        <p:sp>
          <p:nvSpPr>
            <p:cNvPr name="Freeform 74" id="74"/>
            <p:cNvSpPr/>
            <p:nvPr/>
          </p:nvSpPr>
          <p:spPr>
            <a:xfrm flipH="false" flipV="false" rot="0">
              <a:off x="0" y="0"/>
              <a:ext cx="2586117" cy="1905000"/>
            </a:xfrm>
            <a:custGeom>
              <a:avLst/>
              <a:gdLst/>
              <a:ahLst/>
              <a:cxnLst/>
              <a:rect r="r" b="b" t="t" l="l"/>
              <a:pathLst>
                <a:path h="1905000" w="2586117">
                  <a:moveTo>
                    <a:pt x="0" y="167386"/>
                  </a:moveTo>
                  <a:cubicBezTo>
                    <a:pt x="0" y="74930"/>
                    <a:pt x="36329" y="0"/>
                    <a:pt x="81155" y="0"/>
                  </a:cubicBezTo>
                  <a:lnTo>
                    <a:pt x="2504962" y="0"/>
                  </a:lnTo>
                  <a:cubicBezTo>
                    <a:pt x="2549788" y="0"/>
                    <a:pt x="2586117" y="74930"/>
                    <a:pt x="2586117" y="167386"/>
                  </a:cubicBezTo>
                  <a:lnTo>
                    <a:pt x="2586117" y="1737614"/>
                  </a:lnTo>
                  <a:cubicBezTo>
                    <a:pt x="2586117" y="1830070"/>
                    <a:pt x="2549788" y="1905000"/>
                    <a:pt x="2504962" y="1905000"/>
                  </a:cubicBezTo>
                  <a:lnTo>
                    <a:pt x="81155" y="1905000"/>
                  </a:lnTo>
                  <a:cubicBezTo>
                    <a:pt x="36329" y="1905000"/>
                    <a:pt x="0" y="1830070"/>
                    <a:pt x="0" y="1737614"/>
                  </a:cubicBezTo>
                  <a:close/>
                </a:path>
              </a:pathLst>
            </a:custGeom>
            <a:solidFill>
              <a:srgbClr val="DCEBE5"/>
            </a:solidFill>
            <a:ln w="19050" cap="sq">
              <a:solidFill>
                <a:srgbClr val="A9CFC3"/>
              </a:solidFill>
              <a:prstDash val="solid"/>
              <a:miter/>
            </a:ln>
          </p:spPr>
        </p:sp>
      </p:grpSp>
      <p:sp>
        <p:nvSpPr>
          <p:cNvPr name="TextBox 75" id="75"/>
          <p:cNvSpPr txBox="true"/>
          <p:nvPr/>
        </p:nvSpPr>
        <p:spPr>
          <a:xfrm rot="0">
            <a:off x="11309613" y="7647314"/>
            <a:ext cx="736038" cy="299052"/>
          </a:xfrm>
          <a:prstGeom prst="rect">
            <a:avLst/>
          </a:prstGeom>
        </p:spPr>
        <p:txBody>
          <a:bodyPr anchor="t" rtlCol="false" tIns="0" lIns="0" bIns="0" rIns="0">
            <a:spAutoFit/>
          </a:bodyPr>
          <a:lstStyle/>
          <a:p>
            <a:pPr algn="l">
              <a:lnSpc>
                <a:spcPts val="2430"/>
              </a:lnSpc>
            </a:pPr>
            <a:r>
              <a:rPr lang="en-US" sz="1800">
                <a:solidFill>
                  <a:srgbClr val="1B2420"/>
                </a:solidFill>
                <a:latin typeface="IBM Plex Sans"/>
                <a:ea typeface="IBM Plex Sans"/>
                <a:cs typeface="IBM Plex Sans"/>
                <a:sym typeface="IBM Plex Sans"/>
              </a:rPr>
              <a:t>images</a:t>
            </a:r>
          </a:p>
        </p:txBody>
      </p:sp>
      <p:sp>
        <p:nvSpPr>
          <p:cNvPr name="TextBox 76" id="76"/>
          <p:cNvSpPr txBox="true"/>
          <p:nvPr/>
        </p:nvSpPr>
        <p:spPr>
          <a:xfrm rot="0">
            <a:off x="11309613" y="7263759"/>
            <a:ext cx="1733848" cy="323883"/>
          </a:xfrm>
          <a:prstGeom prst="rect">
            <a:avLst/>
          </a:prstGeom>
        </p:spPr>
        <p:txBody>
          <a:bodyPr anchor="t" rtlCol="false" tIns="0" lIns="0" bIns="0" rIns="0">
            <a:spAutoFit/>
          </a:bodyPr>
          <a:lstStyle/>
          <a:p>
            <a:pPr algn="l" marL="0" indent="0" lvl="0">
              <a:lnSpc>
                <a:spcPts val="2520"/>
              </a:lnSpc>
              <a:spcBef>
                <a:spcPct val="0"/>
              </a:spcBef>
            </a:pPr>
            <a:r>
              <a:rPr lang="en-US" b="true" sz="2100" strike="noStrike" u="none">
                <a:solidFill>
                  <a:srgbClr val="1B2420"/>
                </a:solidFill>
                <a:latin typeface="Arimo Bold"/>
                <a:ea typeface="Arimo Bold"/>
                <a:cs typeface="Arimo Bold"/>
                <a:sym typeface="Arimo Bold"/>
              </a:rPr>
              <a:t>Blob Storage </a:t>
            </a:r>
          </a:p>
        </p:txBody>
      </p:sp>
      <p:sp>
        <p:nvSpPr>
          <p:cNvPr name="Freeform 77" id="77"/>
          <p:cNvSpPr/>
          <p:nvPr/>
        </p:nvSpPr>
        <p:spPr>
          <a:xfrm flipH="false" flipV="false" rot="5400000">
            <a:off x="11673980" y="6762115"/>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8" id="78"/>
          <p:cNvSpPr/>
          <p:nvPr/>
        </p:nvSpPr>
        <p:spPr>
          <a:xfrm flipH="false" flipV="false" rot="-5400000">
            <a:off x="11901853" y="6762115"/>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9" id="79"/>
          <p:cNvSpPr/>
          <p:nvPr/>
        </p:nvSpPr>
        <p:spPr>
          <a:xfrm flipH="false" flipV="false" rot="5400000">
            <a:off x="13267429" y="672656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0" id="80"/>
          <p:cNvSpPr/>
          <p:nvPr/>
        </p:nvSpPr>
        <p:spPr>
          <a:xfrm flipH="false" flipV="false" rot="-5400000">
            <a:off x="13495302" y="6726560"/>
            <a:ext cx="571500" cy="160020"/>
          </a:xfrm>
          <a:custGeom>
            <a:avLst/>
            <a:gdLst/>
            <a:ahLst/>
            <a:cxnLst/>
            <a:rect r="r" b="b" t="t" l="l"/>
            <a:pathLst>
              <a:path h="160020" w="571500">
                <a:moveTo>
                  <a:pt x="0" y="0"/>
                </a:moveTo>
                <a:lnTo>
                  <a:pt x="571500" y="0"/>
                </a:lnTo>
                <a:lnTo>
                  <a:pt x="571500" y="160020"/>
                </a:lnTo>
                <a:lnTo>
                  <a:pt x="0" y="160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TECHNOLOGIES</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Technology stack and why</a:t>
            </a:r>
          </a:p>
        </p:txBody>
      </p:sp>
      <p:grpSp>
        <p:nvGrpSpPr>
          <p:cNvPr name="Group 4" id="4"/>
          <p:cNvGrpSpPr/>
          <p:nvPr/>
        </p:nvGrpSpPr>
        <p:grpSpPr>
          <a:xfrm rot="0">
            <a:off x="1219200" y="2358390"/>
            <a:ext cx="15849600" cy="6267450"/>
            <a:chOff x="0" y="0"/>
            <a:chExt cx="21132800" cy="8356600"/>
          </a:xfrm>
        </p:grpSpPr>
        <p:sp>
          <p:nvSpPr>
            <p:cNvPr name="Freeform 5" id="5"/>
            <p:cNvSpPr/>
            <p:nvPr/>
          </p:nvSpPr>
          <p:spPr>
            <a:xfrm flipH="false" flipV="false" rot="0">
              <a:off x="0" y="0"/>
              <a:ext cx="21132800" cy="8356600"/>
            </a:xfrm>
            <a:custGeom>
              <a:avLst/>
              <a:gdLst/>
              <a:ahLst/>
              <a:cxnLst/>
              <a:rect r="r" b="b" t="t" l="l"/>
              <a:pathLst>
                <a:path h="8356600" w="21132800">
                  <a:moveTo>
                    <a:pt x="0" y="152400"/>
                  </a:moveTo>
                  <a:cubicBezTo>
                    <a:pt x="0" y="68199"/>
                    <a:pt x="68199" y="0"/>
                    <a:pt x="152400" y="0"/>
                  </a:cubicBezTo>
                  <a:lnTo>
                    <a:pt x="20980400" y="0"/>
                  </a:lnTo>
                  <a:cubicBezTo>
                    <a:pt x="21064601" y="0"/>
                    <a:pt x="21132800" y="68199"/>
                    <a:pt x="21132800" y="152400"/>
                  </a:cubicBezTo>
                  <a:lnTo>
                    <a:pt x="21132800" y="8204200"/>
                  </a:lnTo>
                  <a:cubicBezTo>
                    <a:pt x="21132800" y="8288401"/>
                    <a:pt x="21064601" y="8356600"/>
                    <a:pt x="20980400" y="8356600"/>
                  </a:cubicBezTo>
                  <a:lnTo>
                    <a:pt x="152400" y="8356600"/>
                  </a:lnTo>
                  <a:cubicBezTo>
                    <a:pt x="68199" y="8356600"/>
                    <a:pt x="0" y="8288401"/>
                    <a:pt x="0" y="8204200"/>
                  </a:cubicBezTo>
                  <a:close/>
                </a:path>
              </a:pathLst>
            </a:custGeom>
            <a:solidFill>
              <a:srgbClr val="FFFFFF"/>
            </a:solidFill>
          </p:spPr>
        </p:sp>
      </p:grpSp>
      <p:grpSp>
        <p:nvGrpSpPr>
          <p:cNvPr name="Group 6" id="6"/>
          <p:cNvGrpSpPr/>
          <p:nvPr/>
        </p:nvGrpSpPr>
        <p:grpSpPr>
          <a:xfrm rot="0">
            <a:off x="1219200" y="2358390"/>
            <a:ext cx="15849600" cy="6267450"/>
            <a:chOff x="0" y="0"/>
            <a:chExt cx="21132800" cy="8356600"/>
          </a:xfrm>
        </p:grpSpPr>
        <p:sp>
          <p:nvSpPr>
            <p:cNvPr name="Freeform 7" id="7"/>
            <p:cNvSpPr/>
            <p:nvPr/>
          </p:nvSpPr>
          <p:spPr>
            <a:xfrm flipH="false" flipV="false" rot="0">
              <a:off x="0" y="0"/>
              <a:ext cx="21132800" cy="8356600"/>
            </a:xfrm>
            <a:custGeom>
              <a:avLst/>
              <a:gdLst/>
              <a:ahLst/>
              <a:cxnLst/>
              <a:rect r="r" b="b" t="t" l="l"/>
              <a:pathLst>
                <a:path h="8356600" w="21132800">
                  <a:moveTo>
                    <a:pt x="20980400" y="0"/>
                  </a:moveTo>
                  <a:cubicBezTo>
                    <a:pt x="21064601" y="0"/>
                    <a:pt x="21132800" y="68199"/>
                    <a:pt x="21132800" y="152400"/>
                  </a:cubicBezTo>
                  <a:lnTo>
                    <a:pt x="21132800" y="8204200"/>
                  </a:lnTo>
                  <a:cubicBezTo>
                    <a:pt x="21132800" y="8288401"/>
                    <a:pt x="21064601" y="8356600"/>
                    <a:pt x="20980400" y="8356600"/>
                  </a:cubicBezTo>
                  <a:lnTo>
                    <a:pt x="152400" y="8356600"/>
                  </a:lnTo>
                  <a:cubicBezTo>
                    <a:pt x="68199" y="8356600"/>
                    <a:pt x="0" y="8288401"/>
                    <a:pt x="0" y="8204200"/>
                  </a:cubicBezTo>
                  <a:cubicBezTo>
                    <a:pt x="0" y="8281416"/>
                    <a:pt x="62484" y="8343900"/>
                    <a:pt x="139700" y="8343900"/>
                  </a:cubicBezTo>
                  <a:lnTo>
                    <a:pt x="20980400" y="8343900"/>
                  </a:lnTo>
                  <a:cubicBezTo>
                    <a:pt x="21057615" y="8343900"/>
                    <a:pt x="21120100" y="8281416"/>
                    <a:pt x="21120100" y="8204200"/>
                  </a:cubicBezTo>
                  <a:lnTo>
                    <a:pt x="21120100" y="152400"/>
                  </a:lnTo>
                  <a:cubicBezTo>
                    <a:pt x="21120100" y="68199"/>
                    <a:pt x="21051901" y="0"/>
                    <a:pt x="20967700" y="0"/>
                  </a:cubicBezTo>
                  <a:close/>
                </a:path>
              </a:pathLst>
            </a:custGeom>
            <a:solidFill>
              <a:srgbClr val="D5DCD7"/>
            </a:solidFill>
          </p:spPr>
        </p:sp>
      </p:grpSp>
      <p:grpSp>
        <p:nvGrpSpPr>
          <p:cNvPr name="Group 8" id="8"/>
          <p:cNvGrpSpPr/>
          <p:nvPr/>
        </p:nvGrpSpPr>
        <p:grpSpPr>
          <a:xfrm rot="0">
            <a:off x="1219200" y="2358390"/>
            <a:ext cx="15849600" cy="6267450"/>
            <a:chOff x="0" y="0"/>
            <a:chExt cx="21132800" cy="8356600"/>
          </a:xfrm>
        </p:grpSpPr>
        <p:sp>
          <p:nvSpPr>
            <p:cNvPr name="Freeform 9" id="9"/>
            <p:cNvSpPr/>
            <p:nvPr/>
          </p:nvSpPr>
          <p:spPr>
            <a:xfrm flipH="false" flipV="false" rot="0">
              <a:off x="0" y="0"/>
              <a:ext cx="21132800" cy="8356600"/>
            </a:xfrm>
            <a:custGeom>
              <a:avLst/>
              <a:gdLst/>
              <a:ahLst/>
              <a:cxnLst/>
              <a:rect r="r" b="b" t="t" l="l"/>
              <a:pathLst>
                <a:path h="8356600" w="21132800">
                  <a:moveTo>
                    <a:pt x="152400" y="8356600"/>
                  </a:moveTo>
                  <a:cubicBezTo>
                    <a:pt x="68199" y="8356600"/>
                    <a:pt x="0" y="8288401"/>
                    <a:pt x="0" y="820420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8204200"/>
                  </a:lnTo>
                  <a:cubicBezTo>
                    <a:pt x="20320" y="8288401"/>
                    <a:pt x="88519" y="8356600"/>
                    <a:pt x="172720" y="8356600"/>
                  </a:cubicBezTo>
                  <a:close/>
                </a:path>
              </a:pathLst>
            </a:custGeom>
            <a:solidFill>
              <a:srgbClr val="141413">
                <a:alpha val="4706"/>
              </a:srgbClr>
            </a:solidFill>
          </p:spPr>
        </p:sp>
      </p:grpSp>
      <p:graphicFrame>
        <p:nvGraphicFramePr>
          <p:cNvPr name="Table 10" id="10"/>
          <p:cNvGraphicFramePr>
            <a:graphicFrameLocks noGrp="true"/>
          </p:cNvGraphicFramePr>
          <p:nvPr/>
        </p:nvGraphicFramePr>
        <p:xfrm>
          <a:off x="1348740" y="2487927"/>
          <a:ext cx="15582900" cy="5981700"/>
        </p:xfrm>
        <a:graphic>
          <a:graphicData uri="http://schemas.openxmlformats.org/drawingml/2006/table">
            <a:tbl>
              <a:tblPr/>
              <a:tblGrid>
                <a:gridCol w="2806814"/>
                <a:gridCol w="5303860"/>
                <a:gridCol w="7472226"/>
              </a:tblGrid>
              <a:tr h="526202">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Layer</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Technology</a:t>
                      </a:r>
                      <a:endParaRPr lang="en-US" sz="1100"/>
                    </a:p>
                  </a:txBody>
                  <a:tcPr marL="57785" marR="57785" marT="57785" marB="57785"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729"/>
                        </a:lnSpc>
                        <a:defRPr/>
                      </a:pPr>
                      <a:r>
                        <a:rPr lang="en-US" sz="1950" b="true">
                          <a:solidFill>
                            <a:srgbClr val="1B2420"/>
                          </a:solidFill>
                          <a:latin typeface="IBM Plex Sans Bold"/>
                          <a:ea typeface="IBM Plex Sans Bold"/>
                          <a:cs typeface="IBM Plex Sans Bold"/>
                          <a:sym typeface="IBM Plex Sans Bold"/>
                        </a:rPr>
                        <a:t>Why we chose it</a:t>
                      </a:r>
                      <a:endParaRPr lang="en-US" sz="1100"/>
                    </a:p>
                  </a:txBody>
                  <a:tcPr marL="57785" marR="57785" marT="57785" marB="57785"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544284">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Web frontend</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React, Chart.js · hosted on Vercel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Role-based portal, dashboards, fast deployment</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73386">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Mobile</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Flutter, SQLite</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One codebase for Android and iOS; offline-first cache and order queue</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73386">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Backend</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ASP.NET Core Web API</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Modular monolith with Clean Architecture; testable allocation rules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544284">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Database</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Azure Database for PostgreSQL</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ACID transactions, optimistic locking, transactional outbox</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73386">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Async &amp; jobs</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Background worker, Azure Functions Timer Trigger</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Reliable events and notifications; daily expiry tracker</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73386">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Identity &amp; services</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Microsoft Entra ID, Azure Blob Storage, Notification Hubs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Sign-in, label and image files, push notifications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73386">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DevOps &amp; tools</a:t>
                      </a:r>
                      <a:endParaRPr lang="en-US" sz="1100"/>
                    </a:p>
                  </a:txBody>
                  <a:tcPr marL="57785" marR="57785" marT="57785" marB="57785"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GitHub Organization, GitHub Actions, Azure Monitor, Key Vault, Azure DevOps</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729"/>
                        </a:lnSpc>
                        <a:defRPr/>
                      </a:pPr>
                      <a:r>
                        <a:rPr lang="en-US" sz="1950">
                          <a:solidFill>
                            <a:srgbClr val="1B2420"/>
                          </a:solidFill>
                          <a:latin typeface="IBM Plex Sans"/>
                          <a:ea typeface="IBM Plex Sans"/>
                          <a:cs typeface="IBM Plex Sans"/>
                          <a:sym typeface="IBM Plex Sans"/>
                        </a:rPr>
                        <a:t>Pull-request reviews, CI/CD, monitoring, secrets, Scrum board</a:t>
                      </a:r>
                      <a:endParaRPr lang="en-US" sz="1100"/>
                    </a:p>
                  </a:txBody>
                  <a:tcPr marL="57785" marR="57785" marT="57785" marB="57785"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11" id="11"/>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12" id="12"/>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23</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6F5F0"/>
        </a:solidFill>
      </p:bgPr>
    </p:bg>
    <p:spTree>
      <p:nvGrpSpPr>
        <p:cNvPr id="1" name=""/>
        <p:cNvGrpSpPr/>
        <p:nvPr/>
      </p:nvGrpSpPr>
      <p:grpSpPr>
        <a:xfrm>
          <a:off x="0" y="0"/>
          <a:ext cx="0" cy="0"/>
          <a:chOff x="0" y="0"/>
          <a:chExt cx="0" cy="0"/>
        </a:xfrm>
      </p:grpSpPr>
      <p:sp>
        <p:nvSpPr>
          <p:cNvPr name="TextBox 2" id="2"/>
          <p:cNvSpPr txBox="true"/>
          <p:nvPr/>
        </p:nvSpPr>
        <p:spPr>
          <a:xfrm rot="0">
            <a:off x="1219200" y="952500"/>
            <a:ext cx="16325088" cy="396240"/>
          </a:xfrm>
          <a:prstGeom prst="rect">
            <a:avLst/>
          </a:prstGeom>
        </p:spPr>
        <p:txBody>
          <a:bodyPr anchor="t" rtlCol="false" tIns="0" lIns="0" bIns="0" rIns="0">
            <a:spAutoFit/>
          </a:bodyPr>
          <a:lstStyle/>
          <a:p>
            <a:pPr algn="l">
              <a:lnSpc>
                <a:spcPts val="2520"/>
              </a:lnSpc>
            </a:pPr>
            <a:r>
              <a:rPr lang="en-US" b="true" sz="1800" spc="149">
                <a:solidFill>
                  <a:srgbClr val="14655B"/>
                </a:solidFill>
                <a:latin typeface="IBM Plex Sans Bold"/>
                <a:ea typeface="IBM Plex Sans Bold"/>
                <a:cs typeface="IBM Plex Sans Bold"/>
                <a:sym typeface="IBM Plex Sans Bold"/>
              </a:rPr>
              <a:t>PLAN AND RISKS · REPORT 2</a:t>
            </a:r>
          </a:p>
        </p:txBody>
      </p:sp>
      <p:sp>
        <p:nvSpPr>
          <p:cNvPr name="TextBox 3" id="3"/>
          <p:cNvSpPr txBox="true"/>
          <p:nvPr/>
        </p:nvSpPr>
        <p:spPr>
          <a:xfrm rot="0">
            <a:off x="1219200" y="1405890"/>
            <a:ext cx="16325088" cy="647700"/>
          </a:xfrm>
          <a:prstGeom prst="rect">
            <a:avLst/>
          </a:prstGeom>
        </p:spPr>
        <p:txBody>
          <a:bodyPr anchor="t" rtlCol="false" tIns="0" lIns="0" bIns="0" rIns="0">
            <a:spAutoFit/>
          </a:bodyPr>
          <a:lstStyle/>
          <a:p>
            <a:pPr algn="l">
              <a:lnSpc>
                <a:spcPts val="4950"/>
              </a:lnSpc>
            </a:pPr>
            <a:r>
              <a:rPr lang="en-US" sz="4500" b="true">
                <a:solidFill>
                  <a:srgbClr val="1B2420"/>
                </a:solidFill>
                <a:latin typeface="Arimo Bold"/>
                <a:ea typeface="Arimo Bold"/>
                <a:cs typeface="Arimo Bold"/>
                <a:sym typeface="Arimo Bold"/>
              </a:rPr>
              <a:t>Scrum roadmap and top technical risks</a:t>
            </a:r>
          </a:p>
        </p:txBody>
      </p:sp>
      <p:grpSp>
        <p:nvGrpSpPr>
          <p:cNvPr name="Group 4" id="4"/>
          <p:cNvGrpSpPr/>
          <p:nvPr/>
        </p:nvGrpSpPr>
        <p:grpSpPr>
          <a:xfrm rot="0">
            <a:off x="1219200" y="2358390"/>
            <a:ext cx="2166223" cy="2343150"/>
            <a:chOff x="0" y="0"/>
            <a:chExt cx="2888298" cy="3124200"/>
          </a:xfrm>
        </p:grpSpPr>
        <p:sp>
          <p:nvSpPr>
            <p:cNvPr name="Freeform 5" id="5"/>
            <p:cNvSpPr/>
            <p:nvPr/>
          </p:nvSpPr>
          <p:spPr>
            <a:xfrm flipH="false" flipV="false" rot="0">
              <a:off x="0" y="0"/>
              <a:ext cx="2888234" cy="3124200"/>
            </a:xfrm>
            <a:custGeom>
              <a:avLst/>
              <a:gdLst/>
              <a:ahLst/>
              <a:cxnLst/>
              <a:rect r="r" b="b" t="t" l="l"/>
              <a:pathLst>
                <a:path h="3124200" w="2888234">
                  <a:moveTo>
                    <a:pt x="0" y="177800"/>
                  </a:moveTo>
                  <a:cubicBezTo>
                    <a:pt x="0" y="79629"/>
                    <a:pt x="79629" y="0"/>
                    <a:pt x="177800" y="0"/>
                  </a:cubicBezTo>
                  <a:lnTo>
                    <a:pt x="2710434" y="0"/>
                  </a:lnTo>
                  <a:cubicBezTo>
                    <a:pt x="2808605" y="0"/>
                    <a:pt x="2888234" y="79629"/>
                    <a:pt x="2888234" y="177800"/>
                  </a:cubicBezTo>
                  <a:lnTo>
                    <a:pt x="2888234" y="2946400"/>
                  </a:lnTo>
                  <a:cubicBezTo>
                    <a:pt x="2888234" y="3044571"/>
                    <a:pt x="2808605" y="3124200"/>
                    <a:pt x="2710434" y="3124200"/>
                  </a:cubicBezTo>
                  <a:lnTo>
                    <a:pt x="177800" y="3124200"/>
                  </a:lnTo>
                  <a:cubicBezTo>
                    <a:pt x="79629" y="3124200"/>
                    <a:pt x="0" y="3044571"/>
                    <a:pt x="0" y="2946400"/>
                  </a:cubicBezTo>
                  <a:close/>
                </a:path>
              </a:pathLst>
            </a:custGeom>
            <a:solidFill>
              <a:srgbClr val="14655B"/>
            </a:solidFill>
          </p:spPr>
        </p:sp>
      </p:grpSp>
      <p:sp>
        <p:nvSpPr>
          <p:cNvPr name="TextBox 6" id="6"/>
          <p:cNvSpPr txBox="true"/>
          <p:nvPr/>
        </p:nvSpPr>
        <p:spPr>
          <a:xfrm rot="0">
            <a:off x="1390650" y="2472690"/>
            <a:ext cx="1899523"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S1</a:t>
            </a:r>
          </a:p>
        </p:txBody>
      </p:sp>
      <p:sp>
        <p:nvSpPr>
          <p:cNvPr name="TextBox 7" id="7"/>
          <p:cNvSpPr txBox="true"/>
          <p:nvPr/>
        </p:nvSpPr>
        <p:spPr>
          <a:xfrm rot="0">
            <a:off x="1390650" y="2958465"/>
            <a:ext cx="1899523" cy="160972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Setup, authentication, users, SKU, warehouse, metadata</a:t>
            </a:r>
          </a:p>
        </p:txBody>
      </p:sp>
      <p:grpSp>
        <p:nvGrpSpPr>
          <p:cNvPr name="Group 8" id="8"/>
          <p:cNvGrpSpPr/>
          <p:nvPr/>
        </p:nvGrpSpPr>
        <p:grpSpPr>
          <a:xfrm rot="0">
            <a:off x="3499723" y="2358390"/>
            <a:ext cx="2166337" cy="2343150"/>
            <a:chOff x="0" y="0"/>
            <a:chExt cx="2888450" cy="3124200"/>
          </a:xfrm>
        </p:grpSpPr>
        <p:sp>
          <p:nvSpPr>
            <p:cNvPr name="Freeform 9" id="9"/>
            <p:cNvSpPr/>
            <p:nvPr/>
          </p:nvSpPr>
          <p:spPr>
            <a:xfrm flipH="false" flipV="false" rot="0">
              <a:off x="0" y="0"/>
              <a:ext cx="2888488" cy="3124200"/>
            </a:xfrm>
            <a:custGeom>
              <a:avLst/>
              <a:gdLst/>
              <a:ahLst/>
              <a:cxnLst/>
              <a:rect r="r" b="b" t="t" l="l"/>
              <a:pathLst>
                <a:path h="3124200" w="2888488">
                  <a:moveTo>
                    <a:pt x="0" y="177800"/>
                  </a:moveTo>
                  <a:cubicBezTo>
                    <a:pt x="0" y="79629"/>
                    <a:pt x="79629" y="0"/>
                    <a:pt x="177800" y="0"/>
                  </a:cubicBezTo>
                  <a:lnTo>
                    <a:pt x="2710688" y="0"/>
                  </a:lnTo>
                  <a:cubicBezTo>
                    <a:pt x="2808859" y="0"/>
                    <a:pt x="2888488" y="79629"/>
                    <a:pt x="2888488" y="177800"/>
                  </a:cubicBezTo>
                  <a:lnTo>
                    <a:pt x="2888488" y="2946400"/>
                  </a:lnTo>
                  <a:cubicBezTo>
                    <a:pt x="2888488" y="3044571"/>
                    <a:pt x="2808859" y="3124200"/>
                    <a:pt x="2710688" y="3124200"/>
                  </a:cubicBezTo>
                  <a:lnTo>
                    <a:pt x="177800" y="3124200"/>
                  </a:lnTo>
                  <a:cubicBezTo>
                    <a:pt x="79629" y="3124200"/>
                    <a:pt x="0" y="3044571"/>
                    <a:pt x="0" y="2946400"/>
                  </a:cubicBezTo>
                  <a:close/>
                </a:path>
              </a:pathLst>
            </a:custGeom>
            <a:solidFill>
              <a:srgbClr val="14655B"/>
            </a:solidFill>
          </p:spPr>
        </p:sp>
      </p:grpSp>
      <p:sp>
        <p:nvSpPr>
          <p:cNvPr name="TextBox 10" id="10"/>
          <p:cNvSpPr txBox="true"/>
          <p:nvPr/>
        </p:nvSpPr>
        <p:spPr>
          <a:xfrm rot="0">
            <a:off x="3671173" y="2472690"/>
            <a:ext cx="1899637"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S2</a:t>
            </a:r>
          </a:p>
        </p:txBody>
      </p:sp>
      <p:sp>
        <p:nvSpPr>
          <p:cNvPr name="TextBox 11" id="11"/>
          <p:cNvSpPr txBox="true"/>
          <p:nvPr/>
        </p:nvSpPr>
        <p:spPr>
          <a:xfrm rot="0">
            <a:off x="3671173" y="2958465"/>
            <a:ext cx="1899637" cy="99250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Inventory, Batch/Lot, goods receipt</a:t>
            </a:r>
          </a:p>
        </p:txBody>
      </p:sp>
      <p:grpSp>
        <p:nvGrpSpPr>
          <p:cNvPr name="Group 12" id="12"/>
          <p:cNvGrpSpPr/>
          <p:nvPr/>
        </p:nvGrpSpPr>
        <p:grpSpPr>
          <a:xfrm rot="0">
            <a:off x="5780370" y="2358390"/>
            <a:ext cx="2166223" cy="2343150"/>
            <a:chOff x="0" y="0"/>
            <a:chExt cx="2888298" cy="3124200"/>
          </a:xfrm>
        </p:grpSpPr>
        <p:sp>
          <p:nvSpPr>
            <p:cNvPr name="Freeform 13" id="13"/>
            <p:cNvSpPr/>
            <p:nvPr/>
          </p:nvSpPr>
          <p:spPr>
            <a:xfrm flipH="false" flipV="false" rot="0">
              <a:off x="0" y="0"/>
              <a:ext cx="2888234" cy="3124200"/>
            </a:xfrm>
            <a:custGeom>
              <a:avLst/>
              <a:gdLst/>
              <a:ahLst/>
              <a:cxnLst/>
              <a:rect r="r" b="b" t="t" l="l"/>
              <a:pathLst>
                <a:path h="3124200" w="2888234">
                  <a:moveTo>
                    <a:pt x="0" y="177800"/>
                  </a:moveTo>
                  <a:cubicBezTo>
                    <a:pt x="0" y="79629"/>
                    <a:pt x="79629" y="0"/>
                    <a:pt x="177800" y="0"/>
                  </a:cubicBezTo>
                  <a:lnTo>
                    <a:pt x="2710434" y="0"/>
                  </a:lnTo>
                  <a:cubicBezTo>
                    <a:pt x="2808605" y="0"/>
                    <a:pt x="2888234" y="79629"/>
                    <a:pt x="2888234" y="177800"/>
                  </a:cubicBezTo>
                  <a:lnTo>
                    <a:pt x="2888234" y="2946400"/>
                  </a:lnTo>
                  <a:cubicBezTo>
                    <a:pt x="2888234" y="3044571"/>
                    <a:pt x="2808605" y="3124200"/>
                    <a:pt x="2710434" y="3124200"/>
                  </a:cubicBezTo>
                  <a:lnTo>
                    <a:pt x="177800" y="3124200"/>
                  </a:lnTo>
                  <a:cubicBezTo>
                    <a:pt x="79629" y="3124200"/>
                    <a:pt x="0" y="3044571"/>
                    <a:pt x="0" y="2946400"/>
                  </a:cubicBezTo>
                  <a:close/>
                </a:path>
              </a:pathLst>
            </a:custGeom>
            <a:solidFill>
              <a:srgbClr val="14655B"/>
            </a:solidFill>
          </p:spPr>
        </p:sp>
      </p:grpSp>
      <p:sp>
        <p:nvSpPr>
          <p:cNvPr name="TextBox 14" id="14"/>
          <p:cNvSpPr txBox="true"/>
          <p:nvPr/>
        </p:nvSpPr>
        <p:spPr>
          <a:xfrm rot="0">
            <a:off x="5951820" y="2472690"/>
            <a:ext cx="1899523"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S3</a:t>
            </a:r>
          </a:p>
        </p:txBody>
      </p:sp>
      <p:sp>
        <p:nvSpPr>
          <p:cNvPr name="TextBox 15" id="15"/>
          <p:cNvSpPr txBox="true"/>
          <p:nvPr/>
        </p:nvSpPr>
        <p:spPr>
          <a:xfrm rot="0">
            <a:off x="5951820" y="2958465"/>
            <a:ext cx="1899523" cy="130111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Orders, FEFO/MLOR allocation, reservation</a:t>
            </a:r>
          </a:p>
        </p:txBody>
      </p:sp>
      <p:grpSp>
        <p:nvGrpSpPr>
          <p:cNvPr name="Group 16" id="16"/>
          <p:cNvGrpSpPr/>
          <p:nvPr/>
        </p:nvGrpSpPr>
        <p:grpSpPr>
          <a:xfrm rot="0">
            <a:off x="8060893" y="2358390"/>
            <a:ext cx="2166337" cy="2343150"/>
            <a:chOff x="0" y="0"/>
            <a:chExt cx="2888450" cy="3124200"/>
          </a:xfrm>
        </p:grpSpPr>
        <p:sp>
          <p:nvSpPr>
            <p:cNvPr name="Freeform 17" id="17"/>
            <p:cNvSpPr/>
            <p:nvPr/>
          </p:nvSpPr>
          <p:spPr>
            <a:xfrm flipH="false" flipV="false" rot="0">
              <a:off x="0" y="0"/>
              <a:ext cx="2888488" cy="3124200"/>
            </a:xfrm>
            <a:custGeom>
              <a:avLst/>
              <a:gdLst/>
              <a:ahLst/>
              <a:cxnLst/>
              <a:rect r="r" b="b" t="t" l="l"/>
              <a:pathLst>
                <a:path h="3124200" w="2888488">
                  <a:moveTo>
                    <a:pt x="0" y="177800"/>
                  </a:moveTo>
                  <a:cubicBezTo>
                    <a:pt x="0" y="79629"/>
                    <a:pt x="79629" y="0"/>
                    <a:pt x="177800" y="0"/>
                  </a:cubicBezTo>
                  <a:lnTo>
                    <a:pt x="2710688" y="0"/>
                  </a:lnTo>
                  <a:cubicBezTo>
                    <a:pt x="2808859" y="0"/>
                    <a:pt x="2888488" y="79629"/>
                    <a:pt x="2888488" y="177800"/>
                  </a:cubicBezTo>
                  <a:lnTo>
                    <a:pt x="2888488" y="2946400"/>
                  </a:lnTo>
                  <a:cubicBezTo>
                    <a:pt x="2888488" y="3044571"/>
                    <a:pt x="2808859" y="3124200"/>
                    <a:pt x="2710688" y="3124200"/>
                  </a:cubicBezTo>
                  <a:lnTo>
                    <a:pt x="177800" y="3124200"/>
                  </a:lnTo>
                  <a:cubicBezTo>
                    <a:pt x="79629" y="3124200"/>
                    <a:pt x="0" y="3044571"/>
                    <a:pt x="0" y="2946400"/>
                  </a:cubicBezTo>
                  <a:close/>
                </a:path>
              </a:pathLst>
            </a:custGeom>
            <a:solidFill>
              <a:srgbClr val="14655B"/>
            </a:solidFill>
          </p:spPr>
        </p:sp>
      </p:grpSp>
      <p:sp>
        <p:nvSpPr>
          <p:cNvPr name="TextBox 18" id="18"/>
          <p:cNvSpPr txBox="true"/>
          <p:nvPr/>
        </p:nvSpPr>
        <p:spPr>
          <a:xfrm rot="0">
            <a:off x="8232343" y="2472690"/>
            <a:ext cx="1899637"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S4</a:t>
            </a:r>
          </a:p>
        </p:txBody>
      </p:sp>
      <p:sp>
        <p:nvSpPr>
          <p:cNvPr name="TextBox 19" id="19"/>
          <p:cNvSpPr txBox="true"/>
          <p:nvPr/>
        </p:nvSpPr>
        <p:spPr>
          <a:xfrm rot="0">
            <a:off x="8232343" y="2958465"/>
            <a:ext cx="1899637" cy="99250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Picking list, goods issue, stock deduction</a:t>
            </a:r>
          </a:p>
        </p:txBody>
      </p:sp>
      <p:grpSp>
        <p:nvGrpSpPr>
          <p:cNvPr name="Group 20" id="20"/>
          <p:cNvGrpSpPr/>
          <p:nvPr/>
        </p:nvGrpSpPr>
        <p:grpSpPr>
          <a:xfrm rot="0">
            <a:off x="10341531" y="2358390"/>
            <a:ext cx="2166223" cy="2343150"/>
            <a:chOff x="0" y="0"/>
            <a:chExt cx="2888298" cy="3124200"/>
          </a:xfrm>
        </p:grpSpPr>
        <p:sp>
          <p:nvSpPr>
            <p:cNvPr name="Freeform 21" id="21"/>
            <p:cNvSpPr/>
            <p:nvPr/>
          </p:nvSpPr>
          <p:spPr>
            <a:xfrm flipH="false" flipV="false" rot="0">
              <a:off x="0" y="0"/>
              <a:ext cx="2888234" cy="3124200"/>
            </a:xfrm>
            <a:custGeom>
              <a:avLst/>
              <a:gdLst/>
              <a:ahLst/>
              <a:cxnLst/>
              <a:rect r="r" b="b" t="t" l="l"/>
              <a:pathLst>
                <a:path h="3124200" w="2888234">
                  <a:moveTo>
                    <a:pt x="0" y="177800"/>
                  </a:moveTo>
                  <a:cubicBezTo>
                    <a:pt x="0" y="79629"/>
                    <a:pt x="79629" y="0"/>
                    <a:pt x="177800" y="0"/>
                  </a:cubicBezTo>
                  <a:lnTo>
                    <a:pt x="2710434" y="0"/>
                  </a:lnTo>
                  <a:cubicBezTo>
                    <a:pt x="2808605" y="0"/>
                    <a:pt x="2888234" y="79629"/>
                    <a:pt x="2888234" y="177800"/>
                  </a:cubicBezTo>
                  <a:lnTo>
                    <a:pt x="2888234" y="2946400"/>
                  </a:lnTo>
                  <a:cubicBezTo>
                    <a:pt x="2888234" y="3044571"/>
                    <a:pt x="2808605" y="3124200"/>
                    <a:pt x="2710434" y="3124200"/>
                  </a:cubicBezTo>
                  <a:lnTo>
                    <a:pt x="177800" y="3124200"/>
                  </a:lnTo>
                  <a:cubicBezTo>
                    <a:pt x="79629" y="3124200"/>
                    <a:pt x="0" y="3044571"/>
                    <a:pt x="0" y="2946400"/>
                  </a:cubicBezTo>
                  <a:close/>
                </a:path>
              </a:pathLst>
            </a:custGeom>
            <a:solidFill>
              <a:srgbClr val="14655B"/>
            </a:solidFill>
          </p:spPr>
        </p:sp>
      </p:grpSp>
      <p:sp>
        <p:nvSpPr>
          <p:cNvPr name="TextBox 22" id="22"/>
          <p:cNvSpPr txBox="true"/>
          <p:nvPr/>
        </p:nvSpPr>
        <p:spPr>
          <a:xfrm rot="0">
            <a:off x="10512981" y="2472690"/>
            <a:ext cx="1899523"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S5</a:t>
            </a:r>
          </a:p>
        </p:txBody>
      </p:sp>
      <p:sp>
        <p:nvSpPr>
          <p:cNvPr name="TextBox 23" id="23"/>
          <p:cNvSpPr txBox="true"/>
          <p:nvPr/>
        </p:nvSpPr>
        <p:spPr>
          <a:xfrm rot="0">
            <a:off x="10512981" y="2958465"/>
            <a:ext cx="1899523" cy="99250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Offline ordering and synchronization</a:t>
            </a:r>
          </a:p>
        </p:txBody>
      </p:sp>
      <p:grpSp>
        <p:nvGrpSpPr>
          <p:cNvPr name="Group 24" id="24"/>
          <p:cNvGrpSpPr/>
          <p:nvPr/>
        </p:nvGrpSpPr>
        <p:grpSpPr>
          <a:xfrm rot="0">
            <a:off x="12622054" y="2358390"/>
            <a:ext cx="2166223" cy="2343150"/>
            <a:chOff x="0" y="0"/>
            <a:chExt cx="2888298" cy="3124200"/>
          </a:xfrm>
        </p:grpSpPr>
        <p:sp>
          <p:nvSpPr>
            <p:cNvPr name="Freeform 25" id="25"/>
            <p:cNvSpPr/>
            <p:nvPr/>
          </p:nvSpPr>
          <p:spPr>
            <a:xfrm flipH="false" flipV="false" rot="0">
              <a:off x="0" y="0"/>
              <a:ext cx="2888234" cy="3124200"/>
            </a:xfrm>
            <a:custGeom>
              <a:avLst/>
              <a:gdLst/>
              <a:ahLst/>
              <a:cxnLst/>
              <a:rect r="r" b="b" t="t" l="l"/>
              <a:pathLst>
                <a:path h="3124200" w="2888234">
                  <a:moveTo>
                    <a:pt x="0" y="177800"/>
                  </a:moveTo>
                  <a:cubicBezTo>
                    <a:pt x="0" y="79629"/>
                    <a:pt x="79629" y="0"/>
                    <a:pt x="177800" y="0"/>
                  </a:cubicBezTo>
                  <a:lnTo>
                    <a:pt x="2710434" y="0"/>
                  </a:lnTo>
                  <a:cubicBezTo>
                    <a:pt x="2808605" y="0"/>
                    <a:pt x="2888234" y="79629"/>
                    <a:pt x="2888234" y="177800"/>
                  </a:cubicBezTo>
                  <a:lnTo>
                    <a:pt x="2888234" y="2946400"/>
                  </a:lnTo>
                  <a:cubicBezTo>
                    <a:pt x="2888234" y="3044571"/>
                    <a:pt x="2808605" y="3124200"/>
                    <a:pt x="2710434" y="3124200"/>
                  </a:cubicBezTo>
                  <a:lnTo>
                    <a:pt x="177800" y="3124200"/>
                  </a:lnTo>
                  <a:cubicBezTo>
                    <a:pt x="79629" y="3124200"/>
                    <a:pt x="0" y="3044571"/>
                    <a:pt x="0" y="2946400"/>
                  </a:cubicBezTo>
                  <a:close/>
                </a:path>
              </a:pathLst>
            </a:custGeom>
            <a:solidFill>
              <a:srgbClr val="14655B"/>
            </a:solidFill>
          </p:spPr>
        </p:sp>
      </p:grpSp>
      <p:sp>
        <p:nvSpPr>
          <p:cNvPr name="TextBox 26" id="26"/>
          <p:cNvSpPr txBox="true"/>
          <p:nvPr/>
        </p:nvSpPr>
        <p:spPr>
          <a:xfrm rot="0">
            <a:off x="12793504" y="2472690"/>
            <a:ext cx="1899523"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S6</a:t>
            </a:r>
          </a:p>
        </p:txBody>
      </p:sp>
      <p:sp>
        <p:nvSpPr>
          <p:cNvPr name="TextBox 27" id="27"/>
          <p:cNvSpPr txBox="true"/>
          <p:nvPr/>
        </p:nvSpPr>
        <p:spPr>
          <a:xfrm rot="0">
            <a:off x="12793504" y="2958465"/>
            <a:ext cx="1899523" cy="130111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Write-off, notifications, dashboard, automation</a:t>
            </a:r>
          </a:p>
        </p:txBody>
      </p:sp>
      <p:grpSp>
        <p:nvGrpSpPr>
          <p:cNvPr name="Group 28" id="28"/>
          <p:cNvGrpSpPr/>
          <p:nvPr/>
        </p:nvGrpSpPr>
        <p:grpSpPr>
          <a:xfrm rot="0">
            <a:off x="14902577" y="2358390"/>
            <a:ext cx="2166223" cy="2343150"/>
            <a:chOff x="0" y="0"/>
            <a:chExt cx="2888298" cy="3124200"/>
          </a:xfrm>
        </p:grpSpPr>
        <p:sp>
          <p:nvSpPr>
            <p:cNvPr name="Freeform 29" id="29"/>
            <p:cNvSpPr/>
            <p:nvPr/>
          </p:nvSpPr>
          <p:spPr>
            <a:xfrm flipH="false" flipV="false" rot="0">
              <a:off x="0" y="0"/>
              <a:ext cx="2888234" cy="3124200"/>
            </a:xfrm>
            <a:custGeom>
              <a:avLst/>
              <a:gdLst/>
              <a:ahLst/>
              <a:cxnLst/>
              <a:rect r="r" b="b" t="t" l="l"/>
              <a:pathLst>
                <a:path h="3124200" w="2888234">
                  <a:moveTo>
                    <a:pt x="0" y="177800"/>
                  </a:moveTo>
                  <a:cubicBezTo>
                    <a:pt x="0" y="79629"/>
                    <a:pt x="79629" y="0"/>
                    <a:pt x="177800" y="0"/>
                  </a:cubicBezTo>
                  <a:lnTo>
                    <a:pt x="2710434" y="0"/>
                  </a:lnTo>
                  <a:cubicBezTo>
                    <a:pt x="2808605" y="0"/>
                    <a:pt x="2888234" y="79629"/>
                    <a:pt x="2888234" y="177800"/>
                  </a:cubicBezTo>
                  <a:lnTo>
                    <a:pt x="2888234" y="2946400"/>
                  </a:lnTo>
                  <a:cubicBezTo>
                    <a:pt x="2888234" y="3044571"/>
                    <a:pt x="2808605" y="3124200"/>
                    <a:pt x="2710434" y="3124200"/>
                  </a:cubicBezTo>
                  <a:lnTo>
                    <a:pt x="177800" y="3124200"/>
                  </a:lnTo>
                  <a:cubicBezTo>
                    <a:pt x="79629" y="3124200"/>
                    <a:pt x="0" y="3044571"/>
                    <a:pt x="0" y="2946400"/>
                  </a:cubicBezTo>
                  <a:close/>
                </a:path>
              </a:pathLst>
            </a:custGeom>
            <a:solidFill>
              <a:srgbClr val="14302B"/>
            </a:solidFill>
          </p:spPr>
        </p:sp>
      </p:grpSp>
      <p:sp>
        <p:nvSpPr>
          <p:cNvPr name="TextBox 30" id="30"/>
          <p:cNvSpPr txBox="true"/>
          <p:nvPr/>
        </p:nvSpPr>
        <p:spPr>
          <a:xfrm rot="0">
            <a:off x="15074027" y="2472690"/>
            <a:ext cx="1899523" cy="495300"/>
          </a:xfrm>
          <a:prstGeom prst="rect">
            <a:avLst/>
          </a:prstGeom>
        </p:spPr>
        <p:txBody>
          <a:bodyPr anchor="t" rtlCol="false" tIns="0" lIns="0" bIns="0" rIns="0">
            <a:spAutoFit/>
          </a:bodyPr>
          <a:lstStyle/>
          <a:p>
            <a:pPr algn="l">
              <a:lnSpc>
                <a:spcPts val="3149"/>
              </a:lnSpc>
            </a:pPr>
            <a:r>
              <a:rPr lang="en-US" sz="2250" b="true">
                <a:solidFill>
                  <a:srgbClr val="7FD1B9"/>
                </a:solidFill>
                <a:latin typeface="Arimo Bold"/>
                <a:ea typeface="Arimo Bold"/>
                <a:cs typeface="Arimo Bold"/>
                <a:sym typeface="Arimo Bold"/>
              </a:rPr>
              <a:t>Final</a:t>
            </a:r>
          </a:p>
        </p:txBody>
      </p:sp>
      <p:sp>
        <p:nvSpPr>
          <p:cNvPr name="TextBox 31" id="31"/>
          <p:cNvSpPr txBox="true"/>
          <p:nvPr/>
        </p:nvSpPr>
        <p:spPr>
          <a:xfrm rot="0">
            <a:off x="15074027" y="2958465"/>
            <a:ext cx="1899523" cy="1301115"/>
          </a:xfrm>
          <a:prstGeom prst="rect">
            <a:avLst/>
          </a:prstGeom>
        </p:spPr>
        <p:txBody>
          <a:bodyPr anchor="t" rtlCol="false" tIns="0" lIns="0" bIns="0" rIns="0">
            <a:spAutoFit/>
          </a:bodyPr>
          <a:lstStyle/>
          <a:p>
            <a:pPr algn="l">
              <a:lnSpc>
                <a:spcPts val="2430"/>
              </a:lnSpc>
            </a:pPr>
            <a:r>
              <a:rPr lang="en-US" sz="1800">
                <a:solidFill>
                  <a:srgbClr val="F2F1EA"/>
                </a:solidFill>
                <a:latin typeface="IBM Plex Sans"/>
                <a:ea typeface="IBM Plex Sans"/>
                <a:cs typeface="IBM Plex Sans"/>
                <a:sym typeface="IBM Plex Sans"/>
              </a:rPr>
              <a:t>Integration and system testing, fixes, documentation</a:t>
            </a:r>
          </a:p>
        </p:txBody>
      </p:sp>
      <p:grpSp>
        <p:nvGrpSpPr>
          <p:cNvPr name="Group 32" id="32"/>
          <p:cNvGrpSpPr/>
          <p:nvPr/>
        </p:nvGrpSpPr>
        <p:grpSpPr>
          <a:xfrm rot="0">
            <a:off x="1219200" y="5044440"/>
            <a:ext cx="15849600" cy="3192780"/>
            <a:chOff x="0" y="0"/>
            <a:chExt cx="21132800" cy="4257040"/>
          </a:xfrm>
        </p:grpSpPr>
        <p:sp>
          <p:nvSpPr>
            <p:cNvPr name="Freeform 33" id="33"/>
            <p:cNvSpPr/>
            <p:nvPr/>
          </p:nvSpPr>
          <p:spPr>
            <a:xfrm flipH="false" flipV="false" rot="0">
              <a:off x="0" y="0"/>
              <a:ext cx="21132800" cy="4257040"/>
            </a:xfrm>
            <a:custGeom>
              <a:avLst/>
              <a:gdLst/>
              <a:ahLst/>
              <a:cxnLst/>
              <a:rect r="r" b="b" t="t" l="l"/>
              <a:pathLst>
                <a:path h="4257040" w="21132800">
                  <a:moveTo>
                    <a:pt x="0" y="152400"/>
                  </a:moveTo>
                  <a:cubicBezTo>
                    <a:pt x="0" y="68199"/>
                    <a:pt x="68199" y="0"/>
                    <a:pt x="152400" y="0"/>
                  </a:cubicBezTo>
                  <a:lnTo>
                    <a:pt x="20980400" y="0"/>
                  </a:lnTo>
                  <a:cubicBezTo>
                    <a:pt x="21064601" y="0"/>
                    <a:pt x="21132800" y="68199"/>
                    <a:pt x="21132800" y="152400"/>
                  </a:cubicBezTo>
                  <a:lnTo>
                    <a:pt x="21132800" y="4104640"/>
                  </a:lnTo>
                  <a:cubicBezTo>
                    <a:pt x="21132800" y="4188841"/>
                    <a:pt x="21064601" y="4257040"/>
                    <a:pt x="20980400" y="4257040"/>
                  </a:cubicBezTo>
                  <a:lnTo>
                    <a:pt x="152400" y="4257040"/>
                  </a:lnTo>
                  <a:cubicBezTo>
                    <a:pt x="68199" y="4257040"/>
                    <a:pt x="0" y="4188841"/>
                    <a:pt x="0" y="4104640"/>
                  </a:cubicBezTo>
                  <a:close/>
                </a:path>
              </a:pathLst>
            </a:custGeom>
            <a:solidFill>
              <a:srgbClr val="FFFFFF"/>
            </a:solidFill>
          </p:spPr>
        </p:sp>
      </p:grpSp>
      <p:grpSp>
        <p:nvGrpSpPr>
          <p:cNvPr name="Group 34" id="34"/>
          <p:cNvGrpSpPr/>
          <p:nvPr/>
        </p:nvGrpSpPr>
        <p:grpSpPr>
          <a:xfrm rot="0">
            <a:off x="1219200" y="5044440"/>
            <a:ext cx="15849600" cy="3192780"/>
            <a:chOff x="0" y="0"/>
            <a:chExt cx="21132800" cy="4257040"/>
          </a:xfrm>
        </p:grpSpPr>
        <p:sp>
          <p:nvSpPr>
            <p:cNvPr name="Freeform 35" id="35"/>
            <p:cNvSpPr/>
            <p:nvPr/>
          </p:nvSpPr>
          <p:spPr>
            <a:xfrm flipH="false" flipV="false" rot="0">
              <a:off x="0" y="0"/>
              <a:ext cx="21132800" cy="4257040"/>
            </a:xfrm>
            <a:custGeom>
              <a:avLst/>
              <a:gdLst/>
              <a:ahLst/>
              <a:cxnLst/>
              <a:rect r="r" b="b" t="t" l="l"/>
              <a:pathLst>
                <a:path h="4257040" w="21132800">
                  <a:moveTo>
                    <a:pt x="20980400" y="0"/>
                  </a:moveTo>
                  <a:cubicBezTo>
                    <a:pt x="21064601" y="0"/>
                    <a:pt x="21132800" y="68199"/>
                    <a:pt x="21132800" y="152400"/>
                  </a:cubicBezTo>
                  <a:lnTo>
                    <a:pt x="21132800" y="4104640"/>
                  </a:lnTo>
                  <a:cubicBezTo>
                    <a:pt x="21132800" y="4188841"/>
                    <a:pt x="21064601" y="4257040"/>
                    <a:pt x="20980400" y="4257040"/>
                  </a:cubicBezTo>
                  <a:lnTo>
                    <a:pt x="152400" y="4257040"/>
                  </a:lnTo>
                  <a:cubicBezTo>
                    <a:pt x="68199" y="4257040"/>
                    <a:pt x="0" y="4188841"/>
                    <a:pt x="0" y="4104640"/>
                  </a:cubicBezTo>
                  <a:cubicBezTo>
                    <a:pt x="0" y="4181856"/>
                    <a:pt x="62484" y="4244340"/>
                    <a:pt x="139700" y="4244340"/>
                  </a:cubicBezTo>
                  <a:lnTo>
                    <a:pt x="20980400" y="4244340"/>
                  </a:lnTo>
                  <a:cubicBezTo>
                    <a:pt x="21057615" y="4244340"/>
                    <a:pt x="21120100" y="4181856"/>
                    <a:pt x="21120100" y="4104640"/>
                  </a:cubicBezTo>
                  <a:lnTo>
                    <a:pt x="21120100" y="152400"/>
                  </a:lnTo>
                  <a:cubicBezTo>
                    <a:pt x="21120100" y="68199"/>
                    <a:pt x="21051901" y="0"/>
                    <a:pt x="20967700" y="0"/>
                  </a:cubicBezTo>
                  <a:close/>
                </a:path>
              </a:pathLst>
            </a:custGeom>
            <a:solidFill>
              <a:srgbClr val="D5DCD7"/>
            </a:solidFill>
          </p:spPr>
        </p:sp>
      </p:grpSp>
      <p:grpSp>
        <p:nvGrpSpPr>
          <p:cNvPr name="Group 36" id="36"/>
          <p:cNvGrpSpPr/>
          <p:nvPr/>
        </p:nvGrpSpPr>
        <p:grpSpPr>
          <a:xfrm rot="0">
            <a:off x="1219200" y="5044440"/>
            <a:ext cx="15849600" cy="3192780"/>
            <a:chOff x="0" y="0"/>
            <a:chExt cx="21132800" cy="4257040"/>
          </a:xfrm>
        </p:grpSpPr>
        <p:sp>
          <p:nvSpPr>
            <p:cNvPr name="Freeform 37" id="37"/>
            <p:cNvSpPr/>
            <p:nvPr/>
          </p:nvSpPr>
          <p:spPr>
            <a:xfrm flipH="false" flipV="false" rot="0">
              <a:off x="0" y="0"/>
              <a:ext cx="21132800" cy="4257040"/>
            </a:xfrm>
            <a:custGeom>
              <a:avLst/>
              <a:gdLst/>
              <a:ahLst/>
              <a:cxnLst/>
              <a:rect r="r" b="b" t="t" l="l"/>
              <a:pathLst>
                <a:path h="4257040" w="21132800">
                  <a:moveTo>
                    <a:pt x="152400" y="4257040"/>
                  </a:moveTo>
                  <a:cubicBezTo>
                    <a:pt x="68199" y="4257040"/>
                    <a:pt x="0" y="4188841"/>
                    <a:pt x="0" y="4104640"/>
                  </a:cubicBezTo>
                  <a:lnTo>
                    <a:pt x="0" y="152400"/>
                  </a:lnTo>
                  <a:cubicBezTo>
                    <a:pt x="0" y="68199"/>
                    <a:pt x="68199" y="0"/>
                    <a:pt x="152400" y="0"/>
                  </a:cubicBezTo>
                  <a:lnTo>
                    <a:pt x="20980400" y="0"/>
                  </a:lnTo>
                  <a:cubicBezTo>
                    <a:pt x="21064601" y="0"/>
                    <a:pt x="21132800" y="68199"/>
                    <a:pt x="21132800" y="152400"/>
                  </a:cubicBezTo>
                  <a:cubicBezTo>
                    <a:pt x="21132800" y="79502"/>
                    <a:pt x="21073618" y="20320"/>
                    <a:pt x="21000720" y="20320"/>
                  </a:cubicBezTo>
                  <a:lnTo>
                    <a:pt x="152400" y="20320"/>
                  </a:lnTo>
                  <a:cubicBezTo>
                    <a:pt x="79502" y="20320"/>
                    <a:pt x="20320" y="79502"/>
                    <a:pt x="20320" y="152400"/>
                  </a:cubicBezTo>
                  <a:lnTo>
                    <a:pt x="20320" y="4104640"/>
                  </a:lnTo>
                  <a:cubicBezTo>
                    <a:pt x="20320" y="4188841"/>
                    <a:pt x="88519" y="4257040"/>
                    <a:pt x="172720" y="4257040"/>
                  </a:cubicBezTo>
                  <a:close/>
                </a:path>
              </a:pathLst>
            </a:custGeom>
            <a:solidFill>
              <a:srgbClr val="141413">
                <a:alpha val="4706"/>
              </a:srgbClr>
            </a:solidFill>
          </p:spPr>
        </p:sp>
      </p:grpSp>
      <p:graphicFrame>
        <p:nvGraphicFramePr>
          <p:cNvPr name="Table 38" id="38"/>
          <p:cNvGraphicFramePr>
            <a:graphicFrameLocks noGrp="true"/>
          </p:cNvGraphicFramePr>
          <p:nvPr/>
        </p:nvGraphicFramePr>
        <p:xfrm>
          <a:off x="1348740" y="5173977"/>
          <a:ext cx="15563850" cy="2895600"/>
        </p:xfrm>
        <a:graphic>
          <a:graphicData uri="http://schemas.openxmlformats.org/drawingml/2006/table">
            <a:tbl>
              <a:tblPr/>
              <a:tblGrid>
                <a:gridCol w="5587872"/>
                <a:gridCol w="2822275"/>
                <a:gridCol w="7153703"/>
              </a:tblGrid>
              <a:tr h="484394">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Risk</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Impact · likelihood</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c>
                  <a:txBody>
                    <a:bodyPr anchor="t" rtlCol="false"/>
                    <a:lstStyle/>
                    <a:p>
                      <a:pPr algn="l">
                        <a:lnSpc>
                          <a:spcPts val="2520"/>
                        </a:lnSpc>
                        <a:defRPr/>
                      </a:pPr>
                      <a:r>
                        <a:rPr lang="en-US" sz="1800" b="true">
                          <a:solidFill>
                            <a:srgbClr val="1B2420"/>
                          </a:solidFill>
                          <a:latin typeface="IBM Plex Sans Bold"/>
                          <a:ea typeface="IBM Plex Sans Bold"/>
                          <a:cs typeface="IBM Plex Sans Bold"/>
                          <a:sym typeface="IBM Plex Sans Bold"/>
                        </a:rPr>
                        <a:t>Response</a:t>
                      </a:r>
                      <a:endParaRPr lang="en-US" sz="1100"/>
                    </a:p>
                  </a:txBody>
                  <a:tcPr marL="53340" marR="53340" marT="53340" marB="53340" anchor="t">
                    <a:lnL cmpd="sng" algn="ctr" cap="flat" w="12700">
                      <a:solidFill>
                        <a:srgbClr val="B0BCB7"/>
                      </a:solidFill>
                      <a:prstDash val="solid"/>
                      <a:round/>
                      <a:headEnd type="none" w="med" len="med"/>
                      <a:tailEnd type="none" w="med" len="med"/>
                    </a:lnL>
                    <a:lnR cmpd="sng" algn="ctr" cap="flat" w="12700">
                      <a:solidFill>
                        <a:srgbClr val="B0BCB7"/>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B0BCB7"/>
                      </a:solidFill>
                      <a:prstDash val="solid"/>
                      <a:round/>
                      <a:headEnd type="none" w="med" len="med"/>
                      <a:tailEnd type="none" w="med" len="med"/>
                    </a:lnB>
                    <a:solidFill>
                      <a:srgbClr val="DCEBE5"/>
                    </a:solidFill>
                  </a:tcPr>
                </a:tc>
              </a:tr>
              <a:tr h="80373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Offline sync creates duplicate or conflicting orders</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High · High</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Local sync queue, idempotency key, server revalidation before confirming</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0BCB7"/>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373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Concurrent orders reserve the same batch</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High · Medium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Optimistic locking, transactions, automatic retry with the next eligible batch</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803735">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Wrong FEFO/MLOR allocation</a:t>
                      </a:r>
                      <a:endParaRPr lang="en-US" sz="1100"/>
                    </a:p>
                  </a:txBody>
                  <a:tcPr marL="53340" marR="53340" marT="53340" marB="53340" anchor="t">
                    <a:lnL cmpd="sng" algn="ctr" cap="flat" w="0">
                      <a:solidFill>
                        <a:srgbClr val="000000"/>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High · Medium</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2520"/>
                        </a:lnSpc>
                        <a:defRPr/>
                      </a:pPr>
                      <a:r>
                        <a:rPr lang="en-US" sz="1800">
                          <a:solidFill>
                            <a:srgbClr val="1B2420"/>
                          </a:solidFill>
                          <a:latin typeface="IBM Plex Sans"/>
                          <a:ea typeface="IBM Plex Sans"/>
                          <a:cs typeface="IBM Plex Sans"/>
                          <a:sym typeface="IBM Plex Sans"/>
                        </a:rPr>
                        <a:t>Isolated allocation module; unit tests for FEFO, MLOR and multi-warehouse cases</a:t>
                      </a:r>
                      <a:endParaRPr lang="en-US" sz="1100"/>
                    </a:p>
                  </a:txBody>
                  <a:tcPr marL="53340" marR="53340" marT="53340" marB="5334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sp>
        <p:nvSpPr>
          <p:cNvPr name="TextBox 39" id="39"/>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6A746F"/>
                </a:solidFill>
                <a:latin typeface="IBM Plex Sans"/>
                <a:ea typeface="IBM Plex Sans"/>
                <a:cs typeface="IBM Plex Sans"/>
                <a:sym typeface="IBM Plex Sans"/>
              </a:rPr>
              <a:t>FSCM · FA26SE083 · Review 1</a:t>
            </a:r>
          </a:p>
        </p:txBody>
      </p:sp>
      <p:sp>
        <p:nvSpPr>
          <p:cNvPr name="TextBox 40" id="40"/>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6A746F"/>
                </a:solidFill>
                <a:latin typeface="IBM Plex Sans"/>
                <a:ea typeface="IBM Plex Sans"/>
                <a:cs typeface="IBM Plex Sans"/>
                <a:sym typeface="IBM Plex Sans"/>
              </a:rPr>
              <a:t>24</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14302B"/>
        </a:solidFill>
      </p:bgPr>
    </p:bg>
    <p:spTree>
      <p:nvGrpSpPr>
        <p:cNvPr id="1" name=""/>
        <p:cNvGrpSpPr/>
        <p:nvPr/>
      </p:nvGrpSpPr>
      <p:grpSpPr>
        <a:xfrm>
          <a:off x="0" y="0"/>
          <a:ext cx="0" cy="0"/>
          <a:chOff x="0" y="0"/>
          <a:chExt cx="0" cy="0"/>
        </a:xfrm>
      </p:grpSpPr>
      <p:sp>
        <p:nvSpPr>
          <p:cNvPr name="TextBox 2" id="2"/>
          <p:cNvSpPr txBox="true"/>
          <p:nvPr/>
        </p:nvSpPr>
        <p:spPr>
          <a:xfrm rot="0">
            <a:off x="1219200" y="3061335"/>
            <a:ext cx="16325088" cy="459105"/>
          </a:xfrm>
          <a:prstGeom prst="rect">
            <a:avLst/>
          </a:prstGeom>
        </p:spPr>
        <p:txBody>
          <a:bodyPr anchor="t" rtlCol="false" tIns="0" lIns="0" bIns="0" rIns="0">
            <a:spAutoFit/>
          </a:bodyPr>
          <a:lstStyle/>
          <a:p>
            <a:pPr algn="l">
              <a:lnSpc>
                <a:spcPts val="2940"/>
              </a:lnSpc>
            </a:pPr>
            <a:r>
              <a:rPr lang="en-US" b="true" sz="2100" spc="225">
                <a:solidFill>
                  <a:srgbClr val="7FD1B9"/>
                </a:solidFill>
                <a:latin typeface="IBM Plex Sans Bold"/>
                <a:ea typeface="IBM Plex Sans Bold"/>
                <a:cs typeface="IBM Plex Sans Bold"/>
                <a:sym typeface="IBM Plex Sans Bold"/>
              </a:rPr>
              <a:t>FSCM · FA26SE083</a:t>
            </a:r>
          </a:p>
        </p:txBody>
      </p:sp>
      <p:sp>
        <p:nvSpPr>
          <p:cNvPr name="TextBox 3" id="3"/>
          <p:cNvSpPr txBox="true"/>
          <p:nvPr/>
        </p:nvSpPr>
        <p:spPr>
          <a:xfrm rot="0">
            <a:off x="1219200" y="3920490"/>
            <a:ext cx="16325088" cy="1143000"/>
          </a:xfrm>
          <a:prstGeom prst="rect">
            <a:avLst/>
          </a:prstGeom>
        </p:spPr>
        <p:txBody>
          <a:bodyPr anchor="t" rtlCol="false" tIns="0" lIns="0" bIns="0" rIns="0">
            <a:spAutoFit/>
          </a:bodyPr>
          <a:lstStyle/>
          <a:p>
            <a:pPr algn="l">
              <a:lnSpc>
                <a:spcPts val="9450"/>
              </a:lnSpc>
            </a:pPr>
            <a:r>
              <a:rPr lang="en-US" sz="9000" b="true">
                <a:solidFill>
                  <a:srgbClr val="F2F1EA"/>
                </a:solidFill>
                <a:latin typeface="Arimo Bold"/>
                <a:ea typeface="Arimo Bold"/>
                <a:cs typeface="Arimo Bold"/>
                <a:sym typeface="Arimo Bold"/>
              </a:rPr>
              <a:t>Thank you</a:t>
            </a:r>
          </a:p>
        </p:txBody>
      </p:sp>
      <p:sp>
        <p:nvSpPr>
          <p:cNvPr name="TextBox 4" id="4"/>
          <p:cNvSpPr txBox="true"/>
          <p:nvPr/>
        </p:nvSpPr>
        <p:spPr>
          <a:xfrm rot="0">
            <a:off x="1219200" y="5311140"/>
            <a:ext cx="13735050" cy="628650"/>
          </a:xfrm>
          <a:prstGeom prst="rect">
            <a:avLst/>
          </a:prstGeom>
        </p:spPr>
        <p:txBody>
          <a:bodyPr anchor="t" rtlCol="false" tIns="0" lIns="0" bIns="0" rIns="0">
            <a:spAutoFit/>
          </a:bodyPr>
          <a:lstStyle/>
          <a:p>
            <a:pPr algn="l">
              <a:lnSpc>
                <a:spcPts val="4200"/>
              </a:lnSpc>
            </a:pPr>
            <a:r>
              <a:rPr lang="en-US" sz="3000">
                <a:solidFill>
                  <a:srgbClr val="BFD8D5"/>
                </a:solidFill>
                <a:latin typeface="IBM Plex Sans"/>
                <a:ea typeface="IBM Plex Sans"/>
                <a:cs typeface="IBM Plex Sans"/>
                <a:sym typeface="IBM Plex Sans"/>
              </a:rPr>
              <a:t>Questions and feedback from the council are welcome.</a:t>
            </a:r>
          </a:p>
        </p:txBody>
      </p:sp>
      <p:sp>
        <p:nvSpPr>
          <p:cNvPr name="TextBox 5" id="5"/>
          <p:cNvSpPr txBox="true"/>
          <p:nvPr/>
        </p:nvSpPr>
        <p:spPr>
          <a:xfrm rot="0">
            <a:off x="1219200" y="6177915"/>
            <a:ext cx="14716125" cy="504825"/>
          </a:xfrm>
          <a:prstGeom prst="rect">
            <a:avLst/>
          </a:prstGeom>
        </p:spPr>
        <p:txBody>
          <a:bodyPr anchor="t" rtlCol="false" tIns="0" lIns="0" bIns="0" rIns="0">
            <a:spAutoFit/>
          </a:bodyPr>
          <a:lstStyle/>
          <a:p>
            <a:pPr algn="l">
              <a:lnSpc>
                <a:spcPts val="3150"/>
              </a:lnSpc>
            </a:pPr>
            <a:r>
              <a:rPr lang="en-US" sz="2100">
                <a:solidFill>
                  <a:srgbClr val="9FBDB5"/>
                </a:solidFill>
                <a:latin typeface="IBM Plex Sans"/>
                <a:ea typeface="IBM Plex Sans"/>
                <a:cs typeface="IBM Plex Sans"/>
                <a:sym typeface="IBM Plex Sans"/>
              </a:rPr>
              <a:t>Live prototype: Sales App · Retailer App · Warehouse App · Web Portal</a:t>
            </a:r>
          </a:p>
        </p:txBody>
      </p:sp>
      <p:sp>
        <p:nvSpPr>
          <p:cNvPr name="TextBox 6" id="6"/>
          <p:cNvSpPr txBox="true"/>
          <p:nvPr/>
        </p:nvSpPr>
        <p:spPr>
          <a:xfrm rot="0">
            <a:off x="1219200" y="9395460"/>
            <a:ext cx="8829675" cy="396240"/>
          </a:xfrm>
          <a:prstGeom prst="rect">
            <a:avLst/>
          </a:prstGeom>
        </p:spPr>
        <p:txBody>
          <a:bodyPr anchor="t" rtlCol="false" tIns="0" lIns="0" bIns="0" rIns="0">
            <a:spAutoFit/>
          </a:bodyPr>
          <a:lstStyle/>
          <a:p>
            <a:pPr algn="l">
              <a:lnSpc>
                <a:spcPts val="2520"/>
              </a:lnSpc>
            </a:pPr>
            <a:r>
              <a:rPr lang="en-US" sz="1800">
                <a:solidFill>
                  <a:srgbClr val="9FBDB5"/>
                </a:solidFill>
                <a:latin typeface="IBM Plex Sans"/>
                <a:ea typeface="IBM Plex Sans"/>
                <a:cs typeface="IBM Plex Sans"/>
                <a:sym typeface="IBM Plex Sans"/>
              </a:rPr>
              <a:t>FSCM · FA26SE083 · Review 1</a:t>
            </a:r>
          </a:p>
        </p:txBody>
      </p:sp>
      <p:sp>
        <p:nvSpPr>
          <p:cNvPr name="TextBox 7" id="7"/>
          <p:cNvSpPr txBox="true"/>
          <p:nvPr/>
        </p:nvSpPr>
        <p:spPr>
          <a:xfrm rot="0">
            <a:off x="15087600" y="9395460"/>
            <a:ext cx="1981200" cy="396240"/>
          </a:xfrm>
          <a:prstGeom prst="rect">
            <a:avLst/>
          </a:prstGeom>
        </p:spPr>
        <p:txBody>
          <a:bodyPr anchor="t" rtlCol="false" tIns="0" lIns="0" bIns="0" rIns="0">
            <a:spAutoFit/>
          </a:bodyPr>
          <a:lstStyle/>
          <a:p>
            <a:pPr algn="r">
              <a:lnSpc>
                <a:spcPts val="2520"/>
              </a:lnSpc>
            </a:pPr>
            <a:r>
              <a:rPr lang="en-US" sz="1800">
                <a:solidFill>
                  <a:srgbClr val="9FBDB5"/>
                </a:solidFill>
                <a:latin typeface="IBM Plex Sans"/>
                <a:ea typeface="IBM Plex Sans"/>
                <a:cs typeface="IBM Plex Sans"/>
                <a:sym typeface="IBM Plex Sans"/>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DAHWxfQDj6I</dc:identifier>
  <dcterms:modified xsi:type="dcterms:W3CDTF">2011-08-01T06:04:30Z</dcterms:modified>
  <cp:revision>1</cp:revision>
  <dc:title>FSCM - Review Presentation.pptx</dc:title>
</cp:coreProperties>
</file>