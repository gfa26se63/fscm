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928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GFA26SE63 presenting FSCM, project FA26SE083, supervised by Ms. Le Thi Quynh Chi. FSCM is a web portal and mobile system that helps an FMCG distributor manage short shelf-life stock by batch and allocate every order with FEFO across several warehouses.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one FMCG distributor, several warehouses, field sales staff organised in regional groups. Products like yoghurt and sandwich bread live only one to eight weeks, so every day of shelf life matters. Sales staff order at the store, and retailers only receive and pay.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problems. The first three are about freshness: FIFO is not enough, totals hide batches, and the retailer judges freshness on arrival. The next two are about correctness: concurrent and offline orders double-book stock, and there is no proof from warehouse to store. The last one is manual promotions and reporting.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enterprise products that already handle batches and FEFO. They are strong, but they are built for large warehouses and long implementations. None of them offers, out of the box, one light flow where a field order, possibly captured offline, is allocated by FEFO and MLOR across warehouses before approval. Sources are the official documentation listed in Report 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distributors use DMS apps such as Viettel DMS.ONE and MobiWork MBW DMS. They are strong on the sales force: routes, check-ins, mobile ordering, promotions. Their public descriptions do not cover expiry, FEFO or MLOR. We take the field-sales ordering idea and add batch-level allocation.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gap. Enterprise suites can do most of it with heavy configuration. DMS tools are light but stop at the order. FSCM sits between them: as light as a DMS, but it keeps batch, expiry and MLOR in the allocation, and it traces every label to the retailer.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product vision in one sentence. Everything else in the presentation supports this: batch-level decisions and end-to-end traceability, for one distributor with field sales.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product objectives. Fresher shipments through FEFO plus MLOR; no double-booking through first-come-first-served processing and atomic holds; offline selling with promotion estimates; and full traceability with QR labels.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functional requirements from Report 1, section 6.1, thirteen features in total. The first six set up the system: accounts, roles and warehouse scope with an audit trail; master data including the retailer-SKU MLOR and the distance-based transit rules; retailers with 8-digit codes and sales territories; goods receipt where the Batch ID is warehouse plus SKU plus expiry date and every pallet gets a QR label; per-SKU and product-group promotions; and mobile ordering, where the quantity offered never exceeds available stock.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seven cover the order after it is placed: offline capture with an idempotency key and first-come-first-served processing on the server; the FEFO-MLOR allocation, which rejects the order if stock is short; approval, which turns the hold into a reservation and creates picking lists, while an Operator can still cancel a pending order; QR picking with child labels; retailer receipt by scanning; tracking and notifications; and dashboards with revenue counted before discounts.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quality attributes. The most important are data consistency, so that no stock is ever reserved twice, and offline operation without duplicate orders when the app re-syncs. Performance, security, traceability, reliability, usability and maintainability complete the list. The numeric targets are our proposals for this review; the 70 percent unit-test coverage comes from the quality plan in Report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Report 2. The team has 337 man-days of net capacity; 287 are planned and 50 are kept as reserve. Coding takes about half and testing about thirty percent, because allocation, offline sync and inventory consistency need heavy testing. Quality gates are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flow in ten steps, from goods receipt with QR labels to retailer receipt and payment. Steps 3 and 4 are automatic. Approval turns the hold into a reservation and creates one picking list per warehouse; the warehouse keeper scans and, when only part of a pallet is taken, splits a child label. The retailer scans every label to close the order.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is the hardest sub-flow. The app keeps a local database and estimates promotions on the device. When the order syncs, the server decides by arrival time, not device time, so the rule is fair and deterministic. The device time is still stored so the Operator can check manually. If the stock is gone, the later order is rejected and both the Sales Representative and the retailer are told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user roles plus the system itself. Four roles use the web portal, three use the mobile app: Sales, Retailer and Warehouse Keeper. Retailers cannot register or order by themselves; their accounts are created by the distributor.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runs per SKU in five steps. B1 collects candidates, B2 removes anything that cannot reach the retailer in time or fresh enough, B3 ranks the rest by expiry, B4 allocates greedily across warehouses, and B5 holds or rejects. Inputs come from the order, the batches, the service rules and the dispatch schedule.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keeps batches of the right SKU that can ship and still have free quantity after other orders' holds. In our example, seven SKU001 batches exist; one is expired and one is fully held, so five remain. B2a then measures the road distance with Dijkstra and compares it with the warehouse's maximum service distance.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service-distance rule as a lookup table. Up to ten kilometres means one day in transit, ten to twenty means two days, and beyond the twenty-kilometre maximum the warehouse cannot serve this retailer at all. The scale shows our example: four warehouses are in range, Củ Chi at 28.6 km is excluded. Both thresholds are settings per warehouse, and the values shown are pilot assumptions.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distance filter, we estimate the arrival. Dispatch is the next run after preparation and buffer; ETA adds the transit time from the table. A batch stays only if it arrives by the promised date and still has at least m times the total shelf life. For SKU001, m is 0.3 and shelf life is 45 days, so the batch must have 13.5 days left on arrival. Gò Vấp fails with 7 days, even though it is close.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Eligible batches are ranked by expiry first. Distance only decides between batches with the same expiry, and available quantity only after that. Then we take greedily: 40 from Thới An, the remaining 20 from Thủ Đức. Tân Chánh Hiệp is closer than Thủ Đức but expires three days later, so it is not used. Splitting across warehouses is normal here and is not a partial shipment.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turns the calculation into a commitment. With enough stock, we re-read availability and hold exact quantities; approval converts the hold to a reservation. If anything is missing after scanning the whole network, our MVP rejects the order rather than shipping part of it. Optimistic locking, transactions and idempotency keys make sure two orders never take the same cartons.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clients share one backend. The React portal serves the office roles; the Flutter app serves Sales, Retailers and Warehouse Keepers and works offline with SQLite. The backend is an ASP.NET Core modular monolith with Clean Architecture inside each module. PostgreSQL holds the data with row versions for optimistic locking and an outbox table; a background worker publishes events and notifications, and a timer function updates batch expiry status every day.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by layer, with the reason for each choice. The key decisions are Flutter with SQLite for offline-first selling, and PostgreSQL transactions with optimistic locking for safe reservations.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Scrum with six sprints and a final testing sprint. The order is deliberate: master data and inventory first, then allocation, picking, offline sync and automation. The three biggest risks are all technical, and each has a concrete response.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we can demo the prototype for the Sales, Retailer and Warehouse apps and the web portal.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245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B2420"/>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648461"/>
            <a:ext cx="10566400" cy="439673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2B"/>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4655B"/>
          </a:solidFill>
          <a:ln/>
        </p:spPr>
        <p:txBody>
          <a:bodyPr/>
          <a:lstStyle/>
          <a:p>
            <a:endParaRPr lang="en-US"/>
          </a:p>
        </p:txBody>
      </p:sp>
      <p:sp>
        <p:nvSpPr>
          <p:cNvPr id="3" name="Text 1"/>
          <p:cNvSpPr/>
          <p:nvPr/>
        </p:nvSpPr>
        <p:spPr>
          <a:xfrm>
            <a:off x="812800" y="762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7FD1B9"/>
                </a:solidFill>
                <a:latin typeface="IBM Plex Sans" pitchFamily="34" charset="0"/>
                <a:ea typeface="IBM Plex Sans" pitchFamily="34" charset="-122"/>
                <a:cs typeface="IBM Plex Sans" pitchFamily="34" charset="-120"/>
              </a:rPr>
              <a:t>CAPSTONE PROJECT · REVIEW 1 · 02 OCTOBER 2026</a:t>
            </a:r>
            <a:endParaRPr lang="en-US" sz="1400" dirty="0"/>
          </a:p>
        </p:txBody>
      </p:sp>
      <p:sp>
        <p:nvSpPr>
          <p:cNvPr id="4" name="Text 2"/>
          <p:cNvSpPr>
            <a:spLocks noGrp="1"/>
          </p:cNvSpPr>
          <p:nvPr>
            <p:ph type="title"/>
          </p:nvPr>
        </p:nvSpPr>
        <p:spPr>
          <a:xfrm>
            <a:off x="812800" y="1188720"/>
            <a:ext cx="10883392" cy="1092200"/>
          </a:xfrm>
          <a:prstGeom prst="rect">
            <a:avLst/>
          </a:prstGeom>
          <a:noFill/>
          <a:ln/>
        </p:spPr>
        <p:txBody>
          <a:bodyPr wrap="square" lIns="0" tIns="0" rIns="0" bIns="0" rtlCol="0" anchor="t">
            <a:normAutofit/>
          </a:bodyPr>
          <a:lstStyle/>
          <a:p>
            <a:pPr marL="0" indent="0" algn="l">
              <a:lnSpc>
                <a:spcPts val="8400"/>
              </a:lnSpc>
              <a:buNone/>
            </a:pPr>
            <a:r>
              <a:rPr lang="en-US" sz="8400" b="1" i="0" dirty="0">
                <a:solidFill>
                  <a:srgbClr val="F2F1EA"/>
                </a:solidFill>
                <a:latin typeface="Space Grotesk" pitchFamily="34" charset="0"/>
                <a:ea typeface="Space Grotesk" pitchFamily="34" charset="-122"/>
                <a:cs typeface="Space Grotesk" pitchFamily="34" charset="-120"/>
              </a:rPr>
              <a:t>FSCM</a:t>
            </a:r>
            <a:endParaRPr lang="en-US" sz="8400" dirty="0"/>
          </a:p>
        </p:txBody>
      </p:sp>
      <p:sp>
        <p:nvSpPr>
          <p:cNvPr id="5" name="Text 3"/>
          <p:cNvSpPr/>
          <p:nvPr/>
        </p:nvSpPr>
        <p:spPr>
          <a:xfrm>
            <a:off x="812800" y="2433320"/>
            <a:ext cx="9810750" cy="87884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F2F1EA"/>
                </a:solidFill>
                <a:latin typeface="Space Grotesk" pitchFamily="34" charset="0"/>
                <a:ea typeface="Space Grotesk" pitchFamily="34" charset="-122"/>
                <a:cs typeface="Space Grotesk" pitchFamily="34" charset="-120"/>
              </a:rPr>
              <a:t>Short Shelf-Life FMCG Supply Chain Management and Distribution Coordination with FEFO Optimization</a:t>
            </a:r>
            <a:endParaRPr lang="en-US" sz="2800" dirty="0"/>
          </a:p>
        </p:txBody>
      </p:sp>
      <p:sp>
        <p:nvSpPr>
          <p:cNvPr id="6" name="Shape 4"/>
          <p:cNvSpPr/>
          <p:nvPr/>
        </p:nvSpPr>
        <p:spPr>
          <a:xfrm>
            <a:off x="812800" y="5132070"/>
            <a:ext cx="10566400" cy="0"/>
          </a:xfrm>
          <a:prstGeom prst="line">
            <a:avLst/>
          </a:prstGeom>
          <a:noFill/>
          <a:ln w="12700">
            <a:solidFill>
              <a:srgbClr val="2E5A51"/>
            </a:solidFill>
            <a:prstDash val="solid"/>
          </a:ln>
        </p:spPr>
        <p:txBody>
          <a:bodyPr/>
          <a:lstStyle/>
          <a:p>
            <a:endParaRPr lang="en-US"/>
          </a:p>
        </p:txBody>
      </p:sp>
      <p:sp>
        <p:nvSpPr>
          <p:cNvPr id="7" name="Text 5"/>
          <p:cNvSpPr/>
          <p:nvPr/>
        </p:nvSpPr>
        <p:spPr>
          <a:xfrm>
            <a:off x="812800" y="5364480"/>
            <a:ext cx="28487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DB5"/>
                </a:solidFill>
                <a:latin typeface="IBM Plex Sans" pitchFamily="34" charset="0"/>
                <a:ea typeface="IBM Plex Sans" pitchFamily="34" charset="-122"/>
                <a:cs typeface="IBM Plex Sans" pitchFamily="34" charset="-120"/>
              </a:rPr>
              <a:t>Project code · Group</a:t>
            </a:r>
            <a:endParaRPr lang="en-US" sz="1200" dirty="0"/>
          </a:p>
        </p:txBody>
      </p:sp>
      <p:sp>
        <p:nvSpPr>
          <p:cNvPr id="8" name="Text 6"/>
          <p:cNvSpPr/>
          <p:nvPr/>
        </p:nvSpPr>
        <p:spPr>
          <a:xfrm>
            <a:off x="812800" y="5615940"/>
            <a:ext cx="28487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F1EA"/>
                </a:solidFill>
                <a:latin typeface="IBM Plex Sans" pitchFamily="34" charset="0"/>
                <a:ea typeface="IBM Plex Sans" pitchFamily="34" charset="-122"/>
                <a:cs typeface="IBM Plex Sans" pitchFamily="34" charset="-120"/>
              </a:rPr>
              <a:t>FA26SE083 · GFA26SE63</a:t>
            </a:r>
            <a:endParaRPr lang="en-US" sz="1500" dirty="0"/>
          </a:p>
        </p:txBody>
      </p:sp>
      <p:sp>
        <p:nvSpPr>
          <p:cNvPr id="9" name="Text 7"/>
          <p:cNvSpPr/>
          <p:nvPr/>
        </p:nvSpPr>
        <p:spPr>
          <a:xfrm>
            <a:off x="3883342" y="5364480"/>
            <a:ext cx="28487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DB5"/>
                </a:solidFill>
                <a:latin typeface="IBM Plex Sans" pitchFamily="34" charset="0"/>
                <a:ea typeface="IBM Plex Sans" pitchFamily="34" charset="-122"/>
                <a:cs typeface="IBM Plex Sans" pitchFamily="34" charset="-120"/>
              </a:rPr>
              <a:t>Supervisor</a:t>
            </a:r>
            <a:endParaRPr lang="en-US" sz="1200" dirty="0"/>
          </a:p>
        </p:txBody>
      </p:sp>
      <p:sp>
        <p:nvSpPr>
          <p:cNvPr id="10" name="Text 8"/>
          <p:cNvSpPr/>
          <p:nvPr/>
        </p:nvSpPr>
        <p:spPr>
          <a:xfrm>
            <a:off x="3883342" y="5615940"/>
            <a:ext cx="28487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F1EA"/>
                </a:solidFill>
                <a:latin typeface="IBM Plex Sans" pitchFamily="34" charset="0"/>
                <a:ea typeface="IBM Plex Sans" pitchFamily="34" charset="-122"/>
                <a:cs typeface="IBM Plex Sans" pitchFamily="34" charset="-120"/>
              </a:rPr>
              <a:t>MSc. Le Thi Quynh Chi</a:t>
            </a:r>
            <a:endParaRPr lang="en-US" sz="1500" dirty="0"/>
          </a:p>
        </p:txBody>
      </p:sp>
      <p:sp>
        <p:nvSpPr>
          <p:cNvPr id="11" name="Text 9"/>
          <p:cNvSpPr/>
          <p:nvPr/>
        </p:nvSpPr>
        <p:spPr>
          <a:xfrm>
            <a:off x="6953885" y="5364480"/>
            <a:ext cx="4558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DB5"/>
                </a:solidFill>
                <a:latin typeface="IBM Plex Sans" pitchFamily="34" charset="0"/>
                <a:ea typeface="IBM Plex Sans" pitchFamily="34" charset="-122"/>
                <a:cs typeface="IBM Plex Sans" pitchFamily="34" charset="-120"/>
              </a:rPr>
              <a:t>Team</a:t>
            </a:r>
            <a:endParaRPr lang="en-US" sz="1200" dirty="0"/>
          </a:p>
        </p:txBody>
      </p:sp>
      <p:sp>
        <p:nvSpPr>
          <p:cNvPr id="12" name="Text 10"/>
          <p:cNvSpPr/>
          <p:nvPr/>
        </p:nvSpPr>
        <p:spPr>
          <a:xfrm>
            <a:off x="6953885" y="5615940"/>
            <a:ext cx="4558075"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1EA"/>
                </a:solidFill>
                <a:latin typeface="IBM Plex Sans" pitchFamily="34" charset="0"/>
                <a:ea typeface="IBM Plex Sans" pitchFamily="34" charset="-122"/>
                <a:cs typeface="IBM Plex Sans" pitchFamily="34" charset="-120"/>
              </a:rPr>
              <a:t>Nguyen Thien Nhan (Leader) · Tran Ngoc Khiet · Doan Duc Hai · Vo Minh Son · Truong Le Huy Hoang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BUSINESS CONTEXT</a:t>
            </a:r>
            <a:endParaRPr lang="en-US" sz="1200" dirty="0"/>
          </a:p>
        </p:txBody>
      </p:sp>
      <p:sp>
        <p:nvSpPr>
          <p:cNvPr id="3" name="Text 1"/>
          <p:cNvSpPr>
            <a:spLocks noGrp="1"/>
          </p:cNvSpPr>
          <p:nvPr>
            <p:ph type="title"/>
          </p:nvPr>
        </p:nvSpPr>
        <p:spPr>
          <a:xfrm>
            <a:off x="812800" y="92456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Short shelf-life FMCG distribution</a:t>
            </a:r>
            <a:endParaRPr lang="en-US" sz="3000" dirty="0"/>
          </a:p>
        </p:txBody>
      </p:sp>
      <p:sp>
        <p:nvSpPr>
          <p:cNvPr id="4" name="Shape 2"/>
          <p:cNvSpPr/>
          <p:nvPr/>
        </p:nvSpPr>
        <p:spPr>
          <a:xfrm>
            <a:off x="815975" y="1575435"/>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pic>
        <p:nvPicPr>
          <p:cNvPr id="5" name="Image 0" descr="Clock"/>
          <p:cNvPicPr>
            <a:picLocks noChangeAspect="1"/>
          </p:cNvPicPr>
          <p:nvPr/>
        </p:nvPicPr>
        <p:blipFill>
          <a:blip r:embed="rId3"/>
          <a:srcRect/>
          <a:stretch/>
        </p:blipFill>
        <p:spPr>
          <a:xfrm>
            <a:off x="1021080" y="1780540"/>
            <a:ext cx="279400" cy="279400"/>
          </a:xfrm>
          <a:prstGeom prst="rect">
            <a:avLst/>
          </a:prstGeom>
        </p:spPr>
      </p:pic>
      <p:sp>
        <p:nvSpPr>
          <p:cNvPr id="6" name="Text 3"/>
          <p:cNvSpPr/>
          <p:nvPr/>
        </p:nvSpPr>
        <p:spPr>
          <a:xfrm>
            <a:off x="1021080" y="213614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Space Grotesk" pitchFamily="34" charset="0"/>
                <a:ea typeface="Space Grotesk" pitchFamily="34" charset="-122"/>
                <a:cs typeface="Space Grotesk" pitchFamily="34" charset="-120"/>
              </a:rPr>
              <a:t>Products expire in days, not months</a:t>
            </a:r>
            <a:endParaRPr lang="en-US" sz="1600" dirty="0"/>
          </a:p>
        </p:txBody>
      </p:sp>
      <p:sp>
        <p:nvSpPr>
          <p:cNvPr id="7" name="Text 4"/>
          <p:cNvSpPr/>
          <p:nvPr/>
        </p:nvSpPr>
        <p:spPr>
          <a:xfrm>
            <a:off x="1021080" y="2456180"/>
            <a:ext cx="492107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Dairy, fresh bakery and chilled goods are tracked by Batch/Lot and expiry date. In our dataset, total shelf life ranges from 7 to 60 days.</a:t>
            </a:r>
            <a:endParaRPr lang="en-US" sz="1200" dirty="0"/>
          </a:p>
        </p:txBody>
      </p:sp>
      <p:sp>
        <p:nvSpPr>
          <p:cNvPr id="8" name="Shape 5"/>
          <p:cNvSpPr/>
          <p:nvPr/>
        </p:nvSpPr>
        <p:spPr>
          <a:xfrm>
            <a:off x="6188075" y="1575435"/>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pic>
        <p:nvPicPr>
          <p:cNvPr id="9" name="Image 1" descr="Home"/>
          <p:cNvPicPr>
            <a:picLocks noChangeAspect="1"/>
          </p:cNvPicPr>
          <p:nvPr/>
        </p:nvPicPr>
        <p:blipFill>
          <a:blip r:embed="rId4"/>
          <a:srcRect/>
          <a:stretch/>
        </p:blipFill>
        <p:spPr>
          <a:xfrm>
            <a:off x="6393180" y="1780540"/>
            <a:ext cx="279400" cy="279400"/>
          </a:xfrm>
          <a:prstGeom prst="rect">
            <a:avLst/>
          </a:prstGeom>
        </p:spPr>
      </p:pic>
      <p:sp>
        <p:nvSpPr>
          <p:cNvPr id="10" name="Text 6"/>
          <p:cNvSpPr/>
          <p:nvPr/>
        </p:nvSpPr>
        <p:spPr>
          <a:xfrm>
            <a:off x="6393180" y="213614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Space Grotesk" pitchFamily="34" charset="0"/>
                <a:ea typeface="Space Grotesk" pitchFamily="34" charset="-122"/>
                <a:cs typeface="Space Grotesk" pitchFamily="34" charset="-120"/>
              </a:rPr>
              <a:t>One distributor, several warehouses</a:t>
            </a:r>
            <a:endParaRPr lang="en-US" sz="1600" dirty="0"/>
          </a:p>
        </p:txBody>
      </p:sp>
      <p:sp>
        <p:nvSpPr>
          <p:cNvPr id="11" name="Text 7"/>
          <p:cNvSpPr/>
          <p:nvPr/>
        </p:nvSpPr>
        <p:spPr>
          <a:xfrm>
            <a:off x="6393180" y="2456180"/>
            <a:ext cx="492107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The same SKU sits in different batches across warehouses, each with its own expiry date and available quantity.</a:t>
            </a:r>
            <a:endParaRPr lang="en-US" sz="1200" dirty="0"/>
          </a:p>
        </p:txBody>
      </p:sp>
      <p:sp>
        <p:nvSpPr>
          <p:cNvPr id="12" name="Shape 8"/>
          <p:cNvSpPr/>
          <p:nvPr/>
        </p:nvSpPr>
        <p:spPr>
          <a:xfrm>
            <a:off x="815975" y="3799205"/>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pic>
        <p:nvPicPr>
          <p:cNvPr id="13" name="Image 2" descr="Users"/>
          <p:cNvPicPr>
            <a:picLocks noChangeAspect="1"/>
          </p:cNvPicPr>
          <p:nvPr/>
        </p:nvPicPr>
        <p:blipFill>
          <a:blip r:embed="rId5"/>
          <a:srcRect/>
          <a:stretch/>
        </p:blipFill>
        <p:spPr>
          <a:xfrm>
            <a:off x="1021080" y="4004310"/>
            <a:ext cx="279400" cy="279400"/>
          </a:xfrm>
          <a:prstGeom prst="rect">
            <a:avLst/>
          </a:prstGeom>
        </p:spPr>
      </p:pic>
      <p:sp>
        <p:nvSpPr>
          <p:cNvPr id="14" name="Text 9"/>
          <p:cNvSpPr/>
          <p:nvPr/>
        </p:nvSpPr>
        <p:spPr>
          <a:xfrm>
            <a:off x="1021080" y="435991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Space Grotesk" pitchFamily="34" charset="0"/>
                <a:ea typeface="Space Grotesk" pitchFamily="34" charset="-122"/>
                <a:cs typeface="Space Grotesk" pitchFamily="34" charset="-120"/>
              </a:rPr>
              <a:t>Field Sales order for the retailer</a:t>
            </a:r>
            <a:endParaRPr lang="en-US" sz="1600" dirty="0"/>
          </a:p>
        </p:txBody>
      </p:sp>
      <p:sp>
        <p:nvSpPr>
          <p:cNvPr id="15" name="Text 10"/>
          <p:cNvSpPr/>
          <p:nvPr/>
        </p:nvSpPr>
        <p:spPr>
          <a:xfrm>
            <a:off x="1021080" y="4679950"/>
            <a:ext cx="492107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Sales Representatives visit grocery stores and minimarts and place orders on the retailer's behalf, often where mobile signal is weak.</a:t>
            </a:r>
            <a:endParaRPr lang="en-US" sz="1200" dirty="0"/>
          </a:p>
        </p:txBody>
      </p:sp>
      <p:sp>
        <p:nvSpPr>
          <p:cNvPr id="16" name="Shape 11"/>
          <p:cNvSpPr/>
          <p:nvPr/>
        </p:nvSpPr>
        <p:spPr>
          <a:xfrm>
            <a:off x="6188075" y="3799205"/>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pic>
        <p:nvPicPr>
          <p:cNvPr id="17" name="Image 3" descr="Verified"/>
          <p:cNvPicPr>
            <a:picLocks noChangeAspect="1"/>
          </p:cNvPicPr>
          <p:nvPr/>
        </p:nvPicPr>
        <p:blipFill>
          <a:blip r:embed="rId6"/>
          <a:srcRect/>
          <a:stretch/>
        </p:blipFill>
        <p:spPr>
          <a:xfrm>
            <a:off x="6393180" y="4004310"/>
            <a:ext cx="279400" cy="279400"/>
          </a:xfrm>
          <a:prstGeom prst="rect">
            <a:avLst/>
          </a:prstGeom>
        </p:spPr>
      </p:pic>
      <p:sp>
        <p:nvSpPr>
          <p:cNvPr id="18" name="Text 12"/>
          <p:cNvSpPr/>
          <p:nvPr/>
        </p:nvSpPr>
        <p:spPr>
          <a:xfrm>
            <a:off x="6393180" y="435991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20"/>
                </a:solidFill>
                <a:latin typeface="Space Grotesk" pitchFamily="34" charset="0"/>
                <a:ea typeface="Space Grotesk" pitchFamily="34" charset="-122"/>
                <a:cs typeface="Space Grotesk" pitchFamily="34" charset="-120"/>
              </a:rPr>
              <a:t>Retailers receive, confirm and pay</a:t>
            </a:r>
            <a:endParaRPr lang="en-US" sz="1600" dirty="0"/>
          </a:p>
        </p:txBody>
      </p:sp>
      <p:sp>
        <p:nvSpPr>
          <p:cNvPr id="19" name="Text 13"/>
          <p:cNvSpPr/>
          <p:nvPr/>
        </p:nvSpPr>
        <p:spPr>
          <a:xfrm>
            <a:off x="6393180" y="4679950"/>
            <a:ext cx="492107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Retailers do not order themselves. They receive the goods, confirm receipt and pay in advance (QR transfer or cash) or on delivery.</a:t>
            </a:r>
            <a:endParaRPr lang="en-US" sz="1200" dirty="0"/>
          </a:p>
        </p:txBody>
      </p:sp>
      <p:sp>
        <p:nvSpPr>
          <p:cNvPr id="20" name="Text 14"/>
          <p:cNvSpPr/>
          <p:nvPr/>
        </p:nvSpPr>
        <p:spPr>
          <a:xfrm>
            <a:off x="812800" y="62890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1" name="Text 15"/>
          <p:cNvSpPr/>
          <p:nvPr/>
        </p:nvSpPr>
        <p:spPr>
          <a:xfrm>
            <a:off x="10058400" y="62890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a:spLocks noGrp="1"/>
          </p:cNvSpPr>
          <p:nvPr>
            <p:ph type="title"/>
          </p:nvPr>
        </p:nvSpPr>
        <p:spPr>
          <a:xfrm>
            <a:off x="812800" y="9245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Problems to solve</a:t>
            </a:r>
            <a:endParaRPr lang="en-US" sz="3000" dirty="0"/>
          </a:p>
        </p:txBody>
      </p:sp>
      <p:sp>
        <p:nvSpPr>
          <p:cNvPr id="4" name="Shape 2"/>
          <p:cNvSpPr/>
          <p:nvPr/>
        </p:nvSpPr>
        <p:spPr>
          <a:xfrm>
            <a:off x="815975" y="1575436"/>
            <a:ext cx="3397250" cy="2032000"/>
          </a:xfrm>
          <a:prstGeom prst="roundRect">
            <a:avLst>
              <a:gd name="adj" fmla="val 4844"/>
            </a:avLst>
          </a:prstGeom>
          <a:solidFill>
            <a:srgbClr val="FFFFFF"/>
          </a:solidFill>
          <a:ln w="6350">
            <a:solidFill>
              <a:srgbClr val="D5DCD7"/>
            </a:solidFill>
            <a:prstDash val="solid"/>
          </a:ln>
        </p:spPr>
        <p:txBody>
          <a:bodyPr/>
          <a:lstStyle/>
          <a:p>
            <a:endParaRPr lang="en-US"/>
          </a:p>
        </p:txBody>
      </p:sp>
      <p:pic>
        <p:nvPicPr>
          <p:cNvPr id="5" name="Image 0" descr="Lightning"/>
          <p:cNvPicPr>
            <a:picLocks noChangeAspect="1"/>
          </p:cNvPicPr>
          <p:nvPr/>
        </p:nvPicPr>
        <p:blipFill>
          <a:blip r:embed="rId3"/>
          <a:srcRect/>
          <a:stretch/>
        </p:blipFill>
        <p:spPr>
          <a:xfrm>
            <a:off x="1021080" y="1780541"/>
            <a:ext cx="279400" cy="279400"/>
          </a:xfrm>
          <a:prstGeom prst="rect">
            <a:avLst/>
          </a:prstGeom>
        </p:spPr>
      </p:pic>
      <p:sp>
        <p:nvSpPr>
          <p:cNvPr id="6" name="Text 3"/>
          <p:cNvSpPr/>
          <p:nvPr/>
        </p:nvSpPr>
        <p:spPr>
          <a:xfrm>
            <a:off x="1021080" y="2136141"/>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FIFO is not enough</a:t>
            </a:r>
            <a:endParaRPr lang="en-US" sz="1500" dirty="0"/>
          </a:p>
        </p:txBody>
      </p:sp>
      <p:sp>
        <p:nvSpPr>
          <p:cNvPr id="7" name="Text 4"/>
          <p:cNvSpPr/>
          <p:nvPr/>
        </p:nvSpPr>
        <p:spPr>
          <a:xfrm>
            <a:off x="1021080" y="2440941"/>
            <a:ext cx="307665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 later receipt can expire earlier than older stock. Orders must follow the expiry date (FEFO).</a:t>
            </a:r>
            <a:endParaRPr lang="en-US" sz="1200" dirty="0"/>
          </a:p>
        </p:txBody>
      </p:sp>
      <p:sp>
        <p:nvSpPr>
          <p:cNvPr id="8" name="Shape 5"/>
          <p:cNvSpPr/>
          <p:nvPr/>
        </p:nvSpPr>
        <p:spPr>
          <a:xfrm>
            <a:off x="4397375" y="1575436"/>
            <a:ext cx="3397250" cy="2032000"/>
          </a:xfrm>
          <a:prstGeom prst="roundRect">
            <a:avLst>
              <a:gd name="adj" fmla="val 4844"/>
            </a:avLst>
          </a:prstGeom>
          <a:solidFill>
            <a:srgbClr val="FFFFFF"/>
          </a:solidFill>
          <a:ln w="6350">
            <a:solidFill>
              <a:srgbClr val="D5DCD7"/>
            </a:solidFill>
            <a:prstDash val="solid"/>
          </a:ln>
        </p:spPr>
        <p:txBody>
          <a:bodyPr/>
          <a:lstStyle/>
          <a:p>
            <a:endParaRPr lang="en-US"/>
          </a:p>
        </p:txBody>
      </p:sp>
      <p:pic>
        <p:nvPicPr>
          <p:cNvPr id="9" name="Image 1" descr="Search"/>
          <p:cNvPicPr>
            <a:picLocks noChangeAspect="1"/>
          </p:cNvPicPr>
          <p:nvPr/>
        </p:nvPicPr>
        <p:blipFill>
          <a:blip r:embed="rId4"/>
          <a:srcRect/>
          <a:stretch/>
        </p:blipFill>
        <p:spPr>
          <a:xfrm>
            <a:off x="4602480" y="1780541"/>
            <a:ext cx="279400" cy="279400"/>
          </a:xfrm>
          <a:prstGeom prst="rect">
            <a:avLst/>
          </a:prstGeom>
        </p:spPr>
      </p:pic>
      <p:sp>
        <p:nvSpPr>
          <p:cNvPr id="10" name="Text 6"/>
          <p:cNvSpPr/>
          <p:nvPr/>
        </p:nvSpPr>
        <p:spPr>
          <a:xfrm>
            <a:off x="4602480" y="2136141"/>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No batch-level visibility</a:t>
            </a:r>
            <a:endParaRPr lang="en-US" sz="1500" dirty="0"/>
          </a:p>
        </p:txBody>
      </p:sp>
      <p:sp>
        <p:nvSpPr>
          <p:cNvPr id="11" name="Text 7"/>
          <p:cNvSpPr/>
          <p:nvPr/>
        </p:nvSpPr>
        <p:spPr>
          <a:xfrm>
            <a:off x="4602480" y="2440941"/>
            <a:ext cx="307665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Stock totals do not say which batch, in which warehouse, should serve a given order.</a:t>
            </a:r>
            <a:endParaRPr lang="en-US" sz="1200" dirty="0"/>
          </a:p>
        </p:txBody>
      </p:sp>
      <p:sp>
        <p:nvSpPr>
          <p:cNvPr id="12" name="Shape 8"/>
          <p:cNvSpPr/>
          <p:nvPr/>
        </p:nvSpPr>
        <p:spPr>
          <a:xfrm>
            <a:off x="7978775" y="1575436"/>
            <a:ext cx="3397250" cy="2032000"/>
          </a:xfrm>
          <a:prstGeom prst="roundRect">
            <a:avLst>
              <a:gd name="adj" fmla="val 4844"/>
            </a:avLst>
          </a:prstGeom>
          <a:solidFill>
            <a:srgbClr val="FFFFFF"/>
          </a:solidFill>
          <a:ln w="6350">
            <a:solidFill>
              <a:srgbClr val="D5DCD7"/>
            </a:solidFill>
            <a:prstDash val="solid"/>
          </a:ln>
        </p:spPr>
        <p:txBody>
          <a:bodyPr/>
          <a:lstStyle/>
          <a:p>
            <a:endParaRPr lang="en-US"/>
          </a:p>
        </p:txBody>
      </p:sp>
      <p:pic>
        <p:nvPicPr>
          <p:cNvPr id="13" name="Image 2" descr="Warning"/>
          <p:cNvPicPr>
            <a:picLocks noChangeAspect="1"/>
          </p:cNvPicPr>
          <p:nvPr/>
        </p:nvPicPr>
        <p:blipFill>
          <a:blip r:embed="rId5"/>
          <a:srcRect/>
          <a:stretch/>
        </p:blipFill>
        <p:spPr>
          <a:xfrm>
            <a:off x="8183880" y="1780541"/>
            <a:ext cx="279400" cy="279400"/>
          </a:xfrm>
          <a:prstGeom prst="rect">
            <a:avLst/>
          </a:prstGeom>
        </p:spPr>
      </p:pic>
      <p:sp>
        <p:nvSpPr>
          <p:cNvPr id="14" name="Text 9"/>
          <p:cNvSpPr/>
          <p:nvPr/>
        </p:nvSpPr>
        <p:spPr>
          <a:xfrm>
            <a:off x="8183880" y="2136141"/>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Near-expiry deliveries</a:t>
            </a:r>
            <a:endParaRPr lang="en-US" sz="1500" dirty="0"/>
          </a:p>
        </p:txBody>
      </p:sp>
      <p:sp>
        <p:nvSpPr>
          <p:cNvPr id="15" name="Text 10"/>
          <p:cNvSpPr/>
          <p:nvPr/>
        </p:nvSpPr>
        <p:spPr>
          <a:xfrm>
            <a:off x="8183880" y="2440941"/>
            <a:ext cx="307665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Retailers require a minimum remaining life on receipt (MLOR), which depends on the arrival date.</a:t>
            </a:r>
            <a:endParaRPr lang="en-US" sz="1200" dirty="0"/>
          </a:p>
        </p:txBody>
      </p:sp>
      <p:sp>
        <p:nvSpPr>
          <p:cNvPr id="16" name="Shape 11"/>
          <p:cNvSpPr/>
          <p:nvPr/>
        </p:nvSpPr>
        <p:spPr>
          <a:xfrm>
            <a:off x="815975" y="3791586"/>
            <a:ext cx="3397250" cy="2047240"/>
          </a:xfrm>
          <a:prstGeom prst="roundRect">
            <a:avLst>
              <a:gd name="adj" fmla="val 4808"/>
            </a:avLst>
          </a:prstGeom>
          <a:solidFill>
            <a:srgbClr val="FFFFFF"/>
          </a:solidFill>
          <a:ln w="6350">
            <a:solidFill>
              <a:srgbClr val="D5DCD7"/>
            </a:solidFill>
            <a:prstDash val="solid"/>
          </a:ln>
        </p:spPr>
        <p:txBody>
          <a:bodyPr/>
          <a:lstStyle/>
          <a:p>
            <a:endParaRPr lang="en-US"/>
          </a:p>
        </p:txBody>
      </p:sp>
      <p:pic>
        <p:nvPicPr>
          <p:cNvPr id="17" name="Image 3" descr="Lock"/>
          <p:cNvPicPr>
            <a:picLocks noChangeAspect="1"/>
          </p:cNvPicPr>
          <p:nvPr/>
        </p:nvPicPr>
        <p:blipFill>
          <a:blip r:embed="rId6"/>
          <a:srcRect/>
          <a:stretch/>
        </p:blipFill>
        <p:spPr>
          <a:xfrm>
            <a:off x="1021080" y="3996691"/>
            <a:ext cx="279400" cy="279400"/>
          </a:xfrm>
          <a:prstGeom prst="rect">
            <a:avLst/>
          </a:prstGeom>
        </p:spPr>
      </p:pic>
      <p:sp>
        <p:nvSpPr>
          <p:cNvPr id="18" name="Text 12"/>
          <p:cNvSpPr/>
          <p:nvPr/>
        </p:nvSpPr>
        <p:spPr>
          <a:xfrm>
            <a:off x="1021080" y="4352291"/>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Double-booking</a:t>
            </a:r>
            <a:endParaRPr lang="en-US" sz="1500" dirty="0"/>
          </a:p>
        </p:txBody>
      </p:sp>
      <p:sp>
        <p:nvSpPr>
          <p:cNvPr id="19" name="Text 13"/>
          <p:cNvSpPr/>
          <p:nvPr/>
        </p:nvSpPr>
        <p:spPr>
          <a:xfrm>
            <a:off x="1021080" y="4657091"/>
            <a:ext cx="307665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Several Sales submit orders for the same stock, especially after working offline.</a:t>
            </a:r>
            <a:endParaRPr lang="en-US" sz="1200" dirty="0"/>
          </a:p>
        </p:txBody>
      </p:sp>
      <p:sp>
        <p:nvSpPr>
          <p:cNvPr id="20" name="Shape 14"/>
          <p:cNvSpPr/>
          <p:nvPr/>
        </p:nvSpPr>
        <p:spPr>
          <a:xfrm>
            <a:off x="4397375" y="3791586"/>
            <a:ext cx="3397250" cy="2047240"/>
          </a:xfrm>
          <a:prstGeom prst="roundRect">
            <a:avLst>
              <a:gd name="adj" fmla="val 4808"/>
            </a:avLst>
          </a:prstGeom>
          <a:solidFill>
            <a:srgbClr val="FFFFFF"/>
          </a:solidFill>
          <a:ln w="6350">
            <a:solidFill>
              <a:srgbClr val="D5DCD7"/>
            </a:solidFill>
            <a:prstDash val="solid"/>
          </a:ln>
        </p:spPr>
        <p:txBody>
          <a:bodyPr/>
          <a:lstStyle/>
          <a:p>
            <a:endParaRPr lang="en-US"/>
          </a:p>
        </p:txBody>
      </p:sp>
      <p:pic>
        <p:nvPicPr>
          <p:cNvPr id="21" name="Image 4" descr="Link"/>
          <p:cNvPicPr>
            <a:picLocks noChangeAspect="1"/>
          </p:cNvPicPr>
          <p:nvPr/>
        </p:nvPicPr>
        <p:blipFill>
          <a:blip r:embed="rId7"/>
          <a:srcRect/>
          <a:stretch/>
        </p:blipFill>
        <p:spPr>
          <a:xfrm>
            <a:off x="4602480" y="3996691"/>
            <a:ext cx="279400" cy="279400"/>
          </a:xfrm>
          <a:prstGeom prst="rect">
            <a:avLst/>
          </a:prstGeom>
        </p:spPr>
      </p:pic>
      <p:sp>
        <p:nvSpPr>
          <p:cNvPr id="22" name="Text 15"/>
          <p:cNvSpPr/>
          <p:nvPr/>
        </p:nvSpPr>
        <p:spPr>
          <a:xfrm>
            <a:off x="4602480" y="4352291"/>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Weak traceability</a:t>
            </a:r>
            <a:endParaRPr lang="en-US" sz="1500" dirty="0"/>
          </a:p>
        </p:txBody>
      </p:sp>
      <p:sp>
        <p:nvSpPr>
          <p:cNvPr id="23" name="Text 16"/>
          <p:cNvSpPr/>
          <p:nvPr/>
        </p:nvSpPr>
        <p:spPr>
          <a:xfrm>
            <a:off x="4602480" y="4657091"/>
            <a:ext cx="3076651"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Nothing links the batch quantity that left the warehouse to what the retailer received.</a:t>
            </a:r>
            <a:endParaRPr lang="en-US" sz="1200" dirty="0"/>
          </a:p>
        </p:txBody>
      </p:sp>
      <p:sp>
        <p:nvSpPr>
          <p:cNvPr id="24" name="Shape 17"/>
          <p:cNvSpPr/>
          <p:nvPr/>
        </p:nvSpPr>
        <p:spPr>
          <a:xfrm>
            <a:off x="7978775" y="3791586"/>
            <a:ext cx="3397250" cy="2047240"/>
          </a:xfrm>
          <a:prstGeom prst="roundRect">
            <a:avLst>
              <a:gd name="adj" fmla="val 4808"/>
            </a:avLst>
          </a:prstGeom>
          <a:solidFill>
            <a:srgbClr val="FFFFFF"/>
          </a:solidFill>
          <a:ln w="6350">
            <a:solidFill>
              <a:srgbClr val="D5DCD7"/>
            </a:solidFill>
            <a:prstDash val="solid"/>
          </a:ln>
        </p:spPr>
        <p:txBody>
          <a:bodyPr/>
          <a:lstStyle/>
          <a:p>
            <a:endParaRPr lang="en-US"/>
          </a:p>
        </p:txBody>
      </p:sp>
      <p:pic>
        <p:nvPicPr>
          <p:cNvPr id="25" name="Image 5" descr="Chart"/>
          <p:cNvPicPr>
            <a:picLocks noChangeAspect="1"/>
          </p:cNvPicPr>
          <p:nvPr/>
        </p:nvPicPr>
        <p:blipFill>
          <a:blip r:embed="rId8"/>
          <a:srcRect/>
          <a:stretch/>
        </p:blipFill>
        <p:spPr>
          <a:xfrm>
            <a:off x="8183880" y="3996691"/>
            <a:ext cx="279400" cy="279400"/>
          </a:xfrm>
          <a:prstGeom prst="rect">
            <a:avLst/>
          </a:prstGeom>
        </p:spPr>
      </p:pic>
      <p:sp>
        <p:nvSpPr>
          <p:cNvPr id="26" name="Text 18"/>
          <p:cNvSpPr/>
          <p:nvPr/>
        </p:nvSpPr>
        <p:spPr>
          <a:xfrm>
            <a:off x="8183880" y="4352291"/>
            <a:ext cx="3076651"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Manual promotions and reporting</a:t>
            </a:r>
            <a:endParaRPr lang="en-US" sz="1500" dirty="0"/>
          </a:p>
        </p:txBody>
      </p:sp>
      <p:sp>
        <p:nvSpPr>
          <p:cNvPr id="27" name="Text 19"/>
          <p:cNvSpPr/>
          <p:nvPr/>
        </p:nvSpPr>
        <p:spPr>
          <a:xfrm>
            <a:off x="8183880" y="4885691"/>
            <a:ext cx="307665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Discounts are calculated by hand and sales performance is not visible in real time.</a:t>
            </a:r>
            <a:endParaRPr lang="en-US" sz="1200" dirty="0"/>
          </a:p>
        </p:txBody>
      </p:sp>
      <p:sp>
        <p:nvSpPr>
          <p:cNvPr id="28" name="Text 20"/>
          <p:cNvSpPr/>
          <p:nvPr/>
        </p:nvSpPr>
        <p:spPr>
          <a:xfrm>
            <a:off x="812800" y="62890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9" name="Text 21"/>
          <p:cNvSpPr/>
          <p:nvPr/>
        </p:nvSpPr>
        <p:spPr>
          <a:xfrm>
            <a:off x="10058400" y="62890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CURRENT COMPETITORS</a:t>
            </a:r>
            <a:endParaRPr lang="en-US" sz="1200" dirty="0"/>
          </a:p>
        </p:txBody>
      </p:sp>
      <p:sp>
        <p:nvSpPr>
          <p:cNvPr id="3" name="Text 1"/>
          <p:cNvSpPr>
            <a:spLocks noGrp="1"/>
          </p:cNvSpPr>
          <p:nvPr>
            <p:ph type="title"/>
          </p:nvPr>
        </p:nvSpPr>
        <p:spPr>
          <a:xfrm>
            <a:off x="812800" y="9245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Existing enterprise systems</a:t>
            </a:r>
            <a:endParaRPr lang="en-US" sz="3000" dirty="0"/>
          </a:p>
        </p:txBody>
      </p:sp>
      <p:sp>
        <p:nvSpPr>
          <p:cNvPr id="4" name="Shape 2"/>
          <p:cNvSpPr/>
          <p:nvPr/>
        </p:nvSpPr>
        <p:spPr>
          <a:xfrm>
            <a:off x="812800" y="1572261"/>
            <a:ext cx="10566400" cy="3312160"/>
          </a:xfrm>
          <a:prstGeom prst="roundRect">
            <a:avLst>
              <a:gd name="adj" fmla="val 2301"/>
            </a:avLst>
          </a:prstGeom>
          <a:solidFill>
            <a:srgbClr val="FFFFFF"/>
          </a:solidFill>
          <a:ln/>
        </p:spPr>
        <p:txBody>
          <a:bodyPr/>
          <a:lstStyle/>
          <a:p>
            <a:endParaRPr lang="en-US"/>
          </a:p>
        </p:txBody>
      </p:sp>
      <p:sp>
        <p:nvSpPr>
          <p:cNvPr id="5" name="Shape 3"/>
          <p:cNvSpPr/>
          <p:nvPr/>
        </p:nvSpPr>
        <p:spPr>
          <a:xfrm>
            <a:off x="812800" y="1572261"/>
            <a:ext cx="10566400" cy="3312160"/>
          </a:xfrm>
          <a:custGeom>
            <a:avLst/>
            <a:gdLst/>
            <a:ahLst/>
            <a:cxnLst/>
            <a:rect l="l" t="t" r="r" b="b"/>
            <a:pathLst>
              <a:path w="10566400" h="3312160">
                <a:moveTo>
                  <a:pt x="10490200" y="0"/>
                </a:moveTo>
                <a:lnTo>
                  <a:pt x="10490200" y="0"/>
                </a:lnTo>
                <a:arcTo wR="76200" hR="76200" stAng="16200000" swAng="5400000"/>
                <a:lnTo>
                  <a:pt x="10566400" y="3235960"/>
                </a:lnTo>
                <a:arcTo wR="76200" hR="76200" stAng="0" swAng="5400000"/>
                <a:lnTo>
                  <a:pt x="76200" y="3312160"/>
                </a:lnTo>
                <a:arcTo wR="76200" hR="76200" stAng="5400000" swAng="5400000"/>
                <a:lnTo>
                  <a:pt x="0" y="3235960"/>
                </a:lnTo>
                <a:arcTo wR="76200" hR="69850" stAng="10800000" swAng="-5400000"/>
                <a:lnTo>
                  <a:pt x="10490200" y="330581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1"/>
            <a:ext cx="10566400" cy="3312160"/>
          </a:xfrm>
          <a:custGeom>
            <a:avLst/>
            <a:gdLst/>
            <a:ahLst/>
            <a:cxnLst/>
            <a:rect l="l" t="t" r="r" b="b"/>
            <a:pathLst>
              <a:path w="10566400" h="3312160">
                <a:moveTo>
                  <a:pt x="76200" y="3312160"/>
                </a:moveTo>
                <a:lnTo>
                  <a:pt x="76200" y="331216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323596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1"/>
          <a:ext cx="10398760" cy="3144520"/>
        </p:xfrm>
        <a:graphic>
          <a:graphicData uri="http://schemas.openxmlformats.org/drawingml/2006/table">
            <a:tbl>
              <a:tblPr/>
              <a:tblGrid>
                <a:gridCol w="1767789">
                  <a:extLst>
                    <a:ext uri="{9D8B030D-6E8A-4147-A177-3AD203B41FA5}">
                      <a16:colId xmlns:a16="http://schemas.microsoft.com/office/drawing/2014/main" val="20000"/>
                    </a:ext>
                  </a:extLst>
                </a:gridCol>
                <a:gridCol w="2911653">
                  <a:extLst>
                    <a:ext uri="{9D8B030D-6E8A-4147-A177-3AD203B41FA5}">
                      <a16:colId xmlns:a16="http://schemas.microsoft.com/office/drawing/2014/main" val="20001"/>
                    </a:ext>
                  </a:extLst>
                </a:gridCol>
                <a:gridCol w="2495702">
                  <a:extLst>
                    <a:ext uri="{9D8B030D-6E8A-4147-A177-3AD203B41FA5}">
                      <a16:colId xmlns:a16="http://schemas.microsoft.com/office/drawing/2014/main" val="20002"/>
                    </a:ext>
                  </a:extLst>
                </a:gridCol>
                <a:gridCol w="3223616">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System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Relevant capabilities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Strength</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Gap for our case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75692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SAP Extended Warehouse Management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Batch stock, shelf-life expiration dates, delivery scheduling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Mature control of complex enterprise warehouses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Breadth and configuration effort exceed an SME distributor's MVP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75692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Microsoft Dynamics 365 SCM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Sales-order reservation, batch control, warehouse reservation policies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Integrated order and inventory visibility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 lightweight flow that allocates offline field orders by FEFO and MLOR before approval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75692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Odoo Inventory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Lot tracking, expiration dates, FEFO removal strategy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Modular and comparatively accessible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Standard FEFO removal does not combine an ETA-based MLOR filter, atomic reservation and multi-warehouse split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Oracle NetSuite WMS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Lot-numbered inventory, FEFO lot assignment, expiry validation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FEFO inside a broad cloud ERP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ERP scope is not tailored to a lightweight SME field-sales workflow</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812800" y="62890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9" name="Text 6"/>
          <p:cNvSpPr/>
          <p:nvPr/>
        </p:nvSpPr>
        <p:spPr>
          <a:xfrm>
            <a:off x="10058400" y="62890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SIMILAR SYSTEMS</a:t>
            </a:r>
            <a:endParaRPr lang="en-US" sz="1200" dirty="0"/>
          </a:p>
        </p:txBody>
      </p:sp>
      <p:sp>
        <p:nvSpPr>
          <p:cNvPr id="3" name="Text 1"/>
          <p:cNvSpPr>
            <a:spLocks noGrp="1"/>
          </p:cNvSpPr>
          <p:nvPr>
            <p:ph type="title"/>
          </p:nvPr>
        </p:nvSpPr>
        <p:spPr>
          <a:xfrm>
            <a:off x="812800" y="9245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Field-sales (DMS) systems in Vietnam</a:t>
            </a:r>
            <a:endParaRPr lang="en-US" sz="3000" dirty="0"/>
          </a:p>
        </p:txBody>
      </p:sp>
      <p:sp>
        <p:nvSpPr>
          <p:cNvPr id="4" name="Shape 2"/>
          <p:cNvSpPr/>
          <p:nvPr/>
        </p:nvSpPr>
        <p:spPr>
          <a:xfrm>
            <a:off x="815975" y="1575436"/>
            <a:ext cx="5187950" cy="2739390"/>
          </a:xfrm>
          <a:prstGeom prst="roundRect">
            <a:avLst>
              <a:gd name="adj" fmla="val 3593"/>
            </a:avLst>
          </a:prstGeom>
          <a:solidFill>
            <a:srgbClr val="FFFFFF"/>
          </a:solidFill>
          <a:ln w="6350">
            <a:solidFill>
              <a:srgbClr val="D5DCD7"/>
            </a:solidFill>
            <a:prstDash val="solid"/>
          </a:ln>
        </p:spPr>
        <p:txBody>
          <a:bodyPr/>
          <a:lstStyle/>
          <a:p>
            <a:endParaRPr lang="en-US"/>
          </a:p>
        </p:txBody>
      </p:sp>
      <p:sp>
        <p:nvSpPr>
          <p:cNvPr id="5" name="Text 3"/>
          <p:cNvSpPr/>
          <p:nvPr/>
        </p:nvSpPr>
        <p:spPr>
          <a:xfrm>
            <a:off x="1021080" y="1780539"/>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DMS.ONE · Viettel</a:t>
            </a:r>
            <a:endParaRPr lang="en-US" sz="1800" dirty="0"/>
          </a:p>
        </p:txBody>
      </p:sp>
      <p:sp>
        <p:nvSpPr>
          <p:cNvPr id="6" name="Text 4"/>
          <p:cNvSpPr/>
          <p:nvPr/>
        </p:nvSpPr>
        <p:spPr>
          <a:xfrm>
            <a:off x="1021080" y="2131061"/>
            <a:ext cx="4777740" cy="289560"/>
          </a:xfrm>
          <a:custGeom>
            <a:avLst/>
            <a:gdLst/>
            <a:ahLst/>
            <a:cxnLst/>
            <a:rect l="l" t="t" r="r" b="b"/>
            <a:pathLst>
              <a:path w="4777740" h="289560">
                <a:moveTo>
                  <a:pt x="144780" y="0"/>
                </a:moveTo>
                <a:lnTo>
                  <a:pt x="4632960" y="0"/>
                </a:lnTo>
                <a:arcTo wR="144780" hR="144780" stAng="16200000" swAng="5400000"/>
                <a:lnTo>
                  <a:pt x="4777740"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square" lIns="101600" tIns="38100" rIns="0" bIns="12700" rtlCol="0" anchor="t">
            <a:normAutofit/>
          </a:bodyPr>
          <a:lstStyle/>
          <a:p>
            <a:pPr marL="0" indent="0" algn="l">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Sales force management</a:t>
            </a:r>
            <a:endParaRPr lang="en-US" sz="1200" dirty="0"/>
          </a:p>
        </p:txBody>
      </p:sp>
      <p:sp>
        <p:nvSpPr>
          <p:cNvPr id="7" name="Text 5"/>
          <p:cNvSpPr/>
          <p:nvPr/>
        </p:nvSpPr>
        <p:spPr>
          <a:xfrm>
            <a:off x="1021080" y="2496821"/>
            <a:ext cx="4921072"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Public features:</a:t>
            </a:r>
            <a:r>
              <a:rPr lang="en-US" sz="1300" dirty="0">
                <a:solidFill>
                  <a:srgbClr val="1B2420"/>
                </a:solidFill>
                <a:latin typeface="IBM Plex Sans" pitchFamily="34" charset="0"/>
                <a:ea typeface="IBM Plex Sans" pitchFamily="34" charset="-122"/>
                <a:cs typeface="IBM Plex Sans" pitchFamily="34" charset="-120"/>
              </a:rPr>
              <a:t> sales route monitoring and staff location, sales management and customer care, executive reports, market feedback.</a:t>
            </a:r>
            <a:endParaRPr lang="en-US" sz="1300" dirty="0"/>
          </a:p>
        </p:txBody>
      </p:sp>
      <p:sp>
        <p:nvSpPr>
          <p:cNvPr id="8" name="Text 6"/>
          <p:cNvSpPr/>
          <p:nvPr/>
        </p:nvSpPr>
        <p:spPr>
          <a:xfrm>
            <a:off x="1021080" y="3266439"/>
            <a:ext cx="492107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50"/>
                </a:solidFill>
                <a:latin typeface="IBM Plex Sans" pitchFamily="34" charset="0"/>
                <a:ea typeface="IBM Plex Sans" pitchFamily="34" charset="-122"/>
                <a:cs typeface="IBM Plex Sans" pitchFamily="34" charset="-120"/>
              </a:rPr>
              <a:t>Not described:</a:t>
            </a:r>
            <a:r>
              <a:rPr lang="en-US" sz="1300" dirty="0">
                <a:solidFill>
                  <a:srgbClr val="4A5550"/>
                </a:solidFill>
                <a:latin typeface="IBM Plex Sans" pitchFamily="34" charset="0"/>
                <a:ea typeface="IBM Plex Sans" pitchFamily="34" charset="-122"/>
                <a:cs typeface="IBM Plex Sans" pitchFamily="34" charset="-120"/>
              </a:rPr>
              <a:t> batch / expiry control, FEFO allocation across warehouses, receipt confirmation by QR.</a:t>
            </a:r>
            <a:endParaRPr lang="en-US" sz="1300" dirty="0"/>
          </a:p>
        </p:txBody>
      </p:sp>
      <p:sp>
        <p:nvSpPr>
          <p:cNvPr id="9" name="Shape 7"/>
          <p:cNvSpPr/>
          <p:nvPr/>
        </p:nvSpPr>
        <p:spPr>
          <a:xfrm>
            <a:off x="6188075" y="1575436"/>
            <a:ext cx="5187950" cy="2739390"/>
          </a:xfrm>
          <a:prstGeom prst="roundRect">
            <a:avLst>
              <a:gd name="adj" fmla="val 3593"/>
            </a:avLst>
          </a:prstGeom>
          <a:solidFill>
            <a:srgbClr val="FFFFFF"/>
          </a:solidFill>
          <a:ln w="6350">
            <a:solidFill>
              <a:srgbClr val="D5DCD7"/>
            </a:solidFill>
            <a:prstDash val="solid"/>
          </a:ln>
        </p:spPr>
        <p:txBody>
          <a:bodyPr/>
          <a:lstStyle/>
          <a:p>
            <a:endParaRPr lang="en-US"/>
          </a:p>
        </p:txBody>
      </p:sp>
      <p:sp>
        <p:nvSpPr>
          <p:cNvPr id="10" name="Text 8"/>
          <p:cNvSpPr/>
          <p:nvPr/>
        </p:nvSpPr>
        <p:spPr>
          <a:xfrm>
            <a:off x="6393180" y="1780539"/>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MBW DMS · MobiWork</a:t>
            </a:r>
            <a:endParaRPr lang="en-US" sz="1800" dirty="0"/>
          </a:p>
        </p:txBody>
      </p:sp>
      <p:sp>
        <p:nvSpPr>
          <p:cNvPr id="11" name="Text 9"/>
          <p:cNvSpPr/>
          <p:nvPr/>
        </p:nvSpPr>
        <p:spPr>
          <a:xfrm>
            <a:off x="6393180" y="2131061"/>
            <a:ext cx="4777740" cy="289560"/>
          </a:xfrm>
          <a:custGeom>
            <a:avLst/>
            <a:gdLst/>
            <a:ahLst/>
            <a:cxnLst/>
            <a:rect l="l" t="t" r="r" b="b"/>
            <a:pathLst>
              <a:path w="4777740" h="289560">
                <a:moveTo>
                  <a:pt x="144780" y="0"/>
                </a:moveTo>
                <a:lnTo>
                  <a:pt x="4632960" y="0"/>
                </a:lnTo>
                <a:arcTo wR="144780" hR="144780" stAng="16200000" swAng="5400000"/>
                <a:lnTo>
                  <a:pt x="4777740"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square" lIns="101600" tIns="38100" rIns="0" bIns="12700" rtlCol="0" anchor="t">
            <a:normAutofit/>
          </a:bodyPr>
          <a:lstStyle/>
          <a:p>
            <a:pPr marL="0" indent="0" algn="l">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Field sales &amp; ordering</a:t>
            </a:r>
            <a:endParaRPr lang="en-US" sz="1200" dirty="0"/>
          </a:p>
        </p:txBody>
      </p:sp>
      <p:sp>
        <p:nvSpPr>
          <p:cNvPr id="12" name="Text 10"/>
          <p:cNvSpPr/>
          <p:nvPr/>
        </p:nvSpPr>
        <p:spPr>
          <a:xfrm>
            <a:off x="6393180" y="2496821"/>
            <a:ext cx="4921072"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Public features:</a:t>
            </a:r>
            <a:r>
              <a:rPr lang="en-US" sz="1300" dirty="0">
                <a:solidFill>
                  <a:srgbClr val="1B2420"/>
                </a:solidFill>
                <a:latin typeface="IBM Plex Sans" pitchFamily="34" charset="0"/>
                <a:ea typeface="IBM Plex Sans" pitchFamily="34" charset="-122"/>
                <a:cs typeface="IBM Plex Sans" pitchFamily="34" charset="-120"/>
              </a:rPr>
              <a:t> GPS sales monitoring, route planning, store check-in / check-out, mobile ordering synced to accounting, automatic promotions.</a:t>
            </a:r>
            <a:endParaRPr lang="en-US" sz="1300" dirty="0"/>
          </a:p>
        </p:txBody>
      </p:sp>
      <p:sp>
        <p:nvSpPr>
          <p:cNvPr id="13" name="Text 11"/>
          <p:cNvSpPr/>
          <p:nvPr/>
        </p:nvSpPr>
        <p:spPr>
          <a:xfrm>
            <a:off x="6393180" y="3266439"/>
            <a:ext cx="492107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50"/>
                </a:solidFill>
                <a:latin typeface="IBM Plex Sans" pitchFamily="34" charset="0"/>
                <a:ea typeface="IBM Plex Sans" pitchFamily="34" charset="-122"/>
                <a:cs typeface="IBM Plex Sans" pitchFamily="34" charset="-120"/>
              </a:rPr>
              <a:t>Not described:</a:t>
            </a:r>
            <a:r>
              <a:rPr lang="en-US" sz="1300" dirty="0">
                <a:solidFill>
                  <a:srgbClr val="4A5550"/>
                </a:solidFill>
                <a:latin typeface="IBM Plex Sans" pitchFamily="34" charset="0"/>
                <a:ea typeface="IBM Plex Sans" pitchFamily="34" charset="-122"/>
                <a:cs typeface="IBM Plex Sans" pitchFamily="34" charset="-120"/>
              </a:rPr>
              <a:t> expiry-date management, MLOR on arrival, batch-level reservation and picking.</a:t>
            </a:r>
            <a:endParaRPr lang="en-US" sz="1300" dirty="0"/>
          </a:p>
        </p:txBody>
      </p:sp>
      <p:sp>
        <p:nvSpPr>
          <p:cNvPr id="14" name="Shape 12"/>
          <p:cNvSpPr/>
          <p:nvPr/>
        </p:nvSpPr>
        <p:spPr>
          <a:xfrm>
            <a:off x="812800" y="4546600"/>
            <a:ext cx="10566400" cy="853440"/>
          </a:xfrm>
          <a:prstGeom prst="roundRect">
            <a:avLst>
              <a:gd name="adj" fmla="val 11905"/>
            </a:avLst>
          </a:prstGeom>
          <a:solidFill>
            <a:srgbClr val="14302B"/>
          </a:solidFill>
          <a:ln/>
        </p:spPr>
        <p:txBody>
          <a:bodyPr/>
          <a:lstStyle/>
          <a:p>
            <a:endParaRPr lang="en-US"/>
          </a:p>
        </p:txBody>
      </p:sp>
      <p:pic>
        <p:nvPicPr>
          <p:cNvPr id="15" name="Image 0" descr="Lightbulb"/>
          <p:cNvPicPr>
            <a:picLocks noChangeAspect="1"/>
          </p:cNvPicPr>
          <p:nvPr/>
        </p:nvPicPr>
        <p:blipFill>
          <a:blip r:embed="rId3"/>
          <a:srcRect l="-173" r="-173"/>
          <a:stretch/>
        </p:blipFill>
        <p:spPr>
          <a:xfrm>
            <a:off x="1041400" y="4820921"/>
            <a:ext cx="299482" cy="304800"/>
          </a:xfrm>
          <a:prstGeom prst="rect">
            <a:avLst/>
          </a:prstGeom>
        </p:spPr>
      </p:pic>
      <p:sp>
        <p:nvSpPr>
          <p:cNvPr id="16" name="Text 13"/>
          <p:cNvSpPr/>
          <p:nvPr/>
        </p:nvSpPr>
        <p:spPr>
          <a:xfrm>
            <a:off x="1493282" y="4724400"/>
            <a:ext cx="994703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F1EA"/>
                </a:solidFill>
                <a:latin typeface="IBM Plex Sans" pitchFamily="34" charset="0"/>
                <a:ea typeface="IBM Plex Sans" pitchFamily="34" charset="-122"/>
                <a:cs typeface="IBM Plex Sans" pitchFamily="34" charset="-120"/>
              </a:rPr>
              <a:t>DMS products digitise </a:t>
            </a:r>
            <a:r>
              <a:rPr lang="en-US" sz="1400" b="1" dirty="0">
                <a:solidFill>
                  <a:srgbClr val="F2F1EA"/>
                </a:solidFill>
                <a:latin typeface="IBM Plex Sans" pitchFamily="34" charset="0"/>
                <a:ea typeface="IBM Plex Sans" pitchFamily="34" charset="-122"/>
                <a:cs typeface="IBM Plex Sans" pitchFamily="34" charset="-120"/>
              </a:rPr>
              <a:t>who sells and where</a:t>
            </a:r>
            <a:r>
              <a:rPr lang="en-US" sz="1400" dirty="0">
                <a:solidFill>
                  <a:srgbClr val="F2F1EA"/>
                </a:solidFill>
                <a:latin typeface="IBM Plex Sans" pitchFamily="34" charset="0"/>
                <a:ea typeface="IBM Plex Sans" pitchFamily="34" charset="-122"/>
                <a:cs typeface="IBM Plex Sans" pitchFamily="34" charset="-120"/>
              </a:rPr>
              <a:t>; FSCM adds </a:t>
            </a:r>
            <a:r>
              <a:rPr lang="en-US" sz="1400" b="1" dirty="0">
                <a:solidFill>
                  <a:srgbClr val="F2F1EA"/>
                </a:solidFill>
                <a:latin typeface="IBM Plex Sans" pitchFamily="34" charset="0"/>
                <a:ea typeface="IBM Plex Sans" pitchFamily="34" charset="-122"/>
                <a:cs typeface="IBM Plex Sans" pitchFamily="34" charset="-120"/>
              </a:rPr>
              <a:t>which batch, from which warehouse</a:t>
            </a:r>
            <a:r>
              <a:rPr lang="en-US" sz="1400" dirty="0">
                <a:solidFill>
                  <a:srgbClr val="F2F1EA"/>
                </a:solidFill>
                <a:latin typeface="IBM Plex Sans" pitchFamily="34" charset="0"/>
                <a:ea typeface="IBM Plex Sans" pitchFamily="34" charset="-122"/>
                <a:cs typeface="IBM Plex Sans" pitchFamily="34" charset="-120"/>
              </a:rPr>
              <a:t>, still fresh enough on arrival.</a:t>
            </a:r>
            <a:endParaRPr lang="en-US" sz="1400" dirty="0"/>
          </a:p>
        </p:txBody>
      </p:sp>
      <p:sp>
        <p:nvSpPr>
          <p:cNvPr id="17" name="Text 14"/>
          <p:cNvSpPr/>
          <p:nvPr/>
        </p:nvSpPr>
        <p:spPr>
          <a:xfrm>
            <a:off x="812800" y="5628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Sources: giaiphapviettel.com.vn/dmsone · MBW DMS on Google Play (com.mbwvn.dms). Based on public product descriptions.</a:t>
            </a:r>
            <a:endParaRPr lang="en-US" sz="1200" dirty="0"/>
          </a:p>
        </p:txBody>
      </p:sp>
      <p:sp>
        <p:nvSpPr>
          <p:cNvPr id="18" name="Text 15"/>
          <p:cNvSpPr/>
          <p:nvPr/>
        </p:nvSpPr>
        <p:spPr>
          <a:xfrm>
            <a:off x="812800" y="62890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9" name="Text 16"/>
          <p:cNvSpPr/>
          <p:nvPr/>
        </p:nvSpPr>
        <p:spPr>
          <a:xfrm>
            <a:off x="10058400" y="62890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POSITIONING</a:t>
            </a:r>
            <a:endParaRPr lang="en-US" sz="1200" dirty="0"/>
          </a:p>
        </p:txBody>
      </p:sp>
      <p:sp>
        <p:nvSpPr>
          <p:cNvPr id="3" name="Text 1"/>
          <p:cNvSpPr>
            <a:spLocks noGrp="1"/>
          </p:cNvSpPr>
          <p:nvPr>
            <p:ph type="title"/>
          </p:nvPr>
        </p:nvSpPr>
        <p:spPr>
          <a:xfrm>
            <a:off x="812800" y="9245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Where FSCM fits</a:t>
            </a:r>
            <a:endParaRPr lang="en-US" sz="3000" dirty="0"/>
          </a:p>
        </p:txBody>
      </p:sp>
      <p:sp>
        <p:nvSpPr>
          <p:cNvPr id="4" name="Shape 2"/>
          <p:cNvSpPr/>
          <p:nvPr/>
        </p:nvSpPr>
        <p:spPr>
          <a:xfrm>
            <a:off x="812800" y="1572261"/>
            <a:ext cx="10566400" cy="3119120"/>
          </a:xfrm>
          <a:prstGeom prst="roundRect">
            <a:avLst>
              <a:gd name="adj" fmla="val 2443"/>
            </a:avLst>
          </a:prstGeom>
          <a:solidFill>
            <a:srgbClr val="FFFFFF"/>
          </a:solidFill>
          <a:ln/>
        </p:spPr>
        <p:txBody>
          <a:bodyPr/>
          <a:lstStyle/>
          <a:p>
            <a:endParaRPr lang="en-US"/>
          </a:p>
        </p:txBody>
      </p:sp>
      <p:sp>
        <p:nvSpPr>
          <p:cNvPr id="5" name="Shape 3"/>
          <p:cNvSpPr/>
          <p:nvPr/>
        </p:nvSpPr>
        <p:spPr>
          <a:xfrm>
            <a:off x="812800" y="1572261"/>
            <a:ext cx="10566400" cy="3119120"/>
          </a:xfrm>
          <a:custGeom>
            <a:avLst/>
            <a:gdLst/>
            <a:ahLst/>
            <a:cxnLst/>
            <a:rect l="l" t="t" r="r" b="b"/>
            <a:pathLst>
              <a:path w="10566400" h="3119120">
                <a:moveTo>
                  <a:pt x="10490200" y="0"/>
                </a:moveTo>
                <a:lnTo>
                  <a:pt x="10490200" y="0"/>
                </a:lnTo>
                <a:arcTo wR="76200" hR="76200" stAng="16200000" swAng="5400000"/>
                <a:lnTo>
                  <a:pt x="10566400" y="3042920"/>
                </a:lnTo>
                <a:arcTo wR="76200" hR="76200" stAng="0" swAng="5400000"/>
                <a:lnTo>
                  <a:pt x="76200" y="3119120"/>
                </a:lnTo>
                <a:arcTo wR="76200" hR="76200" stAng="5400000" swAng="5400000"/>
                <a:lnTo>
                  <a:pt x="0" y="3042920"/>
                </a:lnTo>
                <a:arcTo wR="76200" hR="69850" stAng="10800000" swAng="-5400000"/>
                <a:lnTo>
                  <a:pt x="10490200" y="311277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1"/>
            <a:ext cx="10566400" cy="3119120"/>
          </a:xfrm>
          <a:custGeom>
            <a:avLst/>
            <a:gdLst/>
            <a:ahLst/>
            <a:cxnLst/>
            <a:rect l="l" t="t" r="r" b="b"/>
            <a:pathLst>
              <a:path w="10566400" h="3119120">
                <a:moveTo>
                  <a:pt x="76200" y="3119120"/>
                </a:moveTo>
                <a:lnTo>
                  <a:pt x="76200" y="311912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304292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1"/>
          <a:ext cx="10398760" cy="2951480"/>
        </p:xfrm>
        <a:graphic>
          <a:graphicData uri="http://schemas.openxmlformats.org/drawingml/2006/table">
            <a:tbl>
              <a:tblPr/>
              <a:tblGrid>
                <a:gridCol w="3119628">
                  <a:extLst>
                    <a:ext uri="{9D8B030D-6E8A-4147-A177-3AD203B41FA5}">
                      <a16:colId xmlns:a16="http://schemas.microsoft.com/office/drawing/2014/main" val="20000"/>
                    </a:ext>
                  </a:extLst>
                </a:gridCol>
                <a:gridCol w="1871777">
                  <a:extLst>
                    <a:ext uri="{9D8B030D-6E8A-4147-A177-3AD203B41FA5}">
                      <a16:colId xmlns:a16="http://schemas.microsoft.com/office/drawing/2014/main" val="20001"/>
                    </a:ext>
                  </a:extLst>
                </a:gridCol>
                <a:gridCol w="1767789">
                  <a:extLst>
                    <a:ext uri="{9D8B030D-6E8A-4147-A177-3AD203B41FA5}">
                      <a16:colId xmlns:a16="http://schemas.microsoft.com/office/drawing/2014/main" val="20002"/>
                    </a:ext>
                  </a:extLst>
                </a:gridCol>
                <a:gridCol w="1559814">
                  <a:extLst>
                    <a:ext uri="{9D8B030D-6E8A-4147-A177-3AD203B41FA5}">
                      <a16:colId xmlns:a16="http://schemas.microsoft.com/office/drawing/2014/main" val="20003"/>
                    </a:ext>
                  </a:extLst>
                </a:gridCol>
                <a:gridCol w="2079752">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Capability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Enterprise WMS / ERP</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Odoo Inventory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Field-sales DMS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FSCM</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Batch / expiry tracking</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Not described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FEFO allocation across several warehouses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 heavy setup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Per warehouse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Not described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MLOR checked at the estimated arrival</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Via configuration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Not in standard FEFO</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 per retailer-SKU</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Offline field ordering, first-come-first-served sync</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Not core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Not core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Mobile ordering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 local DB + idempotent sync</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QR label from goods issue to retailer receipt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Warehouse scanning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Warehouse barcodes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 label-level trace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Effort to adopt for an SME distributor</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Low</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Yes, focused MVP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812800" y="491998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Comparison based on vendors' public documentation; “Not described” = not found in public product descriptions.</a:t>
            </a:r>
            <a:endParaRPr lang="en-US" sz="1200" dirty="0"/>
          </a:p>
        </p:txBody>
      </p:sp>
      <p:sp>
        <p:nvSpPr>
          <p:cNvPr id="9" name="Text 6"/>
          <p:cNvSpPr/>
          <p:nvPr/>
        </p:nvSpPr>
        <p:spPr>
          <a:xfrm>
            <a:off x="812800" y="62890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0" name="Text 7"/>
          <p:cNvSpPr/>
          <p:nvPr/>
        </p:nvSpPr>
        <p:spPr>
          <a:xfrm>
            <a:off x="10058400" y="62890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02B"/>
        </a:solidFill>
        <a:effectLst/>
      </p:bgPr>
    </p:bg>
    <p:spTree>
      <p:nvGrpSpPr>
        <p:cNvPr id="1" name=""/>
        <p:cNvGrpSpPr/>
        <p:nvPr/>
      </p:nvGrpSpPr>
      <p:grpSpPr>
        <a:xfrm>
          <a:off x="0" y="0"/>
          <a:ext cx="0" cy="0"/>
          <a:chOff x="0" y="0"/>
          <a:chExt cx="0" cy="0"/>
        </a:xfrm>
      </p:grpSpPr>
      <p:sp>
        <p:nvSpPr>
          <p:cNvPr id="2" name="Text 0"/>
          <p:cNvSpPr/>
          <p:nvPr/>
        </p:nvSpPr>
        <p:spPr>
          <a:xfrm>
            <a:off x="812800" y="155193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7FD1B9"/>
                </a:solidFill>
                <a:latin typeface="IBM Plex Sans" pitchFamily="34" charset="0"/>
                <a:ea typeface="IBM Plex Sans" pitchFamily="34" charset="-122"/>
                <a:cs typeface="IBM Plex Sans" pitchFamily="34" charset="-120"/>
              </a:rPr>
              <a:t>PRODUCT VISION</a:t>
            </a:r>
            <a:endParaRPr lang="en-US" sz="1400" dirty="0"/>
          </a:p>
        </p:txBody>
      </p:sp>
      <p:sp>
        <p:nvSpPr>
          <p:cNvPr id="3" name="Text 1"/>
          <p:cNvSpPr>
            <a:spLocks noGrp="1"/>
          </p:cNvSpPr>
          <p:nvPr>
            <p:ph type="title"/>
          </p:nvPr>
        </p:nvSpPr>
        <p:spPr>
          <a:xfrm>
            <a:off x="812800" y="2029461"/>
            <a:ext cx="10464800" cy="212852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2F1EA"/>
                </a:solidFill>
                <a:latin typeface="Space Grotesk" pitchFamily="34" charset="0"/>
                <a:ea typeface="Space Grotesk" pitchFamily="34" charset="-122"/>
                <a:cs typeface="Space Grotesk" pitchFamily="34" charset="-120"/>
              </a:rPr>
              <a:t>FSCM decides which batch, in which warehouse, serves each order, and keeps a traceable link from goods receipt to the retailer's confirmation.</a:t>
            </a:r>
            <a:endParaRPr lang="en-US" sz="3600" dirty="0"/>
          </a:p>
        </p:txBody>
      </p:sp>
      <p:sp>
        <p:nvSpPr>
          <p:cNvPr id="4" name="Text 2"/>
          <p:cNvSpPr/>
          <p:nvPr/>
        </p:nvSpPr>
        <p:spPr>
          <a:xfrm>
            <a:off x="812800" y="4361182"/>
            <a:ext cx="9156700" cy="61468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BFD8D5"/>
                </a:solidFill>
                <a:latin typeface="IBM Plex Sans" pitchFamily="34" charset="0"/>
                <a:ea typeface="IBM Plex Sans" pitchFamily="34" charset="-122"/>
                <a:cs typeface="IBM Plex Sans" pitchFamily="34" charset="-120"/>
              </a:rPr>
              <a:t>For an FMCG distributor that sells short shelf-life products through field Sales Representatives: one web portal and one mobile app, working online and offline.</a:t>
            </a:r>
            <a:endParaRPr lang="en-US" sz="1600" dirty="0"/>
          </a:p>
        </p:txBody>
      </p:sp>
      <p:sp>
        <p:nvSpPr>
          <p:cNvPr id="5" name="Text 3"/>
          <p:cNvSpPr/>
          <p:nvPr/>
        </p:nvSpPr>
        <p:spPr>
          <a:xfrm>
            <a:off x="812800" y="62890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DB5"/>
                </a:solidFill>
                <a:latin typeface="IBM Plex Sans" pitchFamily="34" charset="0"/>
                <a:ea typeface="IBM Plex Sans" pitchFamily="34" charset="-122"/>
                <a:cs typeface="IBM Plex Sans" pitchFamily="34" charset="-120"/>
              </a:rPr>
              <a:t>FSCM · FA26SE083 · Review 1</a:t>
            </a:r>
            <a:endParaRPr lang="en-US" sz="1200" dirty="0"/>
          </a:p>
        </p:txBody>
      </p:sp>
      <p:sp>
        <p:nvSpPr>
          <p:cNvPr id="6" name="Text 4"/>
          <p:cNvSpPr/>
          <p:nvPr/>
        </p:nvSpPr>
        <p:spPr>
          <a:xfrm>
            <a:off x="10058400" y="62890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DB5"/>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PROJECT OBJECTIVES</a:t>
            </a:r>
            <a:endParaRPr lang="en-US" sz="1200" dirty="0"/>
          </a:p>
        </p:txBody>
      </p:sp>
      <p:sp>
        <p:nvSpPr>
          <p:cNvPr id="3" name="Text 1"/>
          <p:cNvSpPr>
            <a:spLocks noGrp="1"/>
          </p:cNvSpPr>
          <p:nvPr>
            <p:ph type="title"/>
          </p:nvPr>
        </p:nvSpPr>
        <p:spPr>
          <a:xfrm>
            <a:off x="812800" y="9245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What FSCM sets out to achieve</a:t>
            </a:r>
            <a:endParaRPr lang="en-US" sz="3000" dirty="0"/>
          </a:p>
        </p:txBody>
      </p:sp>
      <p:sp>
        <p:nvSpPr>
          <p:cNvPr id="4" name="Shape 2"/>
          <p:cNvSpPr/>
          <p:nvPr/>
        </p:nvSpPr>
        <p:spPr>
          <a:xfrm>
            <a:off x="815975" y="1575436"/>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sp>
        <p:nvSpPr>
          <p:cNvPr id="5" name="Text 3"/>
          <p:cNvSpPr/>
          <p:nvPr/>
        </p:nvSpPr>
        <p:spPr>
          <a:xfrm>
            <a:off x="1021080" y="1780539"/>
            <a:ext cx="4921072"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655B"/>
                </a:solidFill>
                <a:latin typeface="Space Grotesk" pitchFamily="34" charset="0"/>
                <a:ea typeface="Space Grotesk" pitchFamily="34" charset="-122"/>
                <a:cs typeface="Space Grotesk" pitchFamily="34" charset="-120"/>
              </a:rPr>
              <a:t>01</a:t>
            </a:r>
            <a:endParaRPr lang="en-US" sz="3200" dirty="0"/>
          </a:p>
        </p:txBody>
      </p:sp>
      <p:sp>
        <p:nvSpPr>
          <p:cNvPr id="6" name="Text 4"/>
          <p:cNvSpPr/>
          <p:nvPr/>
        </p:nvSpPr>
        <p:spPr>
          <a:xfrm>
            <a:off x="1021080" y="2263139"/>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Ship fresher goods</a:t>
            </a:r>
            <a:endParaRPr lang="en-US" sz="1800" dirty="0"/>
          </a:p>
        </p:txBody>
      </p:sp>
      <p:sp>
        <p:nvSpPr>
          <p:cNvPr id="7" name="Text 5"/>
          <p:cNvSpPr/>
          <p:nvPr/>
        </p:nvSpPr>
        <p:spPr>
          <a:xfrm>
            <a:off x="1021080" y="2613661"/>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50"/>
                </a:solidFill>
                <a:latin typeface="IBM Plex Sans" pitchFamily="34" charset="0"/>
                <a:ea typeface="IBM Plex Sans" pitchFamily="34" charset="-122"/>
                <a:cs typeface="IBM Plex Sans" pitchFamily="34" charset="-120"/>
              </a:rPr>
              <a:t>Allocate by FEFO and exclude any batch that would arrive below the retailer's MLOR.</a:t>
            </a:r>
            <a:endParaRPr lang="en-US" sz="1300" dirty="0"/>
          </a:p>
        </p:txBody>
      </p:sp>
      <p:sp>
        <p:nvSpPr>
          <p:cNvPr id="8" name="Shape 6"/>
          <p:cNvSpPr/>
          <p:nvPr/>
        </p:nvSpPr>
        <p:spPr>
          <a:xfrm>
            <a:off x="6188075" y="1575436"/>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sp>
        <p:nvSpPr>
          <p:cNvPr id="9" name="Text 7"/>
          <p:cNvSpPr/>
          <p:nvPr/>
        </p:nvSpPr>
        <p:spPr>
          <a:xfrm>
            <a:off x="6393180" y="1780539"/>
            <a:ext cx="4921072"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655B"/>
                </a:solidFill>
                <a:latin typeface="Space Grotesk" pitchFamily="34" charset="0"/>
                <a:ea typeface="Space Grotesk" pitchFamily="34" charset="-122"/>
                <a:cs typeface="Space Grotesk" pitchFamily="34" charset="-120"/>
              </a:rPr>
              <a:t>02</a:t>
            </a:r>
            <a:endParaRPr lang="en-US" sz="3200" dirty="0"/>
          </a:p>
        </p:txBody>
      </p:sp>
      <p:sp>
        <p:nvSpPr>
          <p:cNvPr id="10" name="Text 8"/>
          <p:cNvSpPr/>
          <p:nvPr/>
        </p:nvSpPr>
        <p:spPr>
          <a:xfrm>
            <a:off x="6393180" y="2263139"/>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No double-booking</a:t>
            </a:r>
            <a:endParaRPr lang="en-US" sz="1800" dirty="0"/>
          </a:p>
        </p:txBody>
      </p:sp>
      <p:sp>
        <p:nvSpPr>
          <p:cNvPr id="11" name="Text 9"/>
          <p:cNvSpPr/>
          <p:nvPr/>
        </p:nvSpPr>
        <p:spPr>
          <a:xfrm>
            <a:off x="6393180" y="2613661"/>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50"/>
                </a:solidFill>
                <a:latin typeface="IBM Plex Sans" pitchFamily="34" charset="0"/>
                <a:ea typeface="IBM Plex Sans" pitchFamily="34" charset="-122"/>
                <a:cs typeface="IBM Plex Sans" pitchFamily="34" charset="-120"/>
              </a:rPr>
              <a:t>Process orders in server-arrival order, hold stock atomically, reject with a clear reason.</a:t>
            </a:r>
            <a:endParaRPr lang="en-US" sz="1300" dirty="0"/>
          </a:p>
        </p:txBody>
      </p:sp>
      <p:sp>
        <p:nvSpPr>
          <p:cNvPr id="12" name="Shape 10"/>
          <p:cNvSpPr/>
          <p:nvPr/>
        </p:nvSpPr>
        <p:spPr>
          <a:xfrm>
            <a:off x="815975" y="3799207"/>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sp>
        <p:nvSpPr>
          <p:cNvPr id="13" name="Text 11"/>
          <p:cNvSpPr/>
          <p:nvPr/>
        </p:nvSpPr>
        <p:spPr>
          <a:xfrm>
            <a:off x="1021080" y="4004311"/>
            <a:ext cx="4921072"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655B"/>
                </a:solidFill>
                <a:latin typeface="Space Grotesk" pitchFamily="34" charset="0"/>
                <a:ea typeface="Space Grotesk" pitchFamily="34" charset="-122"/>
                <a:cs typeface="Space Grotesk" pitchFamily="34" charset="-120"/>
              </a:rPr>
              <a:t>03</a:t>
            </a:r>
            <a:endParaRPr lang="en-US" sz="3200" dirty="0"/>
          </a:p>
        </p:txBody>
      </p:sp>
      <p:sp>
        <p:nvSpPr>
          <p:cNvPr id="14" name="Text 12"/>
          <p:cNvSpPr/>
          <p:nvPr/>
        </p:nvSpPr>
        <p:spPr>
          <a:xfrm>
            <a:off x="1021080" y="4486914"/>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Sell anywhere</a:t>
            </a:r>
            <a:endParaRPr lang="en-US" sz="1800" dirty="0"/>
          </a:p>
        </p:txBody>
      </p:sp>
      <p:sp>
        <p:nvSpPr>
          <p:cNvPr id="15" name="Text 13"/>
          <p:cNvSpPr/>
          <p:nvPr/>
        </p:nvSpPr>
        <p:spPr>
          <a:xfrm>
            <a:off x="1021080" y="4837429"/>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50"/>
                </a:solidFill>
                <a:latin typeface="IBM Plex Sans" pitchFamily="34" charset="0"/>
                <a:ea typeface="IBM Plex Sans" pitchFamily="34" charset="-122"/>
                <a:cs typeface="IBM Plex Sans" pitchFamily="34" charset="-120"/>
              </a:rPr>
              <a:t>Sales order offline with locally estimated promotions; the server recalculates on sync.</a:t>
            </a:r>
            <a:endParaRPr lang="en-US" sz="1300" dirty="0"/>
          </a:p>
        </p:txBody>
      </p:sp>
      <p:sp>
        <p:nvSpPr>
          <p:cNvPr id="16" name="Shape 14"/>
          <p:cNvSpPr/>
          <p:nvPr/>
        </p:nvSpPr>
        <p:spPr>
          <a:xfrm>
            <a:off x="6188075" y="3799207"/>
            <a:ext cx="5187950" cy="2039620"/>
          </a:xfrm>
          <a:prstGeom prst="roundRect">
            <a:avLst>
              <a:gd name="adj" fmla="val 4826"/>
            </a:avLst>
          </a:prstGeom>
          <a:solidFill>
            <a:srgbClr val="FFFFFF"/>
          </a:solidFill>
          <a:ln w="6350">
            <a:solidFill>
              <a:srgbClr val="D5DCD7"/>
            </a:solidFill>
            <a:prstDash val="solid"/>
          </a:ln>
        </p:spPr>
        <p:txBody>
          <a:bodyPr/>
          <a:lstStyle/>
          <a:p>
            <a:endParaRPr lang="en-US"/>
          </a:p>
        </p:txBody>
      </p:sp>
      <p:sp>
        <p:nvSpPr>
          <p:cNvPr id="17" name="Text 15"/>
          <p:cNvSpPr/>
          <p:nvPr/>
        </p:nvSpPr>
        <p:spPr>
          <a:xfrm>
            <a:off x="6393180" y="4004311"/>
            <a:ext cx="4921072"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655B"/>
                </a:solidFill>
                <a:latin typeface="Space Grotesk" pitchFamily="34" charset="0"/>
                <a:ea typeface="Space Grotesk" pitchFamily="34" charset="-122"/>
                <a:cs typeface="Space Grotesk" pitchFamily="34" charset="-120"/>
              </a:rPr>
              <a:t>04</a:t>
            </a:r>
            <a:endParaRPr lang="en-US" sz="3200" dirty="0"/>
          </a:p>
        </p:txBody>
      </p:sp>
      <p:sp>
        <p:nvSpPr>
          <p:cNvPr id="18" name="Text 16"/>
          <p:cNvSpPr/>
          <p:nvPr/>
        </p:nvSpPr>
        <p:spPr>
          <a:xfrm>
            <a:off x="6393180" y="4486914"/>
            <a:ext cx="49210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20"/>
                </a:solidFill>
                <a:latin typeface="Space Grotesk" pitchFamily="34" charset="0"/>
                <a:ea typeface="Space Grotesk" pitchFamily="34" charset="-122"/>
                <a:cs typeface="Space Grotesk" pitchFamily="34" charset="-120"/>
              </a:rPr>
              <a:t>Trace every carton</a:t>
            </a:r>
            <a:endParaRPr lang="en-US" sz="1800" dirty="0"/>
          </a:p>
        </p:txBody>
      </p:sp>
      <p:sp>
        <p:nvSpPr>
          <p:cNvPr id="19" name="Text 17"/>
          <p:cNvSpPr/>
          <p:nvPr/>
        </p:nvSpPr>
        <p:spPr>
          <a:xfrm>
            <a:off x="6393180" y="4837429"/>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50"/>
                </a:solidFill>
                <a:latin typeface="IBM Plex Sans" pitchFamily="34" charset="0"/>
                <a:ea typeface="IBM Plex Sans" pitchFamily="34" charset="-122"/>
                <a:cs typeface="IBM Plex Sans" pitchFamily="34" charset="-120"/>
              </a:rPr>
              <a:t>QR labels from goods receipt to picking and retailer receipt, plus payment and sales dashboards.</a:t>
            </a:r>
            <a:endParaRPr lang="en-US" sz="1300" dirty="0"/>
          </a:p>
        </p:txBody>
      </p:sp>
      <p:sp>
        <p:nvSpPr>
          <p:cNvPr id="20" name="Text 18"/>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1" name="Text 19"/>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FUNCTIONAL REQUIREMENTS · 1 / 2</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Set-up, inventory and ordering</a:t>
            </a:r>
            <a:endParaRPr lang="en-US" sz="3000" dirty="0"/>
          </a:p>
        </p:txBody>
      </p:sp>
      <p:sp>
        <p:nvSpPr>
          <p:cNvPr id="4" name="Shape 2"/>
          <p:cNvSpPr/>
          <p:nvPr/>
        </p:nvSpPr>
        <p:spPr>
          <a:xfrm>
            <a:off x="812800" y="1572264"/>
            <a:ext cx="10566400" cy="2479040"/>
          </a:xfrm>
          <a:prstGeom prst="roundRect">
            <a:avLst>
              <a:gd name="adj" fmla="val 3074"/>
            </a:avLst>
          </a:prstGeom>
          <a:solidFill>
            <a:srgbClr val="FFFFFF"/>
          </a:solidFill>
          <a:ln/>
        </p:spPr>
        <p:txBody>
          <a:bodyPr/>
          <a:lstStyle/>
          <a:p>
            <a:endParaRPr lang="en-US"/>
          </a:p>
        </p:txBody>
      </p:sp>
      <p:sp>
        <p:nvSpPr>
          <p:cNvPr id="5" name="Shape 3"/>
          <p:cNvSpPr/>
          <p:nvPr/>
        </p:nvSpPr>
        <p:spPr>
          <a:xfrm>
            <a:off x="812800" y="1572264"/>
            <a:ext cx="10566400" cy="2479040"/>
          </a:xfrm>
          <a:custGeom>
            <a:avLst/>
            <a:gdLst/>
            <a:ahLst/>
            <a:cxnLst/>
            <a:rect l="l" t="t" r="r" b="b"/>
            <a:pathLst>
              <a:path w="10566400" h="2479040">
                <a:moveTo>
                  <a:pt x="10490200" y="0"/>
                </a:moveTo>
                <a:lnTo>
                  <a:pt x="10490200" y="0"/>
                </a:lnTo>
                <a:arcTo wR="76200" hR="76200" stAng="16200000" swAng="5400000"/>
                <a:lnTo>
                  <a:pt x="10566400" y="2402840"/>
                </a:lnTo>
                <a:arcTo wR="76200" hR="76200" stAng="0" swAng="5400000"/>
                <a:lnTo>
                  <a:pt x="76200" y="2479040"/>
                </a:lnTo>
                <a:arcTo wR="76200" hR="76200" stAng="5400000" swAng="5400000"/>
                <a:lnTo>
                  <a:pt x="0" y="2402840"/>
                </a:lnTo>
                <a:arcTo wR="76200" hR="69850" stAng="10800000" swAng="-5400000"/>
                <a:lnTo>
                  <a:pt x="10490200" y="247269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4"/>
            <a:ext cx="10566400" cy="2479040"/>
          </a:xfrm>
          <a:custGeom>
            <a:avLst/>
            <a:gdLst/>
            <a:ahLst/>
            <a:cxnLst/>
            <a:rect l="l" t="t" r="r" b="b"/>
            <a:pathLst>
              <a:path w="10566400" h="2479040">
                <a:moveTo>
                  <a:pt x="76200" y="2479040"/>
                </a:moveTo>
                <a:lnTo>
                  <a:pt x="76200" y="247904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240284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4"/>
          <a:ext cx="10398760" cy="2311400"/>
        </p:xfrm>
        <a:graphic>
          <a:graphicData uri="http://schemas.openxmlformats.org/drawingml/2006/table">
            <a:tbl>
              <a:tblPr/>
              <a:tblGrid>
                <a:gridCol w="727913">
                  <a:extLst>
                    <a:ext uri="{9D8B030D-6E8A-4147-A177-3AD203B41FA5}">
                      <a16:colId xmlns:a16="http://schemas.microsoft.com/office/drawing/2014/main" val="20000"/>
                    </a:ext>
                  </a:extLst>
                </a:gridCol>
                <a:gridCol w="2807665">
                  <a:extLst>
                    <a:ext uri="{9D8B030D-6E8A-4147-A177-3AD203B41FA5}">
                      <a16:colId xmlns:a16="http://schemas.microsoft.com/office/drawing/2014/main" val="20001"/>
                    </a:ext>
                  </a:extLst>
                </a:gridCol>
                <a:gridCol w="5303368">
                  <a:extLst>
                    <a:ext uri="{9D8B030D-6E8A-4147-A177-3AD203B41FA5}">
                      <a16:colId xmlns:a16="http://schemas.microsoft.com/office/drawing/2014/main" val="20002"/>
                    </a:ext>
                  </a:extLst>
                </a:gridCol>
                <a:gridCol w="1559814">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Feature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What the system must do</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Actors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FE-01</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User and access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Accounts, roles, warehouse scope, audit trail</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FE-02</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Master 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SKUs, warehouses with coordinates, MLOR, transit rules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FE-03</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Retailers and territory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8-digit retailer codes, declare → approve, sales groups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 OP, SM, SR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FE-04</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Goods receipt, QR labels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Batch ID = warehouse + SKU + expiry; QR label per pallet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 WK</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FE-05</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Promotions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Per-SKU and product-group; best one per order line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FE-06</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Mobile sales ordering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Catalog search, cart, promotions, stock-capped quantity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812800" y="5628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50"/>
                </a:solidFill>
                <a:latin typeface="IBM Plex Sans" pitchFamily="34" charset="0"/>
                <a:ea typeface="IBM Plex Sans" pitchFamily="34" charset="-122"/>
                <a:cs typeface="IBM Plex Sans" pitchFamily="34" charset="-120"/>
              </a:rPr>
              <a:t>AD</a:t>
            </a:r>
            <a:r>
              <a:rPr lang="en-US" sz="1200" dirty="0">
                <a:solidFill>
                  <a:srgbClr val="4A5550"/>
                </a:solidFill>
                <a:latin typeface="IBM Plex Sans" pitchFamily="34" charset="0"/>
                <a:ea typeface="IBM Plex Sans" pitchFamily="34" charset="-122"/>
                <a:cs typeface="IBM Plex Sans" pitchFamily="34" charset="-120"/>
              </a:rPr>
              <a:t> Admin · </a:t>
            </a:r>
            <a:r>
              <a:rPr lang="en-US" sz="1200" b="1" dirty="0">
                <a:solidFill>
                  <a:srgbClr val="4A5550"/>
                </a:solidFill>
                <a:latin typeface="IBM Plex Sans" pitchFamily="34" charset="0"/>
                <a:ea typeface="IBM Plex Sans" pitchFamily="34" charset="-122"/>
                <a:cs typeface="IBM Plex Sans" pitchFamily="34" charset="-120"/>
              </a:rPr>
              <a:t>OP</a:t>
            </a:r>
            <a:r>
              <a:rPr lang="en-US" sz="1200" dirty="0">
                <a:solidFill>
                  <a:srgbClr val="4A5550"/>
                </a:solidFill>
                <a:latin typeface="IBM Plex Sans" pitchFamily="34" charset="0"/>
                <a:ea typeface="IBM Plex Sans" pitchFamily="34" charset="-122"/>
                <a:cs typeface="IBM Plex Sans" pitchFamily="34" charset="-120"/>
              </a:rPr>
              <a:t> Operator · </a:t>
            </a:r>
            <a:r>
              <a:rPr lang="en-US" sz="1200" b="1" dirty="0">
                <a:solidFill>
                  <a:srgbClr val="4A5550"/>
                </a:solidFill>
                <a:latin typeface="IBM Plex Sans" pitchFamily="34" charset="0"/>
                <a:ea typeface="IBM Plex Sans" pitchFamily="34" charset="-122"/>
                <a:cs typeface="IBM Plex Sans" pitchFamily="34" charset="-120"/>
              </a:rPr>
              <a:t>SM</a:t>
            </a:r>
            <a:r>
              <a:rPr lang="en-US" sz="1200" dirty="0">
                <a:solidFill>
                  <a:srgbClr val="4A5550"/>
                </a:solidFill>
                <a:latin typeface="IBM Plex Sans" pitchFamily="34" charset="0"/>
                <a:ea typeface="IBM Plex Sans" pitchFamily="34" charset="-122"/>
                <a:cs typeface="IBM Plex Sans" pitchFamily="34" charset="-120"/>
              </a:rPr>
              <a:t> Sales Manager · </a:t>
            </a:r>
            <a:r>
              <a:rPr lang="en-US" sz="1200" b="1" dirty="0">
                <a:solidFill>
                  <a:srgbClr val="4A5550"/>
                </a:solidFill>
                <a:latin typeface="IBM Plex Sans" pitchFamily="34" charset="0"/>
                <a:ea typeface="IBM Plex Sans" pitchFamily="34" charset="-122"/>
                <a:cs typeface="IBM Plex Sans" pitchFamily="34" charset="-120"/>
              </a:rPr>
              <a:t>WK</a:t>
            </a:r>
            <a:r>
              <a:rPr lang="en-US" sz="1200" dirty="0">
                <a:solidFill>
                  <a:srgbClr val="4A5550"/>
                </a:solidFill>
                <a:latin typeface="IBM Plex Sans" pitchFamily="34" charset="0"/>
                <a:ea typeface="IBM Plex Sans" pitchFamily="34" charset="-122"/>
                <a:cs typeface="IBM Plex Sans" pitchFamily="34" charset="-120"/>
              </a:rPr>
              <a:t> Warehouse Keeper · </a:t>
            </a:r>
            <a:r>
              <a:rPr lang="en-US" sz="1200" b="1" dirty="0">
                <a:solidFill>
                  <a:srgbClr val="4A5550"/>
                </a:solidFill>
                <a:latin typeface="IBM Plex Sans" pitchFamily="34" charset="0"/>
                <a:ea typeface="IBM Plex Sans" pitchFamily="34" charset="-122"/>
                <a:cs typeface="IBM Plex Sans" pitchFamily="34" charset="-120"/>
              </a:rPr>
              <a:t>SR</a:t>
            </a:r>
            <a:r>
              <a:rPr lang="en-US" sz="1200" dirty="0">
                <a:solidFill>
                  <a:srgbClr val="4A5550"/>
                </a:solidFill>
                <a:latin typeface="IBM Plex Sans" pitchFamily="34" charset="0"/>
                <a:ea typeface="IBM Plex Sans" pitchFamily="34" charset="-122"/>
                <a:cs typeface="IBM Plex Sans" pitchFamily="34" charset="-120"/>
              </a:rPr>
              <a:t> Sales Rep · </a:t>
            </a:r>
            <a:r>
              <a:rPr lang="en-US" sz="1200" b="1" dirty="0">
                <a:solidFill>
                  <a:srgbClr val="4A5550"/>
                </a:solidFill>
                <a:latin typeface="IBM Plex Sans" pitchFamily="34" charset="0"/>
                <a:ea typeface="IBM Plex Sans" pitchFamily="34" charset="-122"/>
                <a:cs typeface="IBM Plex Sans" pitchFamily="34" charset="-120"/>
              </a:rPr>
              <a:t>RT</a:t>
            </a:r>
            <a:r>
              <a:rPr lang="en-US" sz="1200" dirty="0">
                <a:solidFill>
                  <a:srgbClr val="4A5550"/>
                </a:solidFill>
                <a:latin typeface="IBM Plex Sans" pitchFamily="34" charset="0"/>
                <a:ea typeface="IBM Plex Sans" pitchFamily="34" charset="-122"/>
                <a:cs typeface="IBM Plex Sans" pitchFamily="34" charset="-120"/>
              </a:rPr>
              <a:t> Retailer · </a:t>
            </a:r>
            <a:r>
              <a:rPr lang="en-US" sz="1200" b="1" dirty="0">
                <a:solidFill>
                  <a:srgbClr val="4A5550"/>
                </a:solidFill>
                <a:latin typeface="IBM Plex Sans" pitchFamily="34" charset="0"/>
                <a:ea typeface="IBM Plex Sans" pitchFamily="34" charset="-122"/>
                <a:cs typeface="IBM Plex Sans" pitchFamily="34" charset="-120"/>
              </a:rPr>
              <a:t>SYS</a:t>
            </a:r>
            <a:r>
              <a:rPr lang="en-US" sz="1200" dirty="0">
                <a:solidFill>
                  <a:srgbClr val="4A5550"/>
                </a:solidFill>
                <a:latin typeface="IBM Plex Sans" pitchFamily="34" charset="0"/>
                <a:ea typeface="IBM Plex Sans" pitchFamily="34" charset="-122"/>
                <a:cs typeface="IBM Plex Sans" pitchFamily="34" charset="-120"/>
              </a:rPr>
              <a:t> System</a:t>
            </a:r>
            <a:endParaRPr lang="en-US" sz="1200" dirty="0"/>
          </a:p>
        </p:txBody>
      </p:sp>
      <p:sp>
        <p:nvSpPr>
          <p:cNvPr id="9" name="Text 6"/>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0" name="Text 7"/>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FUNCTIONAL REQUIREMENTS · 2 / 2</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Allocation, fulfilment and tracking</a:t>
            </a:r>
            <a:endParaRPr lang="en-US" sz="3000" dirty="0"/>
          </a:p>
        </p:txBody>
      </p:sp>
      <p:sp>
        <p:nvSpPr>
          <p:cNvPr id="4" name="Shape 2"/>
          <p:cNvSpPr/>
          <p:nvPr/>
        </p:nvSpPr>
        <p:spPr>
          <a:xfrm>
            <a:off x="812800" y="1572264"/>
            <a:ext cx="10566400" cy="2809240"/>
          </a:xfrm>
          <a:prstGeom prst="roundRect">
            <a:avLst>
              <a:gd name="adj" fmla="val 2712"/>
            </a:avLst>
          </a:prstGeom>
          <a:solidFill>
            <a:srgbClr val="FFFFFF"/>
          </a:solidFill>
          <a:ln/>
        </p:spPr>
        <p:txBody>
          <a:bodyPr/>
          <a:lstStyle/>
          <a:p>
            <a:endParaRPr lang="en-US"/>
          </a:p>
        </p:txBody>
      </p:sp>
      <p:sp>
        <p:nvSpPr>
          <p:cNvPr id="5" name="Shape 3"/>
          <p:cNvSpPr/>
          <p:nvPr/>
        </p:nvSpPr>
        <p:spPr>
          <a:xfrm>
            <a:off x="812800" y="1572264"/>
            <a:ext cx="10566400" cy="2809240"/>
          </a:xfrm>
          <a:custGeom>
            <a:avLst/>
            <a:gdLst/>
            <a:ahLst/>
            <a:cxnLst/>
            <a:rect l="l" t="t" r="r" b="b"/>
            <a:pathLst>
              <a:path w="10566400" h="2809240">
                <a:moveTo>
                  <a:pt x="10490200" y="0"/>
                </a:moveTo>
                <a:lnTo>
                  <a:pt x="10490200" y="0"/>
                </a:lnTo>
                <a:arcTo wR="76200" hR="76200" stAng="16200000" swAng="5400000"/>
                <a:lnTo>
                  <a:pt x="10566400" y="2733040"/>
                </a:lnTo>
                <a:arcTo wR="76200" hR="76200" stAng="0" swAng="5400000"/>
                <a:lnTo>
                  <a:pt x="76200" y="2809240"/>
                </a:lnTo>
                <a:arcTo wR="76200" hR="76200" stAng="5400000" swAng="5400000"/>
                <a:lnTo>
                  <a:pt x="0" y="2733040"/>
                </a:lnTo>
                <a:arcTo wR="76200" hR="69850" stAng="10800000" swAng="-5400000"/>
                <a:lnTo>
                  <a:pt x="10490200" y="280289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4"/>
            <a:ext cx="10566400" cy="2809240"/>
          </a:xfrm>
          <a:custGeom>
            <a:avLst/>
            <a:gdLst/>
            <a:ahLst/>
            <a:cxnLst/>
            <a:rect l="l" t="t" r="r" b="b"/>
            <a:pathLst>
              <a:path w="10566400" h="2809240">
                <a:moveTo>
                  <a:pt x="76200" y="2809240"/>
                </a:moveTo>
                <a:lnTo>
                  <a:pt x="76200" y="280924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273304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4"/>
          <a:ext cx="10398760" cy="2641600"/>
        </p:xfrm>
        <a:graphic>
          <a:graphicData uri="http://schemas.openxmlformats.org/drawingml/2006/table">
            <a:tbl>
              <a:tblPr/>
              <a:tblGrid>
                <a:gridCol w="727913">
                  <a:extLst>
                    <a:ext uri="{9D8B030D-6E8A-4147-A177-3AD203B41FA5}">
                      <a16:colId xmlns:a16="http://schemas.microsoft.com/office/drawing/2014/main" val="20000"/>
                    </a:ext>
                  </a:extLst>
                </a:gridCol>
                <a:gridCol w="2807665">
                  <a:extLst>
                    <a:ext uri="{9D8B030D-6E8A-4147-A177-3AD203B41FA5}">
                      <a16:colId xmlns:a16="http://schemas.microsoft.com/office/drawing/2014/main" val="20001"/>
                    </a:ext>
                  </a:extLst>
                </a:gridCol>
                <a:gridCol w="5303368">
                  <a:extLst>
                    <a:ext uri="{9D8B030D-6E8A-4147-A177-3AD203B41FA5}">
                      <a16:colId xmlns:a16="http://schemas.microsoft.com/office/drawing/2014/main" val="20002"/>
                    </a:ext>
                  </a:extLst>
                </a:gridCol>
                <a:gridCol w="1559814">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Feature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What the system must do</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Actors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FE-07</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Offline ordering and sync</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Offline capture, idempotency key, server FCFS is final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SR, SYS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FE-08</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FEFO-MLOR allocation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Filter → rank by expiry → split; shortfall → reject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FE-09</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Approval and lifecycle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Approve: hold → reserve, picking lists; reject, cancel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 OP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FE-10</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Picking and goods issue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Scan QR, confirm quantity, split child label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WK</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FE-11</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Delivery, receipt, payment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Retailer scans labels → Delivered; payment status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OP, RT, SR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FE-12</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Tracking, notifications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History, search, time filter, status timeline, push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SR, 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FE-13</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Dashboards, performance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Revenue before discount, leaderboard, rewards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AD, SM, SR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5628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50"/>
                </a:solidFill>
                <a:latin typeface="IBM Plex Sans" pitchFamily="34" charset="0"/>
                <a:ea typeface="IBM Plex Sans" pitchFamily="34" charset="-122"/>
                <a:cs typeface="IBM Plex Sans" pitchFamily="34" charset="-120"/>
              </a:rPr>
              <a:t>AD</a:t>
            </a:r>
            <a:r>
              <a:rPr lang="en-US" sz="1200" dirty="0">
                <a:solidFill>
                  <a:srgbClr val="4A5550"/>
                </a:solidFill>
                <a:latin typeface="IBM Plex Sans" pitchFamily="34" charset="0"/>
                <a:ea typeface="IBM Plex Sans" pitchFamily="34" charset="-122"/>
                <a:cs typeface="IBM Plex Sans" pitchFamily="34" charset="-120"/>
              </a:rPr>
              <a:t> Admin · </a:t>
            </a:r>
            <a:r>
              <a:rPr lang="en-US" sz="1200" b="1" dirty="0">
                <a:solidFill>
                  <a:srgbClr val="4A5550"/>
                </a:solidFill>
                <a:latin typeface="IBM Plex Sans" pitchFamily="34" charset="0"/>
                <a:ea typeface="IBM Plex Sans" pitchFamily="34" charset="-122"/>
                <a:cs typeface="IBM Plex Sans" pitchFamily="34" charset="-120"/>
              </a:rPr>
              <a:t>OP</a:t>
            </a:r>
            <a:r>
              <a:rPr lang="en-US" sz="1200" dirty="0">
                <a:solidFill>
                  <a:srgbClr val="4A5550"/>
                </a:solidFill>
                <a:latin typeface="IBM Plex Sans" pitchFamily="34" charset="0"/>
                <a:ea typeface="IBM Plex Sans" pitchFamily="34" charset="-122"/>
                <a:cs typeface="IBM Plex Sans" pitchFamily="34" charset="-120"/>
              </a:rPr>
              <a:t> Operator · </a:t>
            </a:r>
            <a:r>
              <a:rPr lang="en-US" sz="1200" b="1" dirty="0">
                <a:solidFill>
                  <a:srgbClr val="4A5550"/>
                </a:solidFill>
                <a:latin typeface="IBM Plex Sans" pitchFamily="34" charset="0"/>
                <a:ea typeface="IBM Plex Sans" pitchFamily="34" charset="-122"/>
                <a:cs typeface="IBM Plex Sans" pitchFamily="34" charset="-120"/>
              </a:rPr>
              <a:t>SM</a:t>
            </a:r>
            <a:r>
              <a:rPr lang="en-US" sz="1200" dirty="0">
                <a:solidFill>
                  <a:srgbClr val="4A5550"/>
                </a:solidFill>
                <a:latin typeface="IBM Plex Sans" pitchFamily="34" charset="0"/>
                <a:ea typeface="IBM Plex Sans" pitchFamily="34" charset="-122"/>
                <a:cs typeface="IBM Plex Sans" pitchFamily="34" charset="-120"/>
              </a:rPr>
              <a:t> Sales Manager · </a:t>
            </a:r>
            <a:r>
              <a:rPr lang="en-US" sz="1200" b="1" dirty="0">
                <a:solidFill>
                  <a:srgbClr val="4A5550"/>
                </a:solidFill>
                <a:latin typeface="IBM Plex Sans" pitchFamily="34" charset="0"/>
                <a:ea typeface="IBM Plex Sans" pitchFamily="34" charset="-122"/>
                <a:cs typeface="IBM Plex Sans" pitchFamily="34" charset="-120"/>
              </a:rPr>
              <a:t>WK</a:t>
            </a:r>
            <a:r>
              <a:rPr lang="en-US" sz="1200" dirty="0">
                <a:solidFill>
                  <a:srgbClr val="4A5550"/>
                </a:solidFill>
                <a:latin typeface="IBM Plex Sans" pitchFamily="34" charset="0"/>
                <a:ea typeface="IBM Plex Sans" pitchFamily="34" charset="-122"/>
                <a:cs typeface="IBM Plex Sans" pitchFamily="34" charset="-120"/>
              </a:rPr>
              <a:t> Warehouse Keeper · </a:t>
            </a:r>
            <a:r>
              <a:rPr lang="en-US" sz="1200" b="1" dirty="0">
                <a:solidFill>
                  <a:srgbClr val="4A5550"/>
                </a:solidFill>
                <a:latin typeface="IBM Plex Sans" pitchFamily="34" charset="0"/>
                <a:ea typeface="IBM Plex Sans" pitchFamily="34" charset="-122"/>
                <a:cs typeface="IBM Plex Sans" pitchFamily="34" charset="-120"/>
              </a:rPr>
              <a:t>SR</a:t>
            </a:r>
            <a:r>
              <a:rPr lang="en-US" sz="1200" dirty="0">
                <a:solidFill>
                  <a:srgbClr val="4A5550"/>
                </a:solidFill>
                <a:latin typeface="IBM Plex Sans" pitchFamily="34" charset="0"/>
                <a:ea typeface="IBM Plex Sans" pitchFamily="34" charset="-122"/>
                <a:cs typeface="IBM Plex Sans" pitchFamily="34" charset="-120"/>
              </a:rPr>
              <a:t> Sales Rep · </a:t>
            </a:r>
            <a:r>
              <a:rPr lang="en-US" sz="1200" b="1" dirty="0">
                <a:solidFill>
                  <a:srgbClr val="4A5550"/>
                </a:solidFill>
                <a:latin typeface="IBM Plex Sans" pitchFamily="34" charset="0"/>
                <a:ea typeface="IBM Plex Sans" pitchFamily="34" charset="-122"/>
                <a:cs typeface="IBM Plex Sans" pitchFamily="34" charset="-120"/>
              </a:rPr>
              <a:t>RT</a:t>
            </a:r>
            <a:r>
              <a:rPr lang="en-US" sz="1200" dirty="0">
                <a:solidFill>
                  <a:srgbClr val="4A5550"/>
                </a:solidFill>
                <a:latin typeface="IBM Plex Sans" pitchFamily="34" charset="0"/>
                <a:ea typeface="IBM Plex Sans" pitchFamily="34" charset="-122"/>
                <a:cs typeface="IBM Plex Sans" pitchFamily="34" charset="-120"/>
              </a:rPr>
              <a:t> Retailer · </a:t>
            </a:r>
            <a:r>
              <a:rPr lang="en-US" sz="1200" b="1" dirty="0">
                <a:solidFill>
                  <a:srgbClr val="4A5550"/>
                </a:solidFill>
                <a:latin typeface="IBM Plex Sans" pitchFamily="34" charset="0"/>
                <a:ea typeface="IBM Plex Sans" pitchFamily="34" charset="-122"/>
                <a:cs typeface="IBM Plex Sans" pitchFamily="34" charset="-120"/>
              </a:rPr>
              <a:t>SYS</a:t>
            </a:r>
            <a:r>
              <a:rPr lang="en-US" sz="1200" dirty="0">
                <a:solidFill>
                  <a:srgbClr val="4A5550"/>
                </a:solidFill>
                <a:latin typeface="IBM Plex Sans" pitchFamily="34" charset="0"/>
                <a:ea typeface="IBM Plex Sans" pitchFamily="34" charset="-122"/>
                <a:cs typeface="IBM Plex Sans" pitchFamily="34" charset="-120"/>
              </a:rPr>
              <a:t> System</a:t>
            </a:r>
            <a:endParaRPr lang="en-US" sz="1200" dirty="0"/>
          </a:p>
        </p:txBody>
      </p:sp>
      <p:sp>
        <p:nvSpPr>
          <p:cNvPr id="9" name="Text 6"/>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0" name="Text 7"/>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NON-FUNCTIONAL REQUIREMENTS</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Quality attributes and targets</a:t>
            </a:r>
            <a:endParaRPr lang="en-US" sz="3000" dirty="0"/>
          </a:p>
        </p:txBody>
      </p:sp>
      <p:sp>
        <p:nvSpPr>
          <p:cNvPr id="4" name="Shape 2"/>
          <p:cNvSpPr/>
          <p:nvPr/>
        </p:nvSpPr>
        <p:spPr>
          <a:xfrm>
            <a:off x="812800" y="1572264"/>
            <a:ext cx="10566400" cy="3139440"/>
          </a:xfrm>
          <a:prstGeom prst="roundRect">
            <a:avLst>
              <a:gd name="adj" fmla="val 2427"/>
            </a:avLst>
          </a:prstGeom>
          <a:solidFill>
            <a:srgbClr val="FFFFFF"/>
          </a:solidFill>
          <a:ln/>
        </p:spPr>
        <p:txBody>
          <a:bodyPr/>
          <a:lstStyle/>
          <a:p>
            <a:endParaRPr lang="en-US"/>
          </a:p>
        </p:txBody>
      </p:sp>
      <p:sp>
        <p:nvSpPr>
          <p:cNvPr id="5" name="Shape 3"/>
          <p:cNvSpPr/>
          <p:nvPr/>
        </p:nvSpPr>
        <p:spPr>
          <a:xfrm>
            <a:off x="812800" y="1572264"/>
            <a:ext cx="10566400" cy="3139440"/>
          </a:xfrm>
          <a:custGeom>
            <a:avLst/>
            <a:gdLst/>
            <a:ahLst/>
            <a:cxnLst/>
            <a:rect l="l" t="t" r="r" b="b"/>
            <a:pathLst>
              <a:path w="10566400" h="3139440">
                <a:moveTo>
                  <a:pt x="10490200" y="0"/>
                </a:moveTo>
                <a:lnTo>
                  <a:pt x="10490200" y="0"/>
                </a:lnTo>
                <a:arcTo wR="76200" hR="76200" stAng="16200000" swAng="5400000"/>
                <a:lnTo>
                  <a:pt x="10566400" y="3063240"/>
                </a:lnTo>
                <a:arcTo wR="76200" hR="76200" stAng="0" swAng="5400000"/>
                <a:lnTo>
                  <a:pt x="76200" y="3139440"/>
                </a:lnTo>
                <a:arcTo wR="76200" hR="76200" stAng="5400000" swAng="5400000"/>
                <a:lnTo>
                  <a:pt x="0" y="3063240"/>
                </a:lnTo>
                <a:arcTo wR="76200" hR="69850" stAng="10800000" swAng="-5400000"/>
                <a:lnTo>
                  <a:pt x="10490200" y="313309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4"/>
            <a:ext cx="10566400" cy="3139440"/>
          </a:xfrm>
          <a:custGeom>
            <a:avLst/>
            <a:gdLst/>
            <a:ahLst/>
            <a:cxnLst/>
            <a:rect l="l" t="t" r="r" b="b"/>
            <a:pathLst>
              <a:path w="10566400" h="3139440">
                <a:moveTo>
                  <a:pt x="76200" y="3139440"/>
                </a:moveTo>
                <a:lnTo>
                  <a:pt x="76200" y="313944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306324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4"/>
          <a:ext cx="10398760" cy="2971800"/>
        </p:xfrm>
        <a:graphic>
          <a:graphicData uri="http://schemas.openxmlformats.org/drawingml/2006/table">
            <a:tbl>
              <a:tblPr/>
              <a:tblGrid>
                <a:gridCol w="2079752">
                  <a:extLst>
                    <a:ext uri="{9D8B030D-6E8A-4147-A177-3AD203B41FA5}">
                      <a16:colId xmlns:a16="http://schemas.microsoft.com/office/drawing/2014/main" val="20000"/>
                    </a:ext>
                  </a:extLst>
                </a:gridCol>
                <a:gridCol w="5407355">
                  <a:extLst>
                    <a:ext uri="{9D8B030D-6E8A-4147-A177-3AD203B41FA5}">
                      <a16:colId xmlns:a16="http://schemas.microsoft.com/office/drawing/2014/main" val="20001"/>
                    </a:ext>
                  </a:extLst>
                </a:gridCol>
                <a:gridCol w="2911653">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Attribute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Data consistency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 stock reserved twice: one transaction, row-version lock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 over-reservations in tests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Offline operation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Order capture, cart and promo estimate with no network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 duplicates on re-sync</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Performance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Allocation and daily screens fast enough for field 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Allocation ≤ 3 s, pages ≤ 2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Security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Entra ID sign-in, role and warehouse scope, HTTPS only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100% APIs role-checked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Traceability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QR label links batch → picking → order → receipt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Every status change logged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Reliability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Transactional outbox; scheduled jobs and conflicts retry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 lost notifications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Usability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Vietnamese UI, QR camera scan; Android, iOS, Chrome, Edge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Reason shown on every reject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Maintainability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Modular monolith, Clean Architecture, CI, Azure Monitor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 70% unit-test coverage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5"/>
          <p:cNvSpPr/>
          <p:nvPr/>
        </p:nvSpPr>
        <p:spPr>
          <a:xfrm>
            <a:off x="812800" y="5628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Targets are team proposals for Review 1; the test-coverage target comes from the Report 2 quality plan. Performance targets are p95.</a:t>
            </a:r>
            <a:endParaRPr lang="en-US" sz="1200" dirty="0"/>
          </a:p>
        </p:txBody>
      </p:sp>
      <p:sp>
        <p:nvSpPr>
          <p:cNvPr id="9" name="Text 6"/>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0" name="Text 7"/>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PLAN TARGETS · REPORT 2</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Effort, schedule and quality targets</a:t>
            </a:r>
            <a:endParaRPr lang="en-US" sz="3000" dirty="0"/>
          </a:p>
        </p:txBody>
      </p:sp>
      <p:sp>
        <p:nvSpPr>
          <p:cNvPr id="4" name="Shape 2"/>
          <p:cNvSpPr/>
          <p:nvPr/>
        </p:nvSpPr>
        <p:spPr>
          <a:xfrm>
            <a:off x="815975" y="1575439"/>
            <a:ext cx="2910999" cy="4263390"/>
          </a:xfrm>
          <a:prstGeom prst="roundRect">
            <a:avLst>
              <a:gd name="adj" fmla="val 3381"/>
            </a:avLst>
          </a:prstGeom>
          <a:solidFill>
            <a:srgbClr val="FFFFFF"/>
          </a:solidFill>
          <a:ln w="6350">
            <a:solidFill>
              <a:srgbClr val="D5DCD7"/>
            </a:solidFill>
            <a:prstDash val="solid"/>
          </a:ln>
        </p:spPr>
        <p:txBody>
          <a:bodyPr/>
          <a:lstStyle/>
          <a:p>
            <a:endParaRPr lang="en-US"/>
          </a:p>
        </p:txBody>
      </p:sp>
      <p:sp>
        <p:nvSpPr>
          <p:cNvPr id="5" name="Text 3"/>
          <p:cNvSpPr/>
          <p:nvPr/>
        </p:nvSpPr>
        <p:spPr>
          <a:xfrm>
            <a:off x="1021080" y="1780542"/>
            <a:ext cx="25758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Net capacity</a:t>
            </a:r>
            <a:endParaRPr lang="en-US" sz="1200" dirty="0"/>
          </a:p>
        </p:txBody>
      </p:sp>
      <p:sp>
        <p:nvSpPr>
          <p:cNvPr id="6" name="Text 4"/>
          <p:cNvSpPr/>
          <p:nvPr/>
        </p:nvSpPr>
        <p:spPr>
          <a:xfrm>
            <a:off x="1021080" y="2070100"/>
            <a:ext cx="2575812"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14655B"/>
                </a:solidFill>
                <a:latin typeface="Space Grotesk" pitchFamily="34" charset="0"/>
                <a:ea typeface="Space Grotesk" pitchFamily="34" charset="-122"/>
                <a:cs typeface="Space Grotesk" pitchFamily="34" charset="-120"/>
              </a:rPr>
              <a:t>337</a:t>
            </a:r>
            <a:endParaRPr lang="en-US" sz="4400" dirty="0"/>
          </a:p>
        </p:txBody>
      </p:sp>
      <p:sp>
        <p:nvSpPr>
          <p:cNvPr id="7" name="Text 5"/>
          <p:cNvSpPr/>
          <p:nvPr/>
        </p:nvSpPr>
        <p:spPr>
          <a:xfrm>
            <a:off x="1021080" y="2705100"/>
            <a:ext cx="25758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20"/>
                </a:solidFill>
                <a:latin typeface="IBM Plex Sans" pitchFamily="34" charset="0"/>
                <a:ea typeface="IBM Plex Sans" pitchFamily="34" charset="-122"/>
                <a:cs typeface="IBM Plex Sans" pitchFamily="34" charset="-120"/>
              </a:rPr>
              <a:t>man-days</a:t>
            </a:r>
            <a:endParaRPr lang="en-US" sz="1400" dirty="0"/>
          </a:p>
        </p:txBody>
      </p:sp>
      <p:sp>
        <p:nvSpPr>
          <p:cNvPr id="8" name="Text 6"/>
          <p:cNvSpPr/>
          <p:nvPr/>
        </p:nvSpPr>
        <p:spPr>
          <a:xfrm>
            <a:off x="1021080" y="3030221"/>
            <a:ext cx="257581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5 members × 15 weeks × 5 days × 90%</a:t>
            </a:r>
            <a:endParaRPr lang="en-US" sz="1200" dirty="0"/>
          </a:p>
        </p:txBody>
      </p:sp>
      <p:pic>
        <p:nvPicPr>
          <p:cNvPr id="9" name="Image 0" descr="line"/>
          <p:cNvPicPr>
            <a:picLocks noChangeAspect="1"/>
          </p:cNvPicPr>
          <p:nvPr/>
        </p:nvPicPr>
        <p:blipFill>
          <a:blip r:embed="rId3"/>
          <a:srcRect t="-24" b="-24"/>
          <a:stretch/>
        </p:blipFill>
        <p:spPr>
          <a:xfrm>
            <a:off x="1021080" y="3533142"/>
            <a:ext cx="2500789" cy="6350"/>
          </a:xfrm>
          <a:prstGeom prst="rect">
            <a:avLst/>
          </a:prstGeom>
        </p:spPr>
      </p:pic>
      <p:sp>
        <p:nvSpPr>
          <p:cNvPr id="10" name="Text 7"/>
          <p:cNvSpPr/>
          <p:nvPr/>
        </p:nvSpPr>
        <p:spPr>
          <a:xfrm>
            <a:off x="1021080" y="3615692"/>
            <a:ext cx="2575812"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287</a:t>
            </a:r>
            <a:r>
              <a:rPr lang="en-US" sz="1200" dirty="0">
                <a:solidFill>
                  <a:srgbClr val="1B2420"/>
                </a:solidFill>
                <a:latin typeface="IBM Plex Sans" pitchFamily="34" charset="0"/>
                <a:ea typeface="IBM Plex Sans" pitchFamily="34" charset="-122"/>
                <a:cs typeface="IBM Plex Sans" pitchFamily="34" charset="-120"/>
              </a:rPr>
              <a:t> planned · </a:t>
            </a:r>
            <a:r>
              <a:rPr lang="en-US" sz="1200" b="1" dirty="0">
                <a:solidFill>
                  <a:srgbClr val="1B2420"/>
                </a:solidFill>
                <a:latin typeface="IBM Plex Sans" pitchFamily="34" charset="0"/>
                <a:ea typeface="IBM Plex Sans" pitchFamily="34" charset="-122"/>
                <a:cs typeface="IBM Plex Sans" pitchFamily="34" charset="-120"/>
              </a:rPr>
              <a:t>50</a:t>
            </a:r>
            <a:r>
              <a:rPr lang="en-US" sz="1200" dirty="0">
                <a:solidFill>
                  <a:srgbClr val="1B2420"/>
                </a:solidFill>
                <a:latin typeface="IBM Plex Sans" pitchFamily="34" charset="0"/>
                <a:ea typeface="IBM Plex Sans" pitchFamily="34" charset="-122"/>
                <a:cs typeface="IBM Plex Sans" pitchFamily="34" charset="-120"/>
              </a:rPr>
              <a:t> reserve (~15%) for defects, integration and rework</a:t>
            </a:r>
            <a:endParaRPr lang="en-US" sz="1200" dirty="0"/>
          </a:p>
        </p:txBody>
      </p:sp>
      <p:sp>
        <p:nvSpPr>
          <p:cNvPr id="11" name="Text 8"/>
          <p:cNvSpPr/>
          <p:nvPr/>
        </p:nvSpPr>
        <p:spPr>
          <a:xfrm>
            <a:off x="1021080" y="4118614"/>
            <a:ext cx="25758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Milestones on time: </a:t>
            </a:r>
            <a:r>
              <a:rPr lang="en-US" sz="1200" b="1" dirty="0">
                <a:solidFill>
                  <a:srgbClr val="1B2420"/>
                </a:solidFill>
                <a:latin typeface="IBM Plex Sans" pitchFamily="34" charset="0"/>
                <a:ea typeface="IBM Plex Sans" pitchFamily="34" charset="-122"/>
                <a:cs typeface="IBM Plex Sans" pitchFamily="34" charset="-120"/>
              </a:rPr>
              <a:t>≥ 95%</a:t>
            </a:r>
            <a:endParaRPr lang="en-US" sz="1200" dirty="0"/>
          </a:p>
        </p:txBody>
      </p:sp>
      <p:sp>
        <p:nvSpPr>
          <p:cNvPr id="12" name="Shape 9"/>
          <p:cNvSpPr/>
          <p:nvPr/>
        </p:nvSpPr>
        <p:spPr>
          <a:xfrm>
            <a:off x="3911124" y="1575439"/>
            <a:ext cx="3640376" cy="4263390"/>
          </a:xfrm>
          <a:prstGeom prst="roundRect">
            <a:avLst>
              <a:gd name="adj" fmla="val 2704"/>
            </a:avLst>
          </a:prstGeom>
          <a:solidFill>
            <a:srgbClr val="FFFFFF"/>
          </a:solidFill>
          <a:ln w="6350">
            <a:solidFill>
              <a:srgbClr val="D5DCD7"/>
            </a:solidFill>
            <a:prstDash val="solid"/>
          </a:ln>
        </p:spPr>
        <p:txBody>
          <a:bodyPr/>
          <a:lstStyle/>
          <a:p>
            <a:endParaRPr lang="en-US"/>
          </a:p>
        </p:txBody>
      </p:sp>
      <p:sp>
        <p:nvSpPr>
          <p:cNvPr id="13" name="Text 10"/>
          <p:cNvSpPr/>
          <p:nvPr/>
        </p:nvSpPr>
        <p:spPr>
          <a:xfrm>
            <a:off x="4116229" y="1780542"/>
            <a:ext cx="33270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Effort by activity</a:t>
            </a:r>
            <a:endParaRPr lang="en-US" sz="1500" dirty="0"/>
          </a:p>
        </p:txBody>
      </p:sp>
      <p:sp>
        <p:nvSpPr>
          <p:cNvPr id="14" name="Text 11"/>
          <p:cNvSpPr/>
          <p:nvPr/>
        </p:nvSpPr>
        <p:spPr>
          <a:xfrm>
            <a:off x="4116229" y="2085342"/>
            <a:ext cx="1065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Requirement</a:t>
            </a:r>
            <a:endParaRPr lang="en-US" sz="1200" dirty="0"/>
          </a:p>
        </p:txBody>
      </p:sp>
      <p:sp>
        <p:nvSpPr>
          <p:cNvPr id="15" name="Text 12"/>
          <p:cNvSpPr/>
          <p:nvPr/>
        </p:nvSpPr>
        <p:spPr>
          <a:xfrm>
            <a:off x="6211776" y="2085342"/>
            <a:ext cx="1134618"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15 md · 4.5%</a:t>
            </a:r>
            <a:endParaRPr lang="en-US" sz="1200" dirty="0"/>
          </a:p>
        </p:txBody>
      </p:sp>
      <p:sp>
        <p:nvSpPr>
          <p:cNvPr id="16" name="Shape 13"/>
          <p:cNvSpPr/>
          <p:nvPr/>
        </p:nvSpPr>
        <p:spPr>
          <a:xfrm>
            <a:off x="4116229" y="2336800"/>
            <a:ext cx="3230166" cy="101600"/>
          </a:xfrm>
          <a:prstGeom prst="roundRect">
            <a:avLst>
              <a:gd name="adj" fmla="val 50000"/>
            </a:avLst>
          </a:prstGeom>
          <a:solidFill>
            <a:srgbClr val="E9EEEA"/>
          </a:solidFill>
          <a:ln/>
        </p:spPr>
        <p:txBody>
          <a:bodyPr/>
          <a:lstStyle/>
          <a:p>
            <a:endParaRPr lang="en-US"/>
          </a:p>
        </p:txBody>
      </p:sp>
      <p:sp>
        <p:nvSpPr>
          <p:cNvPr id="17" name="Shape 14"/>
          <p:cNvSpPr/>
          <p:nvPr/>
        </p:nvSpPr>
        <p:spPr>
          <a:xfrm>
            <a:off x="4116229" y="2336800"/>
            <a:ext cx="311150" cy="101600"/>
          </a:xfrm>
          <a:prstGeom prst="roundRect">
            <a:avLst>
              <a:gd name="adj" fmla="val 50000"/>
            </a:avLst>
          </a:prstGeom>
          <a:solidFill>
            <a:srgbClr val="14655B"/>
          </a:solidFill>
          <a:ln/>
        </p:spPr>
        <p:txBody>
          <a:bodyPr/>
          <a:lstStyle/>
          <a:p>
            <a:endParaRPr lang="en-US"/>
          </a:p>
        </p:txBody>
      </p:sp>
      <p:sp>
        <p:nvSpPr>
          <p:cNvPr id="18" name="Text 15"/>
          <p:cNvSpPr/>
          <p:nvPr/>
        </p:nvSpPr>
        <p:spPr>
          <a:xfrm>
            <a:off x="4116229" y="2514600"/>
            <a:ext cx="5583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Design</a:t>
            </a:r>
            <a:endParaRPr lang="en-US" sz="1200" dirty="0"/>
          </a:p>
        </p:txBody>
      </p:sp>
      <p:sp>
        <p:nvSpPr>
          <p:cNvPr id="19" name="Text 16"/>
          <p:cNvSpPr/>
          <p:nvPr/>
        </p:nvSpPr>
        <p:spPr>
          <a:xfrm>
            <a:off x="6211776" y="2514600"/>
            <a:ext cx="1134618"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15 md · 4.5%</a:t>
            </a:r>
            <a:endParaRPr lang="en-US" sz="1200" dirty="0"/>
          </a:p>
        </p:txBody>
      </p:sp>
      <p:sp>
        <p:nvSpPr>
          <p:cNvPr id="20" name="Shape 17"/>
          <p:cNvSpPr/>
          <p:nvPr/>
        </p:nvSpPr>
        <p:spPr>
          <a:xfrm>
            <a:off x="4116229" y="2766064"/>
            <a:ext cx="3230166" cy="101600"/>
          </a:xfrm>
          <a:prstGeom prst="roundRect">
            <a:avLst>
              <a:gd name="adj" fmla="val 50000"/>
            </a:avLst>
          </a:prstGeom>
          <a:solidFill>
            <a:srgbClr val="E9EEEA"/>
          </a:solidFill>
          <a:ln/>
        </p:spPr>
        <p:txBody>
          <a:bodyPr/>
          <a:lstStyle/>
          <a:p>
            <a:endParaRPr lang="en-US"/>
          </a:p>
        </p:txBody>
      </p:sp>
      <p:sp>
        <p:nvSpPr>
          <p:cNvPr id="21" name="Shape 18"/>
          <p:cNvSpPr/>
          <p:nvPr/>
        </p:nvSpPr>
        <p:spPr>
          <a:xfrm>
            <a:off x="4116229" y="2766064"/>
            <a:ext cx="311150" cy="101600"/>
          </a:xfrm>
          <a:prstGeom prst="roundRect">
            <a:avLst>
              <a:gd name="adj" fmla="val 50000"/>
            </a:avLst>
          </a:prstGeom>
          <a:solidFill>
            <a:srgbClr val="14655B"/>
          </a:solidFill>
          <a:ln/>
        </p:spPr>
        <p:txBody>
          <a:bodyPr/>
          <a:lstStyle/>
          <a:p>
            <a:endParaRPr lang="en-US"/>
          </a:p>
        </p:txBody>
      </p:sp>
      <p:sp>
        <p:nvSpPr>
          <p:cNvPr id="22" name="Text 19"/>
          <p:cNvSpPr/>
          <p:nvPr/>
        </p:nvSpPr>
        <p:spPr>
          <a:xfrm>
            <a:off x="4116229" y="2943864"/>
            <a:ext cx="56826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Coding</a:t>
            </a:r>
            <a:endParaRPr lang="en-US" sz="1200" dirty="0"/>
          </a:p>
        </p:txBody>
      </p:sp>
      <p:sp>
        <p:nvSpPr>
          <p:cNvPr id="23" name="Text 20"/>
          <p:cNvSpPr/>
          <p:nvPr/>
        </p:nvSpPr>
        <p:spPr>
          <a:xfrm>
            <a:off x="5992321" y="2943864"/>
            <a:ext cx="1354074"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173 md · 51.3%</a:t>
            </a:r>
            <a:endParaRPr lang="en-US" sz="1200" dirty="0"/>
          </a:p>
        </p:txBody>
      </p:sp>
      <p:sp>
        <p:nvSpPr>
          <p:cNvPr id="24" name="Shape 21"/>
          <p:cNvSpPr/>
          <p:nvPr/>
        </p:nvSpPr>
        <p:spPr>
          <a:xfrm>
            <a:off x="4116229" y="3195321"/>
            <a:ext cx="3230166" cy="101600"/>
          </a:xfrm>
          <a:prstGeom prst="roundRect">
            <a:avLst>
              <a:gd name="adj" fmla="val 50000"/>
            </a:avLst>
          </a:prstGeom>
          <a:solidFill>
            <a:srgbClr val="E9EEEA"/>
          </a:solidFill>
          <a:ln/>
        </p:spPr>
        <p:txBody>
          <a:bodyPr/>
          <a:lstStyle/>
          <a:p>
            <a:endParaRPr lang="en-US"/>
          </a:p>
        </p:txBody>
      </p:sp>
      <p:sp>
        <p:nvSpPr>
          <p:cNvPr id="25" name="Shape 22"/>
          <p:cNvSpPr/>
          <p:nvPr/>
        </p:nvSpPr>
        <p:spPr>
          <a:xfrm>
            <a:off x="4116229" y="3195321"/>
            <a:ext cx="3556000" cy="101600"/>
          </a:xfrm>
          <a:prstGeom prst="roundRect">
            <a:avLst>
              <a:gd name="adj" fmla="val 50000"/>
            </a:avLst>
          </a:prstGeom>
          <a:solidFill>
            <a:srgbClr val="14655B"/>
          </a:solidFill>
          <a:ln/>
        </p:spPr>
        <p:txBody>
          <a:bodyPr/>
          <a:lstStyle/>
          <a:p>
            <a:endParaRPr lang="en-US"/>
          </a:p>
        </p:txBody>
      </p:sp>
      <p:sp>
        <p:nvSpPr>
          <p:cNvPr id="26" name="Text 23"/>
          <p:cNvSpPr/>
          <p:nvPr/>
        </p:nvSpPr>
        <p:spPr>
          <a:xfrm>
            <a:off x="4116229" y="3373121"/>
            <a:ext cx="5913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Testing</a:t>
            </a:r>
            <a:endParaRPr lang="en-US" sz="1200" dirty="0"/>
          </a:p>
        </p:txBody>
      </p:sp>
      <p:sp>
        <p:nvSpPr>
          <p:cNvPr id="27" name="Text 24"/>
          <p:cNvSpPr/>
          <p:nvPr/>
        </p:nvSpPr>
        <p:spPr>
          <a:xfrm>
            <a:off x="5992321" y="3373121"/>
            <a:ext cx="1354074"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100 md · 29.7%</a:t>
            </a:r>
            <a:endParaRPr lang="en-US" sz="1200" dirty="0"/>
          </a:p>
        </p:txBody>
      </p:sp>
      <p:sp>
        <p:nvSpPr>
          <p:cNvPr id="28" name="Shape 25"/>
          <p:cNvSpPr/>
          <p:nvPr/>
        </p:nvSpPr>
        <p:spPr>
          <a:xfrm>
            <a:off x="4116229" y="3624579"/>
            <a:ext cx="3230166" cy="101600"/>
          </a:xfrm>
          <a:prstGeom prst="roundRect">
            <a:avLst>
              <a:gd name="adj" fmla="val 50000"/>
            </a:avLst>
          </a:prstGeom>
          <a:solidFill>
            <a:srgbClr val="E9EEEA"/>
          </a:solidFill>
          <a:ln/>
        </p:spPr>
        <p:txBody>
          <a:bodyPr/>
          <a:lstStyle/>
          <a:p>
            <a:endParaRPr lang="en-US"/>
          </a:p>
        </p:txBody>
      </p:sp>
      <p:sp>
        <p:nvSpPr>
          <p:cNvPr id="29" name="Shape 26"/>
          <p:cNvSpPr/>
          <p:nvPr/>
        </p:nvSpPr>
        <p:spPr>
          <a:xfrm>
            <a:off x="4116229" y="3624579"/>
            <a:ext cx="2057400" cy="101600"/>
          </a:xfrm>
          <a:prstGeom prst="roundRect">
            <a:avLst>
              <a:gd name="adj" fmla="val 50000"/>
            </a:avLst>
          </a:prstGeom>
          <a:solidFill>
            <a:srgbClr val="B85C1E"/>
          </a:solidFill>
          <a:ln/>
        </p:spPr>
        <p:txBody>
          <a:bodyPr/>
          <a:lstStyle/>
          <a:p>
            <a:endParaRPr lang="en-US"/>
          </a:p>
        </p:txBody>
      </p:sp>
      <p:sp>
        <p:nvSpPr>
          <p:cNvPr id="30" name="Text 27"/>
          <p:cNvSpPr/>
          <p:nvPr/>
        </p:nvSpPr>
        <p:spPr>
          <a:xfrm>
            <a:off x="4116229" y="3802379"/>
            <a:ext cx="17059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Project management</a:t>
            </a:r>
            <a:endParaRPr lang="en-US" sz="1200" dirty="0"/>
          </a:p>
        </p:txBody>
      </p:sp>
      <p:sp>
        <p:nvSpPr>
          <p:cNvPr id="31" name="Text 28"/>
          <p:cNvSpPr/>
          <p:nvPr/>
        </p:nvSpPr>
        <p:spPr>
          <a:xfrm>
            <a:off x="6102048" y="3802379"/>
            <a:ext cx="1244346"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34 md · 10.1%</a:t>
            </a:r>
            <a:endParaRPr lang="en-US" sz="1200" dirty="0"/>
          </a:p>
        </p:txBody>
      </p:sp>
      <p:sp>
        <p:nvSpPr>
          <p:cNvPr id="32" name="Shape 29"/>
          <p:cNvSpPr/>
          <p:nvPr/>
        </p:nvSpPr>
        <p:spPr>
          <a:xfrm>
            <a:off x="4116229" y="4053842"/>
            <a:ext cx="3230166" cy="101600"/>
          </a:xfrm>
          <a:prstGeom prst="roundRect">
            <a:avLst>
              <a:gd name="adj" fmla="val 50000"/>
            </a:avLst>
          </a:prstGeom>
          <a:solidFill>
            <a:srgbClr val="E9EEEA"/>
          </a:solidFill>
          <a:ln/>
        </p:spPr>
        <p:txBody>
          <a:bodyPr/>
          <a:lstStyle/>
          <a:p>
            <a:endParaRPr lang="en-US"/>
          </a:p>
        </p:txBody>
      </p:sp>
      <p:sp>
        <p:nvSpPr>
          <p:cNvPr id="33" name="Shape 30"/>
          <p:cNvSpPr/>
          <p:nvPr/>
        </p:nvSpPr>
        <p:spPr>
          <a:xfrm>
            <a:off x="4116229" y="4053842"/>
            <a:ext cx="698500" cy="101600"/>
          </a:xfrm>
          <a:prstGeom prst="roundRect">
            <a:avLst>
              <a:gd name="adj" fmla="val 50000"/>
            </a:avLst>
          </a:prstGeom>
          <a:solidFill>
            <a:srgbClr val="14655B"/>
          </a:solidFill>
          <a:ln/>
        </p:spPr>
        <p:txBody>
          <a:bodyPr/>
          <a:lstStyle/>
          <a:p>
            <a:endParaRPr lang="en-US"/>
          </a:p>
        </p:txBody>
      </p:sp>
      <p:sp>
        <p:nvSpPr>
          <p:cNvPr id="34" name="Shape 31"/>
          <p:cNvSpPr/>
          <p:nvPr/>
        </p:nvSpPr>
        <p:spPr>
          <a:xfrm>
            <a:off x="7735650" y="1575439"/>
            <a:ext cx="3640296" cy="4263390"/>
          </a:xfrm>
          <a:prstGeom prst="roundRect">
            <a:avLst>
              <a:gd name="adj" fmla="val 2704"/>
            </a:avLst>
          </a:prstGeom>
          <a:solidFill>
            <a:srgbClr val="FFFFFF"/>
          </a:solidFill>
          <a:ln w="6350">
            <a:solidFill>
              <a:srgbClr val="D5DCD7"/>
            </a:solidFill>
            <a:prstDash val="solid"/>
          </a:ln>
        </p:spPr>
        <p:txBody>
          <a:bodyPr/>
          <a:lstStyle/>
          <a:p>
            <a:endParaRPr lang="en-US"/>
          </a:p>
        </p:txBody>
      </p:sp>
      <p:sp>
        <p:nvSpPr>
          <p:cNvPr id="35" name="Text 32"/>
          <p:cNvSpPr/>
          <p:nvPr/>
        </p:nvSpPr>
        <p:spPr>
          <a:xfrm>
            <a:off x="7940755" y="1780542"/>
            <a:ext cx="33269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Quality targets</a:t>
            </a:r>
            <a:endParaRPr lang="en-US" sz="1500" dirty="0"/>
          </a:p>
        </p:txBody>
      </p:sp>
      <p:sp>
        <p:nvSpPr>
          <p:cNvPr id="36" name="Text 33"/>
          <p:cNvSpPr/>
          <p:nvPr/>
        </p:nvSpPr>
        <p:spPr>
          <a:xfrm>
            <a:off x="8039561" y="2085342"/>
            <a:ext cx="3220563" cy="157226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B2420"/>
                </a:solidFill>
                <a:latin typeface="IBM Plex Sans" pitchFamily="34" charset="0"/>
                <a:ea typeface="IBM Plex Sans" pitchFamily="34" charset="-122"/>
                <a:cs typeface="IBM Plex Sans" pitchFamily="34" charset="-120"/>
              </a:rPr>
              <a:t>Reviews: 100% of critical business rules</a:t>
            </a:r>
            <a:endParaRPr lang="en-US" sz="1200" dirty="0"/>
          </a:p>
          <a:p>
            <a:pPr marL="155194" indent="-155194" algn="l">
              <a:lnSpc>
                <a:spcPts val="1740"/>
              </a:lnSpc>
              <a:buSzPct val="100000"/>
              <a:buChar char="•"/>
            </a:pPr>
            <a:r>
              <a:rPr lang="en-US" sz="1200" dirty="0">
                <a:solidFill>
                  <a:srgbClr val="1B2420"/>
                </a:solidFill>
                <a:latin typeface="IBM Plex Sans" pitchFamily="34" charset="0"/>
                <a:ea typeface="IBM Plex Sans" pitchFamily="34" charset="-122"/>
                <a:cs typeface="IBM Plex Sans" pitchFamily="34" charset="-120"/>
              </a:rPr>
              <a:t>Unit tests: ≥ 70% statement coverage of business logic</a:t>
            </a:r>
            <a:endParaRPr lang="en-US" sz="1200" dirty="0"/>
          </a:p>
          <a:p>
            <a:pPr marL="155194" indent="-155194" algn="l">
              <a:lnSpc>
                <a:spcPts val="1740"/>
              </a:lnSpc>
              <a:buSzPct val="100000"/>
              <a:buChar char="•"/>
            </a:pPr>
            <a:r>
              <a:rPr lang="en-US" sz="1200" dirty="0">
                <a:solidFill>
                  <a:srgbClr val="1B2420"/>
                </a:solidFill>
                <a:latin typeface="IBM Plex Sans" pitchFamily="34" charset="0"/>
                <a:ea typeface="IBM Plex Sans" pitchFamily="34" charset="-122"/>
                <a:cs typeface="IBM Plex Sans" pitchFamily="34" charset="-120"/>
              </a:rPr>
              <a:t>Integration: 100% critical API scenarios</a:t>
            </a:r>
            <a:endParaRPr lang="en-US" sz="1200" dirty="0"/>
          </a:p>
          <a:p>
            <a:pPr marL="155194" indent="-155194" algn="l">
              <a:lnSpc>
                <a:spcPts val="1740"/>
              </a:lnSpc>
              <a:buSzPct val="100000"/>
              <a:buChar char="•"/>
            </a:pPr>
            <a:r>
              <a:rPr lang="en-US" sz="1200" dirty="0">
                <a:solidFill>
                  <a:srgbClr val="1B2420"/>
                </a:solidFill>
                <a:latin typeface="IBM Plex Sans" pitchFamily="34" charset="0"/>
                <a:ea typeface="IBM Plex Sans" pitchFamily="34" charset="-122"/>
                <a:cs typeface="IBM Plex Sans" pitchFamily="34" charset="-120"/>
              </a:rPr>
              <a:t>System test: ≥ 95% user stories, 100% must-have</a:t>
            </a:r>
            <a:endParaRPr lang="en-US" sz="1200" dirty="0"/>
          </a:p>
          <a:p>
            <a:pPr marL="155194" indent="-155194" algn="l">
              <a:lnSpc>
                <a:spcPts val="1740"/>
              </a:lnSpc>
              <a:buSzPct val="100000"/>
              <a:buChar char="•"/>
            </a:pPr>
            <a:r>
              <a:rPr lang="en-US" sz="1200" dirty="0">
                <a:solidFill>
                  <a:srgbClr val="1B2420"/>
                </a:solidFill>
                <a:latin typeface="IBM Plex Sans" pitchFamily="34" charset="0"/>
                <a:ea typeface="IBM Plex Sans" pitchFamily="34" charset="-122"/>
                <a:cs typeface="IBM Plex Sans" pitchFamily="34" charset="-120"/>
              </a:rPr>
              <a:t>Acceptance: 100% core scenarios</a:t>
            </a:r>
            <a:endParaRPr lang="en-US" sz="1200" dirty="0"/>
          </a:p>
        </p:txBody>
      </p:sp>
      <p:sp>
        <p:nvSpPr>
          <p:cNvPr id="37" name="Text 34"/>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38" name="Text 35"/>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09868"/>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14655B"/>
                </a:solidFill>
                <a:latin typeface="IBM Plex Sans" pitchFamily="34" charset="0"/>
                <a:ea typeface="IBM Plex Sans" pitchFamily="34" charset="-122"/>
                <a:cs typeface="IBM Plex Sans" pitchFamily="34" charset="-120"/>
              </a:rPr>
              <a:t>OVERALL PROCESS</a:t>
            </a:r>
            <a:endParaRPr lang="en-US" sz="1050" dirty="0"/>
          </a:p>
        </p:txBody>
      </p:sp>
      <p:sp>
        <p:nvSpPr>
          <p:cNvPr id="3" name="Text 1"/>
          <p:cNvSpPr>
            <a:spLocks noGrp="1"/>
          </p:cNvSpPr>
          <p:nvPr>
            <p:ph type="title"/>
          </p:nvPr>
        </p:nvSpPr>
        <p:spPr>
          <a:xfrm>
            <a:off x="812800" y="895666"/>
            <a:ext cx="10883392" cy="387667"/>
          </a:xfrm>
          <a:prstGeom prst="rect">
            <a:avLst/>
          </a:prstGeom>
          <a:noFill/>
          <a:ln/>
        </p:spPr>
        <p:txBody>
          <a:bodyPr wrap="square" lIns="0" tIns="0" rIns="0" bIns="0" rtlCol="0" anchor="t">
            <a:normAutofit/>
          </a:bodyPr>
          <a:lstStyle/>
          <a:p>
            <a:pPr marL="0" indent="0" algn="l">
              <a:lnSpc>
                <a:spcPts val="2867"/>
              </a:lnSpc>
              <a:buNone/>
            </a:pPr>
            <a:r>
              <a:rPr lang="en-US" sz="2606" b="1" i="0" dirty="0">
                <a:solidFill>
                  <a:srgbClr val="1B2420"/>
                </a:solidFill>
                <a:latin typeface="Space Grotesk" pitchFamily="34" charset="0"/>
                <a:ea typeface="Space Grotesk" pitchFamily="34" charset="-122"/>
                <a:cs typeface="Space Grotesk" pitchFamily="34" charset="-120"/>
              </a:rPr>
              <a:t>End-to-end business flow</a:t>
            </a:r>
            <a:endParaRPr lang="en-US" sz="2606" dirty="0"/>
          </a:p>
        </p:txBody>
      </p:sp>
      <p:sp>
        <p:nvSpPr>
          <p:cNvPr id="4" name="Shape 2"/>
          <p:cNvSpPr/>
          <p:nvPr/>
        </p:nvSpPr>
        <p:spPr>
          <a:xfrm>
            <a:off x="815975" y="1489714"/>
            <a:ext cx="2005330" cy="1746171"/>
          </a:xfrm>
          <a:prstGeom prst="roundRect">
            <a:avLst>
              <a:gd name="adj" fmla="val 4909"/>
            </a:avLst>
          </a:prstGeom>
          <a:solidFill>
            <a:srgbClr val="FFFFFF"/>
          </a:solidFill>
          <a:ln w="6350">
            <a:solidFill>
              <a:srgbClr val="D5DCD7"/>
            </a:solidFill>
            <a:prstDash val="solid"/>
          </a:ln>
        </p:spPr>
        <p:txBody>
          <a:bodyPr/>
          <a:lstStyle/>
          <a:p>
            <a:endParaRPr lang="en-US"/>
          </a:p>
        </p:txBody>
      </p:sp>
      <p:sp>
        <p:nvSpPr>
          <p:cNvPr id="5" name="Text 3"/>
          <p:cNvSpPr/>
          <p:nvPr/>
        </p:nvSpPr>
        <p:spPr>
          <a:xfrm>
            <a:off x="957580" y="161861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1</a:t>
            </a:r>
            <a:endParaRPr lang="en-US" sz="1400" dirty="0"/>
          </a:p>
        </p:txBody>
      </p:sp>
      <p:sp>
        <p:nvSpPr>
          <p:cNvPr id="6" name="Text 4"/>
          <p:cNvSpPr/>
          <p:nvPr/>
        </p:nvSpPr>
        <p:spPr>
          <a:xfrm>
            <a:off x="957580" y="1999617"/>
            <a:ext cx="1773784" cy="196056"/>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B2420"/>
                </a:solidFill>
                <a:latin typeface="Space Grotesk" pitchFamily="34" charset="0"/>
                <a:ea typeface="Space Grotesk" pitchFamily="34" charset="-122"/>
                <a:cs typeface="Space Grotesk" pitchFamily="34" charset="-120"/>
              </a:rPr>
              <a:t>Goods receipt</a:t>
            </a:r>
            <a:endParaRPr lang="en-US" sz="1142" dirty="0"/>
          </a:p>
        </p:txBody>
      </p:sp>
      <p:sp>
        <p:nvSpPr>
          <p:cNvPr id="7" name="Text 5"/>
          <p:cNvSpPr/>
          <p:nvPr/>
        </p:nvSpPr>
        <p:spPr>
          <a:xfrm>
            <a:off x="957580" y="2221074"/>
            <a:ext cx="1860550" cy="366792"/>
          </a:xfrm>
          <a:prstGeom prst="rect">
            <a:avLst/>
          </a:prstGeom>
          <a:noFill/>
          <a:ln/>
        </p:spPr>
        <p:txBody>
          <a:bodyPr wrap="square" lIns="0" tIns="0" rIns="0" bIns="0" rtlCol="0" anchor="t">
            <a:normAutofit/>
          </a:bodyPr>
          <a:lstStyle/>
          <a:p>
            <a:pPr marL="0" indent="0" algn="l">
              <a:lnSpc>
                <a:spcPts val="1502"/>
              </a:lnSpc>
              <a:buNone/>
            </a:pPr>
            <a:r>
              <a:rPr lang="en-US" sz="1073" b="1" dirty="0">
                <a:solidFill>
                  <a:srgbClr val="B85C1E"/>
                </a:solidFill>
                <a:latin typeface="IBM Plex Sans" pitchFamily="34" charset="0"/>
                <a:ea typeface="IBM Plex Sans" pitchFamily="34" charset="-122"/>
                <a:cs typeface="IBM Plex Sans" pitchFamily="34" charset="-120"/>
              </a:rPr>
              <a:t>Admin · Warehouse Keeper</a:t>
            </a:r>
            <a:endParaRPr lang="en-US" sz="1073" dirty="0"/>
          </a:p>
        </p:txBody>
      </p:sp>
      <p:sp>
        <p:nvSpPr>
          <p:cNvPr id="8" name="Text 6"/>
          <p:cNvSpPr/>
          <p:nvPr/>
        </p:nvSpPr>
        <p:spPr>
          <a:xfrm>
            <a:off x="957580" y="2613267"/>
            <a:ext cx="1773784" cy="519113"/>
          </a:xfrm>
          <a:prstGeom prst="rect">
            <a:avLst/>
          </a:prstGeom>
          <a:noFill/>
          <a:ln/>
        </p:spPr>
        <p:txBody>
          <a:bodyPr wrap="square" lIns="0" tIns="0" rIns="0" bIns="0" rtlCol="0" anchor="t">
            <a:normAutofit/>
          </a:bodyPr>
          <a:lstStyle/>
          <a:p>
            <a:pPr marL="0" indent="0" algn="l">
              <a:lnSpc>
                <a:spcPts val="1418"/>
              </a:lnSpc>
              <a:buNone/>
            </a:pPr>
            <a:r>
              <a:rPr lang="en-US" sz="1050" dirty="0">
                <a:solidFill>
                  <a:srgbClr val="4A5550"/>
                </a:solidFill>
                <a:latin typeface="IBM Plex Sans" pitchFamily="34" charset="0"/>
                <a:ea typeface="IBM Plex Sans" pitchFamily="34" charset="-122"/>
                <a:cs typeface="IBM Plex Sans" pitchFamily="34" charset="-120"/>
              </a:rPr>
              <a:t>Batch ID = warehouse + SKU + expiry; QR label per pallet</a:t>
            </a:r>
            <a:endParaRPr lang="en-US" sz="1050" dirty="0"/>
          </a:p>
        </p:txBody>
      </p:sp>
      <p:sp>
        <p:nvSpPr>
          <p:cNvPr id="9" name="Shape 7"/>
          <p:cNvSpPr/>
          <p:nvPr/>
        </p:nvSpPr>
        <p:spPr>
          <a:xfrm>
            <a:off x="2954655" y="1489714"/>
            <a:ext cx="2005330" cy="1746171"/>
          </a:xfrm>
          <a:prstGeom prst="roundRect">
            <a:avLst>
              <a:gd name="adj" fmla="val 4909"/>
            </a:avLst>
          </a:prstGeom>
          <a:solidFill>
            <a:srgbClr val="FFFFFF"/>
          </a:solidFill>
          <a:ln w="6350">
            <a:solidFill>
              <a:srgbClr val="D5DCD7"/>
            </a:solidFill>
            <a:prstDash val="solid"/>
          </a:ln>
        </p:spPr>
        <p:txBody>
          <a:bodyPr/>
          <a:lstStyle/>
          <a:p>
            <a:endParaRPr lang="en-US"/>
          </a:p>
        </p:txBody>
      </p:sp>
      <p:sp>
        <p:nvSpPr>
          <p:cNvPr id="10" name="Text 8"/>
          <p:cNvSpPr/>
          <p:nvPr/>
        </p:nvSpPr>
        <p:spPr>
          <a:xfrm>
            <a:off x="3096260" y="161861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2</a:t>
            </a:r>
            <a:endParaRPr lang="en-US" sz="1400" dirty="0"/>
          </a:p>
        </p:txBody>
      </p:sp>
      <p:sp>
        <p:nvSpPr>
          <p:cNvPr id="11" name="Text 9"/>
          <p:cNvSpPr/>
          <p:nvPr/>
        </p:nvSpPr>
        <p:spPr>
          <a:xfrm>
            <a:off x="3096260" y="1999617"/>
            <a:ext cx="177378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Sales order</a:t>
            </a:r>
            <a:endParaRPr lang="en-US" sz="1400" dirty="0"/>
          </a:p>
        </p:txBody>
      </p:sp>
      <p:sp>
        <p:nvSpPr>
          <p:cNvPr id="12" name="Text 10"/>
          <p:cNvSpPr/>
          <p:nvPr/>
        </p:nvSpPr>
        <p:spPr>
          <a:xfrm>
            <a:off x="3096260" y="2263775"/>
            <a:ext cx="177378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C1E"/>
                </a:solidFill>
                <a:latin typeface="IBM Plex Sans" pitchFamily="34" charset="0"/>
                <a:ea typeface="IBM Plex Sans" pitchFamily="34" charset="-122"/>
                <a:cs typeface="IBM Plex Sans" pitchFamily="34" charset="-120"/>
              </a:rPr>
              <a:t>Sales Representative</a:t>
            </a:r>
            <a:endParaRPr lang="en-US" sz="1200" dirty="0"/>
          </a:p>
        </p:txBody>
      </p:sp>
      <p:sp>
        <p:nvSpPr>
          <p:cNvPr id="13" name="Text 11"/>
          <p:cNvSpPr/>
          <p:nvPr/>
        </p:nvSpPr>
        <p:spPr>
          <a:xfrm>
            <a:off x="3096260" y="2527939"/>
            <a:ext cx="177378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Online or offline: retailer → products → cart</a:t>
            </a:r>
            <a:endParaRPr lang="en-US" sz="1200" dirty="0"/>
          </a:p>
        </p:txBody>
      </p:sp>
      <p:sp>
        <p:nvSpPr>
          <p:cNvPr id="14" name="Shape 12"/>
          <p:cNvSpPr/>
          <p:nvPr/>
        </p:nvSpPr>
        <p:spPr>
          <a:xfrm>
            <a:off x="5093335" y="1489714"/>
            <a:ext cx="2005330" cy="1746171"/>
          </a:xfrm>
          <a:prstGeom prst="roundRect">
            <a:avLst>
              <a:gd name="adj" fmla="val 4909"/>
            </a:avLst>
          </a:prstGeom>
          <a:solidFill>
            <a:srgbClr val="FFFFFF"/>
          </a:solidFill>
          <a:ln w="6350">
            <a:solidFill>
              <a:srgbClr val="D5DCD7"/>
            </a:solidFill>
            <a:prstDash val="solid"/>
          </a:ln>
        </p:spPr>
        <p:txBody>
          <a:bodyPr/>
          <a:lstStyle/>
          <a:p>
            <a:endParaRPr lang="en-US"/>
          </a:p>
        </p:txBody>
      </p:sp>
      <p:sp>
        <p:nvSpPr>
          <p:cNvPr id="15" name="Text 13"/>
          <p:cNvSpPr/>
          <p:nvPr/>
        </p:nvSpPr>
        <p:spPr>
          <a:xfrm>
            <a:off x="5234940" y="161861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3</a:t>
            </a:r>
            <a:endParaRPr lang="en-US" sz="1400" dirty="0"/>
          </a:p>
        </p:txBody>
      </p:sp>
      <p:sp>
        <p:nvSpPr>
          <p:cNvPr id="16" name="Text 14"/>
          <p:cNvSpPr/>
          <p:nvPr/>
        </p:nvSpPr>
        <p:spPr>
          <a:xfrm>
            <a:off x="5234940" y="1999617"/>
            <a:ext cx="1773784" cy="230981"/>
          </a:xfrm>
          <a:prstGeom prst="rect">
            <a:avLst/>
          </a:prstGeom>
          <a:noFill/>
          <a:ln/>
        </p:spPr>
        <p:txBody>
          <a:bodyPr wrap="square" lIns="0" tIns="0" rIns="0" bIns="0" rtlCol="0" anchor="t">
            <a:normAutofit/>
          </a:bodyPr>
          <a:lstStyle/>
          <a:p>
            <a:pPr marL="0" indent="0" algn="l">
              <a:lnSpc>
                <a:spcPts val="1622"/>
              </a:lnSpc>
              <a:buNone/>
            </a:pPr>
            <a:r>
              <a:rPr lang="en-US" sz="1352" b="1" dirty="0">
                <a:solidFill>
                  <a:srgbClr val="1B2420"/>
                </a:solidFill>
                <a:latin typeface="Space Grotesk" pitchFamily="34" charset="0"/>
                <a:ea typeface="Space Grotesk" pitchFamily="34" charset="-122"/>
                <a:cs typeface="Space Grotesk" pitchFamily="34" charset="-120"/>
              </a:rPr>
              <a:t>Promotion</a:t>
            </a:r>
            <a:endParaRPr lang="en-US" sz="1352" dirty="0"/>
          </a:p>
        </p:txBody>
      </p:sp>
      <p:sp>
        <p:nvSpPr>
          <p:cNvPr id="17" name="Text 15"/>
          <p:cNvSpPr/>
          <p:nvPr/>
        </p:nvSpPr>
        <p:spPr>
          <a:xfrm>
            <a:off x="5234940" y="2255999"/>
            <a:ext cx="1773784" cy="230902"/>
          </a:xfrm>
          <a:prstGeom prst="rect">
            <a:avLst/>
          </a:prstGeom>
          <a:noFill/>
          <a:ln/>
        </p:spPr>
        <p:txBody>
          <a:bodyPr wrap="square" lIns="0" tIns="0" rIns="0" bIns="0" rtlCol="0" anchor="t">
            <a:normAutofit/>
          </a:bodyPr>
          <a:lstStyle/>
          <a:p>
            <a:pPr marL="0" indent="0" algn="l">
              <a:lnSpc>
                <a:spcPts val="1622"/>
              </a:lnSpc>
              <a:buNone/>
            </a:pPr>
            <a:r>
              <a:rPr lang="en-US" sz="1159" b="1" dirty="0">
                <a:solidFill>
                  <a:srgbClr val="B85C1E"/>
                </a:solidFill>
                <a:latin typeface="IBM Plex Sans" pitchFamily="34" charset="0"/>
                <a:ea typeface="IBM Plex Sans" pitchFamily="34" charset="-122"/>
                <a:cs typeface="IBM Plex Sans" pitchFamily="34" charset="-120"/>
              </a:rPr>
              <a:t>System</a:t>
            </a:r>
            <a:endParaRPr lang="en-US" sz="1159" dirty="0"/>
          </a:p>
        </p:txBody>
      </p:sp>
      <p:sp>
        <p:nvSpPr>
          <p:cNvPr id="18" name="Text 16"/>
          <p:cNvSpPr/>
          <p:nvPr/>
        </p:nvSpPr>
        <p:spPr>
          <a:xfrm>
            <a:off x="5234940" y="2512299"/>
            <a:ext cx="1773784" cy="620078"/>
          </a:xfrm>
          <a:prstGeom prst="rect">
            <a:avLst/>
          </a:prstGeom>
          <a:noFill/>
          <a:ln/>
        </p:spPr>
        <p:txBody>
          <a:bodyPr wrap="square" lIns="0" tIns="0" rIns="0" bIns="0" rtlCol="0" anchor="t">
            <a:normAutofit/>
          </a:bodyPr>
          <a:lstStyle/>
          <a:p>
            <a:pPr marL="0" indent="0" algn="l">
              <a:lnSpc>
                <a:spcPts val="1574"/>
              </a:lnSpc>
              <a:buNone/>
            </a:pPr>
            <a:r>
              <a:rPr lang="en-US" sz="1166" dirty="0">
                <a:solidFill>
                  <a:srgbClr val="4A5550"/>
                </a:solidFill>
                <a:latin typeface="IBM Plex Sans" pitchFamily="34" charset="0"/>
                <a:ea typeface="IBM Plex Sans" pitchFamily="34" charset="-122"/>
                <a:cs typeface="IBM Plex Sans" pitchFamily="34" charset="-120"/>
              </a:rPr>
              <a:t>Best discount per order line, shown before confirm</a:t>
            </a:r>
            <a:endParaRPr lang="en-US" sz="1166" dirty="0"/>
          </a:p>
        </p:txBody>
      </p:sp>
      <p:sp>
        <p:nvSpPr>
          <p:cNvPr id="19" name="Shape 17"/>
          <p:cNvSpPr/>
          <p:nvPr/>
        </p:nvSpPr>
        <p:spPr>
          <a:xfrm>
            <a:off x="7232015" y="1489714"/>
            <a:ext cx="2005330" cy="1746171"/>
          </a:xfrm>
          <a:prstGeom prst="roundRect">
            <a:avLst>
              <a:gd name="adj" fmla="val 4909"/>
            </a:avLst>
          </a:prstGeom>
          <a:solidFill>
            <a:srgbClr val="FFFFFF"/>
          </a:solidFill>
          <a:ln w="6350">
            <a:solidFill>
              <a:srgbClr val="D5DCD7"/>
            </a:solidFill>
            <a:prstDash val="solid"/>
          </a:ln>
        </p:spPr>
        <p:txBody>
          <a:bodyPr/>
          <a:lstStyle/>
          <a:p>
            <a:endParaRPr lang="en-US"/>
          </a:p>
        </p:txBody>
      </p:sp>
      <p:sp>
        <p:nvSpPr>
          <p:cNvPr id="20" name="Text 18"/>
          <p:cNvSpPr/>
          <p:nvPr/>
        </p:nvSpPr>
        <p:spPr>
          <a:xfrm>
            <a:off x="7373620" y="161861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4</a:t>
            </a:r>
            <a:endParaRPr lang="en-US" sz="1400" dirty="0"/>
          </a:p>
        </p:txBody>
      </p:sp>
      <p:sp>
        <p:nvSpPr>
          <p:cNvPr id="21" name="Text 19"/>
          <p:cNvSpPr/>
          <p:nvPr/>
        </p:nvSpPr>
        <p:spPr>
          <a:xfrm>
            <a:off x="7373620" y="1999617"/>
            <a:ext cx="1860550" cy="366792"/>
          </a:xfrm>
          <a:prstGeom prst="rect">
            <a:avLst/>
          </a:prstGeom>
          <a:noFill/>
          <a:ln/>
        </p:spPr>
        <p:txBody>
          <a:bodyPr wrap="square" lIns="0" tIns="0" rIns="0" bIns="0" rtlCol="0" anchor="t">
            <a:normAutofit/>
          </a:bodyPr>
          <a:lstStyle/>
          <a:p>
            <a:pPr marL="0" indent="0" algn="l">
              <a:lnSpc>
                <a:spcPts val="1549"/>
              </a:lnSpc>
              <a:buNone/>
            </a:pPr>
            <a:r>
              <a:rPr lang="en-US" sz="1291" b="1" dirty="0">
                <a:solidFill>
                  <a:srgbClr val="1B2420"/>
                </a:solidFill>
                <a:latin typeface="Space Grotesk" pitchFamily="34" charset="0"/>
                <a:ea typeface="Space Grotesk" pitchFamily="34" charset="-122"/>
                <a:cs typeface="Space Grotesk" pitchFamily="34" charset="-120"/>
              </a:rPr>
              <a:t>FEFO-MLOR allocation</a:t>
            </a:r>
            <a:endParaRPr lang="en-US" sz="1291" dirty="0"/>
          </a:p>
        </p:txBody>
      </p:sp>
      <p:sp>
        <p:nvSpPr>
          <p:cNvPr id="22" name="Text 20"/>
          <p:cNvSpPr/>
          <p:nvPr/>
        </p:nvSpPr>
        <p:spPr>
          <a:xfrm>
            <a:off x="7373620" y="2391811"/>
            <a:ext cx="1773784" cy="196056"/>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B85C1E"/>
                </a:solidFill>
                <a:latin typeface="IBM Plex Sans" pitchFamily="34" charset="0"/>
                <a:ea typeface="IBM Plex Sans" pitchFamily="34" charset="-122"/>
                <a:cs typeface="IBM Plex Sans" pitchFamily="34" charset="-120"/>
              </a:rPr>
              <a:t>System</a:t>
            </a:r>
            <a:endParaRPr lang="en-US" sz="979" dirty="0"/>
          </a:p>
        </p:txBody>
      </p:sp>
      <p:sp>
        <p:nvSpPr>
          <p:cNvPr id="23" name="Text 21"/>
          <p:cNvSpPr/>
          <p:nvPr/>
        </p:nvSpPr>
        <p:spPr>
          <a:xfrm>
            <a:off x="7373620" y="2613267"/>
            <a:ext cx="1773784" cy="519113"/>
          </a:xfrm>
          <a:prstGeom prst="rect">
            <a:avLst/>
          </a:prstGeom>
          <a:noFill/>
          <a:ln/>
        </p:spPr>
        <p:txBody>
          <a:bodyPr wrap="square" lIns="0" tIns="0" rIns="0" bIns="0" rtlCol="0" anchor="t">
            <a:normAutofit/>
          </a:bodyPr>
          <a:lstStyle/>
          <a:p>
            <a:pPr marL="0" indent="0" algn="l">
              <a:lnSpc>
                <a:spcPts val="1316"/>
              </a:lnSpc>
              <a:buNone/>
            </a:pPr>
            <a:r>
              <a:rPr lang="en-US" sz="975" dirty="0">
                <a:solidFill>
                  <a:srgbClr val="4A5550"/>
                </a:solidFill>
                <a:latin typeface="IBM Plex Sans" pitchFamily="34" charset="0"/>
                <a:ea typeface="IBM Plex Sans" pitchFamily="34" charset="-122"/>
                <a:cs typeface="IBM Plex Sans" pitchFamily="34" charset="-120"/>
              </a:rPr>
              <a:t>Hold stock across warehouses, or reject automatically</a:t>
            </a:r>
            <a:endParaRPr lang="en-US" sz="975" dirty="0"/>
          </a:p>
        </p:txBody>
      </p:sp>
      <p:sp>
        <p:nvSpPr>
          <p:cNvPr id="24" name="Shape 22"/>
          <p:cNvSpPr/>
          <p:nvPr/>
        </p:nvSpPr>
        <p:spPr>
          <a:xfrm>
            <a:off x="9370695" y="1489714"/>
            <a:ext cx="2005330" cy="1746171"/>
          </a:xfrm>
          <a:prstGeom prst="roundRect">
            <a:avLst>
              <a:gd name="adj" fmla="val 4909"/>
            </a:avLst>
          </a:prstGeom>
          <a:solidFill>
            <a:srgbClr val="FFFFFF"/>
          </a:solidFill>
          <a:ln w="6350">
            <a:solidFill>
              <a:srgbClr val="D5DCD7"/>
            </a:solidFill>
            <a:prstDash val="solid"/>
          </a:ln>
        </p:spPr>
        <p:txBody>
          <a:bodyPr/>
          <a:lstStyle/>
          <a:p>
            <a:endParaRPr lang="en-US"/>
          </a:p>
        </p:txBody>
      </p:sp>
      <p:sp>
        <p:nvSpPr>
          <p:cNvPr id="25" name="Text 23"/>
          <p:cNvSpPr/>
          <p:nvPr/>
        </p:nvSpPr>
        <p:spPr>
          <a:xfrm>
            <a:off x="9512300" y="161861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5</a:t>
            </a:r>
            <a:endParaRPr lang="en-US" sz="1400" dirty="0"/>
          </a:p>
        </p:txBody>
      </p:sp>
      <p:sp>
        <p:nvSpPr>
          <p:cNvPr id="26" name="Text 24"/>
          <p:cNvSpPr/>
          <p:nvPr/>
        </p:nvSpPr>
        <p:spPr>
          <a:xfrm>
            <a:off x="9512300" y="1999617"/>
            <a:ext cx="177378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Approval</a:t>
            </a:r>
            <a:endParaRPr lang="en-US" sz="1400" dirty="0"/>
          </a:p>
        </p:txBody>
      </p:sp>
      <p:sp>
        <p:nvSpPr>
          <p:cNvPr id="27" name="Text 25"/>
          <p:cNvSpPr/>
          <p:nvPr/>
        </p:nvSpPr>
        <p:spPr>
          <a:xfrm>
            <a:off x="9512300" y="2263775"/>
            <a:ext cx="177378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5C1E"/>
                </a:solidFill>
                <a:latin typeface="IBM Plex Sans" pitchFamily="34" charset="0"/>
                <a:ea typeface="IBM Plex Sans" pitchFamily="34" charset="-122"/>
                <a:cs typeface="IBM Plex Sans" pitchFamily="34" charset="-120"/>
              </a:rPr>
              <a:t>Admin · Operator</a:t>
            </a:r>
            <a:endParaRPr lang="en-US" sz="1200" dirty="0"/>
          </a:p>
        </p:txBody>
      </p:sp>
      <p:sp>
        <p:nvSpPr>
          <p:cNvPr id="28" name="Text 26"/>
          <p:cNvSpPr/>
          <p:nvPr/>
        </p:nvSpPr>
        <p:spPr>
          <a:xfrm>
            <a:off x="9512300" y="2527939"/>
            <a:ext cx="177378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Approve → one picking list per warehouse</a:t>
            </a:r>
            <a:endParaRPr lang="en-US" sz="1200" dirty="0"/>
          </a:p>
        </p:txBody>
      </p:sp>
      <p:sp>
        <p:nvSpPr>
          <p:cNvPr id="29" name="Shape 27"/>
          <p:cNvSpPr/>
          <p:nvPr/>
        </p:nvSpPr>
        <p:spPr>
          <a:xfrm>
            <a:off x="815975" y="3470833"/>
            <a:ext cx="2005330" cy="1566307"/>
          </a:xfrm>
          <a:prstGeom prst="roundRect">
            <a:avLst>
              <a:gd name="adj" fmla="val 5473"/>
            </a:avLst>
          </a:prstGeom>
          <a:solidFill>
            <a:srgbClr val="FFFFFF"/>
          </a:solidFill>
          <a:ln w="6350">
            <a:solidFill>
              <a:srgbClr val="D5DCD7"/>
            </a:solidFill>
            <a:prstDash val="solid"/>
          </a:ln>
        </p:spPr>
        <p:txBody>
          <a:bodyPr/>
          <a:lstStyle/>
          <a:p>
            <a:endParaRPr lang="en-US"/>
          </a:p>
        </p:txBody>
      </p:sp>
      <p:sp>
        <p:nvSpPr>
          <p:cNvPr id="30" name="Text 28"/>
          <p:cNvSpPr/>
          <p:nvPr/>
        </p:nvSpPr>
        <p:spPr>
          <a:xfrm>
            <a:off x="957580" y="359973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6</a:t>
            </a:r>
            <a:endParaRPr lang="en-US" sz="1400" dirty="0"/>
          </a:p>
        </p:txBody>
      </p:sp>
      <p:sp>
        <p:nvSpPr>
          <p:cNvPr id="31" name="Text 29"/>
          <p:cNvSpPr/>
          <p:nvPr/>
        </p:nvSpPr>
        <p:spPr>
          <a:xfrm>
            <a:off x="957580" y="3980737"/>
            <a:ext cx="1773784" cy="194231"/>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B2420"/>
                </a:solidFill>
                <a:latin typeface="Space Grotesk" pitchFamily="34" charset="0"/>
                <a:ea typeface="Space Grotesk" pitchFamily="34" charset="-122"/>
                <a:cs typeface="Space Grotesk" pitchFamily="34" charset="-120"/>
              </a:rPr>
              <a:t>Picking</a:t>
            </a:r>
            <a:endParaRPr lang="en-US" sz="1142" dirty="0"/>
          </a:p>
        </p:txBody>
      </p:sp>
      <p:sp>
        <p:nvSpPr>
          <p:cNvPr id="32" name="Text 30"/>
          <p:cNvSpPr/>
          <p:nvPr/>
        </p:nvSpPr>
        <p:spPr>
          <a:xfrm>
            <a:off x="957580" y="4200370"/>
            <a:ext cx="1773784" cy="194151"/>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B85C1E"/>
                </a:solidFill>
                <a:latin typeface="IBM Plex Sans" pitchFamily="34" charset="0"/>
                <a:ea typeface="IBM Plex Sans" pitchFamily="34" charset="-122"/>
                <a:cs typeface="IBM Plex Sans" pitchFamily="34" charset="-120"/>
              </a:rPr>
              <a:t>Warehouse Keeper</a:t>
            </a:r>
            <a:endParaRPr lang="en-US" sz="979" dirty="0"/>
          </a:p>
        </p:txBody>
      </p:sp>
      <p:sp>
        <p:nvSpPr>
          <p:cNvPr id="33" name="Text 31"/>
          <p:cNvSpPr/>
          <p:nvPr/>
        </p:nvSpPr>
        <p:spPr>
          <a:xfrm>
            <a:off x="957580" y="4419916"/>
            <a:ext cx="1773784" cy="513715"/>
          </a:xfrm>
          <a:prstGeom prst="rect">
            <a:avLst/>
          </a:prstGeom>
          <a:noFill/>
          <a:ln/>
        </p:spPr>
        <p:txBody>
          <a:bodyPr wrap="square" lIns="0" tIns="0" rIns="0" bIns="0" rtlCol="0" anchor="t">
            <a:normAutofit/>
          </a:bodyPr>
          <a:lstStyle/>
          <a:p>
            <a:pPr marL="0" indent="0" algn="l">
              <a:lnSpc>
                <a:spcPts val="1478"/>
              </a:lnSpc>
              <a:buNone/>
            </a:pPr>
            <a:r>
              <a:rPr lang="en-US" sz="1095" dirty="0">
                <a:solidFill>
                  <a:srgbClr val="4A5550"/>
                </a:solidFill>
                <a:latin typeface="IBM Plex Sans" pitchFamily="34" charset="0"/>
                <a:ea typeface="IBM Plex Sans" pitchFamily="34" charset="-122"/>
                <a:cs typeface="IBM Plex Sans" pitchFamily="34" charset="-120"/>
              </a:rPr>
              <a:t>Scan source label; split a child label when taking part</a:t>
            </a:r>
            <a:endParaRPr lang="en-US" sz="1095" dirty="0"/>
          </a:p>
        </p:txBody>
      </p:sp>
      <p:sp>
        <p:nvSpPr>
          <p:cNvPr id="34" name="Shape 32"/>
          <p:cNvSpPr/>
          <p:nvPr/>
        </p:nvSpPr>
        <p:spPr>
          <a:xfrm>
            <a:off x="2954655" y="3470833"/>
            <a:ext cx="2005330" cy="1566307"/>
          </a:xfrm>
          <a:prstGeom prst="roundRect">
            <a:avLst>
              <a:gd name="adj" fmla="val 5473"/>
            </a:avLst>
          </a:prstGeom>
          <a:solidFill>
            <a:srgbClr val="FFFFFF"/>
          </a:solidFill>
          <a:ln w="6350">
            <a:solidFill>
              <a:srgbClr val="D5DCD7"/>
            </a:solidFill>
            <a:prstDash val="solid"/>
          </a:ln>
        </p:spPr>
        <p:txBody>
          <a:bodyPr/>
          <a:lstStyle/>
          <a:p>
            <a:endParaRPr lang="en-US"/>
          </a:p>
        </p:txBody>
      </p:sp>
      <p:sp>
        <p:nvSpPr>
          <p:cNvPr id="35" name="Text 33"/>
          <p:cNvSpPr/>
          <p:nvPr/>
        </p:nvSpPr>
        <p:spPr>
          <a:xfrm>
            <a:off x="3096260" y="359973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7</a:t>
            </a:r>
            <a:endParaRPr lang="en-US" sz="1400" dirty="0"/>
          </a:p>
        </p:txBody>
      </p:sp>
      <p:sp>
        <p:nvSpPr>
          <p:cNvPr id="36" name="Text 34"/>
          <p:cNvSpPr/>
          <p:nvPr/>
        </p:nvSpPr>
        <p:spPr>
          <a:xfrm>
            <a:off x="3096260" y="3980737"/>
            <a:ext cx="1773784" cy="194231"/>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B2420"/>
                </a:solidFill>
                <a:latin typeface="Space Grotesk" pitchFamily="34" charset="0"/>
                <a:ea typeface="Space Grotesk" pitchFamily="34" charset="-122"/>
                <a:cs typeface="Space Grotesk" pitchFamily="34" charset="-120"/>
              </a:rPr>
              <a:t>Goods issue</a:t>
            </a:r>
            <a:endParaRPr lang="en-US" sz="1142" dirty="0"/>
          </a:p>
        </p:txBody>
      </p:sp>
      <p:sp>
        <p:nvSpPr>
          <p:cNvPr id="37" name="Text 35"/>
          <p:cNvSpPr/>
          <p:nvPr/>
        </p:nvSpPr>
        <p:spPr>
          <a:xfrm>
            <a:off x="3096260" y="4200370"/>
            <a:ext cx="1773784" cy="194151"/>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B85C1E"/>
                </a:solidFill>
                <a:latin typeface="IBM Plex Sans" pitchFamily="34" charset="0"/>
                <a:ea typeface="IBM Plex Sans" pitchFamily="34" charset="-122"/>
                <a:cs typeface="IBM Plex Sans" pitchFamily="34" charset="-120"/>
              </a:rPr>
              <a:t>Warehouse Keeper</a:t>
            </a:r>
            <a:endParaRPr lang="en-US" sz="979" dirty="0"/>
          </a:p>
        </p:txBody>
      </p:sp>
      <p:sp>
        <p:nvSpPr>
          <p:cNvPr id="38" name="Text 36"/>
          <p:cNvSpPr/>
          <p:nvPr/>
        </p:nvSpPr>
        <p:spPr>
          <a:xfrm>
            <a:off x="3096260" y="4419916"/>
            <a:ext cx="1773784" cy="513715"/>
          </a:xfrm>
          <a:prstGeom prst="rect">
            <a:avLst/>
          </a:prstGeom>
          <a:noFill/>
          <a:ln/>
        </p:spPr>
        <p:txBody>
          <a:bodyPr wrap="square" lIns="0" tIns="0" rIns="0" bIns="0" rtlCol="0" anchor="t">
            <a:normAutofit/>
          </a:bodyPr>
          <a:lstStyle/>
          <a:p>
            <a:pPr marL="0" indent="0" algn="l">
              <a:lnSpc>
                <a:spcPts val="1569"/>
              </a:lnSpc>
              <a:buNone/>
            </a:pPr>
            <a:r>
              <a:rPr lang="en-US" sz="1163" dirty="0">
                <a:solidFill>
                  <a:srgbClr val="4A5550"/>
                </a:solidFill>
                <a:latin typeface="IBM Plex Sans" pitchFamily="34" charset="0"/>
                <a:ea typeface="IBM Plex Sans" pitchFamily="34" charset="-122"/>
                <a:cs typeface="IBM Plex Sans" pitchFamily="34" charset="-120"/>
              </a:rPr>
              <a:t>Confirm → stock deducted, labels in transit</a:t>
            </a:r>
            <a:endParaRPr lang="en-US" sz="1163" dirty="0"/>
          </a:p>
        </p:txBody>
      </p:sp>
      <p:sp>
        <p:nvSpPr>
          <p:cNvPr id="39" name="Shape 37"/>
          <p:cNvSpPr/>
          <p:nvPr/>
        </p:nvSpPr>
        <p:spPr>
          <a:xfrm>
            <a:off x="5093335" y="3470833"/>
            <a:ext cx="2005330" cy="1566307"/>
          </a:xfrm>
          <a:prstGeom prst="roundRect">
            <a:avLst>
              <a:gd name="adj" fmla="val 5473"/>
            </a:avLst>
          </a:prstGeom>
          <a:solidFill>
            <a:srgbClr val="FFFFFF"/>
          </a:solidFill>
          <a:ln w="6350">
            <a:solidFill>
              <a:srgbClr val="D5DCD7"/>
            </a:solidFill>
            <a:prstDash val="solid"/>
          </a:ln>
        </p:spPr>
        <p:txBody>
          <a:bodyPr/>
          <a:lstStyle/>
          <a:p>
            <a:endParaRPr lang="en-US"/>
          </a:p>
        </p:txBody>
      </p:sp>
      <p:sp>
        <p:nvSpPr>
          <p:cNvPr id="40" name="Text 38"/>
          <p:cNvSpPr/>
          <p:nvPr/>
        </p:nvSpPr>
        <p:spPr>
          <a:xfrm>
            <a:off x="5234940" y="359973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8</a:t>
            </a:r>
            <a:endParaRPr lang="en-US" sz="1400" dirty="0"/>
          </a:p>
        </p:txBody>
      </p:sp>
      <p:sp>
        <p:nvSpPr>
          <p:cNvPr id="41" name="Text 39"/>
          <p:cNvSpPr/>
          <p:nvPr/>
        </p:nvSpPr>
        <p:spPr>
          <a:xfrm>
            <a:off x="5234940" y="3980737"/>
            <a:ext cx="1773784" cy="235664"/>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B2420"/>
                </a:solidFill>
                <a:latin typeface="Space Grotesk" pitchFamily="34" charset="0"/>
                <a:ea typeface="Space Grotesk" pitchFamily="34" charset="-122"/>
                <a:cs typeface="Space Grotesk" pitchFamily="34" charset="-120"/>
              </a:rPr>
              <a:t>Delivering</a:t>
            </a:r>
            <a:endParaRPr lang="en-US" sz="1396" dirty="0"/>
          </a:p>
        </p:txBody>
      </p:sp>
      <p:sp>
        <p:nvSpPr>
          <p:cNvPr id="42" name="Text 40"/>
          <p:cNvSpPr/>
          <p:nvPr/>
        </p:nvSpPr>
        <p:spPr>
          <a:xfrm>
            <a:off x="5234940" y="4241800"/>
            <a:ext cx="1773784" cy="235585"/>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B85C1E"/>
                </a:solidFill>
                <a:latin typeface="IBM Plex Sans" pitchFamily="34" charset="0"/>
                <a:ea typeface="IBM Plex Sans" pitchFamily="34" charset="-122"/>
                <a:cs typeface="IBM Plex Sans" pitchFamily="34" charset="-120"/>
              </a:rPr>
              <a:t>Operator</a:t>
            </a:r>
            <a:endParaRPr lang="en-US" sz="1196" dirty="0"/>
          </a:p>
        </p:txBody>
      </p:sp>
      <p:sp>
        <p:nvSpPr>
          <p:cNvPr id="43" name="Text 41"/>
          <p:cNvSpPr/>
          <p:nvPr/>
        </p:nvSpPr>
        <p:spPr>
          <a:xfrm>
            <a:off x="5234940" y="4502789"/>
            <a:ext cx="1773784" cy="430848"/>
          </a:xfrm>
          <a:prstGeom prst="rect">
            <a:avLst/>
          </a:prstGeom>
          <a:noFill/>
          <a:ln/>
        </p:spPr>
        <p:txBody>
          <a:bodyPr wrap="square" lIns="0" tIns="0" rIns="0" bIns="0" rtlCol="0" anchor="t">
            <a:normAutofit/>
          </a:bodyPr>
          <a:lstStyle/>
          <a:p>
            <a:pPr marL="0" indent="0" algn="l">
              <a:lnSpc>
                <a:spcPts val="1610"/>
              </a:lnSpc>
              <a:buNone/>
            </a:pPr>
            <a:r>
              <a:rPr lang="en-US" sz="1193" dirty="0">
                <a:solidFill>
                  <a:srgbClr val="4A5550"/>
                </a:solidFill>
                <a:latin typeface="IBM Plex Sans" pitchFamily="34" charset="0"/>
                <a:ea typeface="IBM Plex Sans" pitchFamily="34" charset="-122"/>
                <a:cs typeface="IBM Plex Sans" pitchFamily="34" charset="-120"/>
              </a:rPr>
              <a:t>Status update, retailer notified</a:t>
            </a:r>
            <a:endParaRPr lang="en-US" sz="1193" dirty="0"/>
          </a:p>
        </p:txBody>
      </p:sp>
      <p:sp>
        <p:nvSpPr>
          <p:cNvPr id="44" name="Shape 42"/>
          <p:cNvSpPr/>
          <p:nvPr/>
        </p:nvSpPr>
        <p:spPr>
          <a:xfrm>
            <a:off x="7232015" y="3470833"/>
            <a:ext cx="2005330" cy="1566307"/>
          </a:xfrm>
          <a:prstGeom prst="roundRect">
            <a:avLst>
              <a:gd name="adj" fmla="val 5473"/>
            </a:avLst>
          </a:prstGeom>
          <a:solidFill>
            <a:srgbClr val="FFFFFF"/>
          </a:solidFill>
          <a:ln w="6350">
            <a:solidFill>
              <a:srgbClr val="D5DCD7"/>
            </a:solidFill>
            <a:prstDash val="solid"/>
          </a:ln>
        </p:spPr>
        <p:txBody>
          <a:bodyPr/>
          <a:lstStyle/>
          <a:p>
            <a:endParaRPr lang="en-US"/>
          </a:p>
        </p:txBody>
      </p:sp>
      <p:sp>
        <p:nvSpPr>
          <p:cNvPr id="45" name="Text 43"/>
          <p:cNvSpPr/>
          <p:nvPr/>
        </p:nvSpPr>
        <p:spPr>
          <a:xfrm>
            <a:off x="7373620" y="359973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9</a:t>
            </a:r>
            <a:endParaRPr lang="en-US" sz="1400" dirty="0"/>
          </a:p>
        </p:txBody>
      </p:sp>
      <p:sp>
        <p:nvSpPr>
          <p:cNvPr id="46" name="Text 44"/>
          <p:cNvSpPr/>
          <p:nvPr/>
        </p:nvSpPr>
        <p:spPr>
          <a:xfrm>
            <a:off x="7373620" y="3980737"/>
            <a:ext cx="1773784" cy="235664"/>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B2420"/>
                </a:solidFill>
                <a:latin typeface="Space Grotesk" pitchFamily="34" charset="0"/>
                <a:ea typeface="Space Grotesk" pitchFamily="34" charset="-122"/>
                <a:cs typeface="Space Grotesk" pitchFamily="34" charset="-120"/>
              </a:rPr>
              <a:t>Receipt</a:t>
            </a:r>
            <a:endParaRPr lang="en-US" sz="1396" dirty="0"/>
          </a:p>
        </p:txBody>
      </p:sp>
      <p:sp>
        <p:nvSpPr>
          <p:cNvPr id="47" name="Text 45"/>
          <p:cNvSpPr/>
          <p:nvPr/>
        </p:nvSpPr>
        <p:spPr>
          <a:xfrm>
            <a:off x="7373620" y="4241800"/>
            <a:ext cx="1773784" cy="235585"/>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B85C1E"/>
                </a:solidFill>
                <a:latin typeface="IBM Plex Sans" pitchFamily="34" charset="0"/>
                <a:ea typeface="IBM Plex Sans" pitchFamily="34" charset="-122"/>
                <a:cs typeface="IBM Plex Sans" pitchFamily="34" charset="-120"/>
              </a:rPr>
              <a:t>Retailer</a:t>
            </a:r>
            <a:endParaRPr lang="en-US" sz="1196" dirty="0"/>
          </a:p>
        </p:txBody>
      </p:sp>
      <p:sp>
        <p:nvSpPr>
          <p:cNvPr id="48" name="Text 46"/>
          <p:cNvSpPr/>
          <p:nvPr/>
        </p:nvSpPr>
        <p:spPr>
          <a:xfrm>
            <a:off x="7373620" y="4502789"/>
            <a:ext cx="1773784" cy="430848"/>
          </a:xfrm>
          <a:prstGeom prst="rect">
            <a:avLst/>
          </a:prstGeom>
          <a:noFill/>
          <a:ln/>
        </p:spPr>
        <p:txBody>
          <a:bodyPr wrap="square" lIns="0" tIns="0" rIns="0" bIns="0" rtlCol="0" anchor="t">
            <a:normAutofit/>
          </a:bodyPr>
          <a:lstStyle/>
          <a:p>
            <a:pPr marL="0" indent="0" algn="l">
              <a:lnSpc>
                <a:spcPts val="1610"/>
              </a:lnSpc>
              <a:buNone/>
            </a:pPr>
            <a:r>
              <a:rPr lang="en-US" sz="1193" dirty="0">
                <a:solidFill>
                  <a:srgbClr val="4A5550"/>
                </a:solidFill>
                <a:latin typeface="IBM Plex Sans" pitchFamily="34" charset="0"/>
                <a:ea typeface="IBM Plex Sans" pitchFamily="34" charset="-122"/>
                <a:cs typeface="IBM Plex Sans" pitchFamily="34" charset="-120"/>
              </a:rPr>
              <a:t>Scan every label of the order → Delivered</a:t>
            </a:r>
            <a:endParaRPr lang="en-US" sz="1193" dirty="0"/>
          </a:p>
        </p:txBody>
      </p:sp>
      <p:sp>
        <p:nvSpPr>
          <p:cNvPr id="49" name="Shape 47"/>
          <p:cNvSpPr/>
          <p:nvPr/>
        </p:nvSpPr>
        <p:spPr>
          <a:xfrm>
            <a:off x="9370695" y="3470833"/>
            <a:ext cx="2005330" cy="1566307"/>
          </a:xfrm>
          <a:prstGeom prst="roundRect">
            <a:avLst>
              <a:gd name="adj" fmla="val 5473"/>
            </a:avLst>
          </a:prstGeom>
          <a:solidFill>
            <a:srgbClr val="FFFFFF"/>
          </a:solidFill>
          <a:ln w="6350">
            <a:solidFill>
              <a:srgbClr val="D5DCD7"/>
            </a:solidFill>
            <a:prstDash val="solid"/>
          </a:ln>
        </p:spPr>
        <p:txBody>
          <a:bodyPr/>
          <a:lstStyle/>
          <a:p>
            <a:endParaRPr lang="en-US"/>
          </a:p>
        </p:txBody>
      </p:sp>
      <p:sp>
        <p:nvSpPr>
          <p:cNvPr id="50" name="Text 48"/>
          <p:cNvSpPr/>
          <p:nvPr/>
        </p:nvSpPr>
        <p:spPr>
          <a:xfrm>
            <a:off x="9512300" y="3599737"/>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14655B"/>
          </a:solidFill>
          <a:ln/>
        </p:spPr>
        <p:txBody>
          <a:bodyPr wrap="square" lIns="0" tIns="0" rIns="0" bIns="0" rtlCol="0" anchor="t">
            <a:normAutofit/>
          </a:bodyPr>
          <a:lstStyle/>
          <a:p>
            <a:pPr marL="0" indent="0" algn="ctr">
              <a:lnSpc>
                <a:spcPts val="2590"/>
              </a:lnSpc>
              <a:buNone/>
            </a:pPr>
            <a:r>
              <a:rPr lang="en-US" sz="1400" b="1" dirty="0">
                <a:solidFill>
                  <a:srgbClr val="FFFFFF"/>
                </a:solidFill>
                <a:latin typeface="Space Grotesk" pitchFamily="34" charset="0"/>
                <a:ea typeface="Space Grotesk" pitchFamily="34" charset="-122"/>
                <a:cs typeface="Space Grotesk" pitchFamily="34" charset="-120"/>
              </a:rPr>
              <a:t>10</a:t>
            </a:r>
            <a:endParaRPr lang="en-US" sz="1400" dirty="0"/>
          </a:p>
        </p:txBody>
      </p:sp>
      <p:sp>
        <p:nvSpPr>
          <p:cNvPr id="51" name="Text 49"/>
          <p:cNvSpPr/>
          <p:nvPr/>
        </p:nvSpPr>
        <p:spPr>
          <a:xfrm>
            <a:off x="9512300" y="3980737"/>
            <a:ext cx="1860551" cy="360521"/>
          </a:xfrm>
          <a:prstGeom prst="rect">
            <a:avLst/>
          </a:prstGeom>
          <a:noFill/>
          <a:ln/>
        </p:spPr>
        <p:txBody>
          <a:bodyPr wrap="square" lIns="0" tIns="0" rIns="0" bIns="0" rtlCol="0" anchor="t">
            <a:normAutofit/>
          </a:bodyPr>
          <a:lstStyle/>
          <a:p>
            <a:pPr marL="0" indent="0" algn="l">
              <a:lnSpc>
                <a:spcPts val="1397"/>
              </a:lnSpc>
              <a:buNone/>
            </a:pPr>
            <a:r>
              <a:rPr lang="en-US" sz="1164" b="1" dirty="0">
                <a:solidFill>
                  <a:srgbClr val="1B2420"/>
                </a:solidFill>
                <a:latin typeface="Space Grotesk" pitchFamily="34" charset="0"/>
                <a:ea typeface="Space Grotesk" pitchFamily="34" charset="-122"/>
                <a:cs typeface="Space Grotesk" pitchFamily="34" charset="-120"/>
              </a:rPr>
              <a:t>Payment &amp; performance</a:t>
            </a:r>
            <a:endParaRPr lang="en-US" sz="1164" dirty="0"/>
          </a:p>
        </p:txBody>
      </p:sp>
      <p:sp>
        <p:nvSpPr>
          <p:cNvPr id="52" name="Text 50"/>
          <p:cNvSpPr/>
          <p:nvPr/>
        </p:nvSpPr>
        <p:spPr>
          <a:xfrm>
            <a:off x="9512300" y="4366661"/>
            <a:ext cx="1773784" cy="192961"/>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B85C1E"/>
                </a:solidFill>
                <a:latin typeface="IBM Plex Sans" pitchFamily="34" charset="0"/>
                <a:ea typeface="IBM Plex Sans" pitchFamily="34" charset="-122"/>
                <a:cs typeface="IBM Plex Sans" pitchFamily="34" charset="-120"/>
              </a:rPr>
              <a:t>Operator · Sales</a:t>
            </a:r>
            <a:endParaRPr lang="en-US" sz="945" dirty="0"/>
          </a:p>
        </p:txBody>
      </p:sp>
      <p:sp>
        <p:nvSpPr>
          <p:cNvPr id="53" name="Text 51"/>
          <p:cNvSpPr/>
          <p:nvPr/>
        </p:nvSpPr>
        <p:spPr>
          <a:xfrm>
            <a:off x="9512300" y="4585016"/>
            <a:ext cx="1773784" cy="348615"/>
          </a:xfrm>
          <a:prstGeom prst="rect">
            <a:avLst/>
          </a:prstGeom>
          <a:noFill/>
          <a:ln/>
        </p:spPr>
        <p:txBody>
          <a:bodyPr wrap="square" lIns="0" tIns="0" rIns="0" bIns="0" rtlCol="0" anchor="t">
            <a:normAutofit/>
          </a:bodyPr>
          <a:lstStyle/>
          <a:p>
            <a:pPr marL="0" indent="0" algn="l">
              <a:lnSpc>
                <a:spcPts val="1286"/>
              </a:lnSpc>
              <a:buNone/>
            </a:pPr>
            <a:r>
              <a:rPr lang="en-US" sz="953" dirty="0">
                <a:solidFill>
                  <a:srgbClr val="4A5550"/>
                </a:solidFill>
                <a:latin typeface="IBM Plex Sans" pitchFamily="34" charset="0"/>
                <a:ea typeface="IBM Plex Sans" pitchFamily="34" charset="-122"/>
                <a:cs typeface="IBM Plex Sans" pitchFamily="34" charset="-120"/>
              </a:rPr>
              <a:t>COD / prepaid status, revenue, leaderboard</a:t>
            </a:r>
            <a:endParaRPr lang="en-US" sz="953" dirty="0"/>
          </a:p>
        </p:txBody>
      </p:sp>
      <p:sp>
        <p:nvSpPr>
          <p:cNvPr id="54" name="Text 52"/>
          <p:cNvSpPr/>
          <p:nvPr/>
        </p:nvSpPr>
        <p:spPr>
          <a:xfrm>
            <a:off x="812800" y="5307013"/>
            <a:ext cx="10039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Order status:</a:t>
            </a:r>
            <a:endParaRPr lang="en-US" sz="1200" dirty="0"/>
          </a:p>
        </p:txBody>
      </p:sp>
      <p:sp>
        <p:nvSpPr>
          <p:cNvPr id="55" name="Text 53"/>
          <p:cNvSpPr/>
          <p:nvPr/>
        </p:nvSpPr>
        <p:spPr>
          <a:xfrm>
            <a:off x="1816735" y="5268913"/>
            <a:ext cx="1136412" cy="289560"/>
          </a:xfrm>
          <a:custGeom>
            <a:avLst/>
            <a:gdLst/>
            <a:ahLst/>
            <a:cxnLst/>
            <a:rect l="l" t="t" r="r" b="b"/>
            <a:pathLst>
              <a:path w="1136412" h="289560">
                <a:moveTo>
                  <a:pt x="144780" y="0"/>
                </a:moveTo>
                <a:lnTo>
                  <a:pt x="991632" y="0"/>
                </a:lnTo>
                <a:arcTo wR="144780" hR="144780" stAng="16200000" swAng="5400000"/>
                <a:lnTo>
                  <a:pt x="1136412"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Pending sync</a:t>
            </a:r>
            <a:endParaRPr lang="en-US" sz="1200" dirty="0"/>
          </a:p>
        </p:txBody>
      </p:sp>
      <p:sp>
        <p:nvSpPr>
          <p:cNvPr id="56" name="Text 54"/>
          <p:cNvSpPr/>
          <p:nvPr/>
        </p:nvSpPr>
        <p:spPr>
          <a:xfrm>
            <a:off x="3029347" y="5307013"/>
            <a:ext cx="203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t>
            </a:r>
            <a:endParaRPr lang="en-US" sz="1200" dirty="0"/>
          </a:p>
        </p:txBody>
      </p:sp>
      <p:sp>
        <p:nvSpPr>
          <p:cNvPr id="57" name="Text 55"/>
          <p:cNvSpPr/>
          <p:nvPr/>
        </p:nvSpPr>
        <p:spPr>
          <a:xfrm>
            <a:off x="3257947" y="5268913"/>
            <a:ext cx="1434782" cy="289560"/>
          </a:xfrm>
          <a:custGeom>
            <a:avLst/>
            <a:gdLst/>
            <a:ahLst/>
            <a:cxnLst/>
            <a:rect l="l" t="t" r="r" b="b"/>
            <a:pathLst>
              <a:path w="1434782" h="289560">
                <a:moveTo>
                  <a:pt x="144780" y="0"/>
                </a:moveTo>
                <a:lnTo>
                  <a:pt x="1290002" y="0"/>
                </a:lnTo>
                <a:arcTo wR="144780" hR="144780" stAng="16200000" swAng="5400000"/>
                <a:lnTo>
                  <a:pt x="1434782"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Pending approval</a:t>
            </a:r>
            <a:endParaRPr lang="en-US" sz="1200" dirty="0"/>
          </a:p>
        </p:txBody>
      </p:sp>
      <p:sp>
        <p:nvSpPr>
          <p:cNvPr id="58" name="Text 56"/>
          <p:cNvSpPr/>
          <p:nvPr/>
        </p:nvSpPr>
        <p:spPr>
          <a:xfrm>
            <a:off x="4768929" y="5307013"/>
            <a:ext cx="203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t>
            </a:r>
            <a:endParaRPr lang="en-US" sz="1200" dirty="0"/>
          </a:p>
        </p:txBody>
      </p:sp>
      <p:sp>
        <p:nvSpPr>
          <p:cNvPr id="59" name="Text 57"/>
          <p:cNvSpPr/>
          <p:nvPr/>
        </p:nvSpPr>
        <p:spPr>
          <a:xfrm>
            <a:off x="4997529" y="5268913"/>
            <a:ext cx="887333" cy="289560"/>
          </a:xfrm>
          <a:custGeom>
            <a:avLst/>
            <a:gdLst/>
            <a:ahLst/>
            <a:cxnLst/>
            <a:rect l="l" t="t" r="r" b="b"/>
            <a:pathLst>
              <a:path w="887333" h="289560">
                <a:moveTo>
                  <a:pt x="144780" y="0"/>
                </a:moveTo>
                <a:lnTo>
                  <a:pt x="742553" y="0"/>
                </a:lnTo>
                <a:arcTo wR="144780" hR="144780" stAng="16200000" swAng="5400000"/>
                <a:lnTo>
                  <a:pt x="887333"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Approved</a:t>
            </a:r>
            <a:endParaRPr lang="en-US" sz="1200" dirty="0"/>
          </a:p>
        </p:txBody>
      </p:sp>
      <p:sp>
        <p:nvSpPr>
          <p:cNvPr id="60" name="Text 58"/>
          <p:cNvSpPr/>
          <p:nvPr/>
        </p:nvSpPr>
        <p:spPr>
          <a:xfrm>
            <a:off x="5961063" y="5307013"/>
            <a:ext cx="203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t>
            </a:r>
            <a:endParaRPr lang="en-US" sz="1200" dirty="0"/>
          </a:p>
        </p:txBody>
      </p:sp>
      <p:sp>
        <p:nvSpPr>
          <p:cNvPr id="61" name="Text 59"/>
          <p:cNvSpPr/>
          <p:nvPr/>
        </p:nvSpPr>
        <p:spPr>
          <a:xfrm>
            <a:off x="6189663" y="5268913"/>
            <a:ext cx="684292" cy="289560"/>
          </a:xfrm>
          <a:custGeom>
            <a:avLst/>
            <a:gdLst/>
            <a:ahLst/>
            <a:cxnLst/>
            <a:rect l="l" t="t" r="r" b="b"/>
            <a:pathLst>
              <a:path w="684292" h="289560">
                <a:moveTo>
                  <a:pt x="144780" y="0"/>
                </a:moveTo>
                <a:lnTo>
                  <a:pt x="539512" y="0"/>
                </a:lnTo>
                <a:arcTo wR="144780" hR="144780" stAng="16200000" swAng="5400000"/>
                <a:lnTo>
                  <a:pt x="684292"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Issued</a:t>
            </a:r>
            <a:endParaRPr lang="en-US" sz="1200" dirty="0"/>
          </a:p>
        </p:txBody>
      </p:sp>
      <p:sp>
        <p:nvSpPr>
          <p:cNvPr id="62" name="Text 60"/>
          <p:cNvSpPr/>
          <p:nvPr/>
        </p:nvSpPr>
        <p:spPr>
          <a:xfrm>
            <a:off x="6950155" y="5307013"/>
            <a:ext cx="203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t>
            </a:r>
            <a:endParaRPr lang="en-US" sz="1200" dirty="0"/>
          </a:p>
        </p:txBody>
      </p:sp>
      <p:sp>
        <p:nvSpPr>
          <p:cNvPr id="63" name="Text 61"/>
          <p:cNvSpPr/>
          <p:nvPr/>
        </p:nvSpPr>
        <p:spPr>
          <a:xfrm>
            <a:off x="7178755" y="5268913"/>
            <a:ext cx="918131" cy="289560"/>
          </a:xfrm>
          <a:custGeom>
            <a:avLst/>
            <a:gdLst/>
            <a:ahLst/>
            <a:cxnLst/>
            <a:rect l="l" t="t" r="r" b="b"/>
            <a:pathLst>
              <a:path w="918131" h="289560">
                <a:moveTo>
                  <a:pt x="144780" y="0"/>
                </a:moveTo>
                <a:lnTo>
                  <a:pt x="773351" y="0"/>
                </a:lnTo>
                <a:arcTo wR="144780" hR="144780" stAng="16200000" swAng="5400000"/>
                <a:lnTo>
                  <a:pt x="918131"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Delivering</a:t>
            </a:r>
            <a:endParaRPr lang="en-US" sz="1200" dirty="0"/>
          </a:p>
        </p:txBody>
      </p:sp>
      <p:sp>
        <p:nvSpPr>
          <p:cNvPr id="64" name="Text 62"/>
          <p:cNvSpPr/>
          <p:nvPr/>
        </p:nvSpPr>
        <p:spPr>
          <a:xfrm>
            <a:off x="8173085" y="5307013"/>
            <a:ext cx="203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t>
            </a:r>
            <a:endParaRPr lang="en-US" sz="1200" dirty="0"/>
          </a:p>
        </p:txBody>
      </p:sp>
      <p:sp>
        <p:nvSpPr>
          <p:cNvPr id="65" name="Text 63"/>
          <p:cNvSpPr/>
          <p:nvPr/>
        </p:nvSpPr>
        <p:spPr>
          <a:xfrm>
            <a:off x="8401685" y="5268913"/>
            <a:ext cx="879316" cy="289560"/>
          </a:xfrm>
          <a:custGeom>
            <a:avLst/>
            <a:gdLst/>
            <a:ahLst/>
            <a:cxnLst/>
            <a:rect l="l" t="t" r="r" b="b"/>
            <a:pathLst>
              <a:path w="879316" h="289560">
                <a:moveTo>
                  <a:pt x="144780" y="0"/>
                </a:moveTo>
                <a:lnTo>
                  <a:pt x="734536" y="0"/>
                </a:lnTo>
                <a:arcTo wR="144780" hR="144780" stAng="16200000" swAng="5400000"/>
                <a:lnTo>
                  <a:pt x="879316" y="144780"/>
                </a:lnTo>
                <a:arcTo wR="144780" hR="144780" stAng="0" swAng="5400000"/>
                <a:lnTo>
                  <a:pt x="144780" y="289560"/>
                </a:lnTo>
                <a:arcTo wR="144780" hR="144780" stAng="5400000" swAng="5400000"/>
                <a:lnTo>
                  <a:pt x="0" y="144780"/>
                </a:lnTo>
                <a:arcTo wR="144780" hR="144780" stAng="10800000" swAng="5400000"/>
                <a:close/>
              </a:path>
            </a:pathLst>
          </a:custGeom>
          <a:solidFill>
            <a:srgbClr val="DCEBE5"/>
          </a:solidFill>
          <a:ln/>
        </p:spPr>
        <p:txBody>
          <a:bodyPr wrap="none" lIns="0" tIns="0" rIns="0" bIns="0" rtlCol="0" anchor="ctr">
            <a:normAutofit/>
          </a:bodyPr>
          <a:lstStyle/>
          <a:p>
            <a:pPr marL="0" indent="0" algn="ctr">
              <a:lnSpc>
                <a:spcPts val="1680"/>
              </a:lnSpc>
              <a:buNone/>
            </a:pPr>
            <a:r>
              <a:rPr lang="en-US" sz="1200" b="1" dirty="0">
                <a:solidFill>
                  <a:srgbClr val="14655B"/>
                </a:solidFill>
                <a:latin typeface="IBM Plex Sans" pitchFamily="34" charset="0"/>
                <a:ea typeface="IBM Plex Sans" pitchFamily="34" charset="-122"/>
                <a:cs typeface="IBM Plex Sans" pitchFamily="34" charset="-120"/>
              </a:rPr>
              <a:t>Delivered</a:t>
            </a:r>
            <a:endParaRPr lang="en-US" sz="1200" dirty="0"/>
          </a:p>
        </p:txBody>
      </p:sp>
      <p:sp>
        <p:nvSpPr>
          <p:cNvPr id="66" name="Text 64"/>
          <p:cNvSpPr/>
          <p:nvPr/>
        </p:nvSpPr>
        <p:spPr>
          <a:xfrm>
            <a:off x="9357202" y="5307013"/>
            <a:ext cx="5313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 exits:</a:t>
            </a:r>
            <a:endParaRPr lang="en-US" sz="1200" dirty="0"/>
          </a:p>
        </p:txBody>
      </p:sp>
      <p:sp>
        <p:nvSpPr>
          <p:cNvPr id="67" name="Text 65"/>
          <p:cNvSpPr/>
          <p:nvPr/>
        </p:nvSpPr>
        <p:spPr>
          <a:xfrm>
            <a:off x="9888538" y="5268913"/>
            <a:ext cx="825182" cy="289560"/>
          </a:xfrm>
          <a:custGeom>
            <a:avLst/>
            <a:gdLst/>
            <a:ahLst/>
            <a:cxnLst/>
            <a:rect l="l" t="t" r="r" b="b"/>
            <a:pathLst>
              <a:path w="825182" h="289560">
                <a:moveTo>
                  <a:pt x="144780" y="0"/>
                </a:moveTo>
                <a:lnTo>
                  <a:pt x="680402" y="0"/>
                </a:lnTo>
                <a:arcTo wR="144780" hR="144780" stAng="16200000" swAng="5400000"/>
                <a:lnTo>
                  <a:pt x="825182" y="144780"/>
                </a:lnTo>
                <a:arcTo wR="144780" hR="144780" stAng="0" swAng="5400000"/>
                <a:lnTo>
                  <a:pt x="144780" y="289560"/>
                </a:lnTo>
                <a:arcTo wR="144780" hR="144780" stAng="5400000" swAng="5400000"/>
                <a:lnTo>
                  <a:pt x="0" y="144780"/>
                </a:lnTo>
                <a:arcTo wR="144780" hR="144780" stAng="10800000" swAng="5400000"/>
                <a:close/>
              </a:path>
            </a:pathLst>
          </a:custGeom>
          <a:solidFill>
            <a:srgbClr val="F6DCCB"/>
          </a:solidFill>
          <a:ln/>
        </p:spPr>
        <p:txBody>
          <a:bodyPr wrap="none" lIns="0" tIns="0" rIns="0" bIns="0" rtlCol="0" anchor="ctr">
            <a:normAutofit/>
          </a:bodyPr>
          <a:lstStyle/>
          <a:p>
            <a:pPr marL="0" indent="0" algn="ctr">
              <a:lnSpc>
                <a:spcPts val="1680"/>
              </a:lnSpc>
              <a:buNone/>
            </a:pPr>
            <a:r>
              <a:rPr lang="en-US" sz="1200" b="1" dirty="0">
                <a:solidFill>
                  <a:srgbClr val="B85C1E"/>
                </a:solidFill>
                <a:latin typeface="IBM Plex Sans" pitchFamily="34" charset="0"/>
                <a:ea typeface="IBM Plex Sans" pitchFamily="34" charset="-122"/>
                <a:cs typeface="IBM Plex Sans" pitchFamily="34" charset="-120"/>
              </a:rPr>
              <a:t>Rejected</a:t>
            </a:r>
            <a:endParaRPr lang="en-US" sz="1200" dirty="0"/>
          </a:p>
        </p:txBody>
      </p:sp>
      <p:sp>
        <p:nvSpPr>
          <p:cNvPr id="68" name="Text 66"/>
          <p:cNvSpPr/>
          <p:nvPr/>
        </p:nvSpPr>
        <p:spPr>
          <a:xfrm>
            <a:off x="812800" y="5634676"/>
            <a:ext cx="903288" cy="289560"/>
          </a:xfrm>
          <a:custGeom>
            <a:avLst/>
            <a:gdLst/>
            <a:ahLst/>
            <a:cxnLst/>
            <a:rect l="l" t="t" r="r" b="b"/>
            <a:pathLst>
              <a:path w="903288" h="289560">
                <a:moveTo>
                  <a:pt x="144780" y="0"/>
                </a:moveTo>
                <a:lnTo>
                  <a:pt x="758507" y="0"/>
                </a:lnTo>
                <a:arcTo wR="144780" hR="144780" stAng="16200000" swAng="5400000"/>
                <a:lnTo>
                  <a:pt x="903288" y="144780"/>
                </a:lnTo>
                <a:arcTo wR="144780" hR="144780" stAng="0" swAng="5400000"/>
                <a:lnTo>
                  <a:pt x="144780" y="289560"/>
                </a:lnTo>
                <a:arcTo wR="144780" hR="144780" stAng="5400000" swAng="5400000"/>
                <a:lnTo>
                  <a:pt x="0" y="144780"/>
                </a:lnTo>
                <a:arcTo wR="144780" hR="144780" stAng="10800000" swAng="5400000"/>
                <a:close/>
              </a:path>
            </a:pathLst>
          </a:custGeom>
          <a:solidFill>
            <a:srgbClr val="E4E6E3"/>
          </a:solidFill>
          <a:ln/>
        </p:spPr>
        <p:txBody>
          <a:bodyPr wrap="none" lIns="0" tIns="0" rIns="0" bIns="0" rtlCol="0" anchor="ctr">
            <a:normAutofit/>
          </a:bodyPr>
          <a:lstStyle/>
          <a:p>
            <a:pPr marL="0" indent="0" algn="ctr">
              <a:lnSpc>
                <a:spcPts val="1680"/>
              </a:lnSpc>
              <a:buNone/>
            </a:pPr>
            <a:r>
              <a:rPr lang="en-US" sz="1200" b="1" dirty="0">
                <a:solidFill>
                  <a:srgbClr val="4A5550"/>
                </a:solidFill>
                <a:latin typeface="IBM Plex Sans" pitchFamily="34" charset="0"/>
                <a:ea typeface="IBM Plex Sans" pitchFamily="34" charset="-122"/>
                <a:cs typeface="IBM Plex Sans" pitchFamily="34" charset="-120"/>
              </a:rPr>
              <a:t>Cancelled</a:t>
            </a:r>
            <a:endParaRPr lang="en-US" sz="1200" dirty="0"/>
          </a:p>
        </p:txBody>
      </p:sp>
      <p:sp>
        <p:nvSpPr>
          <p:cNvPr id="69" name="Text 67"/>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70" name="Text 68"/>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KEY SUB-FLOW</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Offline ordering and synchronization</a:t>
            </a:r>
            <a:endParaRPr lang="en-US" sz="3000" dirty="0"/>
          </a:p>
        </p:txBody>
      </p:sp>
      <p:sp>
        <p:nvSpPr>
          <p:cNvPr id="4" name="Text 2"/>
          <p:cNvSpPr/>
          <p:nvPr/>
        </p:nvSpPr>
        <p:spPr>
          <a:xfrm>
            <a:off x="812800" y="1572264"/>
            <a:ext cx="330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655B"/>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19200" y="1572264"/>
            <a:ext cx="526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Cache</a:t>
            </a:r>
            <a:endParaRPr lang="en-US" sz="1400" dirty="0"/>
          </a:p>
        </p:txBody>
      </p:sp>
      <p:sp>
        <p:nvSpPr>
          <p:cNvPr id="6" name="Text 4"/>
          <p:cNvSpPr/>
          <p:nvPr/>
        </p:nvSpPr>
        <p:spPr>
          <a:xfrm>
            <a:off x="1219200" y="1811021"/>
            <a:ext cx="52628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Retailers, products, prices, promotions and stock snapshot stored in the app's SQLite database</a:t>
            </a:r>
            <a:endParaRPr lang="en-US" sz="1200" dirty="0"/>
          </a:p>
        </p:txBody>
      </p:sp>
      <p:sp>
        <p:nvSpPr>
          <p:cNvPr id="7" name="Text 5"/>
          <p:cNvSpPr/>
          <p:nvPr/>
        </p:nvSpPr>
        <p:spPr>
          <a:xfrm>
            <a:off x="812800" y="2364742"/>
            <a:ext cx="330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655B"/>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19200" y="2364742"/>
            <a:ext cx="526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Order offline</a:t>
            </a:r>
            <a:endParaRPr lang="en-US" sz="1400" dirty="0"/>
          </a:p>
        </p:txBody>
      </p:sp>
      <p:sp>
        <p:nvSpPr>
          <p:cNvPr id="9" name="Text 7"/>
          <p:cNvSpPr/>
          <p:nvPr/>
        </p:nvSpPr>
        <p:spPr>
          <a:xfrm>
            <a:off x="1219200" y="2603500"/>
            <a:ext cx="52628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Promotions estimated on local data; order queued with an idempotency key and the device time</a:t>
            </a:r>
            <a:endParaRPr lang="en-US" sz="1200" dirty="0"/>
          </a:p>
        </p:txBody>
      </p:sp>
      <p:sp>
        <p:nvSpPr>
          <p:cNvPr id="10" name="Text 8"/>
          <p:cNvSpPr/>
          <p:nvPr/>
        </p:nvSpPr>
        <p:spPr>
          <a:xfrm>
            <a:off x="812800" y="3157221"/>
            <a:ext cx="330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655B"/>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19200" y="3157221"/>
            <a:ext cx="526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Sync</a:t>
            </a:r>
            <a:endParaRPr lang="en-US" sz="1400" dirty="0"/>
          </a:p>
        </p:txBody>
      </p:sp>
      <p:sp>
        <p:nvSpPr>
          <p:cNvPr id="12" name="Text 10"/>
          <p:cNvSpPr/>
          <p:nvPr/>
        </p:nvSpPr>
        <p:spPr>
          <a:xfrm>
            <a:off x="1219200" y="3395979"/>
            <a:ext cx="52628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Automatic when the connection returns; if it fails, the Sales Representative syncs manually</a:t>
            </a:r>
            <a:endParaRPr lang="en-US" sz="1200" dirty="0"/>
          </a:p>
        </p:txBody>
      </p:sp>
      <p:sp>
        <p:nvSpPr>
          <p:cNvPr id="13" name="Text 11"/>
          <p:cNvSpPr/>
          <p:nvPr/>
        </p:nvSpPr>
        <p:spPr>
          <a:xfrm>
            <a:off x="812800" y="3949700"/>
            <a:ext cx="330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655B"/>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19200" y="3949700"/>
            <a:ext cx="526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First come, first served</a:t>
            </a:r>
            <a:endParaRPr lang="en-US" sz="1400" dirty="0"/>
          </a:p>
        </p:txBody>
      </p:sp>
      <p:sp>
        <p:nvSpPr>
          <p:cNvPr id="15" name="Text 13"/>
          <p:cNvSpPr/>
          <p:nvPr/>
        </p:nvSpPr>
        <p:spPr>
          <a:xfrm>
            <a:off x="1219200" y="4188464"/>
            <a:ext cx="52628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The server processes orders by arrival time, revalidates data and recalculates promotions — the server result is final</a:t>
            </a:r>
            <a:endParaRPr lang="en-US" sz="1200" dirty="0"/>
          </a:p>
        </p:txBody>
      </p:sp>
      <p:sp>
        <p:nvSpPr>
          <p:cNvPr id="16" name="Text 14"/>
          <p:cNvSpPr/>
          <p:nvPr/>
        </p:nvSpPr>
        <p:spPr>
          <a:xfrm>
            <a:off x="812800" y="4742179"/>
            <a:ext cx="330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655B"/>
                </a:solidFill>
                <a:latin typeface="Space Grotesk" pitchFamily="34" charset="0"/>
                <a:ea typeface="Space Grotesk" pitchFamily="34" charset="-122"/>
                <a:cs typeface="Space Grotesk" pitchFamily="34" charset="-120"/>
              </a:rPr>
              <a:t>5</a:t>
            </a:r>
            <a:endParaRPr lang="en-US" sz="1400" dirty="0"/>
          </a:p>
        </p:txBody>
      </p:sp>
      <p:sp>
        <p:nvSpPr>
          <p:cNvPr id="17" name="Text 15"/>
          <p:cNvSpPr/>
          <p:nvPr/>
        </p:nvSpPr>
        <p:spPr>
          <a:xfrm>
            <a:off x="1219200" y="4742179"/>
            <a:ext cx="526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Allocate or reject</a:t>
            </a:r>
            <a:endParaRPr lang="en-US" sz="1400" dirty="0"/>
          </a:p>
        </p:txBody>
      </p:sp>
      <p:sp>
        <p:nvSpPr>
          <p:cNvPr id="18" name="Text 16"/>
          <p:cNvSpPr/>
          <p:nvPr/>
        </p:nvSpPr>
        <p:spPr>
          <a:xfrm>
            <a:off x="1219200" y="4980942"/>
            <a:ext cx="52628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Allocation runs again on live stock; a later order that can no longer be filled is rejected, Sales and retailer notified</a:t>
            </a:r>
            <a:endParaRPr lang="en-US" sz="1200" dirty="0"/>
          </a:p>
        </p:txBody>
      </p:sp>
      <p:sp>
        <p:nvSpPr>
          <p:cNvPr id="19" name="Shape 17"/>
          <p:cNvSpPr/>
          <p:nvPr/>
        </p:nvSpPr>
        <p:spPr>
          <a:xfrm>
            <a:off x="6582728" y="1572264"/>
            <a:ext cx="4796393" cy="2961640"/>
          </a:xfrm>
          <a:prstGeom prst="roundRect">
            <a:avLst>
              <a:gd name="adj" fmla="val 3431"/>
            </a:avLst>
          </a:prstGeom>
          <a:solidFill>
            <a:srgbClr val="14302B"/>
          </a:solidFill>
          <a:ln/>
        </p:spPr>
        <p:txBody>
          <a:bodyPr/>
          <a:lstStyle/>
          <a:p>
            <a:endParaRPr lang="en-US"/>
          </a:p>
        </p:txBody>
      </p:sp>
      <p:sp>
        <p:nvSpPr>
          <p:cNvPr id="20" name="Text 18"/>
          <p:cNvSpPr/>
          <p:nvPr/>
        </p:nvSpPr>
        <p:spPr>
          <a:xfrm>
            <a:off x="6785928" y="1775464"/>
            <a:ext cx="45216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Example from the prototype</a:t>
            </a:r>
            <a:endParaRPr lang="en-US" sz="1500" dirty="0"/>
          </a:p>
        </p:txBody>
      </p:sp>
      <p:sp>
        <p:nvSpPr>
          <p:cNvPr id="21" name="Text 19"/>
          <p:cNvSpPr/>
          <p:nvPr/>
        </p:nvSpPr>
        <p:spPr>
          <a:xfrm>
            <a:off x="6785928" y="2105664"/>
            <a:ext cx="6223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D1B9"/>
                </a:solidFill>
                <a:latin typeface="IBM Plex Mono" pitchFamily="49" charset="0"/>
                <a:ea typeface="IBM Plex Mono" pitchFamily="49" charset="-122"/>
                <a:cs typeface="IBM Plex Mono" pitchFamily="49" charset="-120"/>
              </a:rPr>
              <a:t>10:15</a:t>
            </a:r>
            <a:endParaRPr lang="en-US" sz="1200" dirty="0"/>
          </a:p>
        </p:txBody>
      </p:sp>
      <p:sp>
        <p:nvSpPr>
          <p:cNvPr id="22" name="Text 20"/>
          <p:cNvSpPr/>
          <p:nvPr/>
        </p:nvSpPr>
        <p:spPr>
          <a:xfrm>
            <a:off x="7459028" y="2105664"/>
            <a:ext cx="38284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EEA"/>
                </a:solidFill>
                <a:latin typeface="IBM Plex Sans" pitchFamily="34" charset="0"/>
                <a:ea typeface="IBM Plex Sans" pitchFamily="34" charset="-122"/>
                <a:cs typeface="IBM Plex Sans" pitchFamily="34" charset="-120"/>
              </a:rPr>
              <a:t>Sales A, offline: 60 × SKU001 for Tạp hóa Minh Châu (device time kept)</a:t>
            </a:r>
            <a:endParaRPr lang="en-US" sz="1200" dirty="0"/>
          </a:p>
        </p:txBody>
      </p:sp>
      <p:sp>
        <p:nvSpPr>
          <p:cNvPr id="23" name="Text 21"/>
          <p:cNvSpPr/>
          <p:nvPr/>
        </p:nvSpPr>
        <p:spPr>
          <a:xfrm>
            <a:off x="6785928" y="2633979"/>
            <a:ext cx="6223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D1B9"/>
                </a:solidFill>
                <a:latin typeface="IBM Plex Mono" pitchFamily="49" charset="0"/>
                <a:ea typeface="IBM Plex Mono" pitchFamily="49" charset="-122"/>
                <a:cs typeface="IBM Plex Mono" pitchFamily="49" charset="-120"/>
              </a:rPr>
              <a:t>10:21</a:t>
            </a:r>
            <a:endParaRPr lang="en-US" sz="1200" dirty="0"/>
          </a:p>
        </p:txBody>
      </p:sp>
      <p:sp>
        <p:nvSpPr>
          <p:cNvPr id="24" name="Text 22"/>
          <p:cNvSpPr/>
          <p:nvPr/>
        </p:nvSpPr>
        <p:spPr>
          <a:xfrm>
            <a:off x="7459028" y="2633979"/>
            <a:ext cx="38284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EEA"/>
                </a:solidFill>
                <a:latin typeface="IBM Plex Sans" pitchFamily="34" charset="0"/>
                <a:ea typeface="IBM Plex Sans" pitchFamily="34" charset="-122"/>
                <a:cs typeface="IBM Plex Sans" pitchFamily="34" charset="-120"/>
              </a:rPr>
              <a:t>Another Sales' order reaches the server first and holds 120 cartons of SKU001</a:t>
            </a:r>
            <a:endParaRPr lang="en-US" sz="1200" dirty="0"/>
          </a:p>
        </p:txBody>
      </p:sp>
      <p:sp>
        <p:nvSpPr>
          <p:cNvPr id="25" name="Text 23"/>
          <p:cNvSpPr/>
          <p:nvPr/>
        </p:nvSpPr>
        <p:spPr>
          <a:xfrm>
            <a:off x="6785928" y="3162300"/>
            <a:ext cx="6223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D1B9"/>
                </a:solidFill>
                <a:latin typeface="IBM Plex Mono" pitchFamily="49" charset="0"/>
                <a:ea typeface="IBM Plex Mono" pitchFamily="49" charset="-122"/>
                <a:cs typeface="IBM Plex Mono" pitchFamily="49" charset="-120"/>
              </a:rPr>
              <a:t>10:22</a:t>
            </a:r>
            <a:endParaRPr lang="en-US" sz="1200" dirty="0"/>
          </a:p>
        </p:txBody>
      </p:sp>
      <p:sp>
        <p:nvSpPr>
          <p:cNvPr id="26" name="Text 24"/>
          <p:cNvSpPr/>
          <p:nvPr/>
        </p:nvSpPr>
        <p:spPr>
          <a:xfrm>
            <a:off x="7459028" y="3162300"/>
            <a:ext cx="38284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EEA"/>
                </a:solidFill>
                <a:latin typeface="IBM Plex Sans" pitchFamily="34" charset="0"/>
                <a:ea typeface="IBM Plex Sans" pitchFamily="34" charset="-122"/>
                <a:cs typeface="IBM Plex Sans" pitchFamily="34" charset="-120"/>
              </a:rPr>
              <a:t>Sales A syncs: only 40 cartons left → order rejected, Sales A and retailer notified</a:t>
            </a:r>
            <a:endParaRPr lang="en-US" sz="1200" dirty="0"/>
          </a:p>
        </p:txBody>
      </p:sp>
      <p:sp>
        <p:nvSpPr>
          <p:cNvPr id="27" name="Text 25"/>
          <p:cNvSpPr/>
          <p:nvPr/>
        </p:nvSpPr>
        <p:spPr>
          <a:xfrm>
            <a:off x="6785928" y="3690621"/>
            <a:ext cx="6223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D1B9"/>
                </a:solidFill>
                <a:latin typeface="IBM Plex Mono" pitchFamily="49" charset="0"/>
                <a:ea typeface="IBM Plex Mono" pitchFamily="49" charset="-122"/>
                <a:cs typeface="IBM Plex Mono" pitchFamily="49" charset="-120"/>
              </a:rPr>
              <a:t>10:23</a:t>
            </a:r>
            <a:endParaRPr lang="en-US" sz="1200" dirty="0"/>
          </a:p>
        </p:txBody>
      </p:sp>
      <p:sp>
        <p:nvSpPr>
          <p:cNvPr id="28" name="Text 26"/>
          <p:cNvSpPr/>
          <p:nvPr/>
        </p:nvSpPr>
        <p:spPr>
          <a:xfrm>
            <a:off x="7459028" y="3690621"/>
            <a:ext cx="38284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EEA"/>
                </a:solidFill>
                <a:latin typeface="IBM Plex Sans" pitchFamily="34" charset="0"/>
                <a:ea typeface="IBM Plex Sans" pitchFamily="34" charset="-122"/>
                <a:cs typeface="IBM Plex Sans" pitchFamily="34" charset="-120"/>
              </a:rPr>
              <a:t>Second offline order: promotion KM03 was paused at 09:30 → estimate −VND 720,000, official VND 0, order flagged</a:t>
            </a:r>
            <a:endParaRPr lang="en-US" sz="1200" dirty="0"/>
          </a:p>
        </p:txBody>
      </p:sp>
      <p:sp>
        <p:nvSpPr>
          <p:cNvPr id="29" name="Text 27"/>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30" name="Text 28"/>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USERS</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Roles in the system</a:t>
            </a:r>
            <a:endParaRPr lang="en-US" sz="3000" dirty="0"/>
          </a:p>
        </p:txBody>
      </p:sp>
      <p:sp>
        <p:nvSpPr>
          <p:cNvPr id="4" name="Shape 2"/>
          <p:cNvSpPr/>
          <p:nvPr/>
        </p:nvSpPr>
        <p:spPr>
          <a:xfrm>
            <a:off x="812800" y="1572264"/>
            <a:ext cx="10566400" cy="3253740"/>
          </a:xfrm>
          <a:prstGeom prst="roundRect">
            <a:avLst>
              <a:gd name="adj" fmla="val 2342"/>
            </a:avLst>
          </a:prstGeom>
          <a:solidFill>
            <a:srgbClr val="FFFFFF"/>
          </a:solidFill>
          <a:ln/>
        </p:spPr>
        <p:txBody>
          <a:bodyPr/>
          <a:lstStyle/>
          <a:p>
            <a:endParaRPr lang="en-US"/>
          </a:p>
        </p:txBody>
      </p:sp>
      <p:sp>
        <p:nvSpPr>
          <p:cNvPr id="5" name="Shape 3"/>
          <p:cNvSpPr/>
          <p:nvPr/>
        </p:nvSpPr>
        <p:spPr>
          <a:xfrm>
            <a:off x="812800" y="1572264"/>
            <a:ext cx="10566400" cy="3253740"/>
          </a:xfrm>
          <a:custGeom>
            <a:avLst/>
            <a:gdLst/>
            <a:ahLst/>
            <a:cxnLst/>
            <a:rect l="l" t="t" r="r" b="b"/>
            <a:pathLst>
              <a:path w="10566400" h="3253740">
                <a:moveTo>
                  <a:pt x="10490200" y="0"/>
                </a:moveTo>
                <a:lnTo>
                  <a:pt x="10490200" y="0"/>
                </a:lnTo>
                <a:arcTo wR="76200" hR="76200" stAng="16200000" swAng="5400000"/>
                <a:lnTo>
                  <a:pt x="10566400" y="3177540"/>
                </a:lnTo>
                <a:arcTo wR="76200" hR="76200" stAng="0" swAng="5400000"/>
                <a:lnTo>
                  <a:pt x="76200" y="3253740"/>
                </a:lnTo>
                <a:arcTo wR="76200" hR="76200" stAng="5400000" swAng="5400000"/>
                <a:lnTo>
                  <a:pt x="0" y="3177540"/>
                </a:lnTo>
                <a:arcTo wR="76200" hR="69850" stAng="10800000" swAng="-5400000"/>
                <a:lnTo>
                  <a:pt x="10490200" y="324739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64"/>
            <a:ext cx="10566400" cy="3253740"/>
          </a:xfrm>
          <a:custGeom>
            <a:avLst/>
            <a:gdLst/>
            <a:ahLst/>
            <a:cxnLst/>
            <a:rect l="l" t="t" r="r" b="b"/>
            <a:pathLst>
              <a:path w="10566400" h="3253740">
                <a:moveTo>
                  <a:pt x="76200" y="3253740"/>
                </a:moveTo>
                <a:lnTo>
                  <a:pt x="76200" y="325374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317754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24"/>
          <a:ext cx="10398760" cy="3086100"/>
        </p:xfrm>
        <a:graphic>
          <a:graphicData uri="http://schemas.openxmlformats.org/drawingml/2006/table">
            <a:tbl>
              <a:tblPr/>
              <a:tblGrid>
                <a:gridCol w="2079752">
                  <a:extLst>
                    <a:ext uri="{9D8B030D-6E8A-4147-A177-3AD203B41FA5}">
                      <a16:colId xmlns:a16="http://schemas.microsoft.com/office/drawing/2014/main" val="20000"/>
                    </a:ext>
                  </a:extLst>
                </a:gridCol>
                <a:gridCol w="2287727">
                  <a:extLst>
                    <a:ext uri="{9D8B030D-6E8A-4147-A177-3AD203B41FA5}">
                      <a16:colId xmlns:a16="http://schemas.microsoft.com/office/drawing/2014/main" val="20001"/>
                    </a:ext>
                  </a:extLst>
                </a:gridCol>
                <a:gridCol w="6031281">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Channel</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Main responsibilities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Administrator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Web portal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Users and roles, master data (SKU, warehouse, MLOR), promotions, dashboards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Operator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Web portal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Approve, reject or cancel orders; delivery status; QR payments; discrepancies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Sales Manager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Web portal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Regions and sales groups; assign and rotate Sales; group performance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Warehouse Keeper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Warehouse app + portal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Goods receipt and labels; picking; scan and split labels; goods issue; write-off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Sales Representative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Sales app (offline)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Order for assigned retailers; declare retailers; sync; revenue and leaderboard</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Retailer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Retailer app</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Track orders; scan labels to confirm receipt; payment history; no self-ordering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System</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Background services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FEFO-MLOR allocation, promotions, sync queue, expiry job, notifications, audit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CORE ALGORITHM</a:t>
            </a:r>
            <a:endParaRPr lang="en-US" sz="1200" dirty="0"/>
          </a:p>
        </p:txBody>
      </p:sp>
      <p:sp>
        <p:nvSpPr>
          <p:cNvPr id="3" name="Text 1"/>
          <p:cNvSpPr>
            <a:spLocks noGrp="1"/>
          </p:cNvSpPr>
          <p:nvPr>
            <p:ph type="title"/>
          </p:nvPr>
        </p:nvSpPr>
        <p:spPr>
          <a:xfrm>
            <a:off x="812800" y="9245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FEFO-MLOR multi-warehouse allocation</a:t>
            </a:r>
            <a:endParaRPr lang="en-US" sz="3000" dirty="0"/>
          </a:p>
        </p:txBody>
      </p:sp>
      <p:sp>
        <p:nvSpPr>
          <p:cNvPr id="4" name="Shape 2"/>
          <p:cNvSpPr/>
          <p:nvPr/>
        </p:nvSpPr>
        <p:spPr>
          <a:xfrm>
            <a:off x="812800" y="1572258"/>
            <a:ext cx="1767840" cy="1729740"/>
          </a:xfrm>
          <a:prstGeom prst="roundRect">
            <a:avLst>
              <a:gd name="adj" fmla="val 5874"/>
            </a:avLst>
          </a:prstGeom>
          <a:solidFill>
            <a:srgbClr val="14655B"/>
          </a:solidFill>
          <a:ln/>
        </p:spPr>
        <p:txBody>
          <a:bodyPr/>
          <a:lstStyle/>
          <a:p>
            <a:endParaRPr lang="en-US"/>
          </a:p>
        </p:txBody>
      </p:sp>
      <p:sp>
        <p:nvSpPr>
          <p:cNvPr id="5" name="Text 3"/>
          <p:cNvSpPr/>
          <p:nvPr/>
        </p:nvSpPr>
        <p:spPr>
          <a:xfrm>
            <a:off x="965200" y="1724658"/>
            <a:ext cx="15138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FD1B9"/>
                </a:solidFill>
                <a:latin typeface="IBM Plex Mono" pitchFamily="49" charset="0"/>
                <a:ea typeface="IBM Plex Mono" pitchFamily="49" charset="-122"/>
                <a:cs typeface="IBM Plex Mono" pitchFamily="49" charset="-120"/>
              </a:rPr>
              <a:t>B1</a:t>
            </a:r>
            <a:endParaRPr lang="en-US" sz="1400" dirty="0"/>
          </a:p>
        </p:txBody>
      </p:sp>
      <p:sp>
        <p:nvSpPr>
          <p:cNvPr id="6" name="Text 4"/>
          <p:cNvSpPr/>
          <p:nvPr/>
        </p:nvSpPr>
        <p:spPr>
          <a:xfrm>
            <a:off x="965200" y="2024385"/>
            <a:ext cx="15138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Candidates</a:t>
            </a:r>
            <a:endParaRPr lang="en-US" sz="1500" dirty="0"/>
          </a:p>
        </p:txBody>
      </p:sp>
      <p:sp>
        <p:nvSpPr>
          <p:cNvPr id="7" name="Text 5"/>
          <p:cNvSpPr/>
          <p:nvPr/>
        </p:nvSpPr>
        <p:spPr>
          <a:xfrm>
            <a:off x="965200" y="2303785"/>
            <a:ext cx="151384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CEBE5"/>
                </a:solidFill>
                <a:latin typeface="IBM Plex Sans" pitchFamily="34" charset="0"/>
                <a:ea typeface="IBM Plex Sans" pitchFamily="34" charset="-122"/>
                <a:cs typeface="IBM Plex Sans" pitchFamily="34" charset="-120"/>
              </a:rPr>
              <a:t>Batches of the SKU, allowed to ship, available after holds</a:t>
            </a:r>
            <a:endParaRPr lang="en-US" sz="1200" dirty="0"/>
          </a:p>
        </p:txBody>
      </p:sp>
      <p:pic>
        <p:nvPicPr>
          <p:cNvPr id="8" name="Image 0" descr="arrow-right"/>
          <p:cNvPicPr>
            <a:picLocks noChangeAspect="1"/>
          </p:cNvPicPr>
          <p:nvPr/>
        </p:nvPicPr>
        <p:blipFill>
          <a:blip r:embed="rId3"/>
          <a:srcRect/>
          <a:stretch/>
        </p:blipFill>
        <p:spPr>
          <a:xfrm>
            <a:off x="2682240" y="2348235"/>
            <a:ext cx="228600" cy="177800"/>
          </a:xfrm>
          <a:prstGeom prst="rect">
            <a:avLst/>
          </a:prstGeom>
        </p:spPr>
      </p:pic>
      <p:sp>
        <p:nvSpPr>
          <p:cNvPr id="9" name="Shape 6"/>
          <p:cNvSpPr/>
          <p:nvPr/>
        </p:nvSpPr>
        <p:spPr>
          <a:xfrm>
            <a:off x="3012440" y="1572258"/>
            <a:ext cx="1767840" cy="1729740"/>
          </a:xfrm>
          <a:prstGeom prst="roundRect">
            <a:avLst>
              <a:gd name="adj" fmla="val 5874"/>
            </a:avLst>
          </a:prstGeom>
          <a:solidFill>
            <a:srgbClr val="14655B"/>
          </a:solidFill>
          <a:ln/>
        </p:spPr>
        <p:txBody>
          <a:bodyPr/>
          <a:lstStyle/>
          <a:p>
            <a:endParaRPr lang="en-US"/>
          </a:p>
        </p:txBody>
      </p:sp>
      <p:sp>
        <p:nvSpPr>
          <p:cNvPr id="10" name="Text 7"/>
          <p:cNvSpPr/>
          <p:nvPr/>
        </p:nvSpPr>
        <p:spPr>
          <a:xfrm>
            <a:off x="3164840" y="1724658"/>
            <a:ext cx="15138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FD1B9"/>
                </a:solidFill>
                <a:latin typeface="IBM Plex Mono" pitchFamily="49" charset="0"/>
                <a:ea typeface="IBM Plex Mono" pitchFamily="49" charset="-122"/>
                <a:cs typeface="IBM Plex Mono" pitchFamily="49" charset="-120"/>
              </a:rPr>
              <a:t>B2</a:t>
            </a:r>
            <a:endParaRPr lang="en-US" sz="1400" dirty="0"/>
          </a:p>
        </p:txBody>
      </p:sp>
      <p:sp>
        <p:nvSpPr>
          <p:cNvPr id="11" name="Text 8"/>
          <p:cNvSpPr/>
          <p:nvPr/>
        </p:nvSpPr>
        <p:spPr>
          <a:xfrm>
            <a:off x="3164840" y="2024385"/>
            <a:ext cx="15138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Eligibility</a:t>
            </a:r>
            <a:endParaRPr lang="en-US" sz="1500" dirty="0"/>
          </a:p>
        </p:txBody>
      </p:sp>
      <p:sp>
        <p:nvSpPr>
          <p:cNvPr id="12" name="Text 9"/>
          <p:cNvSpPr/>
          <p:nvPr/>
        </p:nvSpPr>
        <p:spPr>
          <a:xfrm>
            <a:off x="3164840" y="2303785"/>
            <a:ext cx="151384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CEBE5"/>
                </a:solidFill>
                <a:latin typeface="IBM Plex Sans" pitchFamily="34" charset="0"/>
                <a:ea typeface="IBM Plex Sans" pitchFamily="34" charset="-122"/>
                <a:cs typeface="IBM Plex Sans" pitchFamily="34" charset="-120"/>
              </a:rPr>
              <a:t>Service distance, ETA, promised date and MLOR</a:t>
            </a:r>
            <a:endParaRPr lang="en-US" sz="1200" dirty="0"/>
          </a:p>
        </p:txBody>
      </p:sp>
      <p:pic>
        <p:nvPicPr>
          <p:cNvPr id="13" name="Image 1" descr="arrow-right"/>
          <p:cNvPicPr>
            <a:picLocks noChangeAspect="1"/>
          </p:cNvPicPr>
          <p:nvPr/>
        </p:nvPicPr>
        <p:blipFill>
          <a:blip r:embed="rId3"/>
          <a:srcRect/>
          <a:stretch/>
        </p:blipFill>
        <p:spPr>
          <a:xfrm>
            <a:off x="4881880" y="2348235"/>
            <a:ext cx="228600" cy="177800"/>
          </a:xfrm>
          <a:prstGeom prst="rect">
            <a:avLst/>
          </a:prstGeom>
        </p:spPr>
      </p:pic>
      <p:sp>
        <p:nvSpPr>
          <p:cNvPr id="14" name="Shape 10"/>
          <p:cNvSpPr/>
          <p:nvPr/>
        </p:nvSpPr>
        <p:spPr>
          <a:xfrm>
            <a:off x="5212080" y="1572258"/>
            <a:ext cx="1767840" cy="1729740"/>
          </a:xfrm>
          <a:prstGeom prst="roundRect">
            <a:avLst>
              <a:gd name="adj" fmla="val 5874"/>
            </a:avLst>
          </a:prstGeom>
          <a:solidFill>
            <a:srgbClr val="14655B"/>
          </a:solidFill>
          <a:ln/>
        </p:spPr>
        <p:txBody>
          <a:bodyPr/>
          <a:lstStyle/>
          <a:p>
            <a:endParaRPr lang="en-US"/>
          </a:p>
        </p:txBody>
      </p:sp>
      <p:sp>
        <p:nvSpPr>
          <p:cNvPr id="15" name="Text 11"/>
          <p:cNvSpPr/>
          <p:nvPr/>
        </p:nvSpPr>
        <p:spPr>
          <a:xfrm>
            <a:off x="5364480" y="1724658"/>
            <a:ext cx="15138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FD1B9"/>
                </a:solidFill>
                <a:latin typeface="IBM Plex Mono" pitchFamily="49" charset="0"/>
                <a:ea typeface="IBM Plex Mono" pitchFamily="49" charset="-122"/>
                <a:cs typeface="IBM Plex Mono" pitchFamily="49" charset="-120"/>
              </a:rPr>
              <a:t>B3</a:t>
            </a:r>
            <a:endParaRPr lang="en-US" sz="1400" dirty="0"/>
          </a:p>
        </p:txBody>
      </p:sp>
      <p:sp>
        <p:nvSpPr>
          <p:cNvPr id="16" name="Text 12"/>
          <p:cNvSpPr/>
          <p:nvPr/>
        </p:nvSpPr>
        <p:spPr>
          <a:xfrm>
            <a:off x="5364480" y="2024385"/>
            <a:ext cx="15138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FEFO ranking</a:t>
            </a:r>
            <a:endParaRPr lang="en-US" sz="1500" dirty="0"/>
          </a:p>
        </p:txBody>
      </p:sp>
      <p:sp>
        <p:nvSpPr>
          <p:cNvPr id="17" name="Text 13"/>
          <p:cNvSpPr/>
          <p:nvPr/>
        </p:nvSpPr>
        <p:spPr>
          <a:xfrm>
            <a:off x="5364480" y="2303785"/>
            <a:ext cx="151384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CEBE5"/>
                </a:solidFill>
                <a:latin typeface="IBM Plex Sans" pitchFamily="34" charset="0"/>
                <a:ea typeface="IBM Plex Sans" pitchFamily="34" charset="-122"/>
                <a:cs typeface="IBM Plex Sans" pitchFamily="34" charset="-120"/>
              </a:rPr>
              <a:t>Earliest expiry → shorter distance → larger quantity</a:t>
            </a:r>
            <a:endParaRPr lang="en-US" sz="1200" dirty="0"/>
          </a:p>
        </p:txBody>
      </p:sp>
      <p:pic>
        <p:nvPicPr>
          <p:cNvPr id="18" name="Image 2" descr="arrow-right"/>
          <p:cNvPicPr>
            <a:picLocks noChangeAspect="1"/>
          </p:cNvPicPr>
          <p:nvPr/>
        </p:nvPicPr>
        <p:blipFill>
          <a:blip r:embed="rId3"/>
          <a:srcRect/>
          <a:stretch/>
        </p:blipFill>
        <p:spPr>
          <a:xfrm>
            <a:off x="7081520" y="2348235"/>
            <a:ext cx="228600" cy="177800"/>
          </a:xfrm>
          <a:prstGeom prst="rect">
            <a:avLst/>
          </a:prstGeom>
        </p:spPr>
      </p:pic>
      <p:sp>
        <p:nvSpPr>
          <p:cNvPr id="19" name="Shape 14"/>
          <p:cNvSpPr/>
          <p:nvPr/>
        </p:nvSpPr>
        <p:spPr>
          <a:xfrm>
            <a:off x="7411720" y="1572258"/>
            <a:ext cx="1767840" cy="1729740"/>
          </a:xfrm>
          <a:prstGeom prst="roundRect">
            <a:avLst>
              <a:gd name="adj" fmla="val 5874"/>
            </a:avLst>
          </a:prstGeom>
          <a:solidFill>
            <a:srgbClr val="14655B"/>
          </a:solidFill>
          <a:ln/>
        </p:spPr>
        <p:txBody>
          <a:bodyPr/>
          <a:lstStyle/>
          <a:p>
            <a:endParaRPr lang="en-US"/>
          </a:p>
        </p:txBody>
      </p:sp>
      <p:sp>
        <p:nvSpPr>
          <p:cNvPr id="20" name="Text 15"/>
          <p:cNvSpPr/>
          <p:nvPr/>
        </p:nvSpPr>
        <p:spPr>
          <a:xfrm>
            <a:off x="7564120" y="1724658"/>
            <a:ext cx="15138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FD1B9"/>
                </a:solidFill>
                <a:latin typeface="IBM Plex Mono" pitchFamily="49" charset="0"/>
                <a:ea typeface="IBM Plex Mono" pitchFamily="49" charset="-122"/>
                <a:cs typeface="IBM Plex Mono" pitchFamily="49" charset="-120"/>
              </a:rPr>
              <a:t>B4</a:t>
            </a:r>
            <a:endParaRPr lang="en-US" sz="1400" dirty="0"/>
          </a:p>
        </p:txBody>
      </p:sp>
      <p:sp>
        <p:nvSpPr>
          <p:cNvPr id="21" name="Text 16"/>
          <p:cNvSpPr/>
          <p:nvPr/>
        </p:nvSpPr>
        <p:spPr>
          <a:xfrm>
            <a:off x="7564120" y="2024385"/>
            <a:ext cx="151384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Greedy allocation</a:t>
            </a:r>
            <a:endParaRPr lang="en-US" sz="1500" dirty="0"/>
          </a:p>
        </p:txBody>
      </p:sp>
      <p:sp>
        <p:nvSpPr>
          <p:cNvPr id="22" name="Text 17"/>
          <p:cNvSpPr/>
          <p:nvPr/>
        </p:nvSpPr>
        <p:spPr>
          <a:xfrm>
            <a:off x="7564120" y="2532385"/>
            <a:ext cx="151384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CEBE5"/>
                </a:solidFill>
                <a:latin typeface="IBM Plex Sans" pitchFamily="34" charset="0"/>
                <a:ea typeface="IBM Plex Sans" pitchFamily="34" charset="-122"/>
                <a:cs typeface="IBM Plex Sans" pitchFamily="34" charset="-120"/>
              </a:rPr>
              <a:t>Take in rank order, across warehouses, until filled</a:t>
            </a:r>
            <a:endParaRPr lang="en-US" sz="1200" dirty="0"/>
          </a:p>
        </p:txBody>
      </p:sp>
      <p:pic>
        <p:nvPicPr>
          <p:cNvPr id="23" name="Image 3" descr="arrow-right"/>
          <p:cNvPicPr>
            <a:picLocks noChangeAspect="1"/>
          </p:cNvPicPr>
          <p:nvPr/>
        </p:nvPicPr>
        <p:blipFill>
          <a:blip r:embed="rId3"/>
          <a:srcRect/>
          <a:stretch/>
        </p:blipFill>
        <p:spPr>
          <a:xfrm>
            <a:off x="9281160" y="2348235"/>
            <a:ext cx="228600" cy="177800"/>
          </a:xfrm>
          <a:prstGeom prst="rect">
            <a:avLst/>
          </a:prstGeom>
        </p:spPr>
      </p:pic>
      <p:sp>
        <p:nvSpPr>
          <p:cNvPr id="24" name="Shape 18"/>
          <p:cNvSpPr/>
          <p:nvPr/>
        </p:nvSpPr>
        <p:spPr>
          <a:xfrm>
            <a:off x="9611360" y="1572258"/>
            <a:ext cx="1767840" cy="1729740"/>
          </a:xfrm>
          <a:prstGeom prst="roundRect">
            <a:avLst>
              <a:gd name="adj" fmla="val 5874"/>
            </a:avLst>
          </a:prstGeom>
          <a:solidFill>
            <a:srgbClr val="14302B"/>
          </a:solidFill>
          <a:ln/>
        </p:spPr>
        <p:txBody>
          <a:bodyPr/>
          <a:lstStyle/>
          <a:p>
            <a:endParaRPr lang="en-US"/>
          </a:p>
        </p:txBody>
      </p:sp>
      <p:sp>
        <p:nvSpPr>
          <p:cNvPr id="25" name="Text 19"/>
          <p:cNvSpPr/>
          <p:nvPr/>
        </p:nvSpPr>
        <p:spPr>
          <a:xfrm>
            <a:off x="9763760" y="1724658"/>
            <a:ext cx="15138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FD1B9"/>
                </a:solidFill>
                <a:latin typeface="IBM Plex Mono" pitchFamily="49" charset="0"/>
                <a:ea typeface="IBM Plex Mono" pitchFamily="49" charset="-122"/>
                <a:cs typeface="IBM Plex Mono" pitchFamily="49" charset="-120"/>
              </a:rPr>
              <a:t>B5</a:t>
            </a:r>
            <a:endParaRPr lang="en-US" sz="1400" dirty="0"/>
          </a:p>
        </p:txBody>
      </p:sp>
      <p:sp>
        <p:nvSpPr>
          <p:cNvPr id="26" name="Text 20"/>
          <p:cNvSpPr/>
          <p:nvPr/>
        </p:nvSpPr>
        <p:spPr>
          <a:xfrm>
            <a:off x="9763760" y="2024385"/>
            <a:ext cx="15138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Hold or reject</a:t>
            </a:r>
            <a:endParaRPr lang="en-US" sz="1500" dirty="0"/>
          </a:p>
        </p:txBody>
      </p:sp>
      <p:sp>
        <p:nvSpPr>
          <p:cNvPr id="27" name="Text 21"/>
          <p:cNvSpPr/>
          <p:nvPr/>
        </p:nvSpPr>
        <p:spPr>
          <a:xfrm>
            <a:off x="9763760" y="2303785"/>
            <a:ext cx="151384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CEBE5"/>
                </a:solidFill>
                <a:latin typeface="IBM Plex Sans" pitchFamily="34" charset="0"/>
                <a:ea typeface="IBM Plex Sans" pitchFamily="34" charset="-122"/>
                <a:cs typeface="IBM Plex Sans" pitchFamily="34" charset="-120"/>
              </a:rPr>
              <a:t>Full quantity → hold; shortfall → reject (MVP)</a:t>
            </a:r>
            <a:endParaRPr lang="en-US" sz="1200" dirty="0"/>
          </a:p>
        </p:txBody>
      </p:sp>
      <p:sp>
        <p:nvSpPr>
          <p:cNvPr id="28" name="Text 22"/>
          <p:cNvSpPr/>
          <p:nvPr/>
        </p:nvSpPr>
        <p:spPr>
          <a:xfrm>
            <a:off x="812800" y="3530600"/>
            <a:ext cx="1257300" cy="4521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5C1E"/>
                </a:solidFill>
                <a:latin typeface="IBM Plex Sans" pitchFamily="34" charset="0"/>
                <a:ea typeface="IBM Plex Sans" pitchFamily="34" charset="-122"/>
                <a:cs typeface="IBM Plex Sans" pitchFamily="34" charset="-120"/>
              </a:rPr>
              <a:t>Order</a:t>
            </a:r>
            <a:endParaRPr lang="en-US" sz="1300" dirty="0"/>
          </a:p>
        </p:txBody>
      </p:sp>
      <p:sp>
        <p:nvSpPr>
          <p:cNvPr id="29" name="Text 23"/>
          <p:cNvSpPr/>
          <p:nvPr/>
        </p:nvSpPr>
        <p:spPr>
          <a:xfrm>
            <a:off x="2120900" y="3530600"/>
            <a:ext cx="40943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retailer c, SKU s, quantity, arrival time at the server, promised delivery date</a:t>
            </a:r>
            <a:endParaRPr lang="en-US" sz="1200" dirty="0"/>
          </a:p>
        </p:txBody>
      </p:sp>
      <p:sp>
        <p:nvSpPr>
          <p:cNvPr id="30" name="Text 24"/>
          <p:cNvSpPr/>
          <p:nvPr/>
        </p:nvSpPr>
        <p:spPr>
          <a:xfrm>
            <a:off x="6096000" y="3530600"/>
            <a:ext cx="1257300" cy="4521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5C1E"/>
                </a:solidFill>
                <a:latin typeface="IBM Plex Sans" pitchFamily="34" charset="0"/>
                <a:ea typeface="IBM Plex Sans" pitchFamily="34" charset="-122"/>
                <a:cs typeface="IBM Plex Sans" pitchFamily="34" charset="-120"/>
              </a:rPr>
              <a:t>Batch</a:t>
            </a:r>
            <a:endParaRPr lang="en-US" sz="1300" dirty="0"/>
          </a:p>
        </p:txBody>
      </p:sp>
      <p:sp>
        <p:nvSpPr>
          <p:cNvPr id="31" name="Text 25"/>
          <p:cNvSpPr/>
          <p:nvPr/>
        </p:nvSpPr>
        <p:spPr>
          <a:xfrm>
            <a:off x="7404100" y="3530600"/>
            <a:ext cx="40943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warehouse, Batch ID, expiry EXP, on-hand, held and available quantity</a:t>
            </a:r>
            <a:endParaRPr lang="en-US" sz="1200" dirty="0"/>
          </a:p>
        </p:txBody>
      </p:sp>
      <p:sp>
        <p:nvSpPr>
          <p:cNvPr id="32" name="Text 26"/>
          <p:cNvSpPr/>
          <p:nvPr/>
        </p:nvSpPr>
        <p:spPr>
          <a:xfrm>
            <a:off x="812800" y="3957327"/>
            <a:ext cx="1257300" cy="4521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5C1E"/>
                </a:solidFill>
                <a:latin typeface="IBM Plex Sans" pitchFamily="34" charset="0"/>
                <a:ea typeface="IBM Plex Sans" pitchFamily="34" charset="-122"/>
                <a:cs typeface="IBM Plex Sans" pitchFamily="34" charset="-120"/>
              </a:rPr>
              <a:t>Service rules</a:t>
            </a:r>
            <a:endParaRPr lang="en-US" sz="1300" dirty="0"/>
          </a:p>
        </p:txBody>
      </p:sp>
      <p:sp>
        <p:nvSpPr>
          <p:cNvPr id="33" name="Text 27"/>
          <p:cNvSpPr/>
          <p:nvPr/>
        </p:nvSpPr>
        <p:spPr>
          <a:xfrm>
            <a:off x="2120900" y="3957327"/>
            <a:ext cx="40943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max service distance per warehouse, transit-time table, MLOR ratio m(c,s), shelf life SL(s)</a:t>
            </a:r>
            <a:endParaRPr lang="en-US" sz="1200" dirty="0"/>
          </a:p>
        </p:txBody>
      </p:sp>
      <p:sp>
        <p:nvSpPr>
          <p:cNvPr id="34" name="Text 28"/>
          <p:cNvSpPr/>
          <p:nvPr/>
        </p:nvSpPr>
        <p:spPr>
          <a:xfrm>
            <a:off x="6096000" y="3957327"/>
            <a:ext cx="1257300" cy="4521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5C1E"/>
                </a:solidFill>
                <a:latin typeface="IBM Plex Sans" pitchFamily="34" charset="0"/>
                <a:ea typeface="IBM Plex Sans" pitchFamily="34" charset="-122"/>
                <a:cs typeface="IBM Plex Sans" pitchFamily="34" charset="-120"/>
              </a:rPr>
              <a:t>Schedule</a:t>
            </a:r>
            <a:endParaRPr lang="en-US" sz="1300" dirty="0"/>
          </a:p>
        </p:txBody>
      </p:sp>
      <p:sp>
        <p:nvSpPr>
          <p:cNvPr id="35" name="Text 29"/>
          <p:cNvSpPr/>
          <p:nvPr/>
        </p:nvSpPr>
        <p:spPr>
          <a:xfrm>
            <a:off x="7404100" y="3957327"/>
            <a:ext cx="40943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processing run, preparation time and buffer, next dispatch run</a:t>
            </a:r>
            <a:endParaRPr lang="en-US" sz="1200" dirty="0"/>
          </a:p>
        </p:txBody>
      </p:sp>
      <p:sp>
        <p:nvSpPr>
          <p:cNvPr id="36" name="Text 30"/>
          <p:cNvSpPr/>
          <p:nvPr/>
        </p:nvSpPr>
        <p:spPr>
          <a:xfrm>
            <a:off x="812800" y="4612642"/>
            <a:ext cx="10566400" cy="690880"/>
          </a:xfrm>
          <a:prstGeom prst="roundRect">
            <a:avLst>
              <a:gd name="adj" fmla="val 11029"/>
            </a:avLst>
          </a:prstGeom>
          <a:solidFill>
            <a:srgbClr val="E9EEEA"/>
          </a:solidFill>
          <a:ln/>
        </p:spPr>
        <p:txBody>
          <a:bodyPr wrap="square" lIns="130082" tIns="91982" rIns="0" bIns="66582" rtlCol="0" anchor="t">
            <a:normAutofit/>
          </a:bodyPr>
          <a:lstStyle/>
          <a:p>
            <a:pPr marL="0" indent="0" algn="l">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Principle:</a:t>
            </a:r>
            <a:r>
              <a:rPr lang="en-US" sz="1300" dirty="0">
                <a:solidFill>
                  <a:srgbClr val="1B2420"/>
                </a:solidFill>
                <a:latin typeface="IBM Plex Sans" pitchFamily="34" charset="0"/>
                <a:ea typeface="IBM Plex Sans" pitchFamily="34" charset="-122"/>
                <a:cs typeface="IBM Plex Sans" pitchFamily="34" charset="-120"/>
              </a:rPr>
              <a:t> pure FEFO among </a:t>
            </a:r>
            <a:r>
              <a:rPr lang="en-US" sz="1300" i="1" dirty="0">
                <a:solidFill>
                  <a:srgbClr val="1B2420"/>
                </a:solidFill>
                <a:latin typeface="IBM Plex Sans" pitchFamily="34" charset="0"/>
                <a:ea typeface="IBM Plex Sans" pitchFamily="34" charset="-122"/>
                <a:cs typeface="IBM Plex Sans" pitchFamily="34" charset="-120"/>
              </a:rPr>
              <a:t>eligible</a:t>
            </a:r>
            <a:r>
              <a:rPr lang="en-US" sz="1300" dirty="0">
                <a:solidFill>
                  <a:srgbClr val="1B2420"/>
                </a:solidFill>
                <a:latin typeface="IBM Plex Sans" pitchFamily="34" charset="0"/>
                <a:ea typeface="IBM Plex Sans" pitchFamily="34" charset="-122"/>
                <a:cs typeface="IBM Plex Sans" pitchFamily="34" charset="-120"/>
              </a:rPr>
              <a:t> batches; distance and quantity only break ties. The system never lowers MLOR, extends the service distance or delays the promise to make an order fit.</a:t>
            </a:r>
            <a:endParaRPr lang="en-US" sz="1300" dirty="0"/>
          </a:p>
        </p:txBody>
      </p:sp>
      <p:sp>
        <p:nvSpPr>
          <p:cNvPr id="37" name="Text 31"/>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38" name="Text 32"/>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STEPS B1 – B2A</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Candidate batches and service area</a:t>
            </a:r>
            <a:endParaRPr lang="en-US" sz="3000" dirty="0"/>
          </a:p>
        </p:txBody>
      </p:sp>
      <p:sp>
        <p:nvSpPr>
          <p:cNvPr id="4" name="Text 2"/>
          <p:cNvSpPr/>
          <p:nvPr/>
        </p:nvSpPr>
        <p:spPr>
          <a:xfrm>
            <a:off x="812800" y="1572258"/>
            <a:ext cx="49402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B1 · Keep a batch b if</a:t>
            </a:r>
            <a:endParaRPr lang="en-US" sz="1500" dirty="0"/>
          </a:p>
        </p:txBody>
      </p:sp>
      <p:sp>
        <p:nvSpPr>
          <p:cNvPr id="5" name="Text 3"/>
          <p:cNvSpPr/>
          <p:nvPr/>
        </p:nvSpPr>
        <p:spPr>
          <a:xfrm>
            <a:off x="812800" y="1915158"/>
            <a:ext cx="4796393" cy="946150"/>
          </a:xfrm>
          <a:prstGeom prst="roundRect">
            <a:avLst>
              <a:gd name="adj" fmla="val 5369"/>
            </a:avLst>
          </a:prstGeom>
          <a:solidFill>
            <a:srgbClr val="E9EEEA"/>
          </a:solidFill>
          <a:ln/>
        </p:spPr>
        <p:txBody>
          <a:bodyPr wrap="square" lIns="173081" tIns="86721" rIns="3840"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sku(b) = s</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status(b) = allowed to ship</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avail(b) = onHand − held − reserved &gt; 0</a:t>
            </a:r>
            <a:endParaRPr lang="en-US" sz="1300" dirty="0"/>
          </a:p>
        </p:txBody>
      </p:sp>
      <p:sp>
        <p:nvSpPr>
          <p:cNvPr id="6" name="Shape 4"/>
          <p:cNvSpPr/>
          <p:nvPr/>
        </p:nvSpPr>
        <p:spPr>
          <a:xfrm>
            <a:off x="812800" y="1915158"/>
            <a:ext cx="4796393" cy="946150"/>
          </a:xfrm>
          <a:custGeom>
            <a:avLst/>
            <a:gdLst/>
            <a:ahLst/>
            <a:cxnLst/>
            <a:rect l="l" t="t" r="r" b="b"/>
            <a:pathLst>
              <a:path w="4796393" h="946150">
                <a:moveTo>
                  <a:pt x="50800" y="946150"/>
                </a:moveTo>
                <a:lnTo>
                  <a:pt x="50800" y="946150"/>
                </a:lnTo>
                <a:arcTo wR="50800" hR="50800" stAng="5400000" swAng="5400000"/>
                <a:lnTo>
                  <a:pt x="0" y="50800"/>
                </a:lnTo>
                <a:arcTo wR="50800" hR="50800" stAng="10800000" swAng="5400000"/>
                <a:lnTo>
                  <a:pt x="50800" y="0"/>
                </a:lnTo>
                <a:arcTo wR="12700" hR="50800" stAng="16200000" swAng="-5400000"/>
                <a:lnTo>
                  <a:pt x="38100" y="895350"/>
                </a:lnTo>
                <a:arcTo wR="12700" hR="50800" stAng="10800000" swAng="-5400000"/>
                <a:close/>
              </a:path>
            </a:pathLst>
          </a:custGeom>
          <a:solidFill>
            <a:srgbClr val="14655B"/>
          </a:solidFill>
          <a:ln/>
        </p:spPr>
        <p:txBody>
          <a:bodyPr/>
          <a:lstStyle/>
          <a:p>
            <a:endParaRPr lang="en-US"/>
          </a:p>
        </p:txBody>
      </p:sp>
      <p:sp>
        <p:nvSpPr>
          <p:cNvPr id="7" name="Text 5"/>
          <p:cNvSpPr/>
          <p:nvPr/>
        </p:nvSpPr>
        <p:spPr>
          <a:xfrm>
            <a:off x="812800" y="2975608"/>
            <a:ext cx="49402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B2a · Service area</a:t>
            </a:r>
            <a:endParaRPr lang="en-US" sz="1500" dirty="0"/>
          </a:p>
        </p:txBody>
      </p:sp>
      <p:sp>
        <p:nvSpPr>
          <p:cNvPr id="8" name="Text 6"/>
          <p:cNvSpPr/>
          <p:nvPr/>
        </p:nvSpPr>
        <p:spPr>
          <a:xfrm>
            <a:off x="812800" y="3318508"/>
            <a:ext cx="4796393" cy="946150"/>
          </a:xfrm>
          <a:prstGeom prst="roundRect">
            <a:avLst>
              <a:gd name="adj" fmla="val 5369"/>
            </a:avLst>
          </a:prstGeom>
          <a:solidFill>
            <a:srgbClr val="E9EEEA"/>
          </a:solidFill>
          <a:ln/>
        </p:spPr>
        <p:txBody>
          <a:bodyPr wrap="square" lIns="173081" tIns="86721" rIns="3840"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d(w, c) = Dijkstra shortest road</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distance, warehouse → retailer</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keep if d(w, c) ≤ Dmax(w)</a:t>
            </a:r>
            <a:endParaRPr lang="en-US" sz="1300" dirty="0"/>
          </a:p>
        </p:txBody>
      </p:sp>
      <p:sp>
        <p:nvSpPr>
          <p:cNvPr id="9" name="Shape 7"/>
          <p:cNvSpPr/>
          <p:nvPr/>
        </p:nvSpPr>
        <p:spPr>
          <a:xfrm>
            <a:off x="812800" y="3318508"/>
            <a:ext cx="4796393" cy="946150"/>
          </a:xfrm>
          <a:custGeom>
            <a:avLst/>
            <a:gdLst/>
            <a:ahLst/>
            <a:cxnLst/>
            <a:rect l="l" t="t" r="r" b="b"/>
            <a:pathLst>
              <a:path w="4796393" h="946150">
                <a:moveTo>
                  <a:pt x="50800" y="946150"/>
                </a:moveTo>
                <a:lnTo>
                  <a:pt x="50800" y="946150"/>
                </a:lnTo>
                <a:arcTo wR="50800" hR="50800" stAng="5400000" swAng="5400000"/>
                <a:lnTo>
                  <a:pt x="0" y="50800"/>
                </a:lnTo>
                <a:arcTo wR="50800" hR="50800" stAng="10800000" swAng="5400000"/>
                <a:lnTo>
                  <a:pt x="50800" y="0"/>
                </a:lnTo>
                <a:arcTo wR="12700" hR="50800" stAng="16200000" swAng="-5400000"/>
                <a:lnTo>
                  <a:pt x="38100" y="895350"/>
                </a:lnTo>
                <a:arcTo wR="12700" hR="50800" stAng="10800000" swAng="-5400000"/>
                <a:close/>
              </a:path>
            </a:pathLst>
          </a:custGeom>
          <a:solidFill>
            <a:srgbClr val="14655B"/>
          </a:solidFill>
          <a:ln/>
        </p:spPr>
        <p:txBody>
          <a:bodyPr/>
          <a:lstStyle/>
          <a:p>
            <a:endParaRPr lang="en-US"/>
          </a:p>
        </p:txBody>
      </p:sp>
      <p:sp>
        <p:nvSpPr>
          <p:cNvPr id="10" name="Text 8"/>
          <p:cNvSpPr/>
          <p:nvPr/>
        </p:nvSpPr>
        <p:spPr>
          <a:xfrm>
            <a:off x="812800" y="4378958"/>
            <a:ext cx="494028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Dijkstra on a road graph with non-negative weights. Dmax is configured per warehouse; a warehouse without a valid route is excluded.</a:t>
            </a:r>
            <a:endParaRPr lang="en-US" sz="1200" dirty="0"/>
          </a:p>
        </p:txBody>
      </p:sp>
      <p:sp>
        <p:nvSpPr>
          <p:cNvPr id="11" name="Text 9"/>
          <p:cNvSpPr/>
          <p:nvPr/>
        </p:nvSpPr>
        <p:spPr>
          <a:xfrm>
            <a:off x="5863193" y="1572258"/>
            <a:ext cx="632880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Example · DH-1030</a:t>
            </a:r>
            <a:r>
              <a:rPr lang="en-US" sz="1200" dirty="0">
                <a:solidFill>
                  <a:srgbClr val="1B2420"/>
                </a:solidFill>
                <a:latin typeface="IBM Plex Sans" pitchFamily="34" charset="0"/>
                <a:ea typeface="IBM Plex Sans" pitchFamily="34" charset="-122"/>
                <a:cs typeface="IBM Plex Sans" pitchFamily="34" charset="-120"/>
              </a:rPr>
              <a:t> · SKU001 × 60 cartons for Tạp hóa Minh Châu (10004127)</a:t>
            </a:r>
            <a:endParaRPr lang="en-US" sz="1200" dirty="0"/>
          </a:p>
        </p:txBody>
      </p:sp>
      <p:sp>
        <p:nvSpPr>
          <p:cNvPr id="12" name="Shape 10"/>
          <p:cNvSpPr/>
          <p:nvPr/>
        </p:nvSpPr>
        <p:spPr>
          <a:xfrm>
            <a:off x="5863193" y="1861827"/>
            <a:ext cx="5515928" cy="4516120"/>
          </a:xfrm>
          <a:prstGeom prst="roundRect">
            <a:avLst>
              <a:gd name="adj" fmla="val 1687"/>
            </a:avLst>
          </a:prstGeom>
          <a:solidFill>
            <a:srgbClr val="FFFFFF"/>
          </a:solidFill>
          <a:ln/>
        </p:spPr>
        <p:txBody>
          <a:bodyPr/>
          <a:lstStyle/>
          <a:p>
            <a:endParaRPr lang="en-US"/>
          </a:p>
        </p:txBody>
      </p:sp>
      <p:sp>
        <p:nvSpPr>
          <p:cNvPr id="13" name="Shape 11"/>
          <p:cNvSpPr/>
          <p:nvPr/>
        </p:nvSpPr>
        <p:spPr>
          <a:xfrm>
            <a:off x="5863193" y="1861827"/>
            <a:ext cx="5515928" cy="4516120"/>
          </a:xfrm>
          <a:custGeom>
            <a:avLst/>
            <a:gdLst/>
            <a:ahLst/>
            <a:cxnLst/>
            <a:rect l="l" t="t" r="r" b="b"/>
            <a:pathLst>
              <a:path w="5515928" h="4516120">
                <a:moveTo>
                  <a:pt x="5439728" y="0"/>
                </a:moveTo>
                <a:lnTo>
                  <a:pt x="5439728" y="0"/>
                </a:lnTo>
                <a:arcTo wR="76200" hR="76200" stAng="16200000" swAng="5400000"/>
                <a:lnTo>
                  <a:pt x="5515928" y="4439920"/>
                </a:lnTo>
                <a:arcTo wR="76200" hR="76200" stAng="0" swAng="5400000"/>
                <a:lnTo>
                  <a:pt x="76200" y="4516120"/>
                </a:lnTo>
                <a:arcTo wR="76200" hR="76200" stAng="5400000" swAng="5400000"/>
                <a:lnTo>
                  <a:pt x="0" y="4439920"/>
                </a:lnTo>
                <a:arcTo wR="76200" hR="69850" stAng="10800000" swAng="-5400000"/>
                <a:lnTo>
                  <a:pt x="5439728" y="4509770"/>
                </a:lnTo>
                <a:arcTo wR="69850" hR="69850" stAng="5400000" swAng="-5400000"/>
                <a:lnTo>
                  <a:pt x="5509578" y="76200"/>
                </a:lnTo>
                <a:arcTo wR="69850" hR="76200" stAng="0" swAng="-5400000"/>
                <a:close/>
              </a:path>
            </a:pathLst>
          </a:custGeom>
          <a:solidFill>
            <a:srgbClr val="D5DCD7"/>
          </a:solidFill>
          <a:ln/>
        </p:spPr>
        <p:txBody>
          <a:bodyPr/>
          <a:lstStyle/>
          <a:p>
            <a:endParaRPr lang="en-US"/>
          </a:p>
        </p:txBody>
      </p:sp>
      <p:sp>
        <p:nvSpPr>
          <p:cNvPr id="14" name="Shape 12"/>
          <p:cNvSpPr/>
          <p:nvPr/>
        </p:nvSpPr>
        <p:spPr>
          <a:xfrm>
            <a:off x="5863193" y="1861827"/>
            <a:ext cx="5515928" cy="4516120"/>
          </a:xfrm>
          <a:custGeom>
            <a:avLst/>
            <a:gdLst/>
            <a:ahLst/>
            <a:cxnLst/>
            <a:rect l="l" t="t" r="r" b="b"/>
            <a:pathLst>
              <a:path w="5515928" h="4516120">
                <a:moveTo>
                  <a:pt x="76200" y="4516120"/>
                </a:moveTo>
                <a:lnTo>
                  <a:pt x="76200" y="4516120"/>
                </a:lnTo>
                <a:arcTo wR="76200" hR="76200" stAng="5400000" swAng="5400000"/>
                <a:lnTo>
                  <a:pt x="0" y="76200"/>
                </a:lnTo>
                <a:arcTo wR="76200" hR="76200" stAng="10800000" swAng="5400000"/>
                <a:lnTo>
                  <a:pt x="5439728" y="0"/>
                </a:lnTo>
                <a:arcTo wR="76200" hR="76200" stAng="16200000" swAng="5400000"/>
                <a:lnTo>
                  <a:pt x="5515928" y="76200"/>
                </a:lnTo>
                <a:arcTo wR="76200" hR="66040" stAng="0" swAng="-5400000"/>
                <a:lnTo>
                  <a:pt x="76200" y="10160"/>
                </a:lnTo>
                <a:arcTo wR="66040" hR="66040" stAng="16200000" swAng="-5400000"/>
                <a:lnTo>
                  <a:pt x="10160" y="4439920"/>
                </a:lnTo>
                <a:arcTo wR="66040" hR="76200" stAng="10800000" swAng="-5400000"/>
                <a:close/>
              </a:path>
            </a:pathLst>
          </a:custGeom>
          <a:solidFill>
            <a:srgbClr val="141413">
              <a:alpha val="22000"/>
            </a:srgbClr>
          </a:solidFill>
          <a:ln/>
        </p:spPr>
        <p:txBody>
          <a:bodyPr/>
          <a:lstStyle/>
          <a:p>
            <a:endParaRPr lang="en-US"/>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9553" y="1948187"/>
          <a:ext cx="5348288" cy="4348480"/>
        </p:xfrm>
        <a:graphic>
          <a:graphicData uri="http://schemas.openxmlformats.org/drawingml/2006/table">
            <a:tbl>
              <a:tblPr/>
              <a:tblGrid>
                <a:gridCol w="1176623">
                  <a:extLst>
                    <a:ext uri="{9D8B030D-6E8A-4147-A177-3AD203B41FA5}">
                      <a16:colId xmlns:a16="http://schemas.microsoft.com/office/drawing/2014/main" val="20000"/>
                    </a:ext>
                  </a:extLst>
                </a:gridCol>
                <a:gridCol w="1764935">
                  <a:extLst>
                    <a:ext uri="{9D8B030D-6E8A-4147-A177-3AD203B41FA5}">
                      <a16:colId xmlns:a16="http://schemas.microsoft.com/office/drawing/2014/main" val="20001"/>
                    </a:ext>
                  </a:extLst>
                </a:gridCol>
                <a:gridCol w="855726">
                  <a:extLst>
                    <a:ext uri="{9D8B030D-6E8A-4147-A177-3AD203B41FA5}">
                      <a16:colId xmlns:a16="http://schemas.microsoft.com/office/drawing/2014/main" val="20002"/>
                    </a:ext>
                  </a:extLst>
                </a:gridCol>
                <a:gridCol w="748760">
                  <a:extLst>
                    <a:ext uri="{9D8B030D-6E8A-4147-A177-3AD203B41FA5}">
                      <a16:colId xmlns:a16="http://schemas.microsoft.com/office/drawing/2014/main" val="20003"/>
                    </a:ext>
                  </a:extLst>
                </a:gridCol>
                <a:gridCol w="802243">
                  <a:extLst>
                    <a:ext uri="{9D8B030D-6E8A-4147-A177-3AD203B41FA5}">
                      <a16:colId xmlns:a16="http://schemas.microsoft.com/office/drawing/2014/main" val="20004"/>
                    </a:ext>
                  </a:extLst>
                </a:gridCol>
              </a:tblGrid>
              <a:tr h="54356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Warehouse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Batch</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Expiry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Available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B1 result</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Thới An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WH-TA-SKU001-25092026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25/09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Expired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Gò Vấp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WH-GV-SKU001-06102026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06/10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Củ Chi</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WH-CC-SKU001-12102026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12/10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Thới An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WH-TA-SKU001-18102026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Thủ Đức</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WH-TD-SKU001-18102026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Tân Chánh Hiệp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WH-TCH-SKU001-21102026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21/10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Tân Chánh Hiệp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WH-TCH-SKU001-09112026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09/11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None free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6" name="Text 13"/>
          <p:cNvSpPr/>
          <p:nvPr/>
        </p:nvSpPr>
        <p:spPr>
          <a:xfrm>
            <a:off x="5863193" y="6454142"/>
            <a:ext cx="568140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Batch ID = warehouse code + SKU + expiry date (ddMMyyyy).</a:t>
            </a:r>
            <a:endParaRPr lang="en-US" sz="1200" dirty="0"/>
          </a:p>
        </p:txBody>
      </p:sp>
      <p:sp>
        <p:nvSpPr>
          <p:cNvPr id="17" name="Text 14"/>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8" name="Text 15"/>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STEP B2A – B2C · SERVICE DISTANCE</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Max service distance and estimated transit time</a:t>
            </a:r>
            <a:endParaRPr lang="en-US" sz="3000" dirty="0"/>
          </a:p>
        </p:txBody>
      </p:sp>
      <p:sp>
        <p:nvSpPr>
          <p:cNvPr id="4" name="Shape 2"/>
          <p:cNvSpPr/>
          <p:nvPr/>
        </p:nvSpPr>
        <p:spPr>
          <a:xfrm>
            <a:off x="812800" y="1572258"/>
            <a:ext cx="10566400" cy="1701800"/>
          </a:xfrm>
          <a:prstGeom prst="roundRect">
            <a:avLst>
              <a:gd name="adj" fmla="val 4478"/>
            </a:avLst>
          </a:prstGeom>
          <a:solidFill>
            <a:srgbClr val="FFFFFF"/>
          </a:solidFill>
          <a:ln/>
        </p:spPr>
        <p:txBody>
          <a:bodyPr/>
          <a:lstStyle/>
          <a:p>
            <a:endParaRPr lang="en-US"/>
          </a:p>
        </p:txBody>
      </p:sp>
      <p:sp>
        <p:nvSpPr>
          <p:cNvPr id="5" name="Shape 3"/>
          <p:cNvSpPr/>
          <p:nvPr/>
        </p:nvSpPr>
        <p:spPr>
          <a:xfrm>
            <a:off x="812800" y="1572258"/>
            <a:ext cx="10566400" cy="1701800"/>
          </a:xfrm>
          <a:custGeom>
            <a:avLst/>
            <a:gdLst/>
            <a:ahLst/>
            <a:cxnLst/>
            <a:rect l="l" t="t" r="r" b="b"/>
            <a:pathLst>
              <a:path w="10566400" h="1701800">
                <a:moveTo>
                  <a:pt x="10490200" y="0"/>
                </a:moveTo>
                <a:lnTo>
                  <a:pt x="10490200" y="0"/>
                </a:lnTo>
                <a:arcTo wR="76200" hR="76200" stAng="16200000" swAng="5400000"/>
                <a:lnTo>
                  <a:pt x="10566400" y="1625600"/>
                </a:lnTo>
                <a:arcTo wR="76200" hR="76200" stAng="0" swAng="5400000"/>
                <a:lnTo>
                  <a:pt x="76200" y="1701800"/>
                </a:lnTo>
                <a:arcTo wR="76200" hR="76200" stAng="5400000" swAng="5400000"/>
                <a:lnTo>
                  <a:pt x="0" y="1625600"/>
                </a:lnTo>
                <a:arcTo wR="76200" hR="69850" stAng="10800000" swAng="-5400000"/>
                <a:lnTo>
                  <a:pt x="10490200" y="169545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58"/>
            <a:ext cx="10566400" cy="1701800"/>
          </a:xfrm>
          <a:custGeom>
            <a:avLst/>
            <a:gdLst/>
            <a:ahLst/>
            <a:cxnLst/>
            <a:rect l="l" t="t" r="r" b="b"/>
            <a:pathLst>
              <a:path w="10566400" h="1701800">
                <a:moveTo>
                  <a:pt x="76200" y="1701800"/>
                </a:moveTo>
                <a:lnTo>
                  <a:pt x="76200" y="170180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162560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18"/>
          <a:ext cx="10398760" cy="1534160"/>
        </p:xfrm>
        <a:graphic>
          <a:graphicData uri="http://schemas.openxmlformats.org/drawingml/2006/table">
            <a:tbl>
              <a:tblPr/>
              <a:tblGrid>
                <a:gridCol w="2287727">
                  <a:extLst>
                    <a:ext uri="{9D8B030D-6E8A-4147-A177-3AD203B41FA5}">
                      <a16:colId xmlns:a16="http://schemas.microsoft.com/office/drawing/2014/main" val="20000"/>
                    </a:ext>
                  </a:extLst>
                </a:gridCol>
                <a:gridCol w="2287727">
                  <a:extLst>
                    <a:ext uri="{9D8B030D-6E8A-4147-A177-3AD203B41FA5}">
                      <a16:colId xmlns:a16="http://schemas.microsoft.com/office/drawing/2014/main" val="20001"/>
                    </a:ext>
                  </a:extLst>
                </a:gridCol>
                <a:gridCol w="1351839">
                  <a:extLst>
                    <a:ext uri="{9D8B030D-6E8A-4147-A177-3AD203B41FA5}">
                      <a16:colId xmlns:a16="http://schemas.microsoft.com/office/drawing/2014/main" val="20002"/>
                    </a:ext>
                  </a:extLst>
                </a:gridCol>
                <a:gridCol w="1559814">
                  <a:extLst>
                    <a:ext uri="{9D8B030D-6E8A-4147-A177-3AD203B41FA5}">
                      <a16:colId xmlns:a16="http://schemas.microsoft.com/office/drawing/2014/main" val="20003"/>
                    </a:ext>
                  </a:extLst>
                </a:gridCol>
                <a:gridCol w="1039876">
                  <a:extLst>
                    <a:ext uri="{9D8B030D-6E8A-4147-A177-3AD203B41FA5}">
                      <a16:colId xmlns:a16="http://schemas.microsoft.com/office/drawing/2014/main" val="20004"/>
                    </a:ext>
                  </a:extLst>
                </a:gridCol>
                <a:gridCol w="1871777">
                  <a:extLst>
                    <a:ext uri="{9D8B030D-6E8A-4147-A177-3AD203B41FA5}">
                      <a16:colId xmlns:a16="http://schemas.microsoft.com/office/drawing/2014/main" val="20005"/>
                    </a:ext>
                  </a:extLst>
                </a:gridCol>
              </a:tblGrid>
              <a:tr h="54356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Road distance d (Dijkstra)</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Service status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Transit time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Dispatch run</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ETA</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Warehouses in example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 – 10 km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In service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 day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28/09 morning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29/09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TA, TCH, GV</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&gt; 10 – 20 km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In service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28/09 morning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30/09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&gt; 20 km (above Dmax)</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Out of service → excluded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CC</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5"/>
          <p:cNvSpPr/>
          <p:nvPr/>
        </p:nvSpPr>
        <p:spPr>
          <a:xfrm>
            <a:off x="812800" y="3782058"/>
            <a:ext cx="3384550" cy="203200"/>
          </a:xfrm>
          <a:custGeom>
            <a:avLst/>
            <a:gdLst/>
            <a:ahLst/>
            <a:cxnLst/>
            <a:rect l="l" t="t" r="r" b="b"/>
            <a:pathLst>
              <a:path w="3384550" h="203200">
                <a:moveTo>
                  <a:pt x="50800" y="0"/>
                </a:moveTo>
                <a:lnTo>
                  <a:pt x="3384550" y="0"/>
                </a:lnTo>
                <a:lnTo>
                  <a:pt x="3384550" y="203200"/>
                </a:lnTo>
                <a:lnTo>
                  <a:pt x="50800" y="203200"/>
                </a:lnTo>
                <a:arcTo wR="50800" hR="50800" stAng="5400000" swAng="5400000"/>
                <a:lnTo>
                  <a:pt x="0" y="50800"/>
                </a:lnTo>
                <a:arcTo wR="50800" hR="50800" stAng="10800000" swAng="5400000"/>
                <a:close/>
              </a:path>
            </a:pathLst>
          </a:custGeom>
          <a:solidFill>
            <a:srgbClr val="14655B"/>
          </a:solidFill>
          <a:ln/>
        </p:spPr>
        <p:txBody>
          <a:bodyPr/>
          <a:lstStyle/>
          <a:p>
            <a:endParaRPr lang="en-US"/>
          </a:p>
        </p:txBody>
      </p:sp>
      <p:sp>
        <p:nvSpPr>
          <p:cNvPr id="9" name="Shape 6"/>
          <p:cNvSpPr/>
          <p:nvPr/>
        </p:nvSpPr>
        <p:spPr>
          <a:xfrm>
            <a:off x="4197350" y="3782058"/>
            <a:ext cx="3384550" cy="203200"/>
          </a:xfrm>
          <a:prstGeom prst="rect">
            <a:avLst/>
          </a:prstGeom>
          <a:solidFill>
            <a:srgbClr val="5FA595"/>
          </a:solidFill>
          <a:ln/>
        </p:spPr>
        <p:txBody>
          <a:bodyPr/>
          <a:lstStyle/>
          <a:p>
            <a:endParaRPr lang="en-US"/>
          </a:p>
        </p:txBody>
      </p:sp>
      <p:sp>
        <p:nvSpPr>
          <p:cNvPr id="10" name="Shape 7"/>
          <p:cNvSpPr/>
          <p:nvPr/>
        </p:nvSpPr>
        <p:spPr>
          <a:xfrm>
            <a:off x="7588250" y="3782058"/>
            <a:ext cx="3384550" cy="203200"/>
          </a:xfrm>
          <a:custGeom>
            <a:avLst/>
            <a:gdLst/>
            <a:ahLst/>
            <a:cxnLst/>
            <a:rect l="l" t="t" r="r" b="b"/>
            <a:pathLst>
              <a:path w="3384550" h="203200">
                <a:moveTo>
                  <a:pt x="0" y="0"/>
                </a:moveTo>
                <a:lnTo>
                  <a:pt x="3333750" y="0"/>
                </a:lnTo>
                <a:arcTo wR="50800" hR="50800" stAng="16200000" swAng="5400000"/>
                <a:lnTo>
                  <a:pt x="3384550" y="152400"/>
                </a:lnTo>
                <a:arcTo wR="50800" hR="50800" stAng="0" swAng="5400000"/>
                <a:lnTo>
                  <a:pt x="0" y="203200"/>
                </a:lnTo>
                <a:lnTo>
                  <a:pt x="0" y="0"/>
                </a:lnTo>
                <a:close/>
              </a:path>
            </a:pathLst>
          </a:custGeom>
          <a:solidFill>
            <a:srgbClr val="CFD5D1"/>
          </a:solidFill>
          <a:ln/>
        </p:spPr>
        <p:txBody>
          <a:bodyPr/>
          <a:lstStyle/>
          <a:p>
            <a:endParaRPr lang="en-US"/>
          </a:p>
        </p:txBody>
      </p:sp>
      <p:sp>
        <p:nvSpPr>
          <p:cNvPr id="11" name="Text 8"/>
          <p:cNvSpPr/>
          <p:nvPr/>
        </p:nvSpPr>
        <p:spPr>
          <a:xfrm>
            <a:off x="787400" y="3502658"/>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50"/>
                </a:solidFill>
                <a:latin typeface="IBM Plex Sans" pitchFamily="34" charset="0"/>
                <a:ea typeface="IBM Plex Sans" pitchFamily="34" charset="-122"/>
                <a:cs typeface="IBM Plex Sans" pitchFamily="34" charset="-120"/>
              </a:rPr>
              <a:t>0 km</a:t>
            </a:r>
            <a:endParaRPr lang="en-US" sz="1200" dirty="0"/>
          </a:p>
        </p:txBody>
      </p:sp>
      <p:sp>
        <p:nvSpPr>
          <p:cNvPr id="12" name="Text 9"/>
          <p:cNvSpPr/>
          <p:nvPr/>
        </p:nvSpPr>
        <p:spPr>
          <a:xfrm>
            <a:off x="3917950" y="3502658"/>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50"/>
                </a:solidFill>
                <a:latin typeface="IBM Plex Sans" pitchFamily="34" charset="0"/>
                <a:ea typeface="IBM Plex Sans" pitchFamily="34" charset="-122"/>
                <a:cs typeface="IBM Plex Sans" pitchFamily="34" charset="-120"/>
              </a:rPr>
              <a:t>10 km</a:t>
            </a:r>
            <a:endParaRPr lang="en-US" sz="1200" dirty="0"/>
          </a:p>
        </p:txBody>
      </p:sp>
      <p:sp>
        <p:nvSpPr>
          <p:cNvPr id="13" name="Text 10"/>
          <p:cNvSpPr/>
          <p:nvPr/>
        </p:nvSpPr>
        <p:spPr>
          <a:xfrm>
            <a:off x="7308850" y="3502658"/>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50"/>
                </a:solidFill>
                <a:latin typeface="IBM Plex Sans" pitchFamily="34" charset="0"/>
                <a:ea typeface="IBM Plex Sans" pitchFamily="34" charset="-122"/>
                <a:cs typeface="IBM Plex Sans" pitchFamily="34" charset="-120"/>
              </a:rPr>
              <a:t>20 km</a:t>
            </a:r>
            <a:endParaRPr lang="en-US" sz="1200" dirty="0"/>
          </a:p>
        </p:txBody>
      </p:sp>
      <p:sp>
        <p:nvSpPr>
          <p:cNvPr id="14" name="Text 11"/>
          <p:cNvSpPr/>
          <p:nvPr/>
        </p:nvSpPr>
        <p:spPr>
          <a:xfrm>
            <a:off x="10693400" y="3502658"/>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50"/>
                </a:solidFill>
                <a:latin typeface="IBM Plex Sans" pitchFamily="34" charset="0"/>
                <a:ea typeface="IBM Plex Sans" pitchFamily="34" charset="-122"/>
                <a:cs typeface="IBM Plex Sans" pitchFamily="34" charset="-120"/>
              </a:rPr>
              <a:t>30 km</a:t>
            </a:r>
            <a:endParaRPr lang="en-US" sz="1200" dirty="0"/>
          </a:p>
        </p:txBody>
      </p:sp>
      <p:sp>
        <p:nvSpPr>
          <p:cNvPr id="15" name="Shape 12"/>
          <p:cNvSpPr/>
          <p:nvPr/>
        </p:nvSpPr>
        <p:spPr>
          <a:xfrm>
            <a:off x="1885950" y="3985258"/>
            <a:ext cx="25400" cy="279400"/>
          </a:xfrm>
          <a:prstGeom prst="rect">
            <a:avLst/>
          </a:prstGeom>
          <a:solidFill>
            <a:srgbClr val="1B2420"/>
          </a:solidFill>
          <a:ln/>
        </p:spPr>
        <p:txBody>
          <a:bodyPr/>
          <a:lstStyle/>
          <a:p>
            <a:endParaRPr lang="en-US"/>
          </a:p>
        </p:txBody>
      </p:sp>
      <p:sp>
        <p:nvSpPr>
          <p:cNvPr id="16" name="Text 13"/>
          <p:cNvSpPr/>
          <p:nvPr/>
        </p:nvSpPr>
        <p:spPr>
          <a:xfrm>
            <a:off x="1365250" y="4315458"/>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TA · 3.2 km</a:t>
            </a:r>
            <a:endParaRPr lang="en-US" sz="1200" dirty="0"/>
          </a:p>
        </p:txBody>
      </p:sp>
      <p:sp>
        <p:nvSpPr>
          <p:cNvPr id="17" name="Shape 14"/>
          <p:cNvSpPr/>
          <p:nvPr/>
        </p:nvSpPr>
        <p:spPr>
          <a:xfrm>
            <a:off x="3003550" y="3985258"/>
            <a:ext cx="25400" cy="279400"/>
          </a:xfrm>
          <a:prstGeom prst="rect">
            <a:avLst/>
          </a:prstGeom>
          <a:solidFill>
            <a:srgbClr val="1B2420"/>
          </a:solidFill>
          <a:ln/>
        </p:spPr>
        <p:txBody>
          <a:bodyPr/>
          <a:lstStyle/>
          <a:p>
            <a:endParaRPr lang="en-US"/>
          </a:p>
        </p:txBody>
      </p:sp>
      <p:sp>
        <p:nvSpPr>
          <p:cNvPr id="18" name="Text 15"/>
          <p:cNvSpPr/>
          <p:nvPr/>
        </p:nvSpPr>
        <p:spPr>
          <a:xfrm>
            <a:off x="2482850" y="4594858"/>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TCH · 6.5 km</a:t>
            </a:r>
            <a:endParaRPr lang="en-US" sz="1200" dirty="0"/>
          </a:p>
        </p:txBody>
      </p:sp>
      <p:sp>
        <p:nvSpPr>
          <p:cNvPr id="19" name="Shape 16"/>
          <p:cNvSpPr/>
          <p:nvPr/>
        </p:nvSpPr>
        <p:spPr>
          <a:xfrm>
            <a:off x="4121150" y="3985258"/>
            <a:ext cx="25400" cy="279400"/>
          </a:xfrm>
          <a:prstGeom prst="rect">
            <a:avLst/>
          </a:prstGeom>
          <a:solidFill>
            <a:srgbClr val="1B2420"/>
          </a:solidFill>
          <a:ln/>
        </p:spPr>
        <p:txBody>
          <a:bodyPr/>
          <a:lstStyle/>
          <a:p>
            <a:endParaRPr lang="en-US"/>
          </a:p>
        </p:txBody>
      </p:sp>
      <p:sp>
        <p:nvSpPr>
          <p:cNvPr id="20" name="Text 17"/>
          <p:cNvSpPr/>
          <p:nvPr/>
        </p:nvSpPr>
        <p:spPr>
          <a:xfrm>
            <a:off x="3600450" y="4315458"/>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GV · 9.8 km</a:t>
            </a:r>
            <a:endParaRPr lang="en-US" sz="1200" dirty="0"/>
          </a:p>
        </p:txBody>
      </p:sp>
      <p:sp>
        <p:nvSpPr>
          <p:cNvPr id="21" name="Shape 18"/>
          <p:cNvSpPr/>
          <p:nvPr/>
        </p:nvSpPr>
        <p:spPr>
          <a:xfrm>
            <a:off x="6692900" y="3985258"/>
            <a:ext cx="25400" cy="279400"/>
          </a:xfrm>
          <a:prstGeom prst="rect">
            <a:avLst/>
          </a:prstGeom>
          <a:solidFill>
            <a:srgbClr val="1B2420"/>
          </a:solidFill>
          <a:ln/>
        </p:spPr>
        <p:txBody>
          <a:bodyPr/>
          <a:lstStyle/>
          <a:p>
            <a:endParaRPr lang="en-US"/>
          </a:p>
        </p:txBody>
      </p:sp>
      <p:sp>
        <p:nvSpPr>
          <p:cNvPr id="22" name="Text 19"/>
          <p:cNvSpPr/>
          <p:nvPr/>
        </p:nvSpPr>
        <p:spPr>
          <a:xfrm>
            <a:off x="6172200" y="4594858"/>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TD · 17.4 km</a:t>
            </a:r>
            <a:endParaRPr lang="en-US" sz="1200" dirty="0"/>
          </a:p>
        </p:txBody>
      </p:sp>
      <p:sp>
        <p:nvSpPr>
          <p:cNvPr id="23" name="Shape 20"/>
          <p:cNvSpPr/>
          <p:nvPr/>
        </p:nvSpPr>
        <p:spPr>
          <a:xfrm>
            <a:off x="10483850" y="3985258"/>
            <a:ext cx="25400" cy="279400"/>
          </a:xfrm>
          <a:prstGeom prst="rect">
            <a:avLst/>
          </a:prstGeom>
          <a:solidFill>
            <a:srgbClr val="1B2420"/>
          </a:solidFill>
          <a:ln/>
        </p:spPr>
        <p:txBody>
          <a:bodyPr/>
          <a:lstStyle/>
          <a:p>
            <a:endParaRPr lang="en-US"/>
          </a:p>
        </p:txBody>
      </p:sp>
      <p:sp>
        <p:nvSpPr>
          <p:cNvPr id="24" name="Text 21"/>
          <p:cNvSpPr/>
          <p:nvPr/>
        </p:nvSpPr>
        <p:spPr>
          <a:xfrm>
            <a:off x="9963150" y="4315458"/>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CC · 28.6 km</a:t>
            </a:r>
            <a:endParaRPr lang="en-US" sz="1200" dirty="0"/>
          </a:p>
        </p:txBody>
      </p:sp>
      <p:sp>
        <p:nvSpPr>
          <p:cNvPr id="25" name="Text 22"/>
          <p:cNvSpPr/>
          <p:nvPr/>
        </p:nvSpPr>
        <p:spPr>
          <a:xfrm>
            <a:off x="812800" y="5102858"/>
            <a:ext cx="1088339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Distances from each warehouse to Tạp hóa Minh Châu. Pilot values: Dmax = 20 km and a 10 km transit band, configured per warehouse and to be confirmed with the distributor's data. Dijkstra gives only the distance; the transit time comes from this table.</a:t>
            </a:r>
            <a:endParaRPr lang="en-US" sz="1200" dirty="0"/>
          </a:p>
        </p:txBody>
      </p:sp>
      <p:sp>
        <p:nvSpPr>
          <p:cNvPr id="26" name="Text 23"/>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7" name="Text 24"/>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STEPS B2B – B2D</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Estimated arrival and MLOR check</a:t>
            </a:r>
            <a:endParaRPr lang="en-US" sz="3000" dirty="0"/>
          </a:p>
        </p:txBody>
      </p:sp>
      <p:sp>
        <p:nvSpPr>
          <p:cNvPr id="4" name="Text 2"/>
          <p:cNvSpPr/>
          <p:nvPr/>
        </p:nvSpPr>
        <p:spPr>
          <a:xfrm>
            <a:off x="812800" y="1572258"/>
            <a:ext cx="4910614" cy="698500"/>
          </a:xfrm>
          <a:prstGeom prst="roundRect">
            <a:avLst>
              <a:gd name="adj" fmla="val 7273"/>
            </a:avLst>
          </a:prstGeom>
          <a:solidFill>
            <a:srgbClr val="E9EEEA"/>
          </a:solidFill>
          <a:ln/>
        </p:spPr>
        <p:txBody>
          <a:bodyPr wrap="square" lIns="173081" tIns="86721" rIns="414"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T_dispatch = next run after</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(start + preparation + buffer)</a:t>
            </a:r>
            <a:endParaRPr lang="en-US" sz="1300" dirty="0"/>
          </a:p>
        </p:txBody>
      </p:sp>
      <p:sp>
        <p:nvSpPr>
          <p:cNvPr id="5" name="Shape 3"/>
          <p:cNvSpPr/>
          <p:nvPr/>
        </p:nvSpPr>
        <p:spPr>
          <a:xfrm>
            <a:off x="812800" y="1572258"/>
            <a:ext cx="4910614" cy="698500"/>
          </a:xfrm>
          <a:custGeom>
            <a:avLst/>
            <a:gdLst/>
            <a:ahLst/>
            <a:cxnLst/>
            <a:rect l="l" t="t" r="r" b="b"/>
            <a:pathLst>
              <a:path w="4910614" h="698500">
                <a:moveTo>
                  <a:pt x="50800" y="698500"/>
                </a:moveTo>
                <a:lnTo>
                  <a:pt x="50800" y="698500"/>
                </a:lnTo>
                <a:arcTo wR="50800" hR="50800" stAng="5400000" swAng="5400000"/>
                <a:lnTo>
                  <a:pt x="0" y="50800"/>
                </a:lnTo>
                <a:arcTo wR="50800" hR="50800" stAng="10800000" swAng="5400000"/>
                <a:lnTo>
                  <a:pt x="50800" y="0"/>
                </a:lnTo>
                <a:arcTo wR="12700" hR="50800" stAng="16200000" swAng="-5400000"/>
                <a:lnTo>
                  <a:pt x="38100" y="647700"/>
                </a:lnTo>
                <a:arcTo wR="12700" hR="50800" stAng="10800000" swAng="-5400000"/>
                <a:close/>
              </a:path>
            </a:pathLst>
          </a:custGeom>
          <a:solidFill>
            <a:srgbClr val="14655B"/>
          </a:solidFill>
          <a:ln/>
        </p:spPr>
        <p:txBody>
          <a:bodyPr/>
          <a:lstStyle/>
          <a:p>
            <a:endParaRPr lang="en-US"/>
          </a:p>
        </p:txBody>
      </p:sp>
      <p:sp>
        <p:nvSpPr>
          <p:cNvPr id="6" name="Text 4"/>
          <p:cNvSpPr/>
          <p:nvPr/>
        </p:nvSpPr>
        <p:spPr>
          <a:xfrm>
            <a:off x="812800" y="2372358"/>
            <a:ext cx="4910614" cy="450850"/>
          </a:xfrm>
          <a:prstGeom prst="roundRect">
            <a:avLst>
              <a:gd name="adj" fmla="val 11268"/>
            </a:avLst>
          </a:prstGeom>
          <a:solidFill>
            <a:srgbClr val="E9EEEA"/>
          </a:solidFill>
          <a:ln/>
        </p:spPr>
        <p:txBody>
          <a:bodyPr wrap="square" lIns="173081" tIns="86721" rIns="414"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ETA(b, c) = T_dispatch + transit(d)</a:t>
            </a:r>
            <a:endParaRPr lang="en-US" sz="1300" dirty="0"/>
          </a:p>
        </p:txBody>
      </p:sp>
      <p:sp>
        <p:nvSpPr>
          <p:cNvPr id="7" name="Shape 5"/>
          <p:cNvSpPr/>
          <p:nvPr/>
        </p:nvSpPr>
        <p:spPr>
          <a:xfrm>
            <a:off x="812800" y="2372358"/>
            <a:ext cx="4910614" cy="450850"/>
          </a:xfrm>
          <a:custGeom>
            <a:avLst/>
            <a:gdLst/>
            <a:ahLst/>
            <a:cxnLst/>
            <a:rect l="l" t="t" r="r" b="b"/>
            <a:pathLst>
              <a:path w="4910614" h="450850">
                <a:moveTo>
                  <a:pt x="50800" y="450850"/>
                </a:moveTo>
                <a:lnTo>
                  <a:pt x="50800" y="450850"/>
                </a:lnTo>
                <a:arcTo wR="50800" hR="50800" stAng="5400000" swAng="5400000"/>
                <a:lnTo>
                  <a:pt x="0" y="50800"/>
                </a:lnTo>
                <a:arcTo wR="50800" hR="50800" stAng="10800000" swAng="5400000"/>
                <a:lnTo>
                  <a:pt x="50800" y="0"/>
                </a:lnTo>
                <a:arcTo wR="12700" hR="50800" stAng="16200000" swAng="-5400000"/>
                <a:lnTo>
                  <a:pt x="38100" y="400050"/>
                </a:lnTo>
                <a:arcTo wR="12700" hR="50800" stAng="10800000" swAng="-5400000"/>
                <a:close/>
              </a:path>
            </a:pathLst>
          </a:custGeom>
          <a:solidFill>
            <a:srgbClr val="14655B"/>
          </a:solidFill>
          <a:ln/>
        </p:spPr>
        <p:txBody>
          <a:bodyPr/>
          <a:lstStyle/>
          <a:p>
            <a:endParaRPr lang="en-US"/>
          </a:p>
        </p:txBody>
      </p:sp>
      <p:sp>
        <p:nvSpPr>
          <p:cNvPr id="8" name="Text 6"/>
          <p:cNvSpPr/>
          <p:nvPr/>
        </p:nvSpPr>
        <p:spPr>
          <a:xfrm>
            <a:off x="812800" y="2924808"/>
            <a:ext cx="4910614" cy="450850"/>
          </a:xfrm>
          <a:prstGeom prst="roundRect">
            <a:avLst>
              <a:gd name="adj" fmla="val 11268"/>
            </a:avLst>
          </a:prstGeom>
          <a:solidFill>
            <a:srgbClr val="E9EEEA"/>
          </a:solidFill>
          <a:ln/>
        </p:spPr>
        <p:txBody>
          <a:bodyPr wrap="square" lIns="173081" tIns="86721" rIns="414"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keep b if ETA ≤ promised date</a:t>
            </a:r>
            <a:endParaRPr lang="en-US" sz="1300" dirty="0"/>
          </a:p>
        </p:txBody>
      </p:sp>
      <p:sp>
        <p:nvSpPr>
          <p:cNvPr id="9" name="Shape 7"/>
          <p:cNvSpPr/>
          <p:nvPr/>
        </p:nvSpPr>
        <p:spPr>
          <a:xfrm>
            <a:off x="812800" y="2924808"/>
            <a:ext cx="4910614" cy="450850"/>
          </a:xfrm>
          <a:custGeom>
            <a:avLst/>
            <a:gdLst/>
            <a:ahLst/>
            <a:cxnLst/>
            <a:rect l="l" t="t" r="r" b="b"/>
            <a:pathLst>
              <a:path w="4910614" h="450850">
                <a:moveTo>
                  <a:pt x="50800" y="450850"/>
                </a:moveTo>
                <a:lnTo>
                  <a:pt x="50800" y="450850"/>
                </a:lnTo>
                <a:arcTo wR="50800" hR="50800" stAng="5400000" swAng="5400000"/>
                <a:lnTo>
                  <a:pt x="0" y="50800"/>
                </a:lnTo>
                <a:arcTo wR="50800" hR="50800" stAng="10800000" swAng="5400000"/>
                <a:lnTo>
                  <a:pt x="50800" y="0"/>
                </a:lnTo>
                <a:arcTo wR="12700" hR="50800" stAng="16200000" swAng="-5400000"/>
                <a:lnTo>
                  <a:pt x="38100" y="400050"/>
                </a:lnTo>
                <a:arcTo wR="12700" hR="50800" stAng="10800000" swAng="-5400000"/>
                <a:close/>
              </a:path>
            </a:pathLst>
          </a:custGeom>
          <a:solidFill>
            <a:srgbClr val="14655B"/>
          </a:solidFill>
          <a:ln/>
        </p:spPr>
        <p:txBody>
          <a:bodyPr/>
          <a:lstStyle/>
          <a:p>
            <a:endParaRPr lang="en-US"/>
          </a:p>
        </p:txBody>
      </p:sp>
      <p:sp>
        <p:nvSpPr>
          <p:cNvPr id="10" name="Text 8"/>
          <p:cNvSpPr/>
          <p:nvPr/>
        </p:nvSpPr>
        <p:spPr>
          <a:xfrm>
            <a:off x="812800" y="3477258"/>
            <a:ext cx="4910614" cy="698500"/>
          </a:xfrm>
          <a:prstGeom prst="roundRect">
            <a:avLst>
              <a:gd name="adj" fmla="val 7273"/>
            </a:avLst>
          </a:prstGeom>
          <a:solidFill>
            <a:srgbClr val="E9EEEA"/>
          </a:solidFill>
          <a:ln/>
        </p:spPr>
        <p:txBody>
          <a:bodyPr wrap="square" lIns="173081" tIns="86721" rIns="414"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and EXP(b) − ETA ≥ m(c,s) × SL(s)</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with 0 &lt; m(c,s) &lt; 1</a:t>
            </a:r>
            <a:endParaRPr lang="en-US" sz="1300" dirty="0"/>
          </a:p>
        </p:txBody>
      </p:sp>
      <p:sp>
        <p:nvSpPr>
          <p:cNvPr id="11" name="Shape 9"/>
          <p:cNvSpPr/>
          <p:nvPr/>
        </p:nvSpPr>
        <p:spPr>
          <a:xfrm>
            <a:off x="812800" y="3477258"/>
            <a:ext cx="4910614" cy="698500"/>
          </a:xfrm>
          <a:custGeom>
            <a:avLst/>
            <a:gdLst/>
            <a:ahLst/>
            <a:cxnLst/>
            <a:rect l="l" t="t" r="r" b="b"/>
            <a:pathLst>
              <a:path w="4910614" h="698500">
                <a:moveTo>
                  <a:pt x="50800" y="698500"/>
                </a:moveTo>
                <a:lnTo>
                  <a:pt x="50800" y="698500"/>
                </a:lnTo>
                <a:arcTo wR="50800" hR="50800" stAng="5400000" swAng="5400000"/>
                <a:lnTo>
                  <a:pt x="0" y="50800"/>
                </a:lnTo>
                <a:arcTo wR="50800" hR="50800" stAng="10800000" swAng="5400000"/>
                <a:lnTo>
                  <a:pt x="50800" y="0"/>
                </a:lnTo>
                <a:arcTo wR="12700" hR="50800" stAng="16200000" swAng="-5400000"/>
                <a:lnTo>
                  <a:pt x="38100" y="647700"/>
                </a:lnTo>
                <a:arcTo wR="12700" hR="50800" stAng="10800000" swAng="-5400000"/>
                <a:close/>
              </a:path>
            </a:pathLst>
          </a:custGeom>
          <a:solidFill>
            <a:srgbClr val="14655B"/>
          </a:solidFill>
          <a:ln/>
        </p:spPr>
        <p:txBody>
          <a:bodyPr/>
          <a:lstStyle/>
          <a:p>
            <a:endParaRPr lang="en-US"/>
          </a:p>
        </p:txBody>
      </p:sp>
      <p:sp>
        <p:nvSpPr>
          <p:cNvPr id="12" name="Text 10"/>
          <p:cNvSpPr/>
          <p:nvPr/>
        </p:nvSpPr>
        <p:spPr>
          <a:xfrm>
            <a:off x="812800" y="4277358"/>
            <a:ext cx="505793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Each warehouse part is checked on its own ETA. If the schedule changes, ETA and both conditions are recomputed.</a:t>
            </a:r>
            <a:endParaRPr lang="en-US" sz="1200" dirty="0"/>
          </a:p>
        </p:txBody>
      </p:sp>
      <p:sp>
        <p:nvSpPr>
          <p:cNvPr id="13" name="Text 11"/>
          <p:cNvSpPr/>
          <p:nvPr/>
        </p:nvSpPr>
        <p:spPr>
          <a:xfrm>
            <a:off x="5977414" y="1572258"/>
            <a:ext cx="556384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SKU001:</a:t>
            </a:r>
            <a:r>
              <a:rPr lang="en-US" sz="1300" dirty="0">
                <a:solidFill>
                  <a:srgbClr val="1B2420"/>
                </a:solidFill>
                <a:latin typeface="IBM Plex Sans" pitchFamily="34" charset="0"/>
                <a:ea typeface="IBM Plex Sans" pitchFamily="34" charset="-122"/>
                <a:cs typeface="IBM Plex Sans" pitchFamily="34" charset="-120"/>
              </a:rPr>
              <a:t> SL = 45 days, m = 0.3 → MLOR = </a:t>
            </a:r>
            <a:r>
              <a:rPr lang="en-US" sz="1300" b="1" dirty="0">
                <a:solidFill>
                  <a:srgbClr val="1B2420"/>
                </a:solidFill>
                <a:latin typeface="IBM Plex Sans" pitchFamily="34" charset="0"/>
                <a:ea typeface="IBM Plex Sans" pitchFamily="34" charset="-122"/>
                <a:cs typeface="IBM Plex Sans" pitchFamily="34" charset="-120"/>
              </a:rPr>
              <a:t>13.5 days</a:t>
            </a:r>
            <a:r>
              <a:rPr lang="en-US" sz="1300" dirty="0">
                <a:solidFill>
                  <a:srgbClr val="1B2420"/>
                </a:solidFill>
                <a:latin typeface="IBM Plex Sans" pitchFamily="34" charset="0"/>
                <a:ea typeface="IBM Plex Sans" pitchFamily="34" charset="-122"/>
                <a:cs typeface="IBM Plex Sans" pitchFamily="34" charset="-120"/>
              </a:rPr>
              <a:t> at arrival</a:t>
            </a:r>
            <a:endParaRPr lang="en-US" sz="1300" dirty="0"/>
          </a:p>
        </p:txBody>
      </p:sp>
      <p:sp>
        <p:nvSpPr>
          <p:cNvPr id="14" name="Shape 12"/>
          <p:cNvSpPr/>
          <p:nvPr/>
        </p:nvSpPr>
        <p:spPr>
          <a:xfrm>
            <a:off x="5977414" y="1879600"/>
            <a:ext cx="5401786" cy="2245360"/>
          </a:xfrm>
          <a:prstGeom prst="roundRect">
            <a:avLst>
              <a:gd name="adj" fmla="val 3394"/>
            </a:avLst>
          </a:prstGeom>
          <a:solidFill>
            <a:srgbClr val="FFFFFF"/>
          </a:solidFill>
          <a:ln/>
        </p:spPr>
        <p:txBody>
          <a:bodyPr/>
          <a:lstStyle/>
          <a:p>
            <a:endParaRPr lang="en-US"/>
          </a:p>
        </p:txBody>
      </p:sp>
      <p:sp>
        <p:nvSpPr>
          <p:cNvPr id="15" name="Shape 13"/>
          <p:cNvSpPr/>
          <p:nvPr/>
        </p:nvSpPr>
        <p:spPr>
          <a:xfrm>
            <a:off x="5977414" y="1879600"/>
            <a:ext cx="5401786" cy="2245360"/>
          </a:xfrm>
          <a:custGeom>
            <a:avLst/>
            <a:gdLst/>
            <a:ahLst/>
            <a:cxnLst/>
            <a:rect l="l" t="t" r="r" b="b"/>
            <a:pathLst>
              <a:path w="5401786" h="2245360">
                <a:moveTo>
                  <a:pt x="5325586" y="0"/>
                </a:moveTo>
                <a:lnTo>
                  <a:pt x="5325586" y="0"/>
                </a:lnTo>
                <a:arcTo wR="76200" hR="76200" stAng="16200000" swAng="5400000"/>
                <a:lnTo>
                  <a:pt x="5401786" y="2169160"/>
                </a:lnTo>
                <a:arcTo wR="76200" hR="76200" stAng="0" swAng="5400000"/>
                <a:lnTo>
                  <a:pt x="76200" y="2245360"/>
                </a:lnTo>
                <a:arcTo wR="76200" hR="76200" stAng="5400000" swAng="5400000"/>
                <a:lnTo>
                  <a:pt x="0" y="2169160"/>
                </a:lnTo>
                <a:arcTo wR="76200" hR="69850" stAng="10800000" swAng="-5400000"/>
                <a:lnTo>
                  <a:pt x="5325586" y="2239010"/>
                </a:lnTo>
                <a:arcTo wR="69850" hR="69850" stAng="5400000" swAng="-5400000"/>
                <a:lnTo>
                  <a:pt x="5395436" y="76200"/>
                </a:lnTo>
                <a:arcTo wR="69850" hR="76200" stAng="0" swAng="-5400000"/>
                <a:close/>
              </a:path>
            </a:pathLst>
          </a:custGeom>
          <a:solidFill>
            <a:srgbClr val="D5DCD7"/>
          </a:solidFill>
          <a:ln/>
        </p:spPr>
        <p:txBody>
          <a:bodyPr/>
          <a:lstStyle/>
          <a:p>
            <a:endParaRPr lang="en-US"/>
          </a:p>
        </p:txBody>
      </p:sp>
      <p:sp>
        <p:nvSpPr>
          <p:cNvPr id="16" name="Shape 14"/>
          <p:cNvSpPr/>
          <p:nvPr/>
        </p:nvSpPr>
        <p:spPr>
          <a:xfrm>
            <a:off x="5977414" y="1879600"/>
            <a:ext cx="5401786" cy="2245360"/>
          </a:xfrm>
          <a:custGeom>
            <a:avLst/>
            <a:gdLst/>
            <a:ahLst/>
            <a:cxnLst/>
            <a:rect l="l" t="t" r="r" b="b"/>
            <a:pathLst>
              <a:path w="5401786" h="2245360">
                <a:moveTo>
                  <a:pt x="76200" y="2245360"/>
                </a:moveTo>
                <a:lnTo>
                  <a:pt x="76200" y="2245360"/>
                </a:lnTo>
                <a:arcTo wR="76200" hR="76200" stAng="5400000" swAng="5400000"/>
                <a:lnTo>
                  <a:pt x="0" y="76200"/>
                </a:lnTo>
                <a:arcTo wR="76200" hR="76200" stAng="10800000" swAng="5400000"/>
                <a:lnTo>
                  <a:pt x="5325586" y="0"/>
                </a:lnTo>
                <a:arcTo wR="76200" hR="76200" stAng="16200000" swAng="5400000"/>
                <a:lnTo>
                  <a:pt x="5401786" y="76200"/>
                </a:lnTo>
                <a:arcTo wR="76200" hR="66040" stAng="0" swAng="-5400000"/>
                <a:lnTo>
                  <a:pt x="76200" y="10160"/>
                </a:lnTo>
                <a:arcTo wR="66040" hR="66040" stAng="16200000" swAng="-5400000"/>
                <a:lnTo>
                  <a:pt x="10160" y="2169160"/>
                </a:lnTo>
                <a:arcTo wR="66040" hR="76200" stAng="10800000" swAng="-5400000"/>
                <a:close/>
              </a:path>
            </a:pathLst>
          </a:custGeom>
          <a:solidFill>
            <a:srgbClr val="141413">
              <a:alpha val="22000"/>
            </a:srgbClr>
          </a:solidFill>
          <a:ln/>
        </p:spPr>
        <p:txBody>
          <a:bodyPr/>
          <a:lstStyle/>
          <a:p>
            <a:endParaRPr lang="en-US"/>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063774" y="1965960"/>
          <a:ext cx="5234146" cy="2077720"/>
        </p:xfrm>
        <a:graphic>
          <a:graphicData uri="http://schemas.openxmlformats.org/drawingml/2006/table">
            <a:tbl>
              <a:tblPr/>
              <a:tblGrid>
                <a:gridCol w="1151512">
                  <a:extLst>
                    <a:ext uri="{9D8B030D-6E8A-4147-A177-3AD203B41FA5}">
                      <a16:colId xmlns:a16="http://schemas.microsoft.com/office/drawing/2014/main" val="20000"/>
                    </a:ext>
                  </a:extLst>
                </a:gridCol>
                <a:gridCol w="732780">
                  <a:extLst>
                    <a:ext uri="{9D8B030D-6E8A-4147-A177-3AD203B41FA5}">
                      <a16:colId xmlns:a16="http://schemas.microsoft.com/office/drawing/2014/main" val="20001"/>
                    </a:ext>
                  </a:extLst>
                </a:gridCol>
                <a:gridCol w="680439">
                  <a:extLst>
                    <a:ext uri="{9D8B030D-6E8A-4147-A177-3AD203B41FA5}">
                      <a16:colId xmlns:a16="http://schemas.microsoft.com/office/drawing/2014/main" val="20002"/>
                    </a:ext>
                  </a:extLst>
                </a:gridCol>
                <a:gridCol w="732780">
                  <a:extLst>
                    <a:ext uri="{9D8B030D-6E8A-4147-A177-3AD203B41FA5}">
                      <a16:colId xmlns:a16="http://schemas.microsoft.com/office/drawing/2014/main" val="20003"/>
                    </a:ext>
                  </a:extLst>
                </a:gridCol>
                <a:gridCol w="889805">
                  <a:extLst>
                    <a:ext uri="{9D8B030D-6E8A-4147-A177-3AD203B41FA5}">
                      <a16:colId xmlns:a16="http://schemas.microsoft.com/office/drawing/2014/main" val="20004"/>
                    </a:ext>
                  </a:extLst>
                </a:gridCol>
                <a:gridCol w="1046829">
                  <a:extLst>
                    <a:ext uri="{9D8B030D-6E8A-4147-A177-3AD203B41FA5}">
                      <a16:colId xmlns:a16="http://schemas.microsoft.com/office/drawing/2014/main" val="20005"/>
                    </a:ext>
                  </a:extLst>
                </a:gridCol>
              </a:tblGrid>
              <a:tr h="54356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Warehouse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Transit</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ETA</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Expiry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Left at ETA</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Gò Vấp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 day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29/09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06/10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7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Excluded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Thới An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 day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29/09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19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Thủ Đức</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30/09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Tân Chánh Hiệp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 day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29/09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21/10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22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Kept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Text 15"/>
          <p:cNvSpPr/>
          <p:nvPr/>
        </p:nvSpPr>
        <p:spPr>
          <a:xfrm>
            <a:off x="5977414" y="4201158"/>
            <a:ext cx="5401786" cy="629920"/>
          </a:xfrm>
          <a:prstGeom prst="roundRect">
            <a:avLst>
              <a:gd name="adj" fmla="val 12097"/>
            </a:avLst>
          </a:prstGeom>
          <a:solidFill>
            <a:srgbClr val="F6DCCB"/>
          </a:solidFill>
          <a:ln/>
        </p:spPr>
        <p:txBody>
          <a:bodyPr wrap="square" lIns="104682" tIns="79282" rIns="0" bIns="53882" rtlCol="0" anchor="t">
            <a:normAutofit/>
          </a:bodyPr>
          <a:lstStyle/>
          <a:p>
            <a:pPr marL="0" indent="0" algn="l">
              <a:lnSpc>
                <a:spcPts val="1680"/>
              </a:lnSpc>
              <a:buNone/>
            </a:pPr>
            <a:r>
              <a:rPr lang="en-US" sz="1200" dirty="0">
                <a:solidFill>
                  <a:srgbClr val="1B2420"/>
                </a:solidFill>
                <a:latin typeface="IBM Plex Sans" pitchFamily="34" charset="0"/>
                <a:ea typeface="IBM Plex Sans" pitchFamily="34" charset="-122"/>
                <a:cs typeface="IBM Plex Sans" pitchFamily="34" charset="-120"/>
              </a:rPr>
              <a:t>Gò Vấp is closer than Thủ Đức, but its batch would arrive with only 7 days left, below the retailer's 13.5-day MLOR.</a:t>
            </a:r>
            <a:endParaRPr lang="en-US" sz="1200" dirty="0"/>
          </a:p>
        </p:txBody>
      </p:sp>
      <p:sp>
        <p:nvSpPr>
          <p:cNvPr id="19" name="Text 16"/>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0" name="Text 17"/>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STEPS B3 – B4</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FEFO ranking and greedy allocation</a:t>
            </a:r>
            <a:endParaRPr lang="en-US" sz="3000" dirty="0"/>
          </a:p>
        </p:txBody>
      </p:sp>
      <p:sp>
        <p:nvSpPr>
          <p:cNvPr id="4" name="Text 2"/>
          <p:cNvSpPr/>
          <p:nvPr/>
        </p:nvSpPr>
        <p:spPr>
          <a:xfrm>
            <a:off x="812800" y="1572258"/>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B3 · Lexicographic keys</a:t>
            </a:r>
            <a:endParaRPr lang="en-US" sz="1500" dirty="0"/>
          </a:p>
        </p:txBody>
      </p:sp>
      <p:sp>
        <p:nvSpPr>
          <p:cNvPr id="5" name="Shape 3"/>
          <p:cNvSpPr/>
          <p:nvPr/>
        </p:nvSpPr>
        <p:spPr>
          <a:xfrm>
            <a:off x="812800" y="1902458"/>
            <a:ext cx="4419600" cy="1701800"/>
          </a:xfrm>
          <a:prstGeom prst="roundRect">
            <a:avLst>
              <a:gd name="adj" fmla="val 4478"/>
            </a:avLst>
          </a:prstGeom>
          <a:solidFill>
            <a:srgbClr val="FFFFFF"/>
          </a:solidFill>
          <a:ln/>
        </p:spPr>
        <p:txBody>
          <a:bodyPr/>
          <a:lstStyle/>
          <a:p>
            <a:endParaRPr lang="en-US"/>
          </a:p>
        </p:txBody>
      </p:sp>
      <p:sp>
        <p:nvSpPr>
          <p:cNvPr id="6" name="Shape 4"/>
          <p:cNvSpPr/>
          <p:nvPr/>
        </p:nvSpPr>
        <p:spPr>
          <a:xfrm>
            <a:off x="812800" y="1902458"/>
            <a:ext cx="4419600" cy="1701800"/>
          </a:xfrm>
          <a:custGeom>
            <a:avLst/>
            <a:gdLst/>
            <a:ahLst/>
            <a:cxnLst/>
            <a:rect l="l" t="t" r="r" b="b"/>
            <a:pathLst>
              <a:path w="4419600" h="1701800">
                <a:moveTo>
                  <a:pt x="4343400" y="0"/>
                </a:moveTo>
                <a:lnTo>
                  <a:pt x="4343400" y="0"/>
                </a:lnTo>
                <a:arcTo wR="76200" hR="76200" stAng="16200000" swAng="5400000"/>
                <a:lnTo>
                  <a:pt x="4419600" y="1625600"/>
                </a:lnTo>
                <a:arcTo wR="76200" hR="76200" stAng="0" swAng="5400000"/>
                <a:lnTo>
                  <a:pt x="76200" y="1701800"/>
                </a:lnTo>
                <a:arcTo wR="76200" hR="76200" stAng="5400000" swAng="5400000"/>
                <a:lnTo>
                  <a:pt x="0" y="1625600"/>
                </a:lnTo>
                <a:arcTo wR="76200" hR="69850" stAng="10800000" swAng="-5400000"/>
                <a:lnTo>
                  <a:pt x="4343400" y="1695450"/>
                </a:lnTo>
                <a:arcTo wR="69850" hR="69850" stAng="5400000" swAng="-5400000"/>
                <a:lnTo>
                  <a:pt x="4413250" y="76200"/>
                </a:lnTo>
                <a:arcTo wR="69850" hR="76200" stAng="0" swAng="-5400000"/>
                <a:close/>
              </a:path>
            </a:pathLst>
          </a:custGeom>
          <a:solidFill>
            <a:srgbClr val="D5DCD7"/>
          </a:solidFill>
          <a:ln/>
        </p:spPr>
        <p:txBody>
          <a:bodyPr/>
          <a:lstStyle/>
          <a:p>
            <a:endParaRPr lang="en-US"/>
          </a:p>
        </p:txBody>
      </p:sp>
      <p:sp>
        <p:nvSpPr>
          <p:cNvPr id="7" name="Shape 5"/>
          <p:cNvSpPr/>
          <p:nvPr/>
        </p:nvSpPr>
        <p:spPr>
          <a:xfrm>
            <a:off x="812800" y="1902458"/>
            <a:ext cx="4419600" cy="1701800"/>
          </a:xfrm>
          <a:custGeom>
            <a:avLst/>
            <a:gdLst/>
            <a:ahLst/>
            <a:cxnLst/>
            <a:rect l="l" t="t" r="r" b="b"/>
            <a:pathLst>
              <a:path w="4419600" h="1701800">
                <a:moveTo>
                  <a:pt x="76200" y="1701800"/>
                </a:moveTo>
                <a:lnTo>
                  <a:pt x="76200" y="1701800"/>
                </a:lnTo>
                <a:arcTo wR="76200" hR="76200" stAng="5400000" swAng="5400000"/>
                <a:lnTo>
                  <a:pt x="0" y="76200"/>
                </a:lnTo>
                <a:arcTo wR="76200" hR="76200" stAng="10800000" swAng="5400000"/>
                <a:lnTo>
                  <a:pt x="4343400" y="0"/>
                </a:lnTo>
                <a:arcTo wR="76200" hR="76200" stAng="16200000" swAng="5400000"/>
                <a:lnTo>
                  <a:pt x="4419600" y="76200"/>
                </a:lnTo>
                <a:arcTo wR="76200" hR="66040" stAng="0" swAng="-5400000"/>
                <a:lnTo>
                  <a:pt x="76200" y="10160"/>
                </a:lnTo>
                <a:arcTo wR="66040" hR="66040" stAng="16200000" swAng="-5400000"/>
                <a:lnTo>
                  <a:pt x="10160" y="1625600"/>
                </a:lnTo>
                <a:arcTo wR="66040" hR="76200" stAng="10800000" swAng="-5400000"/>
                <a:close/>
              </a:path>
            </a:pathLst>
          </a:custGeom>
          <a:solidFill>
            <a:srgbClr val="141413">
              <a:alpha val="22000"/>
            </a:srgbClr>
          </a:solidFill>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99160" y="1988818"/>
          <a:ext cx="4251960" cy="1534160"/>
        </p:xfrm>
        <a:graphic>
          <a:graphicData uri="http://schemas.openxmlformats.org/drawingml/2006/table">
            <a:tbl>
              <a:tblPr/>
              <a:tblGrid>
                <a:gridCol w="425196">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Key</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Order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Expiry date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earlier first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Distance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shorter first, same expiry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Available qty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larger first, same expiry and distance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6"/>
          <p:cNvSpPr/>
          <p:nvPr/>
        </p:nvSpPr>
        <p:spPr>
          <a:xfrm>
            <a:off x="812800" y="3705858"/>
            <a:ext cx="455218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Remaining ties: warehouse code, then Batch ID, so the result is stable.</a:t>
            </a:r>
            <a:endParaRPr lang="en-US" sz="1200" dirty="0"/>
          </a:p>
        </p:txBody>
      </p:sp>
      <p:sp>
        <p:nvSpPr>
          <p:cNvPr id="10" name="Text 7"/>
          <p:cNvSpPr/>
          <p:nvPr/>
        </p:nvSpPr>
        <p:spPr>
          <a:xfrm>
            <a:off x="812800" y="4234185"/>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B4 · Greedy take</a:t>
            </a:r>
            <a:endParaRPr lang="en-US" sz="1500" dirty="0"/>
          </a:p>
        </p:txBody>
      </p:sp>
      <p:sp>
        <p:nvSpPr>
          <p:cNvPr id="11" name="Text 8"/>
          <p:cNvSpPr/>
          <p:nvPr/>
        </p:nvSpPr>
        <p:spPr>
          <a:xfrm>
            <a:off x="812800" y="4564385"/>
            <a:ext cx="4419600" cy="698500"/>
          </a:xfrm>
          <a:prstGeom prst="roundRect">
            <a:avLst>
              <a:gd name="adj" fmla="val 7273"/>
            </a:avLst>
          </a:prstGeom>
          <a:solidFill>
            <a:srgbClr val="E9EEEA"/>
          </a:solidFill>
          <a:ln/>
        </p:spPr>
        <p:txBody>
          <a:bodyPr wrap="square" lIns="173081" tIns="86721" rIns="15144" bIns="61321" rtlCol="0" anchor="t">
            <a:normAutofit/>
          </a:bodyPr>
          <a:lstStyle/>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take_i = min(remaining, avail_i)</a:t>
            </a:r>
            <a:endParaRPr lang="en-US" sz="1300" dirty="0"/>
          </a:p>
          <a:p>
            <a:pPr marL="0" indent="0" algn="l">
              <a:lnSpc>
                <a:spcPts val="1950"/>
              </a:lnSpc>
              <a:buNone/>
            </a:pPr>
            <a:r>
              <a:rPr lang="en-US" sz="1300" dirty="0">
                <a:solidFill>
                  <a:srgbClr val="1B2420"/>
                </a:solidFill>
                <a:latin typeface="IBM Plex Mono" pitchFamily="49" charset="0"/>
                <a:ea typeface="IBM Plex Mono" pitchFamily="49" charset="-122"/>
                <a:cs typeface="IBM Plex Mono" pitchFamily="49" charset="-120"/>
              </a:rPr>
              <a:t>shortfall = requested − Σ take_i</a:t>
            </a:r>
            <a:endParaRPr lang="en-US" sz="1300" dirty="0"/>
          </a:p>
        </p:txBody>
      </p:sp>
      <p:sp>
        <p:nvSpPr>
          <p:cNvPr id="12" name="Shape 9"/>
          <p:cNvSpPr/>
          <p:nvPr/>
        </p:nvSpPr>
        <p:spPr>
          <a:xfrm>
            <a:off x="812800" y="4564385"/>
            <a:ext cx="4419600" cy="698500"/>
          </a:xfrm>
          <a:custGeom>
            <a:avLst/>
            <a:gdLst/>
            <a:ahLst/>
            <a:cxnLst/>
            <a:rect l="l" t="t" r="r" b="b"/>
            <a:pathLst>
              <a:path w="4419600" h="698500">
                <a:moveTo>
                  <a:pt x="50800" y="698500"/>
                </a:moveTo>
                <a:lnTo>
                  <a:pt x="50800" y="698500"/>
                </a:lnTo>
                <a:arcTo wR="50800" hR="50800" stAng="5400000" swAng="5400000"/>
                <a:lnTo>
                  <a:pt x="0" y="50800"/>
                </a:lnTo>
                <a:arcTo wR="50800" hR="50800" stAng="10800000" swAng="5400000"/>
                <a:lnTo>
                  <a:pt x="50800" y="0"/>
                </a:lnTo>
                <a:arcTo wR="12700" hR="50800" stAng="16200000" swAng="-5400000"/>
                <a:lnTo>
                  <a:pt x="38100" y="647700"/>
                </a:lnTo>
                <a:arcTo wR="12700" hR="50800" stAng="10800000" swAng="-5400000"/>
                <a:close/>
              </a:path>
            </a:pathLst>
          </a:custGeom>
          <a:solidFill>
            <a:srgbClr val="14655B"/>
          </a:solidFill>
          <a:ln/>
        </p:spPr>
        <p:txBody>
          <a:bodyPr/>
          <a:lstStyle/>
          <a:p>
            <a:endParaRPr lang="en-US"/>
          </a:p>
        </p:txBody>
      </p:sp>
      <p:sp>
        <p:nvSpPr>
          <p:cNvPr id="13" name="Text 10"/>
          <p:cNvSpPr/>
          <p:nvPr/>
        </p:nvSpPr>
        <p:spPr>
          <a:xfrm>
            <a:off x="5486400" y="1572258"/>
            <a:ext cx="606958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Example · DH-1030 · SKU001 × 60</a:t>
            </a:r>
            <a:endParaRPr lang="en-US" sz="1300" dirty="0"/>
          </a:p>
        </p:txBody>
      </p:sp>
      <p:sp>
        <p:nvSpPr>
          <p:cNvPr id="14" name="Shape 11"/>
          <p:cNvSpPr/>
          <p:nvPr/>
        </p:nvSpPr>
        <p:spPr>
          <a:xfrm>
            <a:off x="5486400" y="1879600"/>
            <a:ext cx="5892800" cy="2768600"/>
          </a:xfrm>
          <a:prstGeom prst="roundRect">
            <a:avLst>
              <a:gd name="adj" fmla="val 2752"/>
            </a:avLst>
          </a:prstGeom>
          <a:solidFill>
            <a:srgbClr val="FFFFFF"/>
          </a:solidFill>
          <a:ln/>
        </p:spPr>
        <p:txBody>
          <a:bodyPr/>
          <a:lstStyle/>
          <a:p>
            <a:endParaRPr lang="en-US"/>
          </a:p>
        </p:txBody>
      </p:sp>
      <p:sp>
        <p:nvSpPr>
          <p:cNvPr id="15" name="Shape 12"/>
          <p:cNvSpPr/>
          <p:nvPr/>
        </p:nvSpPr>
        <p:spPr>
          <a:xfrm>
            <a:off x="5486400" y="1879600"/>
            <a:ext cx="5892800" cy="2768600"/>
          </a:xfrm>
          <a:custGeom>
            <a:avLst/>
            <a:gdLst/>
            <a:ahLst/>
            <a:cxnLst/>
            <a:rect l="l" t="t" r="r" b="b"/>
            <a:pathLst>
              <a:path w="5892800" h="2768600">
                <a:moveTo>
                  <a:pt x="5816600" y="0"/>
                </a:moveTo>
                <a:lnTo>
                  <a:pt x="5816600" y="0"/>
                </a:lnTo>
                <a:arcTo wR="76200" hR="76200" stAng="16200000" swAng="5400000"/>
                <a:lnTo>
                  <a:pt x="5892800" y="2692400"/>
                </a:lnTo>
                <a:arcTo wR="76200" hR="76200" stAng="0" swAng="5400000"/>
                <a:lnTo>
                  <a:pt x="76200" y="2768600"/>
                </a:lnTo>
                <a:arcTo wR="76200" hR="76200" stAng="5400000" swAng="5400000"/>
                <a:lnTo>
                  <a:pt x="0" y="2692400"/>
                </a:lnTo>
                <a:arcTo wR="76200" hR="69850" stAng="10800000" swAng="-5400000"/>
                <a:lnTo>
                  <a:pt x="5816600" y="2762250"/>
                </a:lnTo>
                <a:arcTo wR="69850" hR="69850" stAng="5400000" swAng="-5400000"/>
                <a:lnTo>
                  <a:pt x="5886450" y="76200"/>
                </a:lnTo>
                <a:arcTo wR="69850" hR="76200" stAng="0" swAng="-5400000"/>
                <a:close/>
              </a:path>
            </a:pathLst>
          </a:custGeom>
          <a:solidFill>
            <a:srgbClr val="D5DCD7"/>
          </a:solidFill>
          <a:ln/>
        </p:spPr>
        <p:txBody>
          <a:bodyPr/>
          <a:lstStyle/>
          <a:p>
            <a:endParaRPr lang="en-US"/>
          </a:p>
        </p:txBody>
      </p:sp>
      <p:sp>
        <p:nvSpPr>
          <p:cNvPr id="16" name="Shape 13"/>
          <p:cNvSpPr/>
          <p:nvPr/>
        </p:nvSpPr>
        <p:spPr>
          <a:xfrm>
            <a:off x="5486400" y="1879600"/>
            <a:ext cx="5892800" cy="2768600"/>
          </a:xfrm>
          <a:custGeom>
            <a:avLst/>
            <a:gdLst/>
            <a:ahLst/>
            <a:cxnLst/>
            <a:rect l="l" t="t" r="r" b="b"/>
            <a:pathLst>
              <a:path w="5892800" h="2768600">
                <a:moveTo>
                  <a:pt x="76200" y="2768600"/>
                </a:moveTo>
                <a:lnTo>
                  <a:pt x="76200" y="2768600"/>
                </a:lnTo>
                <a:arcTo wR="76200" hR="76200" stAng="5400000" swAng="5400000"/>
                <a:lnTo>
                  <a:pt x="0" y="76200"/>
                </a:lnTo>
                <a:arcTo wR="76200" hR="76200" stAng="10800000" swAng="5400000"/>
                <a:lnTo>
                  <a:pt x="5816600" y="0"/>
                </a:lnTo>
                <a:arcTo wR="76200" hR="76200" stAng="16200000" swAng="5400000"/>
                <a:lnTo>
                  <a:pt x="5892800" y="76200"/>
                </a:lnTo>
                <a:arcTo wR="76200" hR="66040" stAng="0" swAng="-5400000"/>
                <a:lnTo>
                  <a:pt x="76200" y="10160"/>
                </a:lnTo>
                <a:arcTo wR="66040" hR="66040" stAng="16200000" swAng="-5400000"/>
                <a:lnTo>
                  <a:pt x="10160" y="2692400"/>
                </a:lnTo>
                <a:arcTo wR="66040" hR="76200" stAng="10800000" swAng="-5400000"/>
                <a:close/>
              </a:path>
            </a:pathLst>
          </a:custGeom>
          <a:solidFill>
            <a:srgbClr val="141413">
              <a:alpha val="22000"/>
            </a:srgbClr>
          </a:solidFill>
          <a:ln/>
        </p:spPr>
        <p:txBody>
          <a:bodyPr/>
          <a:lstStyle/>
          <a:p>
            <a:endParaRPr lang="en-US"/>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572760" y="1965960"/>
          <a:ext cx="5725160" cy="2600960"/>
        </p:xfrm>
        <a:graphic>
          <a:graphicData uri="http://schemas.openxmlformats.org/drawingml/2006/table">
            <a:tbl>
              <a:tblPr/>
              <a:tblGrid>
                <a:gridCol w="515264">
                  <a:extLst>
                    <a:ext uri="{9D8B030D-6E8A-4147-A177-3AD203B41FA5}">
                      <a16:colId xmlns:a16="http://schemas.microsoft.com/office/drawing/2014/main" val="20000"/>
                    </a:ext>
                  </a:extLst>
                </a:gridCol>
                <a:gridCol w="1889303">
                  <a:extLst>
                    <a:ext uri="{9D8B030D-6E8A-4147-A177-3AD203B41FA5}">
                      <a16:colId xmlns:a16="http://schemas.microsoft.com/office/drawing/2014/main" val="20001"/>
                    </a:ext>
                  </a:extLst>
                </a:gridCol>
                <a:gridCol w="687019">
                  <a:extLst>
                    <a:ext uri="{9D8B030D-6E8A-4147-A177-3AD203B41FA5}">
                      <a16:colId xmlns:a16="http://schemas.microsoft.com/office/drawing/2014/main" val="20002"/>
                    </a:ext>
                  </a:extLst>
                </a:gridCol>
                <a:gridCol w="744271">
                  <a:extLst>
                    <a:ext uri="{9D8B030D-6E8A-4147-A177-3AD203B41FA5}">
                      <a16:colId xmlns:a16="http://schemas.microsoft.com/office/drawing/2014/main" val="20003"/>
                    </a:ext>
                  </a:extLst>
                </a:gridCol>
                <a:gridCol w="629768">
                  <a:extLst>
                    <a:ext uri="{9D8B030D-6E8A-4147-A177-3AD203B41FA5}">
                      <a16:colId xmlns:a16="http://schemas.microsoft.com/office/drawing/2014/main" val="20004"/>
                    </a:ext>
                  </a:extLst>
                </a:gridCol>
                <a:gridCol w="572516">
                  <a:extLst>
                    <a:ext uri="{9D8B030D-6E8A-4147-A177-3AD203B41FA5}">
                      <a16:colId xmlns:a16="http://schemas.microsoft.com/office/drawing/2014/main" val="20005"/>
                    </a:ext>
                  </a:extLst>
                </a:gridCol>
                <a:gridCol w="687019">
                  <a:extLst>
                    <a:ext uri="{9D8B030D-6E8A-4147-A177-3AD203B41FA5}">
                      <a16:colId xmlns:a16="http://schemas.microsoft.com/office/drawing/2014/main" val="20006"/>
                    </a:ext>
                  </a:extLst>
                </a:gridCol>
              </a:tblGrid>
              <a:tr h="75692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Rank</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Warehouse · batch</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Expiry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Distance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Avail.</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Take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Still needed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Thới An · WH-TA-SKU001-18102026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3.2 km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Thủ Đức · WH-TD-SKU001-18102026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18/10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17.4 km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75692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Tân Chánh Hiệp · WH-TCH-SKU001-21102026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21/10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6.5 km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8" name="Text 14"/>
          <p:cNvSpPr/>
          <p:nvPr/>
        </p:nvSpPr>
        <p:spPr>
          <a:xfrm>
            <a:off x="5486400" y="4724400"/>
            <a:ext cx="5892800" cy="843280"/>
          </a:xfrm>
          <a:prstGeom prst="roundRect">
            <a:avLst>
              <a:gd name="adj" fmla="val 9036"/>
            </a:avLst>
          </a:prstGeom>
          <a:solidFill>
            <a:srgbClr val="14655B"/>
          </a:solidFill>
          <a:ln/>
        </p:spPr>
        <p:txBody>
          <a:bodyPr wrap="square" lIns="104682" tIns="79282" rIns="0" bIns="53882"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Result: 60 cartons from 2 warehouses. Thới An wins rank 1 over Thủ Đức on distance (same expiry); Tân Chánh Hiệp is closer than Thủ Đức but expires later, so FEFO places it third.</a:t>
            </a:r>
            <a:endParaRPr lang="en-US" sz="1200" dirty="0"/>
          </a:p>
        </p:txBody>
      </p:sp>
      <p:sp>
        <p:nvSpPr>
          <p:cNvPr id="19" name="Text 15"/>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20" name="Text 16"/>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STEP B5 · HOLD AND CONCURRENCY</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From tentative allocation to reservation</a:t>
            </a:r>
            <a:endParaRPr lang="en-US" sz="3000" dirty="0"/>
          </a:p>
        </p:txBody>
      </p:sp>
      <p:sp>
        <p:nvSpPr>
          <p:cNvPr id="4" name="Shape 2"/>
          <p:cNvSpPr/>
          <p:nvPr/>
        </p:nvSpPr>
        <p:spPr>
          <a:xfrm>
            <a:off x="815975" y="1575433"/>
            <a:ext cx="3397250" cy="3343910"/>
          </a:xfrm>
          <a:prstGeom prst="roundRect">
            <a:avLst>
              <a:gd name="adj" fmla="val 2943"/>
            </a:avLst>
          </a:prstGeom>
          <a:solidFill>
            <a:srgbClr val="FFFFFF"/>
          </a:solidFill>
          <a:ln w="6350">
            <a:solidFill>
              <a:srgbClr val="D5DCD7"/>
            </a:solidFill>
            <a:prstDash val="solid"/>
          </a:ln>
        </p:spPr>
        <p:txBody>
          <a:bodyPr/>
          <a:lstStyle/>
          <a:p>
            <a:endParaRPr lang="en-US"/>
          </a:p>
        </p:txBody>
      </p:sp>
      <p:pic>
        <p:nvPicPr>
          <p:cNvPr id="5" name="Image 0" descr="CheckCircle"/>
          <p:cNvPicPr>
            <a:picLocks noChangeAspect="1"/>
          </p:cNvPicPr>
          <p:nvPr/>
        </p:nvPicPr>
        <p:blipFill>
          <a:blip r:embed="rId3"/>
          <a:srcRect/>
          <a:stretch/>
        </p:blipFill>
        <p:spPr>
          <a:xfrm>
            <a:off x="1021080" y="1780542"/>
            <a:ext cx="279400" cy="279400"/>
          </a:xfrm>
          <a:prstGeom prst="rect">
            <a:avLst/>
          </a:prstGeom>
        </p:spPr>
      </p:pic>
      <p:sp>
        <p:nvSpPr>
          <p:cNvPr id="6" name="Text 3"/>
          <p:cNvSpPr/>
          <p:nvPr/>
        </p:nvSpPr>
        <p:spPr>
          <a:xfrm>
            <a:off x="1021080" y="2136142"/>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Enough stock</a:t>
            </a:r>
            <a:endParaRPr lang="en-US" sz="1500" dirty="0"/>
          </a:p>
        </p:txBody>
      </p:sp>
      <p:sp>
        <p:nvSpPr>
          <p:cNvPr id="7" name="Text 4"/>
          <p:cNvSpPr/>
          <p:nvPr/>
        </p:nvSpPr>
        <p:spPr>
          <a:xfrm>
            <a:off x="1021080" y="2440942"/>
            <a:ext cx="3076651"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Re-read availability and hold exactly warehouse-batch-quantity → order </a:t>
            </a:r>
            <a:r>
              <a:rPr lang="en-US" sz="1200" b="1" dirty="0">
                <a:solidFill>
                  <a:srgbClr val="4A5550"/>
                </a:solidFill>
                <a:latin typeface="IBM Plex Sans" pitchFamily="34" charset="0"/>
                <a:ea typeface="IBM Plex Sans" pitchFamily="34" charset="-122"/>
                <a:cs typeface="IBM Plex Sans" pitchFamily="34" charset="-120"/>
              </a:rPr>
              <a:t>Pending approval</a:t>
            </a:r>
            <a:r>
              <a:rPr lang="en-US" sz="1200" dirty="0">
                <a:solidFill>
                  <a:srgbClr val="4A5550"/>
                </a:solidFill>
                <a:latin typeface="IBM Plex Sans" pitchFamily="34" charset="0"/>
                <a:ea typeface="IBM Plex Sans" pitchFamily="34" charset="-122"/>
                <a:cs typeface="IBM Plex Sans" pitchFamily="34" charset="-120"/>
              </a:rPr>
              <a:t>. Approval turns the hold into </a:t>
            </a:r>
            <a:r>
              <a:rPr lang="en-US" sz="1200" b="1" dirty="0">
                <a:solidFill>
                  <a:srgbClr val="4A5550"/>
                </a:solidFill>
                <a:latin typeface="IBM Plex Sans" pitchFamily="34" charset="0"/>
                <a:ea typeface="IBM Plex Sans" pitchFamily="34" charset="-122"/>
                <a:cs typeface="IBM Plex Sans" pitchFamily="34" charset="-120"/>
              </a:rPr>
              <a:t>Reserved</a:t>
            </a:r>
            <a:r>
              <a:rPr lang="en-US" sz="1200" dirty="0">
                <a:solidFill>
                  <a:srgbClr val="4A5550"/>
                </a:solidFill>
                <a:latin typeface="IBM Plex Sans" pitchFamily="34" charset="0"/>
                <a:ea typeface="IBM Plex Sans" pitchFamily="34" charset="-122"/>
                <a:cs typeface="IBM Plex Sans" pitchFamily="34" charset="-120"/>
              </a:rPr>
              <a:t> and creates one picking list per warehouse.</a:t>
            </a:r>
            <a:endParaRPr lang="en-US" sz="1200" dirty="0"/>
          </a:p>
        </p:txBody>
      </p:sp>
      <p:sp>
        <p:nvSpPr>
          <p:cNvPr id="8" name="Shape 5"/>
          <p:cNvSpPr/>
          <p:nvPr/>
        </p:nvSpPr>
        <p:spPr>
          <a:xfrm>
            <a:off x="4397375" y="1575433"/>
            <a:ext cx="3397250" cy="3343910"/>
          </a:xfrm>
          <a:prstGeom prst="roundRect">
            <a:avLst>
              <a:gd name="adj" fmla="val 2943"/>
            </a:avLst>
          </a:prstGeom>
          <a:solidFill>
            <a:srgbClr val="FFFFFF"/>
          </a:solidFill>
          <a:ln w="6350">
            <a:solidFill>
              <a:srgbClr val="D5DCD7"/>
            </a:solidFill>
            <a:prstDash val="solid"/>
          </a:ln>
        </p:spPr>
        <p:txBody>
          <a:bodyPr/>
          <a:lstStyle/>
          <a:p>
            <a:endParaRPr lang="en-US"/>
          </a:p>
        </p:txBody>
      </p:sp>
      <p:pic>
        <p:nvPicPr>
          <p:cNvPr id="9" name="Image 1" descr="Warning"/>
          <p:cNvPicPr>
            <a:picLocks noChangeAspect="1"/>
          </p:cNvPicPr>
          <p:nvPr/>
        </p:nvPicPr>
        <p:blipFill>
          <a:blip r:embed="rId4"/>
          <a:srcRect/>
          <a:stretch/>
        </p:blipFill>
        <p:spPr>
          <a:xfrm>
            <a:off x="4602480" y="1780542"/>
            <a:ext cx="279400" cy="279400"/>
          </a:xfrm>
          <a:prstGeom prst="rect">
            <a:avLst/>
          </a:prstGeom>
        </p:spPr>
      </p:pic>
      <p:sp>
        <p:nvSpPr>
          <p:cNvPr id="10" name="Text 6"/>
          <p:cNvSpPr/>
          <p:nvPr/>
        </p:nvSpPr>
        <p:spPr>
          <a:xfrm>
            <a:off x="4602480" y="2136142"/>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Shortfall</a:t>
            </a:r>
            <a:endParaRPr lang="en-US" sz="1500" dirty="0"/>
          </a:p>
        </p:txBody>
      </p:sp>
      <p:sp>
        <p:nvSpPr>
          <p:cNvPr id="11" name="Text 7"/>
          <p:cNvSpPr/>
          <p:nvPr/>
        </p:nvSpPr>
        <p:spPr>
          <a:xfrm>
            <a:off x="4602480" y="2440942"/>
            <a:ext cx="3076651"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Only after every eligible batch in the network has been tried. MVP rule: </a:t>
            </a:r>
            <a:r>
              <a:rPr lang="en-US" sz="1200" b="1" dirty="0">
                <a:solidFill>
                  <a:srgbClr val="4A5550"/>
                </a:solidFill>
                <a:latin typeface="IBM Plex Sans" pitchFamily="34" charset="0"/>
                <a:ea typeface="IBM Plex Sans" pitchFamily="34" charset="-122"/>
                <a:cs typeface="IBM Plex Sans" pitchFamily="34" charset="-120"/>
              </a:rPr>
              <a:t>no partial fulfillment</a:t>
            </a:r>
            <a:r>
              <a:rPr lang="en-US" sz="1200" dirty="0">
                <a:solidFill>
                  <a:srgbClr val="4A5550"/>
                </a:solidFill>
                <a:latin typeface="IBM Plex Sans" pitchFamily="34" charset="0"/>
                <a:ea typeface="IBM Plex Sans" pitchFamily="34" charset="-122"/>
                <a:cs typeface="IBM Plex Sans" pitchFamily="34" charset="-120"/>
              </a:rPr>
              <a:t> → the order is rejected automatically with the reason; nothing is held; Sales and retailer are notified.</a:t>
            </a:r>
            <a:endParaRPr lang="en-US" sz="1200" dirty="0"/>
          </a:p>
        </p:txBody>
      </p:sp>
      <p:sp>
        <p:nvSpPr>
          <p:cNvPr id="12" name="Shape 8"/>
          <p:cNvSpPr/>
          <p:nvPr/>
        </p:nvSpPr>
        <p:spPr>
          <a:xfrm>
            <a:off x="7978775" y="1575433"/>
            <a:ext cx="3397250" cy="3343910"/>
          </a:xfrm>
          <a:prstGeom prst="roundRect">
            <a:avLst>
              <a:gd name="adj" fmla="val 2943"/>
            </a:avLst>
          </a:prstGeom>
          <a:solidFill>
            <a:srgbClr val="FFFFFF"/>
          </a:solidFill>
          <a:ln w="6350">
            <a:solidFill>
              <a:srgbClr val="D5DCD7"/>
            </a:solidFill>
            <a:prstDash val="solid"/>
          </a:ln>
        </p:spPr>
        <p:txBody>
          <a:bodyPr/>
          <a:lstStyle/>
          <a:p>
            <a:endParaRPr lang="en-US"/>
          </a:p>
        </p:txBody>
      </p:sp>
      <p:pic>
        <p:nvPicPr>
          <p:cNvPr id="13" name="Image 2" descr="Lock"/>
          <p:cNvPicPr>
            <a:picLocks noChangeAspect="1"/>
          </p:cNvPicPr>
          <p:nvPr/>
        </p:nvPicPr>
        <p:blipFill>
          <a:blip r:embed="rId5"/>
          <a:srcRect/>
          <a:stretch/>
        </p:blipFill>
        <p:spPr>
          <a:xfrm>
            <a:off x="8183880" y="1780542"/>
            <a:ext cx="279400" cy="279400"/>
          </a:xfrm>
          <a:prstGeom prst="rect">
            <a:avLst/>
          </a:prstGeom>
        </p:spPr>
      </p:pic>
      <p:sp>
        <p:nvSpPr>
          <p:cNvPr id="14" name="Text 9"/>
          <p:cNvSpPr/>
          <p:nvPr/>
        </p:nvSpPr>
        <p:spPr>
          <a:xfrm>
            <a:off x="8183880" y="2136142"/>
            <a:ext cx="30766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20"/>
                </a:solidFill>
                <a:latin typeface="Space Grotesk" pitchFamily="34" charset="0"/>
                <a:ea typeface="Space Grotesk" pitchFamily="34" charset="-122"/>
                <a:cs typeface="Space Grotesk" pitchFamily="34" charset="-120"/>
              </a:rPr>
              <a:t>Concurrency safety</a:t>
            </a:r>
            <a:endParaRPr lang="en-US" sz="1500" dirty="0"/>
          </a:p>
        </p:txBody>
      </p:sp>
      <p:sp>
        <p:nvSpPr>
          <p:cNvPr id="15" name="Text 10"/>
          <p:cNvSpPr/>
          <p:nvPr/>
        </p:nvSpPr>
        <p:spPr>
          <a:xfrm>
            <a:off x="8183880" y="2440942"/>
            <a:ext cx="3076651"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IBM Plex Sans" pitchFamily="34" charset="0"/>
                <a:ea typeface="IBM Plex Sans" pitchFamily="34" charset="-122"/>
                <a:cs typeface="IBM Plex Sans" pitchFamily="34" charset="-120"/>
              </a:rPr>
              <a:t>Server-arrival order (first come, first served); optimistic locking with a row version inside one transaction; an idempotency key per order; on conflict: release, re-read, run B1–B5 again.</a:t>
            </a:r>
            <a:endParaRPr lang="en-US" sz="1200" dirty="0"/>
          </a:p>
        </p:txBody>
      </p:sp>
      <p:sp>
        <p:nvSpPr>
          <p:cNvPr id="16" name="Text 11"/>
          <p:cNvSpPr/>
          <p:nvPr/>
        </p:nvSpPr>
        <p:spPr>
          <a:xfrm>
            <a:off x="812800" y="5151127"/>
            <a:ext cx="10566400" cy="690880"/>
          </a:xfrm>
          <a:prstGeom prst="roundRect">
            <a:avLst>
              <a:gd name="adj" fmla="val 11029"/>
            </a:avLst>
          </a:prstGeom>
          <a:solidFill>
            <a:srgbClr val="E9EEEA"/>
          </a:solidFill>
          <a:ln/>
        </p:spPr>
        <p:txBody>
          <a:bodyPr wrap="square" lIns="130082" tIns="91982" rIns="0" bIns="66582" rtlCol="0" anchor="t">
            <a:normAutofit/>
          </a:bodyPr>
          <a:lstStyle/>
          <a:p>
            <a:pPr marL="0" indent="0" algn="l">
              <a:lnSpc>
                <a:spcPts val="1820"/>
              </a:lnSpc>
              <a:buNone/>
            </a:pPr>
            <a:r>
              <a:rPr lang="en-US" sz="1300" dirty="0">
                <a:solidFill>
                  <a:srgbClr val="1B2420"/>
                </a:solidFill>
                <a:latin typeface="IBM Plex Sans" pitchFamily="34" charset="0"/>
                <a:ea typeface="IBM Plex Sans" pitchFamily="34" charset="-122"/>
                <a:cs typeface="IBM Plex Sans" pitchFamily="34" charset="-120"/>
              </a:rPr>
              <a:t>Holds never make available stock negative and the same batch quantity is never given to two orders. Rejection or cancellation releases the hold; on-hand stock drops only at goods issue.</a:t>
            </a:r>
            <a:endParaRPr lang="en-US" sz="1300" dirty="0"/>
          </a:p>
        </p:txBody>
      </p:sp>
      <p:sp>
        <p:nvSpPr>
          <p:cNvPr id="17" name="Text 12"/>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18" name="Text 13"/>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3" name="Text 1"/>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22</a:t>
            </a:r>
            <a:endParaRPr lang="en-US" sz="1200" dirty="0"/>
          </a:p>
        </p:txBody>
      </p:sp>
      <p:sp>
        <p:nvSpPr>
          <p:cNvPr id="4" name="Text 2"/>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SYSTEM DESIGN</a:t>
            </a:r>
            <a:endParaRPr lang="en-US" sz="1200" dirty="0"/>
          </a:p>
        </p:txBody>
      </p:sp>
      <p:sp>
        <p:nvSpPr>
          <p:cNvPr id="5" name="Text 3"/>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Architecture overview</a:t>
            </a:r>
            <a:endParaRPr lang="en-US" sz="3000" dirty="0"/>
          </a:p>
        </p:txBody>
      </p:sp>
      <p:sp>
        <p:nvSpPr>
          <p:cNvPr id="6" name="Shape 4"/>
          <p:cNvSpPr/>
          <p:nvPr/>
        </p:nvSpPr>
        <p:spPr>
          <a:xfrm>
            <a:off x="819150" y="1581150"/>
            <a:ext cx="4051300" cy="939800"/>
          </a:xfrm>
          <a:prstGeom prst="roundRect">
            <a:avLst>
              <a:gd name="adj" fmla="val 8784"/>
            </a:avLst>
          </a:prstGeom>
          <a:solidFill>
            <a:srgbClr val="FFFFFF"/>
          </a:solidFill>
          <a:ln w="12700">
            <a:solidFill>
              <a:srgbClr val="D5DCD7"/>
            </a:solidFill>
            <a:prstDash val="solid"/>
          </a:ln>
        </p:spPr>
        <p:txBody>
          <a:bodyPr/>
          <a:lstStyle/>
          <a:p>
            <a:endParaRPr lang="en-US"/>
          </a:p>
        </p:txBody>
      </p:sp>
      <p:sp>
        <p:nvSpPr>
          <p:cNvPr id="7" name="Text 5"/>
          <p:cNvSpPr/>
          <p:nvPr/>
        </p:nvSpPr>
        <p:spPr>
          <a:xfrm>
            <a:off x="949960" y="1686558"/>
            <a:ext cx="39033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Web portal</a:t>
            </a:r>
            <a:endParaRPr lang="en-US" sz="1400" dirty="0"/>
          </a:p>
        </p:txBody>
      </p:sp>
      <p:sp>
        <p:nvSpPr>
          <p:cNvPr id="8" name="Text 6"/>
          <p:cNvSpPr/>
          <p:nvPr/>
        </p:nvSpPr>
        <p:spPr>
          <a:xfrm>
            <a:off x="949960" y="1938027"/>
            <a:ext cx="390337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React · Chart.js · Vercel</a:t>
            </a:r>
            <a:endParaRPr lang="en-US" sz="1200" dirty="0"/>
          </a:p>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Admin · Operator · Sales Manager · Warehouse Keeper</a:t>
            </a:r>
            <a:endParaRPr lang="en-US" sz="1200" dirty="0"/>
          </a:p>
        </p:txBody>
      </p:sp>
      <p:sp>
        <p:nvSpPr>
          <p:cNvPr id="9" name="Shape 7"/>
          <p:cNvSpPr/>
          <p:nvPr/>
        </p:nvSpPr>
        <p:spPr>
          <a:xfrm>
            <a:off x="5264150" y="1581150"/>
            <a:ext cx="4051300" cy="939800"/>
          </a:xfrm>
          <a:prstGeom prst="roundRect">
            <a:avLst>
              <a:gd name="adj" fmla="val 8784"/>
            </a:avLst>
          </a:prstGeom>
          <a:solidFill>
            <a:srgbClr val="FFFFFF"/>
          </a:solidFill>
          <a:ln w="12700">
            <a:solidFill>
              <a:srgbClr val="D5DCD7"/>
            </a:solidFill>
            <a:prstDash val="solid"/>
          </a:ln>
        </p:spPr>
        <p:txBody>
          <a:bodyPr/>
          <a:lstStyle/>
          <a:p>
            <a:endParaRPr lang="en-US"/>
          </a:p>
        </p:txBody>
      </p:sp>
      <p:sp>
        <p:nvSpPr>
          <p:cNvPr id="10" name="Text 8"/>
          <p:cNvSpPr/>
          <p:nvPr/>
        </p:nvSpPr>
        <p:spPr>
          <a:xfrm>
            <a:off x="5394960" y="1686558"/>
            <a:ext cx="39033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Mobile app (Flutter)</a:t>
            </a:r>
            <a:endParaRPr lang="en-US" sz="1400" dirty="0"/>
          </a:p>
        </p:txBody>
      </p:sp>
      <p:sp>
        <p:nvSpPr>
          <p:cNvPr id="11" name="Text 9"/>
          <p:cNvSpPr/>
          <p:nvPr/>
        </p:nvSpPr>
        <p:spPr>
          <a:xfrm>
            <a:off x="5394960" y="1938027"/>
            <a:ext cx="390337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SQLite offline cache + sync queue</a:t>
            </a:r>
            <a:endParaRPr lang="en-US" sz="1200" dirty="0"/>
          </a:p>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Sales · Retailer · Warehouse Keeper</a:t>
            </a:r>
            <a:endParaRPr lang="en-US" sz="1200" dirty="0"/>
          </a:p>
        </p:txBody>
      </p:sp>
      <p:sp>
        <p:nvSpPr>
          <p:cNvPr id="12" name="Shape 10"/>
          <p:cNvSpPr/>
          <p:nvPr/>
        </p:nvSpPr>
        <p:spPr>
          <a:xfrm>
            <a:off x="9709150" y="1581150"/>
            <a:ext cx="1663700" cy="939800"/>
          </a:xfrm>
          <a:prstGeom prst="roundRect">
            <a:avLst>
              <a:gd name="adj" fmla="val 8784"/>
            </a:avLst>
          </a:prstGeom>
          <a:solidFill>
            <a:srgbClr val="FFFFFF"/>
          </a:solidFill>
          <a:ln w="12700">
            <a:solidFill>
              <a:srgbClr val="D5DCD7"/>
            </a:solidFill>
            <a:prstDash val="solid"/>
          </a:ln>
        </p:spPr>
        <p:txBody>
          <a:bodyPr/>
          <a:lstStyle/>
          <a:p>
            <a:endParaRPr lang="en-US"/>
          </a:p>
        </p:txBody>
      </p:sp>
      <p:sp>
        <p:nvSpPr>
          <p:cNvPr id="13" name="Text 11"/>
          <p:cNvSpPr/>
          <p:nvPr/>
        </p:nvSpPr>
        <p:spPr>
          <a:xfrm>
            <a:off x="9839960" y="1686558"/>
            <a:ext cx="1452880"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Microsoft Entra ID</a:t>
            </a:r>
            <a:endParaRPr lang="en-US" sz="1400" dirty="0"/>
          </a:p>
        </p:txBody>
      </p:sp>
      <p:sp>
        <p:nvSpPr>
          <p:cNvPr id="14" name="Text 12"/>
          <p:cNvSpPr/>
          <p:nvPr/>
        </p:nvSpPr>
        <p:spPr>
          <a:xfrm>
            <a:off x="9839960" y="2151385"/>
            <a:ext cx="145288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sign-in, tokens</a:t>
            </a:r>
            <a:endParaRPr lang="en-US" sz="1200" dirty="0"/>
          </a:p>
        </p:txBody>
      </p:sp>
      <p:sp>
        <p:nvSpPr>
          <p:cNvPr id="15" name="Shape 13"/>
          <p:cNvSpPr/>
          <p:nvPr/>
        </p:nvSpPr>
        <p:spPr>
          <a:xfrm>
            <a:off x="812800" y="2908300"/>
            <a:ext cx="8509000" cy="1460500"/>
          </a:xfrm>
          <a:prstGeom prst="roundRect">
            <a:avLst>
              <a:gd name="adj" fmla="val 6957"/>
            </a:avLst>
          </a:prstGeom>
          <a:solidFill>
            <a:srgbClr val="14302B"/>
          </a:solidFill>
          <a:ln/>
        </p:spPr>
        <p:txBody>
          <a:bodyPr/>
          <a:lstStyle/>
          <a:p>
            <a:endParaRPr lang="en-US"/>
          </a:p>
        </p:txBody>
      </p:sp>
      <p:sp>
        <p:nvSpPr>
          <p:cNvPr id="16" name="Text 14"/>
          <p:cNvSpPr/>
          <p:nvPr/>
        </p:nvSpPr>
        <p:spPr>
          <a:xfrm>
            <a:off x="965200" y="3035300"/>
            <a:ext cx="84503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2F1EA"/>
                </a:solidFill>
                <a:latin typeface="Space Grotesk" pitchFamily="34" charset="0"/>
                <a:ea typeface="Space Grotesk" pitchFamily="34" charset="-122"/>
                <a:cs typeface="Space Grotesk" pitchFamily="34" charset="-120"/>
              </a:rPr>
              <a:t>ASP.NET Core Web API · modular monolith, Clean Architecture</a:t>
            </a:r>
            <a:endParaRPr lang="en-US" sz="1500" dirty="0"/>
          </a:p>
        </p:txBody>
      </p:sp>
      <p:sp>
        <p:nvSpPr>
          <p:cNvPr id="17" name="Text 15"/>
          <p:cNvSpPr/>
          <p:nvPr/>
        </p:nvSpPr>
        <p:spPr>
          <a:xfrm>
            <a:off x="965200" y="3352800"/>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Identity &amp; access</a:t>
            </a:r>
            <a:endParaRPr lang="en-US" sz="1200" dirty="0"/>
          </a:p>
        </p:txBody>
      </p:sp>
      <p:sp>
        <p:nvSpPr>
          <p:cNvPr id="18" name="Text 16"/>
          <p:cNvSpPr/>
          <p:nvPr/>
        </p:nvSpPr>
        <p:spPr>
          <a:xfrm>
            <a:off x="3725307" y="3352800"/>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Master data</a:t>
            </a:r>
            <a:endParaRPr lang="en-US" sz="1200" dirty="0"/>
          </a:p>
        </p:txBody>
      </p:sp>
      <p:sp>
        <p:nvSpPr>
          <p:cNvPr id="19" name="Text 17"/>
          <p:cNvSpPr/>
          <p:nvPr/>
        </p:nvSpPr>
        <p:spPr>
          <a:xfrm>
            <a:off x="6485414" y="3352800"/>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Inventory, batch &amp; labels</a:t>
            </a:r>
            <a:endParaRPr lang="en-US" sz="1200" dirty="0"/>
          </a:p>
        </p:txBody>
      </p:sp>
      <p:sp>
        <p:nvSpPr>
          <p:cNvPr id="20" name="Text 18"/>
          <p:cNvSpPr/>
          <p:nvPr/>
        </p:nvSpPr>
        <p:spPr>
          <a:xfrm>
            <a:off x="965200" y="3769358"/>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Orders &amp; FEFO-MLOR allocation</a:t>
            </a:r>
            <a:endParaRPr lang="en-US" sz="1200" dirty="0"/>
          </a:p>
        </p:txBody>
      </p:sp>
      <p:sp>
        <p:nvSpPr>
          <p:cNvPr id="21" name="Text 19"/>
          <p:cNvSpPr/>
          <p:nvPr/>
        </p:nvSpPr>
        <p:spPr>
          <a:xfrm>
            <a:off x="3725307" y="3769358"/>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Promotion engine</a:t>
            </a:r>
            <a:endParaRPr lang="en-US" sz="1200" dirty="0"/>
          </a:p>
        </p:txBody>
      </p:sp>
      <p:sp>
        <p:nvSpPr>
          <p:cNvPr id="22" name="Text 20"/>
          <p:cNvSpPr/>
          <p:nvPr/>
        </p:nvSpPr>
        <p:spPr>
          <a:xfrm>
            <a:off x="6485414" y="3769358"/>
            <a:ext cx="2683907" cy="340360"/>
          </a:xfrm>
          <a:prstGeom prst="roundRect">
            <a:avLst>
              <a:gd name="adj" fmla="val 18657"/>
            </a:avLst>
          </a:prstGeom>
          <a:solidFill>
            <a:srgbClr val="24493F"/>
          </a:solidFill>
          <a:ln/>
        </p:spPr>
        <p:txBody>
          <a:bodyPr wrap="square" lIns="70301" tIns="44901" rIns="0" bIns="19501" rtlCol="0" anchor="t">
            <a:normAutofit/>
          </a:bodyPr>
          <a:lstStyle/>
          <a:p>
            <a:pPr marL="0" indent="0" algn="l">
              <a:lnSpc>
                <a:spcPts val="1680"/>
              </a:lnSpc>
              <a:buNone/>
            </a:pPr>
            <a:r>
              <a:rPr lang="en-US" sz="1200" dirty="0">
                <a:solidFill>
                  <a:srgbClr val="F2F1EA"/>
                </a:solidFill>
                <a:latin typeface="IBM Plex Sans" pitchFamily="34" charset="0"/>
                <a:ea typeface="IBM Plex Sans" pitchFamily="34" charset="-122"/>
                <a:cs typeface="IBM Plex Sans" pitchFamily="34" charset="-120"/>
              </a:rPr>
              <a:t>Notification &amp; audit</a:t>
            </a:r>
            <a:endParaRPr lang="en-US" sz="1200" dirty="0"/>
          </a:p>
        </p:txBody>
      </p:sp>
      <p:sp>
        <p:nvSpPr>
          <p:cNvPr id="23" name="Shape 21"/>
          <p:cNvSpPr/>
          <p:nvPr/>
        </p:nvSpPr>
        <p:spPr>
          <a:xfrm>
            <a:off x="9709150" y="2914650"/>
            <a:ext cx="1663700" cy="1447800"/>
          </a:xfrm>
          <a:prstGeom prst="roundRect">
            <a:avLst>
              <a:gd name="adj" fmla="val 5702"/>
            </a:avLst>
          </a:prstGeom>
          <a:solidFill>
            <a:srgbClr val="FFFFFF"/>
          </a:solidFill>
          <a:ln w="12700">
            <a:solidFill>
              <a:srgbClr val="D5DCD7"/>
            </a:solidFill>
            <a:prstDash val="solid"/>
          </a:ln>
        </p:spPr>
        <p:txBody>
          <a:bodyPr/>
          <a:lstStyle/>
          <a:p>
            <a:endParaRPr lang="en-US"/>
          </a:p>
        </p:txBody>
      </p:sp>
      <p:sp>
        <p:nvSpPr>
          <p:cNvPr id="24" name="Text 22"/>
          <p:cNvSpPr/>
          <p:nvPr/>
        </p:nvSpPr>
        <p:spPr>
          <a:xfrm>
            <a:off x="9839960" y="3020058"/>
            <a:ext cx="14528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DevOps</a:t>
            </a:r>
            <a:endParaRPr lang="en-US" sz="1400" dirty="0"/>
          </a:p>
        </p:txBody>
      </p:sp>
      <p:sp>
        <p:nvSpPr>
          <p:cNvPr id="25" name="Text 23"/>
          <p:cNvSpPr/>
          <p:nvPr/>
        </p:nvSpPr>
        <p:spPr>
          <a:xfrm>
            <a:off x="9839960" y="3271527"/>
            <a:ext cx="1452880"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50"/>
                </a:solidFill>
                <a:latin typeface="IBM Plex Sans" pitchFamily="34" charset="0"/>
                <a:ea typeface="IBM Plex Sans" pitchFamily="34" charset="-122"/>
                <a:cs typeface="IBM Plex Sans" pitchFamily="34" charset="-120"/>
              </a:rPr>
              <a:t>GitHub Actions · Azure Monitor · Key Vault · Azure DevOps</a:t>
            </a:r>
            <a:endParaRPr lang="en-US" sz="1200" dirty="0"/>
          </a:p>
        </p:txBody>
      </p:sp>
      <p:sp>
        <p:nvSpPr>
          <p:cNvPr id="26" name="Shape 24"/>
          <p:cNvSpPr/>
          <p:nvPr/>
        </p:nvSpPr>
        <p:spPr>
          <a:xfrm>
            <a:off x="819150" y="4756150"/>
            <a:ext cx="2654300" cy="939800"/>
          </a:xfrm>
          <a:prstGeom prst="roundRect">
            <a:avLst>
              <a:gd name="adj" fmla="val 8784"/>
            </a:avLst>
          </a:prstGeom>
          <a:solidFill>
            <a:srgbClr val="DCEBE5"/>
          </a:solidFill>
          <a:ln w="12700">
            <a:solidFill>
              <a:srgbClr val="A9CFC3"/>
            </a:solidFill>
            <a:prstDash val="solid"/>
          </a:ln>
        </p:spPr>
        <p:txBody>
          <a:bodyPr/>
          <a:lstStyle/>
          <a:p>
            <a:endParaRPr lang="en-US"/>
          </a:p>
        </p:txBody>
      </p:sp>
      <p:sp>
        <p:nvSpPr>
          <p:cNvPr id="27" name="Text 25"/>
          <p:cNvSpPr/>
          <p:nvPr/>
        </p:nvSpPr>
        <p:spPr>
          <a:xfrm>
            <a:off x="949960" y="4861558"/>
            <a:ext cx="2464461"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Azure Database for PostgreSQL</a:t>
            </a:r>
            <a:endParaRPr lang="en-US" sz="1400" dirty="0"/>
          </a:p>
        </p:txBody>
      </p:sp>
      <p:sp>
        <p:nvSpPr>
          <p:cNvPr id="28" name="Text 26"/>
          <p:cNvSpPr/>
          <p:nvPr/>
        </p:nvSpPr>
        <p:spPr>
          <a:xfrm>
            <a:off x="949960" y="5326385"/>
            <a:ext cx="246446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2420"/>
                </a:solidFill>
                <a:latin typeface="IBM Plex Sans" pitchFamily="34" charset="0"/>
                <a:ea typeface="IBM Plex Sans" pitchFamily="34" charset="-122"/>
                <a:cs typeface="IBM Plex Sans" pitchFamily="34" charset="-120"/>
              </a:rPr>
              <a:t>transactions, row version, outbox</a:t>
            </a:r>
            <a:endParaRPr lang="en-US" sz="1200" dirty="0"/>
          </a:p>
        </p:txBody>
      </p:sp>
      <p:sp>
        <p:nvSpPr>
          <p:cNvPr id="29" name="Shape 27"/>
          <p:cNvSpPr/>
          <p:nvPr/>
        </p:nvSpPr>
        <p:spPr>
          <a:xfrm>
            <a:off x="3740150" y="4756150"/>
            <a:ext cx="2654300" cy="939800"/>
          </a:xfrm>
          <a:prstGeom prst="roundRect">
            <a:avLst>
              <a:gd name="adj" fmla="val 8784"/>
            </a:avLst>
          </a:prstGeom>
          <a:solidFill>
            <a:srgbClr val="DCEBE5"/>
          </a:solidFill>
          <a:ln w="12700">
            <a:solidFill>
              <a:srgbClr val="A9CFC3"/>
            </a:solidFill>
            <a:prstDash val="solid"/>
          </a:ln>
        </p:spPr>
        <p:txBody>
          <a:bodyPr/>
          <a:lstStyle/>
          <a:p>
            <a:endParaRPr lang="en-US"/>
          </a:p>
        </p:txBody>
      </p:sp>
      <p:sp>
        <p:nvSpPr>
          <p:cNvPr id="30" name="Text 28"/>
          <p:cNvSpPr/>
          <p:nvPr/>
        </p:nvSpPr>
        <p:spPr>
          <a:xfrm>
            <a:off x="3870960" y="4861558"/>
            <a:ext cx="246446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Background worker</a:t>
            </a:r>
            <a:endParaRPr lang="en-US" sz="1400" dirty="0"/>
          </a:p>
        </p:txBody>
      </p:sp>
      <p:sp>
        <p:nvSpPr>
          <p:cNvPr id="31" name="Text 29"/>
          <p:cNvSpPr/>
          <p:nvPr/>
        </p:nvSpPr>
        <p:spPr>
          <a:xfrm>
            <a:off x="3870960" y="5113027"/>
            <a:ext cx="246446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2420"/>
                </a:solidFill>
                <a:latin typeface="IBM Plex Sans" pitchFamily="34" charset="0"/>
                <a:ea typeface="IBM Plex Sans" pitchFamily="34" charset="-122"/>
                <a:cs typeface="IBM Plex Sans" pitchFamily="34" charset="-120"/>
              </a:rPr>
              <a:t>outbox → events, notifications, sync jobs</a:t>
            </a:r>
            <a:endParaRPr lang="en-US" sz="1200" dirty="0"/>
          </a:p>
        </p:txBody>
      </p:sp>
      <p:sp>
        <p:nvSpPr>
          <p:cNvPr id="32" name="Shape 30"/>
          <p:cNvSpPr/>
          <p:nvPr/>
        </p:nvSpPr>
        <p:spPr>
          <a:xfrm>
            <a:off x="6661150" y="4756150"/>
            <a:ext cx="2654300" cy="939800"/>
          </a:xfrm>
          <a:prstGeom prst="roundRect">
            <a:avLst>
              <a:gd name="adj" fmla="val 8784"/>
            </a:avLst>
          </a:prstGeom>
          <a:solidFill>
            <a:srgbClr val="DCEBE5"/>
          </a:solidFill>
          <a:ln w="12700">
            <a:solidFill>
              <a:srgbClr val="A9CFC3"/>
            </a:solidFill>
            <a:prstDash val="solid"/>
          </a:ln>
        </p:spPr>
        <p:txBody>
          <a:bodyPr/>
          <a:lstStyle/>
          <a:p>
            <a:endParaRPr lang="en-US"/>
          </a:p>
        </p:txBody>
      </p:sp>
      <p:sp>
        <p:nvSpPr>
          <p:cNvPr id="33" name="Text 31"/>
          <p:cNvSpPr/>
          <p:nvPr/>
        </p:nvSpPr>
        <p:spPr>
          <a:xfrm>
            <a:off x="6791960" y="4861558"/>
            <a:ext cx="246446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20"/>
                </a:solidFill>
                <a:latin typeface="Space Grotesk" pitchFamily="34" charset="0"/>
                <a:ea typeface="Space Grotesk" pitchFamily="34" charset="-122"/>
                <a:cs typeface="Space Grotesk" pitchFamily="34" charset="-120"/>
              </a:rPr>
              <a:t>Azure Functions (Timer)</a:t>
            </a:r>
            <a:endParaRPr lang="en-US" sz="1400" dirty="0"/>
          </a:p>
        </p:txBody>
      </p:sp>
      <p:sp>
        <p:nvSpPr>
          <p:cNvPr id="34" name="Text 32"/>
          <p:cNvSpPr/>
          <p:nvPr/>
        </p:nvSpPr>
        <p:spPr>
          <a:xfrm>
            <a:off x="6791960" y="5113027"/>
            <a:ext cx="246446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2420"/>
                </a:solidFill>
                <a:latin typeface="IBM Plex Sans" pitchFamily="34" charset="0"/>
                <a:ea typeface="IBM Plex Sans" pitchFamily="34" charset="-122"/>
                <a:cs typeface="IBM Plex Sans" pitchFamily="34" charset="-120"/>
              </a:rPr>
              <a:t>daily batch expiry: Normal → Near-date → Expired</a:t>
            </a:r>
            <a:endParaRPr lang="en-US" sz="1200" dirty="0"/>
          </a:p>
        </p:txBody>
      </p:sp>
      <p:sp>
        <p:nvSpPr>
          <p:cNvPr id="35" name="Shape 33"/>
          <p:cNvSpPr/>
          <p:nvPr/>
        </p:nvSpPr>
        <p:spPr>
          <a:xfrm>
            <a:off x="9709150" y="4756150"/>
            <a:ext cx="1663700" cy="939800"/>
          </a:xfrm>
          <a:prstGeom prst="roundRect">
            <a:avLst>
              <a:gd name="adj" fmla="val 8784"/>
            </a:avLst>
          </a:prstGeom>
          <a:solidFill>
            <a:srgbClr val="DCEBE5"/>
          </a:solidFill>
          <a:ln w="12700">
            <a:solidFill>
              <a:srgbClr val="A9CFC3"/>
            </a:solidFill>
            <a:prstDash val="solid"/>
          </a:ln>
        </p:spPr>
        <p:txBody>
          <a:bodyPr/>
          <a:lstStyle/>
          <a:p>
            <a:endParaRPr lang="en-US"/>
          </a:p>
        </p:txBody>
      </p:sp>
      <p:sp>
        <p:nvSpPr>
          <p:cNvPr id="36" name="Text 34"/>
          <p:cNvSpPr/>
          <p:nvPr/>
        </p:nvSpPr>
        <p:spPr>
          <a:xfrm>
            <a:off x="9839960" y="4861558"/>
            <a:ext cx="1452880" cy="548243"/>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1B2420"/>
                </a:solidFill>
                <a:latin typeface="Space Grotesk" pitchFamily="34" charset="0"/>
                <a:ea typeface="Space Grotesk" pitchFamily="34" charset="-122"/>
                <a:cs typeface="Space Grotesk" pitchFamily="34" charset="-120"/>
              </a:rPr>
              <a:t>Blob · Notification Hubs</a:t>
            </a:r>
            <a:endParaRPr lang="en-US" sz="1308" dirty="0"/>
          </a:p>
        </p:txBody>
      </p:sp>
      <p:sp>
        <p:nvSpPr>
          <p:cNvPr id="37" name="Text 35"/>
          <p:cNvSpPr/>
          <p:nvPr/>
        </p:nvSpPr>
        <p:spPr>
          <a:xfrm>
            <a:off x="9839960" y="5422503"/>
            <a:ext cx="1452880" cy="193437"/>
          </a:xfrm>
          <a:prstGeom prst="rect">
            <a:avLst/>
          </a:prstGeom>
          <a:noFill/>
          <a:ln/>
        </p:spPr>
        <p:txBody>
          <a:bodyPr wrap="square" lIns="0" tIns="0" rIns="0" bIns="0" rtlCol="0" anchor="t">
            <a:normAutofit/>
          </a:bodyPr>
          <a:lstStyle/>
          <a:p>
            <a:pPr marL="0" indent="0" algn="l">
              <a:lnSpc>
                <a:spcPts val="1321"/>
              </a:lnSpc>
              <a:buNone/>
            </a:pPr>
            <a:r>
              <a:rPr lang="en-US" sz="979" dirty="0">
                <a:solidFill>
                  <a:srgbClr val="1B2420"/>
                </a:solidFill>
                <a:latin typeface="IBM Plex Sans" pitchFamily="34" charset="0"/>
                <a:ea typeface="IBM Plex Sans" pitchFamily="34" charset="-122"/>
                <a:cs typeface="IBM Plex Sans" pitchFamily="34" charset="-120"/>
              </a:rPr>
              <a:t>labels, images, push</a:t>
            </a:r>
            <a:endParaRPr lang="en-US" sz="97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TECHNOLOGIES</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Technology stack and why</a:t>
            </a:r>
            <a:endParaRPr lang="en-US" sz="3000" dirty="0"/>
          </a:p>
        </p:txBody>
      </p:sp>
      <p:sp>
        <p:nvSpPr>
          <p:cNvPr id="4" name="Shape 2"/>
          <p:cNvSpPr/>
          <p:nvPr/>
        </p:nvSpPr>
        <p:spPr>
          <a:xfrm>
            <a:off x="812800" y="1572258"/>
            <a:ext cx="10566400" cy="4178300"/>
          </a:xfrm>
          <a:prstGeom prst="roundRect">
            <a:avLst>
              <a:gd name="adj" fmla="val 1824"/>
            </a:avLst>
          </a:prstGeom>
          <a:solidFill>
            <a:srgbClr val="FFFFFF"/>
          </a:solidFill>
          <a:ln/>
        </p:spPr>
        <p:txBody>
          <a:bodyPr/>
          <a:lstStyle/>
          <a:p>
            <a:endParaRPr lang="en-US"/>
          </a:p>
        </p:txBody>
      </p:sp>
      <p:sp>
        <p:nvSpPr>
          <p:cNvPr id="5" name="Shape 3"/>
          <p:cNvSpPr/>
          <p:nvPr/>
        </p:nvSpPr>
        <p:spPr>
          <a:xfrm>
            <a:off x="812800" y="1572258"/>
            <a:ext cx="10566400" cy="4178300"/>
          </a:xfrm>
          <a:custGeom>
            <a:avLst/>
            <a:gdLst/>
            <a:ahLst/>
            <a:cxnLst/>
            <a:rect l="l" t="t" r="r" b="b"/>
            <a:pathLst>
              <a:path w="10566400" h="4178300">
                <a:moveTo>
                  <a:pt x="10490200" y="0"/>
                </a:moveTo>
                <a:lnTo>
                  <a:pt x="10490200" y="0"/>
                </a:lnTo>
                <a:arcTo wR="76200" hR="76200" stAng="16200000" swAng="5400000"/>
                <a:lnTo>
                  <a:pt x="10566400" y="4102100"/>
                </a:lnTo>
                <a:arcTo wR="76200" hR="76200" stAng="0" swAng="5400000"/>
                <a:lnTo>
                  <a:pt x="76200" y="4178300"/>
                </a:lnTo>
                <a:arcTo wR="76200" hR="76200" stAng="5400000" swAng="5400000"/>
                <a:lnTo>
                  <a:pt x="0" y="4102100"/>
                </a:lnTo>
                <a:arcTo wR="76200" hR="69850" stAng="10800000" swAng="-5400000"/>
                <a:lnTo>
                  <a:pt x="10490200" y="417195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6" name="Shape 4"/>
          <p:cNvSpPr/>
          <p:nvPr/>
        </p:nvSpPr>
        <p:spPr>
          <a:xfrm>
            <a:off x="812800" y="1572258"/>
            <a:ext cx="10566400" cy="4178300"/>
          </a:xfrm>
          <a:custGeom>
            <a:avLst/>
            <a:gdLst/>
            <a:ahLst/>
            <a:cxnLst/>
            <a:rect l="l" t="t" r="r" b="b"/>
            <a:pathLst>
              <a:path w="10566400" h="4178300">
                <a:moveTo>
                  <a:pt x="76200" y="4178300"/>
                </a:moveTo>
                <a:lnTo>
                  <a:pt x="76200" y="417830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4102100"/>
                </a:lnTo>
                <a:arcTo wR="66040"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99160" y="1658618"/>
          <a:ext cx="10398760" cy="4010660"/>
        </p:xfrm>
        <a:graphic>
          <a:graphicData uri="http://schemas.openxmlformats.org/drawingml/2006/table">
            <a:tbl>
              <a:tblPr/>
              <a:tblGrid>
                <a:gridCol w="1871777">
                  <a:extLst>
                    <a:ext uri="{9D8B030D-6E8A-4147-A177-3AD203B41FA5}">
                      <a16:colId xmlns:a16="http://schemas.microsoft.com/office/drawing/2014/main" val="20000"/>
                    </a:ext>
                  </a:extLst>
                </a:gridCol>
                <a:gridCol w="3535578">
                  <a:extLst>
                    <a:ext uri="{9D8B030D-6E8A-4147-A177-3AD203B41FA5}">
                      <a16:colId xmlns:a16="http://schemas.microsoft.com/office/drawing/2014/main" val="20001"/>
                    </a:ext>
                  </a:extLst>
                </a:gridCol>
                <a:gridCol w="4991405">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Layer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Technology</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820"/>
                        </a:lnSpc>
                        <a:buNone/>
                      </a:pPr>
                      <a:r>
                        <a:rPr lang="en-US" sz="1300" b="1" dirty="0">
                          <a:solidFill>
                            <a:srgbClr val="1B2420"/>
                          </a:solidFill>
                          <a:latin typeface="IBM Plex Sans" pitchFamily="34" charset="0"/>
                          <a:ea typeface="IBM Plex Sans" pitchFamily="34" charset="-122"/>
                          <a:cs typeface="IBM Plex Sans" pitchFamily="34" charset="-120"/>
                        </a:rPr>
                        <a:t>Why we chose it</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Web frontend</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React, Chart.js · hosted on Vercel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Role-based portal, dashboards, fast deployment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Mobile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Flutter, SQLite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One codebase for Android and iOS; offline-first cache and order queue</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Backend</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ASP.NET Core Web 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Modular monolith with Clean Architecture; testable allocation rules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Database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Azure Database for PostgreSQL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ACID transactions, optimistic locking, transactional outbox</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Async &amp; jobs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Background worker, Azure Functions Timer Trigger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Reliable events and notifications; daily expiry tracker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Identity &amp; services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Microsoft Entra ID, Azure Blob Storage, Notification Hubs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Sign-in, label and image files, push notifications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588010">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DevOps &amp; tools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GitHub Organization, GitHub Actions, Azure Monitor, Key Vault, Azure DevOps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2420"/>
                          </a:solidFill>
                          <a:latin typeface="IBM Plex Sans" pitchFamily="34" charset="0"/>
                          <a:ea typeface="IBM Plex Sans" pitchFamily="34" charset="-122"/>
                          <a:cs typeface="IBM Plex Sans" pitchFamily="34" charset="-120"/>
                        </a:rPr>
                        <a:t>Pull-request reviews, CI/CD, monitoring, secrets, Scrum board</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655B"/>
                </a:solidFill>
                <a:latin typeface="IBM Plex Sans" pitchFamily="34" charset="0"/>
                <a:ea typeface="IBM Plex Sans" pitchFamily="34" charset="-122"/>
                <a:cs typeface="IBM Plex Sans" pitchFamily="34" charset="-120"/>
              </a:rPr>
              <a:t>PLAN AND RISKS · REPORT 2</a:t>
            </a:r>
            <a:endParaRPr lang="en-US" sz="1200" dirty="0"/>
          </a:p>
        </p:txBody>
      </p:sp>
      <p:sp>
        <p:nvSpPr>
          <p:cNvPr id="3" name="Text 1"/>
          <p:cNvSpPr>
            <a:spLocks noGrp="1"/>
          </p:cNvSpPr>
          <p:nvPr>
            <p:ph type="title"/>
          </p:nvPr>
        </p:nvSpPr>
        <p:spPr>
          <a:xfrm>
            <a:off x="812800" y="9245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20"/>
                </a:solidFill>
                <a:latin typeface="Space Grotesk" pitchFamily="34" charset="0"/>
                <a:ea typeface="Space Grotesk" pitchFamily="34" charset="-122"/>
                <a:cs typeface="Space Grotesk" pitchFamily="34" charset="-120"/>
              </a:rPr>
              <a:t>Scrum roadmap and top technical risks</a:t>
            </a:r>
            <a:endParaRPr lang="en-US" sz="3000" dirty="0"/>
          </a:p>
        </p:txBody>
      </p:sp>
      <p:sp>
        <p:nvSpPr>
          <p:cNvPr id="4" name="Shape 2"/>
          <p:cNvSpPr/>
          <p:nvPr/>
        </p:nvSpPr>
        <p:spPr>
          <a:xfrm>
            <a:off x="812800" y="1572258"/>
            <a:ext cx="1444149" cy="1562100"/>
          </a:xfrm>
          <a:prstGeom prst="roundRect">
            <a:avLst>
              <a:gd name="adj" fmla="val 6156"/>
            </a:avLst>
          </a:prstGeom>
          <a:solidFill>
            <a:srgbClr val="14655B"/>
          </a:solidFill>
          <a:ln/>
        </p:spPr>
        <p:txBody>
          <a:bodyPr/>
          <a:lstStyle/>
          <a:p>
            <a:endParaRPr lang="en-US"/>
          </a:p>
        </p:txBody>
      </p:sp>
      <p:sp>
        <p:nvSpPr>
          <p:cNvPr id="5" name="Text 3"/>
          <p:cNvSpPr/>
          <p:nvPr/>
        </p:nvSpPr>
        <p:spPr>
          <a:xfrm>
            <a:off x="927100" y="1686558"/>
            <a:ext cx="1266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S1</a:t>
            </a:r>
            <a:endParaRPr lang="en-US" sz="1500" dirty="0"/>
          </a:p>
        </p:txBody>
      </p:sp>
      <p:sp>
        <p:nvSpPr>
          <p:cNvPr id="6" name="Text 4"/>
          <p:cNvSpPr/>
          <p:nvPr/>
        </p:nvSpPr>
        <p:spPr>
          <a:xfrm>
            <a:off x="927100" y="1991358"/>
            <a:ext cx="1266349" cy="105410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Setup, authentication, users, SKU, warehouse, metadata</a:t>
            </a:r>
            <a:endParaRPr lang="en-US" sz="1200" dirty="0"/>
          </a:p>
        </p:txBody>
      </p:sp>
      <p:sp>
        <p:nvSpPr>
          <p:cNvPr id="7" name="Shape 5"/>
          <p:cNvSpPr/>
          <p:nvPr/>
        </p:nvSpPr>
        <p:spPr>
          <a:xfrm>
            <a:off x="2333149" y="1572258"/>
            <a:ext cx="1444228" cy="1562100"/>
          </a:xfrm>
          <a:prstGeom prst="roundRect">
            <a:avLst>
              <a:gd name="adj" fmla="val 6156"/>
            </a:avLst>
          </a:prstGeom>
          <a:solidFill>
            <a:srgbClr val="14655B"/>
          </a:solidFill>
          <a:ln/>
        </p:spPr>
        <p:txBody>
          <a:bodyPr/>
          <a:lstStyle/>
          <a:p>
            <a:endParaRPr lang="en-US"/>
          </a:p>
        </p:txBody>
      </p:sp>
      <p:sp>
        <p:nvSpPr>
          <p:cNvPr id="8" name="Text 6"/>
          <p:cNvSpPr/>
          <p:nvPr/>
        </p:nvSpPr>
        <p:spPr>
          <a:xfrm>
            <a:off x="2447449" y="1686558"/>
            <a:ext cx="126642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S2</a:t>
            </a:r>
            <a:endParaRPr lang="en-US" sz="1500" dirty="0"/>
          </a:p>
        </p:txBody>
      </p:sp>
      <p:sp>
        <p:nvSpPr>
          <p:cNvPr id="9" name="Text 7"/>
          <p:cNvSpPr/>
          <p:nvPr/>
        </p:nvSpPr>
        <p:spPr>
          <a:xfrm>
            <a:off x="2447449" y="1991358"/>
            <a:ext cx="1266428"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Inventory, Batch/Lot, goods receipt</a:t>
            </a:r>
            <a:endParaRPr lang="en-US" sz="1200" dirty="0"/>
          </a:p>
        </p:txBody>
      </p:sp>
      <p:sp>
        <p:nvSpPr>
          <p:cNvPr id="10" name="Shape 8"/>
          <p:cNvSpPr/>
          <p:nvPr/>
        </p:nvSpPr>
        <p:spPr>
          <a:xfrm>
            <a:off x="3853577" y="1572258"/>
            <a:ext cx="1444149" cy="1562100"/>
          </a:xfrm>
          <a:prstGeom prst="roundRect">
            <a:avLst>
              <a:gd name="adj" fmla="val 6156"/>
            </a:avLst>
          </a:prstGeom>
          <a:solidFill>
            <a:srgbClr val="14655B"/>
          </a:solidFill>
          <a:ln/>
        </p:spPr>
        <p:txBody>
          <a:bodyPr/>
          <a:lstStyle/>
          <a:p>
            <a:endParaRPr lang="en-US"/>
          </a:p>
        </p:txBody>
      </p:sp>
      <p:sp>
        <p:nvSpPr>
          <p:cNvPr id="11" name="Text 9"/>
          <p:cNvSpPr/>
          <p:nvPr/>
        </p:nvSpPr>
        <p:spPr>
          <a:xfrm>
            <a:off x="3967877" y="1686558"/>
            <a:ext cx="1266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S3</a:t>
            </a:r>
            <a:endParaRPr lang="en-US" sz="1500" dirty="0"/>
          </a:p>
        </p:txBody>
      </p:sp>
      <p:sp>
        <p:nvSpPr>
          <p:cNvPr id="12" name="Text 10"/>
          <p:cNvSpPr/>
          <p:nvPr/>
        </p:nvSpPr>
        <p:spPr>
          <a:xfrm>
            <a:off x="3967877" y="1991358"/>
            <a:ext cx="1266349"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Orders, FEFO/MLOR allocation, reservation</a:t>
            </a:r>
            <a:endParaRPr lang="en-US" sz="1200" dirty="0"/>
          </a:p>
        </p:txBody>
      </p:sp>
      <p:sp>
        <p:nvSpPr>
          <p:cNvPr id="13" name="Shape 11"/>
          <p:cNvSpPr/>
          <p:nvPr/>
        </p:nvSpPr>
        <p:spPr>
          <a:xfrm>
            <a:off x="5373926" y="1572258"/>
            <a:ext cx="1444228" cy="1562100"/>
          </a:xfrm>
          <a:prstGeom prst="roundRect">
            <a:avLst>
              <a:gd name="adj" fmla="val 6156"/>
            </a:avLst>
          </a:prstGeom>
          <a:solidFill>
            <a:srgbClr val="14655B"/>
          </a:solidFill>
          <a:ln/>
        </p:spPr>
        <p:txBody>
          <a:bodyPr/>
          <a:lstStyle/>
          <a:p>
            <a:endParaRPr lang="en-US"/>
          </a:p>
        </p:txBody>
      </p:sp>
      <p:sp>
        <p:nvSpPr>
          <p:cNvPr id="14" name="Text 12"/>
          <p:cNvSpPr/>
          <p:nvPr/>
        </p:nvSpPr>
        <p:spPr>
          <a:xfrm>
            <a:off x="5488226" y="1686558"/>
            <a:ext cx="126642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S4</a:t>
            </a:r>
            <a:endParaRPr lang="en-US" sz="1500" dirty="0"/>
          </a:p>
        </p:txBody>
      </p:sp>
      <p:sp>
        <p:nvSpPr>
          <p:cNvPr id="15" name="Text 13"/>
          <p:cNvSpPr/>
          <p:nvPr/>
        </p:nvSpPr>
        <p:spPr>
          <a:xfrm>
            <a:off x="5488226" y="1991358"/>
            <a:ext cx="1266428"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Picking list, goods issue, stock deduction</a:t>
            </a:r>
            <a:endParaRPr lang="en-US" sz="1200" dirty="0"/>
          </a:p>
        </p:txBody>
      </p:sp>
      <p:sp>
        <p:nvSpPr>
          <p:cNvPr id="16" name="Shape 14"/>
          <p:cNvSpPr/>
          <p:nvPr/>
        </p:nvSpPr>
        <p:spPr>
          <a:xfrm>
            <a:off x="6894354" y="1572258"/>
            <a:ext cx="1444149" cy="1562100"/>
          </a:xfrm>
          <a:prstGeom prst="roundRect">
            <a:avLst>
              <a:gd name="adj" fmla="val 6156"/>
            </a:avLst>
          </a:prstGeom>
          <a:solidFill>
            <a:srgbClr val="14655B"/>
          </a:solidFill>
          <a:ln/>
        </p:spPr>
        <p:txBody>
          <a:bodyPr/>
          <a:lstStyle/>
          <a:p>
            <a:endParaRPr lang="en-US"/>
          </a:p>
        </p:txBody>
      </p:sp>
      <p:sp>
        <p:nvSpPr>
          <p:cNvPr id="17" name="Text 15"/>
          <p:cNvSpPr/>
          <p:nvPr/>
        </p:nvSpPr>
        <p:spPr>
          <a:xfrm>
            <a:off x="7008654" y="1686558"/>
            <a:ext cx="1266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S5</a:t>
            </a:r>
            <a:endParaRPr lang="en-US" sz="1500" dirty="0"/>
          </a:p>
        </p:txBody>
      </p:sp>
      <p:sp>
        <p:nvSpPr>
          <p:cNvPr id="18" name="Text 16"/>
          <p:cNvSpPr/>
          <p:nvPr/>
        </p:nvSpPr>
        <p:spPr>
          <a:xfrm>
            <a:off x="7008654" y="1991358"/>
            <a:ext cx="1266349"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Offline ordering and synchronization</a:t>
            </a:r>
            <a:endParaRPr lang="en-US" sz="1200" dirty="0"/>
          </a:p>
        </p:txBody>
      </p:sp>
      <p:sp>
        <p:nvSpPr>
          <p:cNvPr id="19" name="Shape 17"/>
          <p:cNvSpPr/>
          <p:nvPr/>
        </p:nvSpPr>
        <p:spPr>
          <a:xfrm>
            <a:off x="8414703" y="1572258"/>
            <a:ext cx="1444149" cy="1562100"/>
          </a:xfrm>
          <a:prstGeom prst="roundRect">
            <a:avLst>
              <a:gd name="adj" fmla="val 6156"/>
            </a:avLst>
          </a:prstGeom>
          <a:solidFill>
            <a:srgbClr val="14655B"/>
          </a:solidFill>
          <a:ln/>
        </p:spPr>
        <p:txBody>
          <a:bodyPr/>
          <a:lstStyle/>
          <a:p>
            <a:endParaRPr lang="en-US"/>
          </a:p>
        </p:txBody>
      </p:sp>
      <p:sp>
        <p:nvSpPr>
          <p:cNvPr id="20" name="Text 18"/>
          <p:cNvSpPr/>
          <p:nvPr/>
        </p:nvSpPr>
        <p:spPr>
          <a:xfrm>
            <a:off x="8529003" y="1686558"/>
            <a:ext cx="1266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S6</a:t>
            </a:r>
            <a:endParaRPr lang="en-US" sz="1500" dirty="0"/>
          </a:p>
        </p:txBody>
      </p:sp>
      <p:sp>
        <p:nvSpPr>
          <p:cNvPr id="21" name="Text 19"/>
          <p:cNvSpPr/>
          <p:nvPr/>
        </p:nvSpPr>
        <p:spPr>
          <a:xfrm>
            <a:off x="8529003" y="1991358"/>
            <a:ext cx="1266349"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Write-off, notifications, dashboard, automation</a:t>
            </a:r>
            <a:endParaRPr lang="en-US" sz="1200" dirty="0"/>
          </a:p>
        </p:txBody>
      </p:sp>
      <p:sp>
        <p:nvSpPr>
          <p:cNvPr id="22" name="Shape 20"/>
          <p:cNvSpPr/>
          <p:nvPr/>
        </p:nvSpPr>
        <p:spPr>
          <a:xfrm>
            <a:off x="9935052" y="1572258"/>
            <a:ext cx="1444149" cy="1562100"/>
          </a:xfrm>
          <a:prstGeom prst="roundRect">
            <a:avLst>
              <a:gd name="adj" fmla="val 6156"/>
            </a:avLst>
          </a:prstGeom>
          <a:solidFill>
            <a:srgbClr val="14302B"/>
          </a:solidFill>
          <a:ln/>
        </p:spPr>
        <p:txBody>
          <a:bodyPr/>
          <a:lstStyle/>
          <a:p>
            <a:endParaRPr lang="en-US"/>
          </a:p>
        </p:txBody>
      </p:sp>
      <p:sp>
        <p:nvSpPr>
          <p:cNvPr id="23" name="Text 21"/>
          <p:cNvSpPr/>
          <p:nvPr/>
        </p:nvSpPr>
        <p:spPr>
          <a:xfrm>
            <a:off x="10049352" y="1686558"/>
            <a:ext cx="1266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D1B9"/>
                </a:solidFill>
                <a:latin typeface="Space Grotesk" pitchFamily="34" charset="0"/>
                <a:ea typeface="Space Grotesk" pitchFamily="34" charset="-122"/>
                <a:cs typeface="Space Grotesk" pitchFamily="34" charset="-120"/>
              </a:rPr>
              <a:t>Final</a:t>
            </a:r>
            <a:endParaRPr lang="en-US" sz="1500" dirty="0"/>
          </a:p>
        </p:txBody>
      </p:sp>
      <p:sp>
        <p:nvSpPr>
          <p:cNvPr id="24" name="Text 22"/>
          <p:cNvSpPr/>
          <p:nvPr/>
        </p:nvSpPr>
        <p:spPr>
          <a:xfrm>
            <a:off x="10049352" y="1991358"/>
            <a:ext cx="1266349"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F1EA"/>
                </a:solidFill>
                <a:latin typeface="IBM Plex Sans" pitchFamily="34" charset="0"/>
                <a:ea typeface="IBM Plex Sans" pitchFamily="34" charset="-122"/>
                <a:cs typeface="IBM Plex Sans" pitchFamily="34" charset="-120"/>
              </a:rPr>
              <a:t>Integration and system testing, fixes, documentation</a:t>
            </a:r>
            <a:endParaRPr lang="en-US" sz="1200" dirty="0"/>
          </a:p>
        </p:txBody>
      </p:sp>
      <p:sp>
        <p:nvSpPr>
          <p:cNvPr id="25" name="Shape 23"/>
          <p:cNvSpPr/>
          <p:nvPr/>
        </p:nvSpPr>
        <p:spPr>
          <a:xfrm>
            <a:off x="812800" y="3362958"/>
            <a:ext cx="10566400" cy="2128520"/>
          </a:xfrm>
          <a:prstGeom prst="roundRect">
            <a:avLst>
              <a:gd name="adj" fmla="val 3580"/>
            </a:avLst>
          </a:prstGeom>
          <a:solidFill>
            <a:srgbClr val="FFFFFF"/>
          </a:solidFill>
          <a:ln/>
        </p:spPr>
        <p:txBody>
          <a:bodyPr/>
          <a:lstStyle/>
          <a:p>
            <a:endParaRPr lang="en-US"/>
          </a:p>
        </p:txBody>
      </p:sp>
      <p:sp>
        <p:nvSpPr>
          <p:cNvPr id="26" name="Shape 24"/>
          <p:cNvSpPr/>
          <p:nvPr/>
        </p:nvSpPr>
        <p:spPr>
          <a:xfrm>
            <a:off x="812800" y="3362958"/>
            <a:ext cx="10566400" cy="2128520"/>
          </a:xfrm>
          <a:custGeom>
            <a:avLst/>
            <a:gdLst/>
            <a:ahLst/>
            <a:cxnLst/>
            <a:rect l="l" t="t" r="r" b="b"/>
            <a:pathLst>
              <a:path w="10566400" h="2128520">
                <a:moveTo>
                  <a:pt x="10490200" y="0"/>
                </a:moveTo>
                <a:lnTo>
                  <a:pt x="10490200" y="0"/>
                </a:lnTo>
                <a:arcTo wR="76200" hR="76200" stAng="16200000" swAng="5400000"/>
                <a:lnTo>
                  <a:pt x="10566400" y="2052320"/>
                </a:lnTo>
                <a:arcTo wR="76200" hR="76200" stAng="0" swAng="5400000"/>
                <a:lnTo>
                  <a:pt x="76200" y="2128520"/>
                </a:lnTo>
                <a:arcTo wR="76200" hR="76200" stAng="5400000" swAng="5400000"/>
                <a:lnTo>
                  <a:pt x="0" y="2052320"/>
                </a:lnTo>
                <a:arcTo wR="76200" hR="69850" stAng="10800000" swAng="-5400000"/>
                <a:lnTo>
                  <a:pt x="10490200" y="2122170"/>
                </a:lnTo>
                <a:arcTo wR="69850" hR="69850" stAng="5400000" swAng="-5400000"/>
                <a:lnTo>
                  <a:pt x="10560050" y="76200"/>
                </a:lnTo>
                <a:arcTo wR="69850" hR="76200" stAng="0" swAng="-5400000"/>
                <a:close/>
              </a:path>
            </a:pathLst>
          </a:custGeom>
          <a:solidFill>
            <a:srgbClr val="D5DCD7"/>
          </a:solidFill>
          <a:ln/>
        </p:spPr>
        <p:txBody>
          <a:bodyPr/>
          <a:lstStyle/>
          <a:p>
            <a:endParaRPr lang="en-US"/>
          </a:p>
        </p:txBody>
      </p:sp>
      <p:sp>
        <p:nvSpPr>
          <p:cNvPr id="27" name="Shape 25"/>
          <p:cNvSpPr/>
          <p:nvPr/>
        </p:nvSpPr>
        <p:spPr>
          <a:xfrm>
            <a:off x="812800" y="3362958"/>
            <a:ext cx="10566400" cy="2128520"/>
          </a:xfrm>
          <a:custGeom>
            <a:avLst/>
            <a:gdLst/>
            <a:ahLst/>
            <a:cxnLst/>
            <a:rect l="l" t="t" r="r" b="b"/>
            <a:pathLst>
              <a:path w="10566400" h="2128520">
                <a:moveTo>
                  <a:pt x="76200" y="2128520"/>
                </a:moveTo>
                <a:lnTo>
                  <a:pt x="76200" y="2128520"/>
                </a:lnTo>
                <a:arcTo wR="76200" hR="76200" stAng="5400000" swAng="5400000"/>
                <a:lnTo>
                  <a:pt x="0" y="76200"/>
                </a:lnTo>
                <a:arcTo wR="76200" hR="76200" stAng="10800000" swAng="5400000"/>
                <a:lnTo>
                  <a:pt x="10490200" y="0"/>
                </a:lnTo>
                <a:arcTo wR="76200" hR="76200" stAng="16200000" swAng="5400000"/>
                <a:lnTo>
                  <a:pt x="10566400" y="76200"/>
                </a:lnTo>
                <a:arcTo wR="76200" hR="66040" stAng="0" swAng="-5400000"/>
                <a:lnTo>
                  <a:pt x="76200" y="10160"/>
                </a:lnTo>
                <a:arcTo wR="66040" hR="66040" stAng="16200000" swAng="-5400000"/>
                <a:lnTo>
                  <a:pt x="10160" y="2052320"/>
                </a:lnTo>
                <a:arcTo wR="66040" hR="76200" stAng="10800000" swAng="-5400000"/>
                <a:close/>
              </a:path>
            </a:pathLst>
          </a:custGeom>
          <a:solidFill>
            <a:srgbClr val="141413">
              <a:alpha val="22000"/>
            </a:srgbClr>
          </a:solidFill>
          <a:ln/>
        </p:spPr>
        <p:txBody>
          <a:bodyPr/>
          <a:lstStyle/>
          <a:p>
            <a:endParaRPr 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99160" y="3449318"/>
          <a:ext cx="10398760" cy="1960880"/>
        </p:xfrm>
        <a:graphic>
          <a:graphicData uri="http://schemas.openxmlformats.org/drawingml/2006/table">
            <a:tbl>
              <a:tblPr/>
              <a:tblGrid>
                <a:gridCol w="3743554">
                  <a:extLst>
                    <a:ext uri="{9D8B030D-6E8A-4147-A177-3AD203B41FA5}">
                      <a16:colId xmlns:a16="http://schemas.microsoft.com/office/drawing/2014/main" val="20000"/>
                    </a:ext>
                  </a:extLst>
                </a:gridCol>
                <a:gridCol w="1871777">
                  <a:extLst>
                    <a:ext uri="{9D8B030D-6E8A-4147-A177-3AD203B41FA5}">
                      <a16:colId xmlns:a16="http://schemas.microsoft.com/office/drawing/2014/main" val="20001"/>
                    </a:ext>
                  </a:extLst>
                </a:gridCol>
                <a:gridCol w="4783430">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Impact · likelihood</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tc>
                  <a:txBody>
                    <a:bodyPr/>
                    <a:lstStyle/>
                    <a:p>
                      <a:pPr marL="0" indent="0">
                        <a:lnSpc>
                          <a:spcPts val="1680"/>
                        </a:lnSpc>
                        <a:buNone/>
                      </a:pPr>
                      <a:r>
                        <a:rPr lang="en-US" sz="1200" b="1" dirty="0">
                          <a:solidFill>
                            <a:srgbClr val="1B2420"/>
                          </a:solidFill>
                          <a:latin typeface="IBM Plex Sans" pitchFamily="34" charset="0"/>
                          <a:ea typeface="IBM Plex Sans" pitchFamily="34" charset="-122"/>
                          <a:cs typeface="IBM Plex Sans" pitchFamily="34" charset="-120"/>
                        </a:rPr>
                        <a:t>Response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7"/>
                      </a:solidFill>
                      <a:prstDash val="solid"/>
                      <a:round/>
                      <a:headEnd type="none" w="med" len="med"/>
                      <a:tailEnd type="none" w="med" len="med"/>
                    </a:lnL>
                    <a:lnR w="12700" cap="flat" cmpd="sng" algn="ctr">
                      <a:solidFill>
                        <a:srgbClr val="B0BCB7"/>
                      </a:solidFill>
                      <a:prstDash val="solid"/>
                      <a:round/>
                      <a:headEnd type="none" w="med" len="med"/>
                      <a:tailEnd type="none" w="med" len="med"/>
                    </a:lnR>
                    <a:lnT w="0" cap="flat" cmpd="sng" algn="ctr">
                      <a:noFill/>
                    </a:lnT>
                    <a:lnB w="12700" cap="flat" cmpd="sng" algn="ctr">
                      <a:solidFill>
                        <a:srgbClr val="B0BCB7"/>
                      </a:solidFill>
                      <a:prstDash val="solid"/>
                      <a:round/>
                      <a:headEnd type="none" w="med" len="med"/>
                      <a:tailEnd type="none" w="med" len="med"/>
                    </a:lnB>
                    <a:solidFill>
                      <a:srgbClr val="DCEBE5"/>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Offline sync creates duplicate or conflicting orders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High · 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Local sync queue, idempotency key, server revalidation before confirming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CB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Concurrent orders reserve the same batch</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High · 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Optimistic locking, transactions, automatic retry with the next eligible batch</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Wrong FEFO/MLOR allocation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High · 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420"/>
                          </a:solidFill>
                          <a:latin typeface="IBM Plex Sans" pitchFamily="34" charset="0"/>
                          <a:ea typeface="IBM Plex Sans" pitchFamily="34" charset="-122"/>
                          <a:cs typeface="IBM Plex Sans" pitchFamily="34" charset="-120"/>
                        </a:rPr>
                        <a:t>Isolated allocation module; unit tests for FEFO, MLOR and multi-warehouse cases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9" name="Text 26"/>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6F"/>
                </a:solidFill>
                <a:latin typeface="IBM Plex Sans" pitchFamily="34" charset="0"/>
                <a:ea typeface="IBM Plex Sans" pitchFamily="34" charset="-122"/>
                <a:cs typeface="IBM Plex Sans" pitchFamily="34" charset="-120"/>
              </a:rPr>
              <a:t>FSCM · FA26SE083 · Review 1</a:t>
            </a:r>
            <a:endParaRPr lang="en-US" sz="1200" dirty="0"/>
          </a:p>
        </p:txBody>
      </p:sp>
      <p:sp>
        <p:nvSpPr>
          <p:cNvPr id="30" name="Text 27"/>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46F"/>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302B"/>
        </a:solidFill>
        <a:effectLst/>
      </p:bgPr>
    </p:bg>
    <p:spTree>
      <p:nvGrpSpPr>
        <p:cNvPr id="1" name=""/>
        <p:cNvGrpSpPr/>
        <p:nvPr/>
      </p:nvGrpSpPr>
      <p:grpSpPr>
        <a:xfrm>
          <a:off x="0" y="0"/>
          <a:ext cx="0" cy="0"/>
          <a:chOff x="0" y="0"/>
          <a:chExt cx="0" cy="0"/>
        </a:xfrm>
      </p:grpSpPr>
      <p:sp>
        <p:nvSpPr>
          <p:cNvPr id="2" name="Text 0"/>
          <p:cNvSpPr/>
          <p:nvPr/>
        </p:nvSpPr>
        <p:spPr>
          <a:xfrm>
            <a:off x="812800" y="20726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7FD1B9"/>
                </a:solidFill>
                <a:latin typeface="IBM Plex Sans" pitchFamily="34" charset="0"/>
                <a:ea typeface="IBM Plex Sans" pitchFamily="34" charset="-122"/>
                <a:cs typeface="IBM Plex Sans" pitchFamily="34" charset="-120"/>
              </a:rPr>
              <a:t>FSCM · FA26SE083</a:t>
            </a:r>
            <a:endParaRPr lang="en-US" sz="1400" dirty="0"/>
          </a:p>
        </p:txBody>
      </p:sp>
      <p:sp>
        <p:nvSpPr>
          <p:cNvPr id="3" name="Text 1"/>
          <p:cNvSpPr>
            <a:spLocks noGrp="1"/>
          </p:cNvSpPr>
          <p:nvPr>
            <p:ph type="title"/>
          </p:nvPr>
        </p:nvSpPr>
        <p:spPr>
          <a:xfrm>
            <a:off x="812800" y="2550158"/>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2F1EA"/>
                </a:solidFill>
                <a:latin typeface="Space Grotesk" pitchFamily="34" charset="0"/>
                <a:ea typeface="Space Grotesk" pitchFamily="34" charset="-122"/>
                <a:cs typeface="Space Grotesk" pitchFamily="34" charset="-120"/>
              </a:rPr>
              <a:t>Thank you</a:t>
            </a:r>
            <a:endParaRPr lang="en-US" sz="6000" dirty="0"/>
          </a:p>
        </p:txBody>
      </p:sp>
      <p:sp>
        <p:nvSpPr>
          <p:cNvPr id="4" name="Text 2"/>
          <p:cNvSpPr/>
          <p:nvPr/>
        </p:nvSpPr>
        <p:spPr>
          <a:xfrm>
            <a:off x="812800" y="3578858"/>
            <a:ext cx="91567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FD8D5"/>
                </a:solidFill>
                <a:latin typeface="IBM Plex Sans" pitchFamily="34" charset="0"/>
                <a:ea typeface="IBM Plex Sans" pitchFamily="34" charset="-122"/>
                <a:cs typeface="IBM Plex Sans" pitchFamily="34" charset="-120"/>
              </a:rPr>
              <a:t>Questions and feedback from the council are welcome.</a:t>
            </a:r>
            <a:endParaRPr lang="en-US" sz="2000" dirty="0"/>
          </a:p>
        </p:txBody>
      </p:sp>
      <p:sp>
        <p:nvSpPr>
          <p:cNvPr id="5" name="Text 3"/>
          <p:cNvSpPr/>
          <p:nvPr/>
        </p:nvSpPr>
        <p:spPr>
          <a:xfrm>
            <a:off x="812800" y="4163058"/>
            <a:ext cx="9810750"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9FBDB5"/>
                </a:solidFill>
                <a:latin typeface="IBM Plex Sans" pitchFamily="34" charset="0"/>
                <a:ea typeface="IBM Plex Sans" pitchFamily="34" charset="-122"/>
                <a:cs typeface="IBM Plex Sans" pitchFamily="34" charset="-120"/>
              </a:rPr>
              <a:t>Live prototype: Sales App · Retailer App · Warehouse App · Web Portal</a:t>
            </a:r>
            <a:endParaRPr lang="en-US" sz="1400" dirty="0"/>
          </a:p>
        </p:txBody>
      </p:sp>
      <p:sp>
        <p:nvSpPr>
          <p:cNvPr id="6" name="Text 4"/>
          <p:cNvSpPr/>
          <p:nvPr/>
        </p:nvSpPr>
        <p:spPr>
          <a:xfrm>
            <a:off x="812800" y="62890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DB5"/>
                </a:solidFill>
                <a:latin typeface="IBM Plex Sans" pitchFamily="34" charset="0"/>
                <a:ea typeface="IBM Plex Sans" pitchFamily="34" charset="-122"/>
                <a:cs typeface="IBM Plex Sans" pitchFamily="34" charset="-120"/>
              </a:rPr>
              <a:t>FSCM · FA26SE083 · Review 1</a:t>
            </a:r>
            <a:endParaRPr lang="en-US" sz="1200" dirty="0"/>
          </a:p>
        </p:txBody>
      </p:sp>
      <p:sp>
        <p:nvSpPr>
          <p:cNvPr id="7" name="Text 5"/>
          <p:cNvSpPr/>
          <p:nvPr/>
        </p:nvSpPr>
        <p:spPr>
          <a:xfrm>
            <a:off x="10058400" y="62890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DB5"/>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theme/theme1.xml><?xml version="1.0" encoding="utf-8"?>
<a:theme xmlns:a="http://schemas.openxmlformats.org/drawingml/2006/main" name="FSCM – Review Presentation">
  <a:themeElements>
    <a:clrScheme name="FSCM – Review Presentation">
      <a:dk1>
        <a:srgbClr val="1B2420"/>
      </a:dk1>
      <a:lt1>
        <a:srgbClr val="F6F5F0"/>
      </a:lt1>
      <a:dk2>
        <a:srgbClr val="525854"/>
      </a:dk2>
      <a:lt2>
        <a:srgbClr val="E0E0DB"/>
      </a:lt2>
      <a:accent1>
        <a:srgbClr val="14655B"/>
      </a:accent1>
      <a:accent2>
        <a:srgbClr val="7FD1B9"/>
      </a:accent2>
      <a:accent3>
        <a:srgbClr val="B85C1E"/>
      </a:accent3>
      <a:accent4>
        <a:srgbClr val="F6DCCB"/>
      </a:accent4>
      <a:accent5>
        <a:srgbClr val="5FA595"/>
      </a:accent5>
      <a:accent6>
        <a:srgbClr val="4A5550"/>
      </a:accent6>
      <a:hlink>
        <a:srgbClr val="0563C1"/>
      </a:hlink>
      <a:folHlink>
        <a:srgbClr val="954F72"/>
      </a:folHlink>
    </a:clrScheme>
    <a:fontScheme name="FSCM – Review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5117</Words>
  <Application>Microsoft Office PowerPoint</Application>
  <PresentationFormat>Widescreen</PresentationFormat>
  <Paragraphs>749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Space Grotesk</vt:lpstr>
      <vt:lpstr>Arial</vt:lpstr>
      <vt:lpstr>IBM Plex Mono</vt:lpstr>
      <vt:lpstr>IBM Plex Sans</vt:lpstr>
      <vt:lpstr>FSCM – Review Presentation</vt:lpstr>
      <vt:lpstr>FSCM</vt:lpstr>
      <vt:lpstr>Short shelf-life FMCG distribution</vt:lpstr>
      <vt:lpstr>Problems to solve</vt:lpstr>
      <vt:lpstr>Existing enterprise systems</vt:lpstr>
      <vt:lpstr>Field-sales (DMS) systems in Vietnam</vt:lpstr>
      <vt:lpstr>Where FSCM fits</vt:lpstr>
      <vt:lpstr>FSCM decides which batch, in which warehouse, serves each order, and keeps a traceable link from goods receipt to the retailer's confirmation.</vt:lpstr>
      <vt:lpstr>What FSCM sets out to achieve</vt:lpstr>
      <vt:lpstr>Set-up, inventory and ordering</vt:lpstr>
      <vt:lpstr>Allocation, fulfilment and tracking</vt:lpstr>
      <vt:lpstr>Quality attributes and targets</vt:lpstr>
      <vt:lpstr>Effort, schedule and quality targets</vt:lpstr>
      <vt:lpstr>End-to-end business flow</vt:lpstr>
      <vt:lpstr>Offline ordering and synchronization</vt:lpstr>
      <vt:lpstr>Roles in the system</vt:lpstr>
      <vt:lpstr>FEFO-MLOR multi-warehouse allocation</vt:lpstr>
      <vt:lpstr>Candidate batches and service area</vt:lpstr>
      <vt:lpstr>Max service distance and estimated transit time</vt:lpstr>
      <vt:lpstr>Estimated arrival and MLOR check</vt:lpstr>
      <vt:lpstr>FEFO ranking and greedy allocation</vt:lpstr>
      <vt:lpstr>From tentative allocation to reservation</vt:lpstr>
      <vt:lpstr>Architecture overview</vt:lpstr>
      <vt:lpstr>Technology stack and why</vt:lpstr>
      <vt:lpstr>Scrum roadmap and top technical risks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FSCM – Review Presentation</dc:title>
  <dc:subject/>
  <dc:creator/>
  <cp:lastModifiedBy>Nguyen Thien Nhan</cp:lastModifiedBy>
  <cp:revision>1</cp:revision>
  <dcterms:created xsi:type="dcterms:W3CDTF">2026-10-01T13:03:17Z</dcterms:created>
  <dcterms:modified xsi:type="dcterms:W3CDTF">2026-10-01T13:05:05Z</dcterms:modified>
</cp:coreProperties>
</file>